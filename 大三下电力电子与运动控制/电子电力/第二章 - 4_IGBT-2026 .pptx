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vml" ContentType="application/vnd.openxmlformats-officedocument.vmlDrawing"/>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theme/theme3.xml" ContentType="application/vnd.openxmlformats-officedocument.theme+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theme/theme4.xml" ContentType="application/vnd.openxmlformats-officedocument.theme+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theme/theme5.xml" ContentType="application/vnd.openxmlformats-officedocument.theme+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theme/theme6.xml" ContentType="application/vnd.openxmlformats-officedocument.theme+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theme/theme7.xml" ContentType="application/vnd.openxmlformats-officedocument.theme+xml"/>
  <Override PartName="/ppt/theme/theme8.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tags/tag1.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7" r:id="rId1"/>
    <p:sldMasterId id="2147483675" r:id="rId2"/>
    <p:sldMasterId id="2147483711" r:id="rId3"/>
    <p:sldMasterId id="2147483725" r:id="rId4"/>
    <p:sldMasterId id="2147483738" r:id="rId5"/>
    <p:sldMasterId id="2147483750" r:id="rId6"/>
    <p:sldMasterId id="2147483762" r:id="rId7"/>
  </p:sldMasterIdLst>
  <p:notesMasterIdLst>
    <p:notesMasterId r:id="rId56"/>
  </p:notesMasterIdLst>
  <p:sldIdLst>
    <p:sldId id="374" r:id="rId8"/>
    <p:sldId id="343" r:id="rId9"/>
    <p:sldId id="372" r:id="rId10"/>
    <p:sldId id="346" r:id="rId11"/>
    <p:sldId id="373" r:id="rId12"/>
    <p:sldId id="344" r:id="rId13"/>
    <p:sldId id="345" r:id="rId14"/>
    <p:sldId id="3743" r:id="rId15"/>
    <p:sldId id="367" r:id="rId16"/>
    <p:sldId id="348" r:id="rId17"/>
    <p:sldId id="3744" r:id="rId18"/>
    <p:sldId id="324" r:id="rId19"/>
    <p:sldId id="325" r:id="rId20"/>
    <p:sldId id="349" r:id="rId21"/>
    <p:sldId id="350" r:id="rId22"/>
    <p:sldId id="352" r:id="rId23"/>
    <p:sldId id="327" r:id="rId24"/>
    <p:sldId id="371" r:id="rId25"/>
    <p:sldId id="330" r:id="rId26"/>
    <p:sldId id="357" r:id="rId27"/>
    <p:sldId id="358" r:id="rId28"/>
    <p:sldId id="366" r:id="rId29"/>
    <p:sldId id="368" r:id="rId30"/>
    <p:sldId id="369" r:id="rId31"/>
    <p:sldId id="331" r:id="rId32"/>
    <p:sldId id="335" r:id="rId33"/>
    <p:sldId id="336" r:id="rId34"/>
    <p:sldId id="413" r:id="rId35"/>
    <p:sldId id="1068" r:id="rId36"/>
    <p:sldId id="1070" r:id="rId37"/>
    <p:sldId id="337" r:id="rId38"/>
    <p:sldId id="340" r:id="rId39"/>
    <p:sldId id="341" r:id="rId40"/>
    <p:sldId id="342" r:id="rId41"/>
    <p:sldId id="370" r:id="rId42"/>
    <p:sldId id="1064" r:id="rId43"/>
    <p:sldId id="1063" r:id="rId44"/>
    <p:sldId id="256" r:id="rId45"/>
    <p:sldId id="3741" r:id="rId46"/>
    <p:sldId id="3742" r:id="rId47"/>
    <p:sldId id="1061" r:id="rId48"/>
    <p:sldId id="1065" r:id="rId49"/>
    <p:sldId id="302" r:id="rId50"/>
    <p:sldId id="319" r:id="rId51"/>
    <p:sldId id="405" r:id="rId52"/>
    <p:sldId id="1066" r:id="rId53"/>
    <p:sldId id="1069" r:id="rId54"/>
    <p:sldId id="1067" r:id="rId55"/>
  </p:sldIdLst>
  <p:sldSz cx="9144000" cy="6858000" type="screen4x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徐金榜" initials="徐金榜" lastIdx="1" clrIdx="0">
    <p:extLst>
      <p:ext uri="{19B8F6BF-5375-455C-9EA6-DF929625EA0E}">
        <p15:presenceInfo xmlns:p15="http://schemas.microsoft.com/office/powerpoint/2012/main" userId="徐金榜"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990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152" d="100"/>
          <a:sy n="152" d="100"/>
        </p:scale>
        <p:origin x="2064" y="120"/>
      </p:cViewPr>
      <p:guideLst>
        <p:guide orient="horz" pos="2160"/>
        <p:guide pos="2880"/>
      </p:guideLst>
    </p:cSldViewPr>
  </p:slideViewPr>
  <p:notesTextViewPr>
    <p:cViewPr>
      <p:scale>
        <a:sx n="100" d="100"/>
        <a:sy n="100" d="100"/>
      </p:scale>
      <p:origin x="0" y="0"/>
    </p:cViewPr>
  </p:notesTextViewPr>
  <p:sorterViewPr>
    <p:cViewPr>
      <p:scale>
        <a:sx n="100" d="100"/>
        <a:sy n="100" d="100"/>
      </p:scale>
      <p:origin x="0" y="1995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6.xml"/><Relationship Id="rId18" Type="http://schemas.openxmlformats.org/officeDocument/2006/relationships/slide" Target="slides/slide11.xml"/><Relationship Id="rId26" Type="http://schemas.openxmlformats.org/officeDocument/2006/relationships/slide" Target="slides/slide19.xml"/><Relationship Id="rId39" Type="http://schemas.openxmlformats.org/officeDocument/2006/relationships/slide" Target="slides/slide32.xml"/><Relationship Id="rId21" Type="http://schemas.openxmlformats.org/officeDocument/2006/relationships/slide" Target="slides/slide14.xml"/><Relationship Id="rId34" Type="http://schemas.openxmlformats.org/officeDocument/2006/relationships/slide" Target="slides/slide27.xml"/><Relationship Id="rId42" Type="http://schemas.openxmlformats.org/officeDocument/2006/relationships/slide" Target="slides/slide35.xml"/><Relationship Id="rId47" Type="http://schemas.openxmlformats.org/officeDocument/2006/relationships/slide" Target="slides/slide40.xml"/><Relationship Id="rId50" Type="http://schemas.openxmlformats.org/officeDocument/2006/relationships/slide" Target="slides/slide43.xml"/><Relationship Id="rId55" Type="http://schemas.openxmlformats.org/officeDocument/2006/relationships/slide" Target="slides/slide48.xml"/><Relationship Id="rId7" Type="http://schemas.openxmlformats.org/officeDocument/2006/relationships/slideMaster" Target="slideMasters/slideMaster7.xml"/><Relationship Id="rId2" Type="http://schemas.openxmlformats.org/officeDocument/2006/relationships/slideMaster" Target="slideMasters/slideMaster2.xml"/><Relationship Id="rId16" Type="http://schemas.openxmlformats.org/officeDocument/2006/relationships/slide" Target="slides/slide9.xml"/><Relationship Id="rId29" Type="http://schemas.openxmlformats.org/officeDocument/2006/relationships/slide" Target="slides/slide22.xml"/><Relationship Id="rId11" Type="http://schemas.openxmlformats.org/officeDocument/2006/relationships/slide" Target="slides/slide4.xml"/><Relationship Id="rId24" Type="http://schemas.openxmlformats.org/officeDocument/2006/relationships/slide" Target="slides/slide17.xml"/><Relationship Id="rId32" Type="http://schemas.openxmlformats.org/officeDocument/2006/relationships/slide" Target="slides/slide25.xml"/><Relationship Id="rId37" Type="http://schemas.openxmlformats.org/officeDocument/2006/relationships/slide" Target="slides/slide30.xml"/><Relationship Id="rId40" Type="http://schemas.openxmlformats.org/officeDocument/2006/relationships/slide" Target="slides/slide33.xml"/><Relationship Id="rId45" Type="http://schemas.openxmlformats.org/officeDocument/2006/relationships/slide" Target="slides/slide38.xml"/><Relationship Id="rId53" Type="http://schemas.openxmlformats.org/officeDocument/2006/relationships/slide" Target="slides/slide46.xml"/><Relationship Id="rId58" Type="http://schemas.openxmlformats.org/officeDocument/2006/relationships/presProps" Target="presProps.xml"/><Relationship Id="rId5" Type="http://schemas.openxmlformats.org/officeDocument/2006/relationships/slideMaster" Target="slideMasters/slideMaster5.xml"/><Relationship Id="rId61" Type="http://schemas.openxmlformats.org/officeDocument/2006/relationships/tableStyles" Target="tableStyles.xml"/><Relationship Id="rId19" Type="http://schemas.openxmlformats.org/officeDocument/2006/relationships/slide" Target="slides/slide12.xml"/><Relationship Id="rId14" Type="http://schemas.openxmlformats.org/officeDocument/2006/relationships/slide" Target="slides/slide7.xml"/><Relationship Id="rId22" Type="http://schemas.openxmlformats.org/officeDocument/2006/relationships/slide" Target="slides/slide15.xml"/><Relationship Id="rId27" Type="http://schemas.openxmlformats.org/officeDocument/2006/relationships/slide" Target="slides/slide20.xml"/><Relationship Id="rId30" Type="http://schemas.openxmlformats.org/officeDocument/2006/relationships/slide" Target="slides/slide23.xml"/><Relationship Id="rId35" Type="http://schemas.openxmlformats.org/officeDocument/2006/relationships/slide" Target="slides/slide28.xml"/><Relationship Id="rId43" Type="http://schemas.openxmlformats.org/officeDocument/2006/relationships/slide" Target="slides/slide36.xml"/><Relationship Id="rId48" Type="http://schemas.openxmlformats.org/officeDocument/2006/relationships/slide" Target="slides/slide41.xml"/><Relationship Id="rId56" Type="http://schemas.openxmlformats.org/officeDocument/2006/relationships/notesMaster" Target="notesMasters/notesMaster1.xml"/><Relationship Id="rId8" Type="http://schemas.openxmlformats.org/officeDocument/2006/relationships/slide" Target="slides/slide1.xml"/><Relationship Id="rId51" Type="http://schemas.openxmlformats.org/officeDocument/2006/relationships/slide" Target="slides/slide44.xml"/><Relationship Id="rId3" Type="http://schemas.openxmlformats.org/officeDocument/2006/relationships/slideMaster" Target="slideMasters/slideMaster3.xml"/><Relationship Id="rId12" Type="http://schemas.openxmlformats.org/officeDocument/2006/relationships/slide" Target="slides/slide5.xml"/><Relationship Id="rId17" Type="http://schemas.openxmlformats.org/officeDocument/2006/relationships/slide" Target="slides/slide10.xml"/><Relationship Id="rId25" Type="http://schemas.openxmlformats.org/officeDocument/2006/relationships/slide" Target="slides/slide18.xml"/><Relationship Id="rId33" Type="http://schemas.openxmlformats.org/officeDocument/2006/relationships/slide" Target="slides/slide26.xml"/><Relationship Id="rId38" Type="http://schemas.openxmlformats.org/officeDocument/2006/relationships/slide" Target="slides/slide31.xml"/><Relationship Id="rId46" Type="http://schemas.openxmlformats.org/officeDocument/2006/relationships/slide" Target="slides/slide39.xml"/><Relationship Id="rId59" Type="http://schemas.openxmlformats.org/officeDocument/2006/relationships/viewProps" Target="viewProps.xml"/><Relationship Id="rId20" Type="http://schemas.openxmlformats.org/officeDocument/2006/relationships/slide" Target="slides/slide13.xml"/><Relationship Id="rId41" Type="http://schemas.openxmlformats.org/officeDocument/2006/relationships/slide" Target="slides/slide34.xml"/><Relationship Id="rId54" Type="http://schemas.openxmlformats.org/officeDocument/2006/relationships/slide" Target="slides/slide47.xml"/><Relationship Id="rId1" Type="http://schemas.openxmlformats.org/officeDocument/2006/relationships/slideMaster" Target="slideMasters/slideMaster1.xml"/><Relationship Id="rId6" Type="http://schemas.openxmlformats.org/officeDocument/2006/relationships/slideMaster" Target="slideMasters/slideMaster6.xml"/><Relationship Id="rId15" Type="http://schemas.openxmlformats.org/officeDocument/2006/relationships/slide" Target="slides/slide8.xml"/><Relationship Id="rId23" Type="http://schemas.openxmlformats.org/officeDocument/2006/relationships/slide" Target="slides/slide16.xml"/><Relationship Id="rId28" Type="http://schemas.openxmlformats.org/officeDocument/2006/relationships/slide" Target="slides/slide21.xml"/><Relationship Id="rId36" Type="http://schemas.openxmlformats.org/officeDocument/2006/relationships/slide" Target="slides/slide29.xml"/><Relationship Id="rId49" Type="http://schemas.openxmlformats.org/officeDocument/2006/relationships/slide" Target="slides/slide42.xml"/><Relationship Id="rId57" Type="http://schemas.openxmlformats.org/officeDocument/2006/relationships/commentAuthors" Target="commentAuthors.xml"/><Relationship Id="rId10" Type="http://schemas.openxmlformats.org/officeDocument/2006/relationships/slide" Target="slides/slide3.xml"/><Relationship Id="rId31" Type="http://schemas.openxmlformats.org/officeDocument/2006/relationships/slide" Target="slides/slide24.xml"/><Relationship Id="rId44" Type="http://schemas.openxmlformats.org/officeDocument/2006/relationships/slide" Target="slides/slide37.xml"/><Relationship Id="rId52" Type="http://schemas.openxmlformats.org/officeDocument/2006/relationships/slide" Target="slides/slide45.xml"/><Relationship Id="rId60" Type="http://schemas.openxmlformats.org/officeDocument/2006/relationships/theme" Target="theme/theme1.xml"/><Relationship Id="rId4" Type="http://schemas.openxmlformats.org/officeDocument/2006/relationships/slideMaster" Target="slideMasters/slideMaster4.xml"/><Relationship Id="rId9" Type="http://schemas.openxmlformats.org/officeDocument/2006/relationships/slide" Target="slides/slide2.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4.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4.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9.png"/></Relationships>
</file>

<file path=ppt/drawings/_rels/vmlDrawing4.vml.rels><?xml version="1.0" encoding="UTF-8" standalone="yes"?>
<Relationships xmlns="http://schemas.openxmlformats.org/package/2006/relationships"><Relationship Id="rId1" Type="http://schemas.openxmlformats.org/officeDocument/2006/relationships/image" Target="../media/image4.emf"/></Relationships>
</file>

<file path=ppt/drawings/_rels/vmlDrawing5.vml.rels><?xml version="1.0" encoding="UTF-8" standalone="yes"?>
<Relationships xmlns="http://schemas.openxmlformats.org/package/2006/relationships"><Relationship Id="rId8" Type="http://schemas.openxmlformats.org/officeDocument/2006/relationships/image" Target="../media/image24.wmf"/><Relationship Id="rId13" Type="http://schemas.openxmlformats.org/officeDocument/2006/relationships/image" Target="../media/image29.wmf"/><Relationship Id="rId3" Type="http://schemas.openxmlformats.org/officeDocument/2006/relationships/image" Target="../media/image19.wmf"/><Relationship Id="rId7" Type="http://schemas.openxmlformats.org/officeDocument/2006/relationships/image" Target="../media/image23.wmf"/><Relationship Id="rId12" Type="http://schemas.openxmlformats.org/officeDocument/2006/relationships/image" Target="../media/image28.wmf"/><Relationship Id="rId2" Type="http://schemas.openxmlformats.org/officeDocument/2006/relationships/image" Target="../media/image18.wmf"/><Relationship Id="rId1" Type="http://schemas.openxmlformats.org/officeDocument/2006/relationships/image" Target="../media/image17.wmf"/><Relationship Id="rId6" Type="http://schemas.openxmlformats.org/officeDocument/2006/relationships/image" Target="../media/image22.wmf"/><Relationship Id="rId11" Type="http://schemas.openxmlformats.org/officeDocument/2006/relationships/image" Target="../media/image27.wmf"/><Relationship Id="rId5" Type="http://schemas.openxmlformats.org/officeDocument/2006/relationships/image" Target="../media/image21.wmf"/><Relationship Id="rId10" Type="http://schemas.openxmlformats.org/officeDocument/2006/relationships/image" Target="../media/image26.wmf"/><Relationship Id="rId4" Type="http://schemas.openxmlformats.org/officeDocument/2006/relationships/image" Target="../media/image20.wmf"/><Relationship Id="rId9" Type="http://schemas.openxmlformats.org/officeDocument/2006/relationships/image" Target="../media/image25.w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31.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8.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DFEA27DC-C52E-4BE7-B1C9-8F5243DD0040}" type="datetimeFigureOut">
              <a:rPr lang="zh-CN" altLang="en-US" smtClean="0"/>
              <a:t>2026/3/15</a:t>
            </a:fld>
            <a:endParaRPr lang="zh-CN" altLang="en-US"/>
          </a:p>
        </p:txBody>
      </p:sp>
      <p:sp>
        <p:nvSpPr>
          <p:cNvPr id="4" name="幻灯片图像占位符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90B17D4C-B9BB-4428-AF92-F9D98C95CE58}" type="slidenum">
              <a:rPr lang="zh-CN" altLang="en-US" smtClean="0"/>
              <a:t>‹#›</a:t>
            </a:fld>
            <a:endParaRPr lang="zh-CN" altLang="en-US"/>
          </a:p>
        </p:txBody>
      </p:sp>
    </p:spTree>
    <p:extLst>
      <p:ext uri="{BB962C8B-B14F-4D97-AF65-F5344CB8AC3E}">
        <p14:creationId xmlns:p14="http://schemas.microsoft.com/office/powerpoint/2010/main" val="50024033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90B17D4C-B9BB-4428-AF92-F9D98C95CE58}" type="slidenum">
              <a:rPr lang="zh-CN" altLang="en-US" smtClean="0"/>
              <a:t>1</a:t>
            </a:fld>
            <a:endParaRPr lang="zh-CN" altLang="en-US"/>
          </a:p>
        </p:txBody>
      </p:sp>
    </p:spTree>
    <p:extLst>
      <p:ext uri="{BB962C8B-B14F-4D97-AF65-F5344CB8AC3E}">
        <p14:creationId xmlns:p14="http://schemas.microsoft.com/office/powerpoint/2010/main" val="185446967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D2D115D0-7D94-4E93-BF15-23287DC6475C}" type="slidenum">
              <a:rPr lang="en-US" altLang="zh-CN"/>
              <a:pPr/>
              <a:t>2</a:t>
            </a:fld>
            <a:endParaRPr lang="en-US" altLang="zh-CN"/>
          </a:p>
        </p:txBody>
      </p:sp>
      <p:sp>
        <p:nvSpPr>
          <p:cNvPr id="210946" name="Rectangle 2"/>
          <p:cNvSpPr>
            <a:spLocks noGrp="1" noRot="1" noChangeAspect="1" noChangeArrowheads="1" noTextEdit="1"/>
          </p:cNvSpPr>
          <p:nvPr>
            <p:ph type="sldImg"/>
          </p:nvPr>
        </p:nvSpPr>
        <p:spPr>
          <a:ln/>
        </p:spPr>
      </p:sp>
      <p:sp>
        <p:nvSpPr>
          <p:cNvPr id="210947" name="Rectangle 3"/>
          <p:cNvSpPr>
            <a:spLocks noGrp="1" noChangeArrowheads="1"/>
          </p:cNvSpPr>
          <p:nvPr>
            <p:ph type="body" idx="1"/>
          </p:nvPr>
        </p:nvSpPr>
        <p:spPr/>
        <p:txBody>
          <a:bodyPr/>
          <a:lstStyle/>
          <a:p>
            <a:endParaRPr lang="zh-CN" altLang="zh-CN"/>
          </a:p>
        </p:txBody>
      </p:sp>
    </p:spTree>
    <p:extLst>
      <p:ext uri="{BB962C8B-B14F-4D97-AF65-F5344CB8AC3E}">
        <p14:creationId xmlns:p14="http://schemas.microsoft.com/office/powerpoint/2010/main" val="224785641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D2D115D0-7D94-4E93-BF15-23287DC6475C}" type="slidenum">
              <a:rPr lang="en-US" altLang="zh-CN"/>
              <a:pPr/>
              <a:t>3</a:t>
            </a:fld>
            <a:endParaRPr lang="en-US" altLang="zh-CN"/>
          </a:p>
        </p:txBody>
      </p:sp>
      <p:sp>
        <p:nvSpPr>
          <p:cNvPr id="210946" name="Rectangle 2"/>
          <p:cNvSpPr>
            <a:spLocks noGrp="1" noRot="1" noChangeAspect="1" noChangeArrowheads="1" noTextEdit="1"/>
          </p:cNvSpPr>
          <p:nvPr>
            <p:ph type="sldImg"/>
          </p:nvPr>
        </p:nvSpPr>
        <p:spPr>
          <a:ln/>
        </p:spPr>
      </p:sp>
      <p:sp>
        <p:nvSpPr>
          <p:cNvPr id="210947" name="Rectangle 3"/>
          <p:cNvSpPr>
            <a:spLocks noGrp="1" noChangeArrowheads="1"/>
          </p:cNvSpPr>
          <p:nvPr>
            <p:ph type="body" idx="1"/>
          </p:nvPr>
        </p:nvSpPr>
        <p:spPr/>
        <p:txBody>
          <a:bodyPr/>
          <a:lstStyle/>
          <a:p>
            <a:endParaRPr lang="zh-CN" altLang="zh-CN"/>
          </a:p>
        </p:txBody>
      </p:sp>
    </p:spTree>
    <p:extLst>
      <p:ext uri="{BB962C8B-B14F-4D97-AF65-F5344CB8AC3E}">
        <p14:creationId xmlns:p14="http://schemas.microsoft.com/office/powerpoint/2010/main" val="307470516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7D89A315-8478-40F6-9B6B-319E51774D42}" type="slidenum">
              <a:rPr lang="en-US" altLang="zh-CN"/>
              <a:pPr/>
              <a:t>4</a:t>
            </a:fld>
            <a:endParaRPr lang="en-US" altLang="zh-CN"/>
          </a:p>
        </p:txBody>
      </p:sp>
      <p:sp>
        <p:nvSpPr>
          <p:cNvPr id="399362" name="Rectangle 2"/>
          <p:cNvSpPr>
            <a:spLocks noGrp="1" noRot="1" noChangeAspect="1" noChangeArrowheads="1" noTextEdit="1"/>
          </p:cNvSpPr>
          <p:nvPr>
            <p:ph type="sldImg"/>
          </p:nvPr>
        </p:nvSpPr>
        <p:spPr>
          <a:ln/>
        </p:spPr>
      </p:sp>
      <p:sp>
        <p:nvSpPr>
          <p:cNvPr id="399363" name="Rectangle 3"/>
          <p:cNvSpPr>
            <a:spLocks noGrp="1" noChangeArrowheads="1"/>
          </p:cNvSpPr>
          <p:nvPr>
            <p:ph type="body" idx="1"/>
          </p:nvPr>
        </p:nvSpPr>
        <p:spPr/>
        <p:txBody>
          <a:bodyPr/>
          <a:lstStyle/>
          <a:p>
            <a:endParaRPr lang="zh-CN" altLang="zh-CN"/>
          </a:p>
        </p:txBody>
      </p:sp>
    </p:spTree>
    <p:extLst>
      <p:ext uri="{BB962C8B-B14F-4D97-AF65-F5344CB8AC3E}">
        <p14:creationId xmlns:p14="http://schemas.microsoft.com/office/powerpoint/2010/main" val="234197251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D2D115D0-7D94-4E93-BF15-23287DC6475C}" type="slidenum">
              <a:rPr lang="en-US" altLang="zh-CN"/>
              <a:pPr/>
              <a:t>5</a:t>
            </a:fld>
            <a:endParaRPr lang="en-US" altLang="zh-CN"/>
          </a:p>
        </p:txBody>
      </p:sp>
      <p:sp>
        <p:nvSpPr>
          <p:cNvPr id="210946" name="Rectangle 2"/>
          <p:cNvSpPr>
            <a:spLocks noGrp="1" noRot="1" noChangeAspect="1" noChangeArrowheads="1" noTextEdit="1"/>
          </p:cNvSpPr>
          <p:nvPr>
            <p:ph type="sldImg"/>
          </p:nvPr>
        </p:nvSpPr>
        <p:spPr>
          <a:ln/>
        </p:spPr>
      </p:sp>
      <p:sp>
        <p:nvSpPr>
          <p:cNvPr id="210947" name="Rectangle 3"/>
          <p:cNvSpPr>
            <a:spLocks noGrp="1" noChangeArrowheads="1"/>
          </p:cNvSpPr>
          <p:nvPr>
            <p:ph type="body" idx="1"/>
          </p:nvPr>
        </p:nvSpPr>
        <p:spPr/>
        <p:txBody>
          <a:bodyPr/>
          <a:lstStyle/>
          <a:p>
            <a:endParaRPr lang="zh-CN" altLang="zh-CN"/>
          </a:p>
        </p:txBody>
      </p:sp>
    </p:spTree>
    <p:extLst>
      <p:ext uri="{BB962C8B-B14F-4D97-AF65-F5344CB8AC3E}">
        <p14:creationId xmlns:p14="http://schemas.microsoft.com/office/powerpoint/2010/main" val="290600634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B69209DC-C81D-45A0-A440-50E88F7C0313}" type="slidenum">
              <a:rPr lang="en-US" altLang="zh-CN"/>
              <a:pPr/>
              <a:t>7</a:t>
            </a:fld>
            <a:endParaRPr lang="en-US" altLang="zh-CN"/>
          </a:p>
        </p:txBody>
      </p:sp>
      <p:sp>
        <p:nvSpPr>
          <p:cNvPr id="397314" name="Rectangle 2"/>
          <p:cNvSpPr>
            <a:spLocks noGrp="1" noRot="1" noChangeAspect="1" noChangeArrowheads="1" noTextEdit="1"/>
          </p:cNvSpPr>
          <p:nvPr>
            <p:ph type="sldImg"/>
          </p:nvPr>
        </p:nvSpPr>
        <p:spPr>
          <a:ln/>
        </p:spPr>
      </p:sp>
      <p:sp>
        <p:nvSpPr>
          <p:cNvPr id="397315" name="Rectangle 3"/>
          <p:cNvSpPr>
            <a:spLocks noGrp="1" noChangeArrowheads="1"/>
          </p:cNvSpPr>
          <p:nvPr>
            <p:ph type="body" idx="1"/>
          </p:nvPr>
        </p:nvSpPr>
        <p:spPr/>
        <p:txBody>
          <a:bodyPr/>
          <a:lstStyle/>
          <a:p>
            <a:endParaRPr lang="zh-CN" altLang="zh-CN"/>
          </a:p>
        </p:txBody>
      </p:sp>
    </p:spTree>
    <p:extLst>
      <p:ext uri="{BB962C8B-B14F-4D97-AF65-F5344CB8AC3E}">
        <p14:creationId xmlns:p14="http://schemas.microsoft.com/office/powerpoint/2010/main" val="395463095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D2D115D0-7D94-4E93-BF15-23287DC6475C}" type="slidenum">
              <a:rPr lang="en-US" altLang="zh-CN"/>
              <a:pPr/>
              <a:t>8</a:t>
            </a:fld>
            <a:endParaRPr lang="en-US" altLang="zh-CN"/>
          </a:p>
        </p:txBody>
      </p:sp>
      <p:sp>
        <p:nvSpPr>
          <p:cNvPr id="210946" name="Rectangle 2"/>
          <p:cNvSpPr>
            <a:spLocks noGrp="1" noRot="1" noChangeAspect="1" noChangeArrowheads="1" noTextEdit="1"/>
          </p:cNvSpPr>
          <p:nvPr>
            <p:ph type="sldImg"/>
          </p:nvPr>
        </p:nvSpPr>
        <p:spPr>
          <a:ln/>
        </p:spPr>
      </p:sp>
      <p:sp>
        <p:nvSpPr>
          <p:cNvPr id="210947" name="Rectangle 3"/>
          <p:cNvSpPr>
            <a:spLocks noGrp="1" noChangeArrowheads="1"/>
          </p:cNvSpPr>
          <p:nvPr>
            <p:ph type="body" idx="1"/>
          </p:nvPr>
        </p:nvSpPr>
        <p:spPr/>
        <p:txBody>
          <a:bodyPr/>
          <a:lstStyle/>
          <a:p>
            <a:endParaRPr lang="zh-CN" altLang="zh-CN"/>
          </a:p>
        </p:txBody>
      </p:sp>
    </p:spTree>
    <p:extLst>
      <p:ext uri="{BB962C8B-B14F-4D97-AF65-F5344CB8AC3E}">
        <p14:creationId xmlns:p14="http://schemas.microsoft.com/office/powerpoint/2010/main" val="44422343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B69209DC-C81D-45A0-A440-50E88F7C0313}" type="slidenum">
              <a:rPr lang="en-US" altLang="zh-CN"/>
              <a:pPr/>
              <a:t>9</a:t>
            </a:fld>
            <a:endParaRPr lang="en-US" altLang="zh-CN"/>
          </a:p>
        </p:txBody>
      </p:sp>
      <p:sp>
        <p:nvSpPr>
          <p:cNvPr id="397314" name="Rectangle 2"/>
          <p:cNvSpPr>
            <a:spLocks noGrp="1" noRot="1" noChangeAspect="1" noChangeArrowheads="1" noTextEdit="1"/>
          </p:cNvSpPr>
          <p:nvPr>
            <p:ph type="sldImg"/>
          </p:nvPr>
        </p:nvSpPr>
        <p:spPr>
          <a:ln/>
        </p:spPr>
      </p:sp>
      <p:sp>
        <p:nvSpPr>
          <p:cNvPr id="397315" name="Rectangle 3"/>
          <p:cNvSpPr>
            <a:spLocks noGrp="1" noChangeArrowheads="1"/>
          </p:cNvSpPr>
          <p:nvPr>
            <p:ph type="body" idx="1"/>
          </p:nvPr>
        </p:nvSpPr>
        <p:spPr/>
        <p:txBody>
          <a:bodyPr/>
          <a:lstStyle/>
          <a:p>
            <a:endParaRPr lang="zh-CN" altLang="zh-CN"/>
          </a:p>
        </p:txBody>
      </p:sp>
    </p:spTree>
    <p:extLst>
      <p:ext uri="{BB962C8B-B14F-4D97-AF65-F5344CB8AC3E}">
        <p14:creationId xmlns:p14="http://schemas.microsoft.com/office/powerpoint/2010/main" val="143501688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21B33819-7C87-4C52-9DCE-C6D16E08C588}" type="slidenum">
              <a:rPr lang="en-US" altLang="zh-CN"/>
              <a:pPr/>
              <a:t>10</a:t>
            </a:fld>
            <a:endParaRPr lang="en-US" altLang="zh-CN"/>
          </a:p>
        </p:txBody>
      </p:sp>
      <p:sp>
        <p:nvSpPr>
          <p:cNvPr id="401410" name="Rectangle 2"/>
          <p:cNvSpPr>
            <a:spLocks noGrp="1" noRot="1" noChangeAspect="1" noChangeArrowheads="1" noTextEdit="1"/>
          </p:cNvSpPr>
          <p:nvPr>
            <p:ph type="sldImg"/>
          </p:nvPr>
        </p:nvSpPr>
        <p:spPr>
          <a:ln/>
        </p:spPr>
      </p:sp>
      <p:sp>
        <p:nvSpPr>
          <p:cNvPr id="401411" name="Rectangle 3"/>
          <p:cNvSpPr>
            <a:spLocks noGrp="1" noChangeArrowheads="1"/>
          </p:cNvSpPr>
          <p:nvPr>
            <p:ph type="body" idx="1"/>
          </p:nvPr>
        </p:nvSpPr>
        <p:spPr/>
        <p:txBody>
          <a:bodyPr/>
          <a:lstStyle/>
          <a:p>
            <a:endParaRPr lang="zh-CN" altLang="zh-CN"/>
          </a:p>
        </p:txBody>
      </p:sp>
    </p:spTree>
    <p:extLst>
      <p:ext uri="{BB962C8B-B14F-4D97-AF65-F5344CB8AC3E}">
        <p14:creationId xmlns:p14="http://schemas.microsoft.com/office/powerpoint/2010/main" val="156832936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B69209DC-C81D-45A0-A440-50E88F7C0313}" type="slidenum">
              <a:rPr lang="en-US" altLang="zh-CN"/>
              <a:pPr/>
              <a:t>11</a:t>
            </a:fld>
            <a:endParaRPr lang="en-US" altLang="zh-CN"/>
          </a:p>
        </p:txBody>
      </p:sp>
      <p:sp>
        <p:nvSpPr>
          <p:cNvPr id="397314" name="Rectangle 2"/>
          <p:cNvSpPr>
            <a:spLocks noGrp="1" noRot="1" noChangeAspect="1" noChangeArrowheads="1" noTextEdit="1"/>
          </p:cNvSpPr>
          <p:nvPr>
            <p:ph type="sldImg"/>
          </p:nvPr>
        </p:nvSpPr>
        <p:spPr>
          <a:ln/>
        </p:spPr>
      </p:sp>
      <p:sp>
        <p:nvSpPr>
          <p:cNvPr id="397315" name="Rectangle 3"/>
          <p:cNvSpPr>
            <a:spLocks noGrp="1" noChangeArrowheads="1"/>
          </p:cNvSpPr>
          <p:nvPr>
            <p:ph type="body" idx="1"/>
          </p:nvPr>
        </p:nvSpPr>
        <p:spPr/>
        <p:txBody>
          <a:bodyPr/>
          <a:lstStyle/>
          <a:p>
            <a:endParaRPr lang="zh-CN" altLang="zh-CN"/>
          </a:p>
        </p:txBody>
      </p:sp>
    </p:spTree>
    <p:extLst>
      <p:ext uri="{BB962C8B-B14F-4D97-AF65-F5344CB8AC3E}">
        <p14:creationId xmlns:p14="http://schemas.microsoft.com/office/powerpoint/2010/main" val="346691103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941A5DF6-9F55-4518-BD48-7158018D16D7}" type="slidenum">
              <a:rPr lang="en-US" altLang="zh-CN"/>
              <a:pPr/>
              <a:t>14</a:t>
            </a:fld>
            <a:endParaRPr lang="en-US" altLang="zh-CN"/>
          </a:p>
        </p:txBody>
      </p:sp>
      <p:sp>
        <p:nvSpPr>
          <p:cNvPr id="407554" name="Rectangle 2"/>
          <p:cNvSpPr>
            <a:spLocks noGrp="1" noRot="1" noChangeAspect="1" noChangeArrowheads="1" noTextEdit="1"/>
          </p:cNvSpPr>
          <p:nvPr>
            <p:ph type="sldImg"/>
          </p:nvPr>
        </p:nvSpPr>
        <p:spPr>
          <a:ln/>
        </p:spPr>
      </p:sp>
      <p:sp>
        <p:nvSpPr>
          <p:cNvPr id="407555" name="Rectangle 3"/>
          <p:cNvSpPr>
            <a:spLocks noGrp="1" noChangeArrowheads="1"/>
          </p:cNvSpPr>
          <p:nvPr>
            <p:ph type="body" idx="1"/>
          </p:nvPr>
        </p:nvSpPr>
        <p:spPr/>
        <p:txBody>
          <a:bodyPr/>
          <a:lstStyle/>
          <a:p>
            <a:endParaRPr lang="zh-CN" altLang="zh-CN"/>
          </a:p>
        </p:txBody>
      </p:sp>
    </p:spTree>
    <p:extLst>
      <p:ext uri="{BB962C8B-B14F-4D97-AF65-F5344CB8AC3E}">
        <p14:creationId xmlns:p14="http://schemas.microsoft.com/office/powerpoint/2010/main" val="252902926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3A6D76BE-52E1-4D78-B74F-FED8858C4A91}" type="slidenum">
              <a:rPr lang="en-US" altLang="zh-CN"/>
              <a:pPr/>
              <a:t>15</a:t>
            </a:fld>
            <a:endParaRPr lang="en-US" altLang="zh-CN"/>
          </a:p>
        </p:txBody>
      </p:sp>
      <p:sp>
        <p:nvSpPr>
          <p:cNvPr id="411650" name="Rectangle 2"/>
          <p:cNvSpPr>
            <a:spLocks noGrp="1" noRot="1" noChangeAspect="1" noChangeArrowheads="1" noTextEdit="1"/>
          </p:cNvSpPr>
          <p:nvPr>
            <p:ph type="sldImg"/>
          </p:nvPr>
        </p:nvSpPr>
        <p:spPr>
          <a:ln/>
        </p:spPr>
      </p:sp>
      <p:sp>
        <p:nvSpPr>
          <p:cNvPr id="411651" name="Rectangle 3"/>
          <p:cNvSpPr>
            <a:spLocks noGrp="1" noChangeArrowheads="1"/>
          </p:cNvSpPr>
          <p:nvPr>
            <p:ph type="body" idx="1"/>
          </p:nvPr>
        </p:nvSpPr>
        <p:spPr/>
        <p:txBody>
          <a:bodyPr/>
          <a:lstStyle/>
          <a:p>
            <a:endParaRPr lang="zh-CN" altLang="zh-CN"/>
          </a:p>
        </p:txBody>
      </p:sp>
    </p:spTree>
    <p:extLst>
      <p:ext uri="{BB962C8B-B14F-4D97-AF65-F5344CB8AC3E}">
        <p14:creationId xmlns:p14="http://schemas.microsoft.com/office/powerpoint/2010/main" val="388779376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5C62B896-5CDB-44DD-8B0F-C2031B5F4E51}" type="slidenum">
              <a:rPr lang="en-US" altLang="zh-CN"/>
              <a:pPr/>
              <a:t>16</a:t>
            </a:fld>
            <a:endParaRPr lang="en-US" altLang="zh-CN"/>
          </a:p>
        </p:txBody>
      </p:sp>
      <p:sp>
        <p:nvSpPr>
          <p:cNvPr id="220162" name="Rectangle 2"/>
          <p:cNvSpPr>
            <a:spLocks noGrp="1" noRot="1" noChangeAspect="1" noChangeArrowheads="1" noTextEdit="1"/>
          </p:cNvSpPr>
          <p:nvPr>
            <p:ph type="sldImg"/>
          </p:nvPr>
        </p:nvSpPr>
        <p:spPr>
          <a:ln/>
        </p:spPr>
      </p:sp>
      <p:sp>
        <p:nvSpPr>
          <p:cNvPr id="220163" name="Rectangle 3"/>
          <p:cNvSpPr>
            <a:spLocks noGrp="1" noChangeArrowheads="1"/>
          </p:cNvSpPr>
          <p:nvPr>
            <p:ph type="body" idx="1"/>
          </p:nvPr>
        </p:nvSpPr>
        <p:spPr/>
        <p:txBody>
          <a:bodyPr/>
          <a:lstStyle/>
          <a:p>
            <a:endParaRPr lang="zh-CN" altLang="zh-CN" dirty="0"/>
          </a:p>
        </p:txBody>
      </p:sp>
    </p:spTree>
    <p:extLst>
      <p:ext uri="{BB962C8B-B14F-4D97-AF65-F5344CB8AC3E}">
        <p14:creationId xmlns:p14="http://schemas.microsoft.com/office/powerpoint/2010/main" val="47588918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7416E053-B071-45E1-8CED-A56D5F0B0EB4}" type="slidenum">
              <a:rPr lang="en-US" altLang="zh-CN"/>
              <a:pPr/>
              <a:t>28</a:t>
            </a:fld>
            <a:endParaRPr lang="en-US" altLang="zh-CN" dirty="0"/>
          </a:p>
        </p:txBody>
      </p:sp>
      <p:sp>
        <p:nvSpPr>
          <p:cNvPr id="368642" name="Rectangle 2"/>
          <p:cNvSpPr>
            <a:spLocks noGrp="1" noRot="1" noChangeAspect="1" noChangeArrowheads="1" noTextEdit="1"/>
          </p:cNvSpPr>
          <p:nvPr>
            <p:ph type="sldImg"/>
          </p:nvPr>
        </p:nvSpPr>
        <p:spPr>
          <a:ln/>
        </p:spPr>
      </p:sp>
      <p:sp>
        <p:nvSpPr>
          <p:cNvPr id="368643" name="Rectangle 3"/>
          <p:cNvSpPr>
            <a:spLocks noGrp="1" noChangeArrowheads="1"/>
          </p:cNvSpPr>
          <p:nvPr>
            <p:ph type="body" idx="1"/>
          </p:nvPr>
        </p:nvSpPr>
        <p:spPr/>
        <p:txBody>
          <a:bodyPr/>
          <a:lstStyle/>
          <a:p>
            <a:endParaRPr lang="zh-CN" altLang="zh-CN"/>
          </a:p>
        </p:txBody>
      </p:sp>
    </p:spTree>
    <p:extLst>
      <p:ext uri="{BB962C8B-B14F-4D97-AF65-F5344CB8AC3E}">
        <p14:creationId xmlns:p14="http://schemas.microsoft.com/office/powerpoint/2010/main" val="100800607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90B17D4C-B9BB-4428-AF92-F9D98C95CE58}" type="slidenum">
              <a:rPr lang="zh-CN" altLang="en-US" smtClean="0"/>
              <a:t>37</a:t>
            </a:fld>
            <a:endParaRPr lang="zh-CN" altLang="en-US"/>
          </a:p>
        </p:txBody>
      </p:sp>
    </p:spTree>
    <p:extLst>
      <p:ext uri="{BB962C8B-B14F-4D97-AF65-F5344CB8AC3E}">
        <p14:creationId xmlns:p14="http://schemas.microsoft.com/office/powerpoint/2010/main" val="94587949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0E33F287-0397-456E-94C8-3BD34ECBE23A}" type="slidenum">
              <a:rPr lang="zh-CN" altLang="en-US" smtClean="0"/>
              <a:t>38</a:t>
            </a:fld>
            <a:endParaRPr lang="zh-CN" altLang="en-US"/>
          </a:p>
        </p:txBody>
      </p:sp>
    </p:spTree>
    <p:extLst>
      <p:ext uri="{BB962C8B-B14F-4D97-AF65-F5344CB8AC3E}">
        <p14:creationId xmlns:p14="http://schemas.microsoft.com/office/powerpoint/2010/main" val="279115493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0E33F287-0397-456E-94C8-3BD34ECBE23A}" type="slidenum">
              <a:rPr lang="zh-CN" altLang="en-US" smtClean="0"/>
              <a:t>39</a:t>
            </a:fld>
            <a:endParaRPr lang="zh-CN" altLang="en-US"/>
          </a:p>
        </p:txBody>
      </p:sp>
    </p:spTree>
    <p:extLst>
      <p:ext uri="{BB962C8B-B14F-4D97-AF65-F5344CB8AC3E}">
        <p14:creationId xmlns:p14="http://schemas.microsoft.com/office/powerpoint/2010/main" val="342331097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0E33F287-0397-456E-94C8-3BD34ECBE23A}" type="slidenum">
              <a:rPr lang="zh-CN" altLang="en-US" smtClean="0"/>
              <a:t>40</a:t>
            </a:fld>
            <a:endParaRPr lang="zh-CN" altLang="en-US"/>
          </a:p>
        </p:txBody>
      </p:sp>
    </p:spTree>
    <p:extLst>
      <p:ext uri="{BB962C8B-B14F-4D97-AF65-F5344CB8AC3E}">
        <p14:creationId xmlns:p14="http://schemas.microsoft.com/office/powerpoint/2010/main" val="195003798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Master" Target="../slideMasters/slideMaster7.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a:t>单击此处编辑母版标题样式</a:t>
            </a:r>
          </a:p>
        </p:txBody>
      </p:sp>
      <p:sp>
        <p:nvSpPr>
          <p:cNvPr id="3" name="副标题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p>
        </p:txBody>
      </p:sp>
      <p:sp>
        <p:nvSpPr>
          <p:cNvPr id="4" name="日期占位符 3"/>
          <p:cNvSpPr>
            <a:spLocks noGrp="1"/>
          </p:cNvSpPr>
          <p:nvPr>
            <p:ph type="dt" sz="half" idx="10"/>
          </p:nvPr>
        </p:nvSpPr>
        <p:spPr/>
        <p:txBody>
          <a:bodyPr/>
          <a:lstStyle/>
          <a:p>
            <a:fld id="{78B5DD27-1B41-430B-B117-B480FAFAA798}" type="datetime10">
              <a:rPr lang="zh-CN" altLang="en-US" smtClean="0"/>
              <a:t>14:22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650851C3-88A0-40D2-9357-2281829DF8A5}" type="slidenum">
              <a:rPr lang="zh-CN" altLang="en-US" smtClean="0"/>
              <a:t>‹#›</a:t>
            </a:fld>
            <a:endParaRPr lang="zh-CN" altLang="en-US"/>
          </a:p>
        </p:txBody>
      </p:sp>
    </p:spTree>
    <p:extLst>
      <p:ext uri="{BB962C8B-B14F-4D97-AF65-F5344CB8AC3E}">
        <p14:creationId xmlns:p14="http://schemas.microsoft.com/office/powerpoint/2010/main" val="218855969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DE8FC977-7029-4E52-AA78-1528AF09FA18}" type="datetime10">
              <a:rPr lang="zh-CN" altLang="en-US" smtClean="0"/>
              <a:t>14:22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650851C3-88A0-40D2-9357-2281829DF8A5}" type="slidenum">
              <a:rPr lang="zh-CN" altLang="en-US" smtClean="0"/>
              <a:t>‹#›</a:t>
            </a:fld>
            <a:endParaRPr lang="zh-CN" altLang="en-US"/>
          </a:p>
        </p:txBody>
      </p:sp>
    </p:spTree>
    <p:extLst>
      <p:ext uri="{BB962C8B-B14F-4D97-AF65-F5344CB8AC3E}">
        <p14:creationId xmlns:p14="http://schemas.microsoft.com/office/powerpoint/2010/main" val="41457824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16EF3ACD-97DB-4D07-B5F1-AAE357554889}" type="datetime10">
              <a:rPr lang="zh-CN" altLang="en-US" smtClean="0"/>
              <a:t>14:22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650851C3-88A0-40D2-9357-2281829DF8A5}" type="slidenum">
              <a:rPr lang="zh-CN" altLang="en-US" smtClean="0"/>
              <a:t>‹#›</a:t>
            </a:fld>
            <a:endParaRPr lang="zh-CN" altLang="en-US"/>
          </a:p>
        </p:txBody>
      </p:sp>
    </p:spTree>
    <p:extLst>
      <p:ext uri="{BB962C8B-B14F-4D97-AF65-F5344CB8AC3E}">
        <p14:creationId xmlns:p14="http://schemas.microsoft.com/office/powerpoint/2010/main" val="121261815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453B3BC8-F658-4DF5-B841-930FC2357446}" type="datetime10">
              <a:rPr lang="zh-CN" altLang="en-US" smtClean="0"/>
              <a:t>14:22</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650851C3-88A0-40D2-9357-2281829DF8A5}" type="slidenum">
              <a:rPr lang="zh-CN" altLang="en-US" smtClean="0"/>
              <a:t>‹#›</a:t>
            </a:fld>
            <a:endParaRPr lang="zh-CN" altLang="en-US"/>
          </a:p>
        </p:txBody>
      </p:sp>
    </p:spTree>
    <p:extLst>
      <p:ext uri="{BB962C8B-B14F-4D97-AF65-F5344CB8AC3E}">
        <p14:creationId xmlns:p14="http://schemas.microsoft.com/office/powerpoint/2010/main" val="328695571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8BCD6416-CF72-4C86-91C4-6E8240E86A4E}" type="datetime10">
              <a:rPr lang="zh-CN" altLang="en-US" smtClean="0"/>
              <a:t>14:22</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650851C3-88A0-40D2-9357-2281829DF8A5}" type="slidenum">
              <a:rPr lang="zh-CN" altLang="en-US" smtClean="0"/>
              <a:t>‹#›</a:t>
            </a:fld>
            <a:endParaRPr lang="zh-CN" altLang="en-US"/>
          </a:p>
        </p:txBody>
      </p:sp>
    </p:spTree>
    <p:extLst>
      <p:ext uri="{BB962C8B-B14F-4D97-AF65-F5344CB8AC3E}">
        <p14:creationId xmlns:p14="http://schemas.microsoft.com/office/powerpoint/2010/main" val="61720418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DED96432-27A1-4AB6-8B7E-C5D976A0CCBE}" type="datetime10">
              <a:rPr lang="zh-CN" altLang="en-US" smtClean="0"/>
              <a:t>14:22</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650851C3-88A0-40D2-9357-2281829DF8A5}" type="slidenum">
              <a:rPr lang="zh-CN" altLang="en-US" smtClean="0"/>
              <a:t>‹#›</a:t>
            </a:fld>
            <a:endParaRPr lang="zh-CN" altLang="en-US"/>
          </a:p>
        </p:txBody>
      </p:sp>
    </p:spTree>
    <p:extLst>
      <p:ext uri="{BB962C8B-B14F-4D97-AF65-F5344CB8AC3E}">
        <p14:creationId xmlns:p14="http://schemas.microsoft.com/office/powerpoint/2010/main" val="231934407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FCF09FBC-C4FB-4D98-99AC-5E25A21994C9}" type="datetime10">
              <a:rPr lang="zh-CN" altLang="en-US" smtClean="0"/>
              <a:t>14:22</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650851C3-88A0-40D2-9357-2281829DF8A5}" type="slidenum">
              <a:rPr lang="zh-CN" altLang="en-US" smtClean="0"/>
              <a:t>‹#›</a:t>
            </a:fld>
            <a:endParaRPr lang="zh-CN" altLang="en-US"/>
          </a:p>
        </p:txBody>
      </p:sp>
    </p:spTree>
    <p:extLst>
      <p:ext uri="{BB962C8B-B14F-4D97-AF65-F5344CB8AC3E}">
        <p14:creationId xmlns:p14="http://schemas.microsoft.com/office/powerpoint/2010/main" val="209985997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AB65333E-34CB-41F4-BF69-435A7F950B41}" type="datetime10">
              <a:rPr lang="zh-CN" altLang="en-US" smtClean="0"/>
              <a:t>14:22</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650851C3-88A0-40D2-9357-2281829DF8A5}" type="slidenum">
              <a:rPr lang="zh-CN" altLang="en-US" smtClean="0"/>
              <a:t>‹#›</a:t>
            </a:fld>
            <a:endParaRPr lang="zh-CN" altLang="en-US"/>
          </a:p>
        </p:txBody>
      </p:sp>
    </p:spTree>
    <p:extLst>
      <p:ext uri="{BB962C8B-B14F-4D97-AF65-F5344CB8AC3E}">
        <p14:creationId xmlns:p14="http://schemas.microsoft.com/office/powerpoint/2010/main" val="87069798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89F8E842-AE95-49F1-AD91-E0A6D1DB1AA8}" type="datetime10">
              <a:rPr lang="zh-CN" altLang="en-US" smtClean="0"/>
              <a:t>14:22</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650851C3-88A0-40D2-9357-2281829DF8A5}" type="slidenum">
              <a:rPr lang="zh-CN" altLang="en-US" smtClean="0"/>
              <a:t>‹#›</a:t>
            </a:fld>
            <a:endParaRPr lang="zh-CN" altLang="en-US"/>
          </a:p>
        </p:txBody>
      </p:sp>
    </p:spTree>
    <p:extLst>
      <p:ext uri="{BB962C8B-B14F-4D97-AF65-F5344CB8AC3E}">
        <p14:creationId xmlns:p14="http://schemas.microsoft.com/office/powerpoint/2010/main" val="299174195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8F01D04E-D6BA-4555-BEFE-7F12589DE556}" type="datetime10">
              <a:rPr lang="zh-CN" altLang="en-US" smtClean="0"/>
              <a:t>14:22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650851C3-88A0-40D2-9357-2281829DF8A5}" type="slidenum">
              <a:rPr lang="zh-CN" altLang="en-US" smtClean="0"/>
              <a:t>‹#›</a:t>
            </a:fld>
            <a:endParaRPr lang="zh-CN" altLang="en-US"/>
          </a:p>
        </p:txBody>
      </p:sp>
    </p:spTree>
    <p:extLst>
      <p:ext uri="{BB962C8B-B14F-4D97-AF65-F5344CB8AC3E}">
        <p14:creationId xmlns:p14="http://schemas.microsoft.com/office/powerpoint/2010/main" val="77196487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193557AC-E12E-4990-9ED3-1FE826B70770}" type="datetime10">
              <a:rPr lang="zh-CN" altLang="en-US" smtClean="0"/>
              <a:t>14:22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650851C3-88A0-40D2-9357-2281829DF8A5}" type="slidenum">
              <a:rPr lang="zh-CN" altLang="en-US" smtClean="0"/>
              <a:t>‹#›</a:t>
            </a:fld>
            <a:endParaRPr lang="zh-CN" altLang="en-US"/>
          </a:p>
        </p:txBody>
      </p:sp>
    </p:spTree>
    <p:extLst>
      <p:ext uri="{BB962C8B-B14F-4D97-AF65-F5344CB8AC3E}">
        <p14:creationId xmlns:p14="http://schemas.microsoft.com/office/powerpoint/2010/main" val="41704393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a:t>单击此处编辑母版标题样式</a:t>
            </a:r>
          </a:p>
        </p:txBody>
      </p:sp>
      <p:sp>
        <p:nvSpPr>
          <p:cNvPr id="3" name="副标题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p>
        </p:txBody>
      </p:sp>
      <p:sp>
        <p:nvSpPr>
          <p:cNvPr id="4" name="日期占位符 3"/>
          <p:cNvSpPr>
            <a:spLocks noGrp="1"/>
          </p:cNvSpPr>
          <p:nvPr>
            <p:ph type="dt" sz="half" idx="10"/>
          </p:nvPr>
        </p:nvSpPr>
        <p:spPr/>
        <p:txBody>
          <a:bodyPr/>
          <a:lstStyle/>
          <a:p>
            <a:fld id="{B5CD93A6-E3CE-4B24-BF82-7BC6E70FF5A6}" type="datetime10">
              <a:rPr lang="zh-CN" altLang="en-US" smtClean="0"/>
              <a:t>14:22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1864A2-EFEB-4586-A493-CA97B016BDDA}" type="slidenum">
              <a:rPr lang="zh-CN" altLang="en-US" smtClean="0"/>
              <a:t>‹#›</a:t>
            </a:fld>
            <a:endParaRPr lang="zh-CN" altLang="en-US"/>
          </a:p>
        </p:txBody>
      </p:sp>
    </p:spTree>
    <p:extLst>
      <p:ext uri="{BB962C8B-B14F-4D97-AF65-F5344CB8AC3E}">
        <p14:creationId xmlns:p14="http://schemas.microsoft.com/office/powerpoint/2010/main" val="97851890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2DC57BE3-B1B1-40D3-9C3A-221968893152}" type="datetime10">
              <a:rPr lang="zh-CN" altLang="en-US" smtClean="0"/>
              <a:t>14:22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1864A2-EFEB-4586-A493-CA97B016BDDA}" type="slidenum">
              <a:rPr lang="zh-CN" altLang="en-US" smtClean="0"/>
              <a:t>‹#›</a:t>
            </a:fld>
            <a:endParaRPr lang="zh-CN" altLang="en-US"/>
          </a:p>
        </p:txBody>
      </p:sp>
    </p:spTree>
    <p:extLst>
      <p:ext uri="{BB962C8B-B14F-4D97-AF65-F5344CB8AC3E}">
        <p14:creationId xmlns:p14="http://schemas.microsoft.com/office/powerpoint/2010/main" val="147402821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032F38F5-6780-47FA-AF30-8A34EC9B2F0B}" type="datetime10">
              <a:rPr lang="zh-CN" altLang="en-US" smtClean="0"/>
              <a:t>14:22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1864A2-EFEB-4586-A493-CA97B016BDDA}" type="slidenum">
              <a:rPr lang="zh-CN" altLang="en-US" smtClean="0"/>
              <a:t>‹#›</a:t>
            </a:fld>
            <a:endParaRPr lang="zh-CN" altLang="en-US"/>
          </a:p>
        </p:txBody>
      </p:sp>
    </p:spTree>
    <p:extLst>
      <p:ext uri="{BB962C8B-B14F-4D97-AF65-F5344CB8AC3E}">
        <p14:creationId xmlns:p14="http://schemas.microsoft.com/office/powerpoint/2010/main" val="239188140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82425054-8CD1-45B5-B277-12E74BBF790E}" type="datetime10">
              <a:rPr lang="zh-CN" altLang="en-US" smtClean="0"/>
              <a:t>14:22</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1864A2-EFEB-4586-A493-CA97B016BDDA}" type="slidenum">
              <a:rPr lang="zh-CN" altLang="en-US" smtClean="0"/>
              <a:t>‹#›</a:t>
            </a:fld>
            <a:endParaRPr lang="zh-CN" altLang="en-US"/>
          </a:p>
        </p:txBody>
      </p:sp>
    </p:spTree>
    <p:extLst>
      <p:ext uri="{BB962C8B-B14F-4D97-AF65-F5344CB8AC3E}">
        <p14:creationId xmlns:p14="http://schemas.microsoft.com/office/powerpoint/2010/main" val="322756703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D4F8C9D5-0E7F-4B24-A8EA-4EB8AE41234E}" type="datetime10">
              <a:rPr lang="zh-CN" altLang="en-US" smtClean="0"/>
              <a:t>14:22</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0C1864A2-EFEB-4586-A493-CA97B016BDDA}" type="slidenum">
              <a:rPr lang="zh-CN" altLang="en-US" smtClean="0"/>
              <a:t>‹#›</a:t>
            </a:fld>
            <a:endParaRPr lang="zh-CN" altLang="en-US"/>
          </a:p>
        </p:txBody>
      </p:sp>
    </p:spTree>
    <p:extLst>
      <p:ext uri="{BB962C8B-B14F-4D97-AF65-F5344CB8AC3E}">
        <p14:creationId xmlns:p14="http://schemas.microsoft.com/office/powerpoint/2010/main" val="18248510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8A870240-A660-44E6-B09E-7702883FD010}" type="datetime10">
              <a:rPr lang="zh-CN" altLang="en-US" smtClean="0"/>
              <a:t>14:22</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0C1864A2-EFEB-4586-A493-CA97B016BDDA}" type="slidenum">
              <a:rPr lang="zh-CN" altLang="en-US" smtClean="0"/>
              <a:t>‹#›</a:t>
            </a:fld>
            <a:endParaRPr lang="zh-CN" altLang="en-US"/>
          </a:p>
        </p:txBody>
      </p:sp>
    </p:spTree>
    <p:extLst>
      <p:ext uri="{BB962C8B-B14F-4D97-AF65-F5344CB8AC3E}">
        <p14:creationId xmlns:p14="http://schemas.microsoft.com/office/powerpoint/2010/main" val="110360714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583951CB-4734-4B3D-9AB3-D67A6CD7D599}" type="datetime10">
              <a:rPr lang="zh-CN" altLang="en-US" smtClean="0"/>
              <a:t>14:22</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0C1864A2-EFEB-4586-A493-CA97B016BDDA}" type="slidenum">
              <a:rPr lang="zh-CN" altLang="en-US" smtClean="0"/>
              <a:t>‹#›</a:t>
            </a:fld>
            <a:endParaRPr lang="zh-CN" altLang="en-US"/>
          </a:p>
        </p:txBody>
      </p:sp>
    </p:spTree>
    <p:extLst>
      <p:ext uri="{BB962C8B-B14F-4D97-AF65-F5344CB8AC3E}">
        <p14:creationId xmlns:p14="http://schemas.microsoft.com/office/powerpoint/2010/main" val="165753992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D5F9220C-45F4-460B-8180-BAD07AFA9ACC}" type="datetime10">
              <a:rPr lang="zh-CN" altLang="en-US" smtClean="0"/>
              <a:t>14:22</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1864A2-EFEB-4586-A493-CA97B016BDDA}" type="slidenum">
              <a:rPr lang="zh-CN" altLang="en-US" smtClean="0"/>
              <a:t>‹#›</a:t>
            </a:fld>
            <a:endParaRPr lang="zh-CN" altLang="en-US"/>
          </a:p>
        </p:txBody>
      </p:sp>
    </p:spTree>
    <p:extLst>
      <p:ext uri="{BB962C8B-B14F-4D97-AF65-F5344CB8AC3E}">
        <p14:creationId xmlns:p14="http://schemas.microsoft.com/office/powerpoint/2010/main" val="202160705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225BD0A3-4753-4491-B028-1350C1B546B9}" type="datetime10">
              <a:rPr lang="zh-CN" altLang="en-US" smtClean="0"/>
              <a:t>14:22</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1864A2-EFEB-4586-A493-CA97B016BDDA}" type="slidenum">
              <a:rPr lang="zh-CN" altLang="en-US" smtClean="0"/>
              <a:t>‹#›</a:t>
            </a:fld>
            <a:endParaRPr lang="zh-CN" altLang="en-US"/>
          </a:p>
        </p:txBody>
      </p:sp>
    </p:spTree>
    <p:extLst>
      <p:ext uri="{BB962C8B-B14F-4D97-AF65-F5344CB8AC3E}">
        <p14:creationId xmlns:p14="http://schemas.microsoft.com/office/powerpoint/2010/main" val="155631275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08FD459D-B2B0-46ED-B421-4D5B06249F82}" type="datetime10">
              <a:rPr lang="zh-CN" altLang="en-US" smtClean="0"/>
              <a:t>14:22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1864A2-EFEB-4586-A493-CA97B016BDDA}" type="slidenum">
              <a:rPr lang="zh-CN" altLang="en-US" smtClean="0"/>
              <a:t>‹#›</a:t>
            </a:fld>
            <a:endParaRPr lang="zh-CN" altLang="en-US"/>
          </a:p>
        </p:txBody>
      </p:sp>
    </p:spTree>
    <p:extLst>
      <p:ext uri="{BB962C8B-B14F-4D97-AF65-F5344CB8AC3E}">
        <p14:creationId xmlns:p14="http://schemas.microsoft.com/office/powerpoint/2010/main" val="56329349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158FF5B1-5645-4DED-8508-A0039BFE40E2}" type="datetime10">
              <a:rPr lang="zh-CN" altLang="en-US" smtClean="0"/>
              <a:t>14:22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1864A2-EFEB-4586-A493-CA97B016BDDA}" type="slidenum">
              <a:rPr lang="zh-CN" altLang="en-US" smtClean="0"/>
              <a:t>‹#›</a:t>
            </a:fld>
            <a:endParaRPr lang="zh-CN" altLang="en-US"/>
          </a:p>
        </p:txBody>
      </p:sp>
    </p:spTree>
    <p:extLst>
      <p:ext uri="{BB962C8B-B14F-4D97-AF65-F5344CB8AC3E}">
        <p14:creationId xmlns:p14="http://schemas.microsoft.com/office/powerpoint/2010/main" val="428926359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p:cSld name="标题幻灯片">
    <p:spTree>
      <p:nvGrpSpPr>
        <p:cNvPr id="1" name=""/>
        <p:cNvGrpSpPr/>
        <p:nvPr/>
      </p:nvGrpSpPr>
      <p:grpSpPr>
        <a:xfrm>
          <a:off x="0" y="0"/>
          <a:ext cx="0" cy="0"/>
          <a:chOff x="0" y="0"/>
          <a:chExt cx="0" cy="0"/>
        </a:xfrm>
      </p:grpSpPr>
      <p:pic>
        <p:nvPicPr>
          <p:cNvPr id="4" name="Picture 1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12" descr="a_1"/>
          <p:cNvPicPr>
            <a:picLocks noChangeAspect="1" noChangeArrowheads="1"/>
          </p:cNvPicPr>
          <p:nvPr/>
        </p:nvPicPr>
        <p:blipFill>
          <a:blip r:embed="rId3">
            <a:extLst>
              <a:ext uri="{28A0092B-C50C-407E-A947-70E740481C1C}">
                <a14:useLocalDpi xmlns:a14="http://schemas.microsoft.com/office/drawing/2010/main" val="0"/>
              </a:ext>
            </a:extLst>
          </a:blip>
          <a:srcRect l="2174"/>
          <a:stretch>
            <a:fillRect/>
          </a:stretch>
        </p:blipFill>
        <p:spPr bwMode="auto">
          <a:xfrm>
            <a:off x="0" y="0"/>
            <a:ext cx="9144000" cy="530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Line 27"/>
          <p:cNvSpPr>
            <a:spLocks noChangeShapeType="1"/>
          </p:cNvSpPr>
          <p:nvPr/>
        </p:nvSpPr>
        <p:spPr bwMode="auto">
          <a:xfrm>
            <a:off x="0" y="2590800"/>
            <a:ext cx="9144000" cy="0"/>
          </a:xfrm>
          <a:prstGeom prst="line">
            <a:avLst/>
          </a:prstGeom>
          <a:noFill/>
          <a:ln w="38100">
            <a:solidFill>
              <a:srgbClr val="FFFF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 name="Rectangle 29"/>
          <p:cNvSpPr>
            <a:spLocks noChangeArrowheads="1"/>
          </p:cNvSpPr>
          <p:nvPr/>
        </p:nvSpPr>
        <p:spPr bwMode="gray">
          <a:xfrm>
            <a:off x="0" y="0"/>
            <a:ext cx="9142413" cy="1447800"/>
          </a:xfrm>
          <a:prstGeom prst="rect">
            <a:avLst/>
          </a:prstGeom>
          <a:gradFill rotWithShape="1">
            <a:gsLst>
              <a:gs pos="0">
                <a:srgbClr val="81CFEB">
                  <a:alpha val="18999"/>
                </a:srgbClr>
              </a:gs>
              <a:gs pos="100000">
                <a:srgbClr val="FFFFFF"/>
              </a:gs>
            </a:gsLst>
            <a:lin ang="5400000" scaled="1"/>
          </a:gradFill>
          <a:ln>
            <a:noFill/>
          </a:ln>
          <a:extLst>
            <a:ext uri="{91240B29-F687-4F45-9708-019B960494DF}">
              <a14:hiddenLine xmlns:a14="http://schemas.microsoft.com/office/drawing/2010/main" w="0" algn="ctr">
                <a:solidFill>
                  <a:srgbClr val="000000"/>
                </a:solidFill>
                <a:miter lim="800000"/>
                <a:headEnd/>
                <a:tailEnd/>
              </a14:hiddenLine>
            </a:ext>
          </a:extLst>
        </p:spPr>
        <p:txBody>
          <a:bodyPr wrap="none" anchor="ctr"/>
          <a:lstStyle/>
          <a:p>
            <a:endParaRPr lang="zh-CN" altLang="en-US"/>
          </a:p>
        </p:txBody>
      </p:sp>
      <p:sp>
        <p:nvSpPr>
          <p:cNvPr id="10" name="Rectangle 33"/>
          <p:cNvSpPr>
            <a:spLocks noChangeArrowheads="1"/>
          </p:cNvSpPr>
          <p:nvPr/>
        </p:nvSpPr>
        <p:spPr bwMode="auto">
          <a:xfrm>
            <a:off x="0" y="1447800"/>
            <a:ext cx="9144000" cy="114300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a:p>
        </p:txBody>
      </p:sp>
      <p:sp>
        <p:nvSpPr>
          <p:cNvPr id="19" name="Rectangle 4"/>
          <p:cNvSpPr>
            <a:spLocks noChangeArrowheads="1"/>
          </p:cNvSpPr>
          <p:nvPr/>
        </p:nvSpPr>
        <p:spPr bwMode="auto">
          <a:xfrm>
            <a:off x="838200" y="6477000"/>
            <a:ext cx="9144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a:endParaRPr lang="zh-CN" altLang="zh-CN" sz="1400">
              <a:latin typeface="Times New Roman" pitchFamily="18" charset="0"/>
            </a:endParaRPr>
          </a:p>
        </p:txBody>
      </p:sp>
    </p:spTree>
    <p:extLst>
      <p:ext uri="{BB962C8B-B14F-4D97-AF65-F5344CB8AC3E}">
        <p14:creationId xmlns:p14="http://schemas.microsoft.com/office/powerpoint/2010/main" val="18079638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up)">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p:cNvSpPr>
            <a:spLocks noGrp="1" noChangeArrowheads="1"/>
          </p:cNvSpPr>
          <p:nvPr>
            <p:ph type="dt" sz="half" idx="10"/>
          </p:nvPr>
        </p:nvSpPr>
        <p:spPr>
          <a:xfrm>
            <a:off x="838200" y="6477000"/>
            <a:ext cx="914400" cy="228600"/>
          </a:xfrm>
          <a:prstGeom prst="rect">
            <a:avLst/>
          </a:prstGeom>
          <a:ln/>
        </p:spPr>
        <p:txBody>
          <a:bodyPr/>
          <a:lstStyle>
            <a:lvl1pPr>
              <a:defRPr/>
            </a:lvl1pPr>
          </a:lstStyle>
          <a:p>
            <a:fld id="{8109613B-5451-4CF3-AAA5-78B683543C35}" type="datetime10">
              <a:rPr lang="zh-CN" altLang="en-US" smtClean="0"/>
              <a:t>14:22</a:t>
            </a:fld>
            <a:endParaRPr lang="zh-CN" altLang="en-US"/>
          </a:p>
        </p:txBody>
      </p:sp>
      <p:sp>
        <p:nvSpPr>
          <p:cNvPr id="5" name="Rectangle 5"/>
          <p:cNvSpPr>
            <a:spLocks noGrp="1" noChangeArrowheads="1"/>
          </p:cNvSpPr>
          <p:nvPr>
            <p:ph type="ftr" sz="quarter" idx="11"/>
          </p:nvPr>
        </p:nvSpPr>
        <p:spPr>
          <a:xfrm>
            <a:off x="3124200" y="6245225"/>
            <a:ext cx="2895600" cy="476250"/>
          </a:xfrm>
          <a:prstGeom prst="rect">
            <a:avLst/>
          </a:prstGeom>
          <a:ln/>
        </p:spPr>
        <p:txBody>
          <a:bodyPr/>
          <a:lstStyle>
            <a:lvl1pPr>
              <a:defRPr/>
            </a:lvl1pPr>
          </a:lstStyle>
          <a:p>
            <a:endParaRPr lang="zh-CN" altLang="en-US"/>
          </a:p>
        </p:txBody>
      </p:sp>
      <p:sp>
        <p:nvSpPr>
          <p:cNvPr id="6" name="Rectangle 6"/>
          <p:cNvSpPr>
            <a:spLocks noGrp="1" noChangeArrowheads="1"/>
          </p:cNvSpPr>
          <p:nvPr>
            <p:ph type="sldNum" sz="quarter" idx="12"/>
          </p:nvPr>
        </p:nvSpPr>
        <p:spPr>
          <a:xfrm>
            <a:off x="6553200" y="6245225"/>
            <a:ext cx="2133600" cy="476250"/>
          </a:xfrm>
          <a:prstGeom prst="rect">
            <a:avLst/>
          </a:prstGeom>
          <a:ln/>
        </p:spPr>
        <p:txBody>
          <a:bodyPr/>
          <a:lstStyle>
            <a:lvl1pPr>
              <a:defRPr/>
            </a:lvl1pPr>
          </a:lstStyle>
          <a:p>
            <a:fld id="{0C913308-F349-4B6D-A68A-DD1791B4A57B}" type="slidenum">
              <a:rPr lang="zh-CN" altLang="en-US" smtClean="0"/>
              <a:t>‹#›</a:t>
            </a:fld>
            <a:endParaRPr lang="zh-CN" altLang="en-US"/>
          </a:p>
        </p:txBody>
      </p:sp>
    </p:spTree>
    <p:extLst>
      <p:ext uri="{BB962C8B-B14F-4D97-AF65-F5344CB8AC3E}">
        <p14:creationId xmlns:p14="http://schemas.microsoft.com/office/powerpoint/2010/main" val="284879062"/>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Rectangle 4"/>
          <p:cNvSpPr>
            <a:spLocks noGrp="1" noChangeArrowheads="1"/>
          </p:cNvSpPr>
          <p:nvPr>
            <p:ph type="dt" sz="half" idx="10"/>
          </p:nvPr>
        </p:nvSpPr>
        <p:spPr>
          <a:xfrm>
            <a:off x="838200" y="6477000"/>
            <a:ext cx="914400" cy="228600"/>
          </a:xfrm>
          <a:prstGeom prst="rect">
            <a:avLst/>
          </a:prstGeom>
          <a:ln/>
        </p:spPr>
        <p:txBody>
          <a:bodyPr/>
          <a:lstStyle>
            <a:lvl1pPr>
              <a:defRPr/>
            </a:lvl1pPr>
          </a:lstStyle>
          <a:p>
            <a:fld id="{A75E6A40-427D-43E8-9153-654668AD7E6E}" type="datetime10">
              <a:rPr lang="zh-CN" altLang="en-US" smtClean="0"/>
              <a:t>14:22</a:t>
            </a:fld>
            <a:endParaRPr lang="zh-CN" altLang="en-US"/>
          </a:p>
        </p:txBody>
      </p:sp>
      <p:sp>
        <p:nvSpPr>
          <p:cNvPr id="5" name="Rectangle 5"/>
          <p:cNvSpPr>
            <a:spLocks noGrp="1" noChangeArrowheads="1"/>
          </p:cNvSpPr>
          <p:nvPr>
            <p:ph type="ftr" sz="quarter" idx="11"/>
          </p:nvPr>
        </p:nvSpPr>
        <p:spPr>
          <a:xfrm>
            <a:off x="3124200" y="6245225"/>
            <a:ext cx="2895600" cy="476250"/>
          </a:xfrm>
          <a:prstGeom prst="rect">
            <a:avLst/>
          </a:prstGeom>
          <a:ln/>
        </p:spPr>
        <p:txBody>
          <a:bodyPr/>
          <a:lstStyle>
            <a:lvl1pPr>
              <a:defRPr/>
            </a:lvl1pPr>
          </a:lstStyle>
          <a:p>
            <a:endParaRPr lang="zh-CN" altLang="en-US"/>
          </a:p>
        </p:txBody>
      </p:sp>
      <p:sp>
        <p:nvSpPr>
          <p:cNvPr id="6" name="Rectangle 6"/>
          <p:cNvSpPr>
            <a:spLocks noGrp="1" noChangeArrowheads="1"/>
          </p:cNvSpPr>
          <p:nvPr>
            <p:ph type="sldNum" sz="quarter" idx="12"/>
          </p:nvPr>
        </p:nvSpPr>
        <p:spPr>
          <a:xfrm>
            <a:off x="6553200" y="6245225"/>
            <a:ext cx="2133600" cy="476250"/>
          </a:xfrm>
          <a:prstGeom prst="rect">
            <a:avLst/>
          </a:prstGeom>
          <a:ln/>
        </p:spPr>
        <p:txBody>
          <a:bodyPr/>
          <a:lstStyle>
            <a:lvl1pPr>
              <a:defRPr/>
            </a:lvl1pPr>
          </a:lstStyle>
          <a:p>
            <a:fld id="{0C913308-F349-4B6D-A68A-DD1791B4A57B}" type="slidenum">
              <a:rPr lang="zh-CN" altLang="en-US" smtClean="0"/>
              <a:t>‹#›</a:t>
            </a:fld>
            <a:endParaRPr lang="zh-CN" altLang="en-US"/>
          </a:p>
        </p:txBody>
      </p:sp>
    </p:spTree>
    <p:extLst>
      <p:ext uri="{BB962C8B-B14F-4D97-AF65-F5344CB8AC3E}">
        <p14:creationId xmlns:p14="http://schemas.microsoft.com/office/powerpoint/2010/main" val="1436277568"/>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990600" y="838200"/>
            <a:ext cx="3924300" cy="5181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5067300" y="838200"/>
            <a:ext cx="3924300" cy="5181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4"/>
          <p:cNvSpPr>
            <a:spLocks noGrp="1" noChangeArrowheads="1"/>
          </p:cNvSpPr>
          <p:nvPr>
            <p:ph type="dt" sz="half" idx="10"/>
          </p:nvPr>
        </p:nvSpPr>
        <p:spPr>
          <a:xfrm>
            <a:off x="838200" y="6477000"/>
            <a:ext cx="914400" cy="228600"/>
          </a:xfrm>
          <a:prstGeom prst="rect">
            <a:avLst/>
          </a:prstGeom>
          <a:ln/>
        </p:spPr>
        <p:txBody>
          <a:bodyPr/>
          <a:lstStyle>
            <a:lvl1pPr>
              <a:defRPr/>
            </a:lvl1pPr>
          </a:lstStyle>
          <a:p>
            <a:fld id="{DE9304F9-8F9F-4F54-8DF4-0988CEA4EFDC}" type="datetime10">
              <a:rPr lang="zh-CN" altLang="en-US" smtClean="0"/>
              <a:t>14:22</a:t>
            </a:fld>
            <a:endParaRPr lang="zh-CN" altLang="en-US"/>
          </a:p>
        </p:txBody>
      </p:sp>
      <p:sp>
        <p:nvSpPr>
          <p:cNvPr id="6" name="Rectangle 5"/>
          <p:cNvSpPr>
            <a:spLocks noGrp="1" noChangeArrowheads="1"/>
          </p:cNvSpPr>
          <p:nvPr>
            <p:ph type="ftr" sz="quarter" idx="11"/>
          </p:nvPr>
        </p:nvSpPr>
        <p:spPr>
          <a:xfrm>
            <a:off x="3124200" y="6245225"/>
            <a:ext cx="2895600" cy="476250"/>
          </a:xfrm>
          <a:prstGeom prst="rect">
            <a:avLst/>
          </a:prstGeom>
          <a:ln/>
        </p:spPr>
        <p:txBody>
          <a:bodyPr/>
          <a:lstStyle>
            <a:lvl1pPr>
              <a:defRPr/>
            </a:lvl1pPr>
          </a:lstStyle>
          <a:p>
            <a:endParaRPr lang="zh-CN" altLang="en-US"/>
          </a:p>
        </p:txBody>
      </p:sp>
      <p:sp>
        <p:nvSpPr>
          <p:cNvPr id="7" name="Rectangle 6"/>
          <p:cNvSpPr>
            <a:spLocks noGrp="1" noChangeArrowheads="1"/>
          </p:cNvSpPr>
          <p:nvPr>
            <p:ph type="sldNum" sz="quarter" idx="12"/>
          </p:nvPr>
        </p:nvSpPr>
        <p:spPr>
          <a:xfrm>
            <a:off x="6553200" y="6245225"/>
            <a:ext cx="2133600" cy="476250"/>
          </a:xfrm>
          <a:prstGeom prst="rect">
            <a:avLst/>
          </a:prstGeom>
          <a:ln/>
        </p:spPr>
        <p:txBody>
          <a:bodyPr/>
          <a:lstStyle>
            <a:lvl1pPr>
              <a:defRPr/>
            </a:lvl1pPr>
          </a:lstStyle>
          <a:p>
            <a:fld id="{0C913308-F349-4B6D-A68A-DD1791B4A57B}" type="slidenum">
              <a:rPr lang="zh-CN" altLang="en-US" smtClean="0"/>
              <a:t>‹#›</a:t>
            </a:fld>
            <a:endParaRPr lang="zh-CN" altLang="en-US"/>
          </a:p>
        </p:txBody>
      </p:sp>
    </p:spTree>
    <p:extLst>
      <p:ext uri="{BB962C8B-B14F-4D97-AF65-F5344CB8AC3E}">
        <p14:creationId xmlns:p14="http://schemas.microsoft.com/office/powerpoint/2010/main" val="571710451"/>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3186162442"/>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4"/>
          <p:cNvSpPr>
            <a:spLocks noGrp="1" noChangeArrowheads="1"/>
          </p:cNvSpPr>
          <p:nvPr>
            <p:ph type="dt" sz="half" idx="10"/>
          </p:nvPr>
        </p:nvSpPr>
        <p:spPr>
          <a:xfrm>
            <a:off x="838200" y="6477000"/>
            <a:ext cx="914400" cy="228600"/>
          </a:xfrm>
          <a:prstGeom prst="rect">
            <a:avLst/>
          </a:prstGeom>
          <a:ln/>
        </p:spPr>
        <p:txBody>
          <a:bodyPr/>
          <a:lstStyle>
            <a:lvl1pPr>
              <a:defRPr/>
            </a:lvl1pPr>
          </a:lstStyle>
          <a:p>
            <a:fld id="{9DC25527-484B-4EBE-83D4-63BE649DB438}" type="datetime10">
              <a:rPr lang="zh-CN" altLang="en-US" smtClean="0"/>
              <a:t>14:22</a:t>
            </a:fld>
            <a:endParaRPr lang="zh-CN" altLang="en-US"/>
          </a:p>
        </p:txBody>
      </p:sp>
      <p:sp>
        <p:nvSpPr>
          <p:cNvPr id="4" name="Rectangle 5"/>
          <p:cNvSpPr>
            <a:spLocks noGrp="1" noChangeArrowheads="1"/>
          </p:cNvSpPr>
          <p:nvPr>
            <p:ph type="ftr" sz="quarter" idx="11"/>
          </p:nvPr>
        </p:nvSpPr>
        <p:spPr>
          <a:xfrm>
            <a:off x="3124200" y="6245225"/>
            <a:ext cx="2895600" cy="476250"/>
          </a:xfrm>
          <a:prstGeom prst="rect">
            <a:avLst/>
          </a:prstGeom>
          <a:ln/>
        </p:spPr>
        <p:txBody>
          <a:bodyPr/>
          <a:lstStyle>
            <a:lvl1pPr>
              <a:defRPr/>
            </a:lvl1pPr>
          </a:lstStyle>
          <a:p>
            <a:endParaRPr lang="zh-CN" altLang="en-US"/>
          </a:p>
        </p:txBody>
      </p:sp>
      <p:sp>
        <p:nvSpPr>
          <p:cNvPr id="5" name="Rectangle 6"/>
          <p:cNvSpPr>
            <a:spLocks noGrp="1" noChangeArrowheads="1"/>
          </p:cNvSpPr>
          <p:nvPr>
            <p:ph type="sldNum" sz="quarter" idx="12"/>
          </p:nvPr>
        </p:nvSpPr>
        <p:spPr>
          <a:xfrm>
            <a:off x="6553200" y="6245225"/>
            <a:ext cx="2133600" cy="476250"/>
          </a:xfrm>
          <a:prstGeom prst="rect">
            <a:avLst/>
          </a:prstGeom>
          <a:ln/>
        </p:spPr>
        <p:txBody>
          <a:bodyPr/>
          <a:lstStyle>
            <a:lvl1pPr>
              <a:defRPr/>
            </a:lvl1pPr>
          </a:lstStyle>
          <a:p>
            <a:fld id="{0C913308-F349-4B6D-A68A-DD1791B4A57B}" type="slidenum">
              <a:rPr lang="zh-CN" altLang="en-US" smtClean="0"/>
              <a:t>‹#›</a:t>
            </a:fld>
            <a:endParaRPr lang="zh-CN" altLang="en-US"/>
          </a:p>
        </p:txBody>
      </p:sp>
    </p:spTree>
    <p:extLst>
      <p:ext uri="{BB962C8B-B14F-4D97-AF65-F5344CB8AC3E}">
        <p14:creationId xmlns:p14="http://schemas.microsoft.com/office/powerpoint/2010/main" val="2266810430"/>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xfrm>
            <a:off x="838200" y="6477000"/>
            <a:ext cx="914400" cy="228600"/>
          </a:xfrm>
          <a:prstGeom prst="rect">
            <a:avLst/>
          </a:prstGeom>
          <a:ln/>
        </p:spPr>
        <p:txBody>
          <a:bodyPr/>
          <a:lstStyle>
            <a:lvl1pPr>
              <a:defRPr/>
            </a:lvl1pPr>
          </a:lstStyle>
          <a:p>
            <a:fld id="{B66ECDC7-29F1-4AAE-8420-4063CBB64970}" type="datetime10">
              <a:rPr lang="zh-CN" altLang="en-US" smtClean="0"/>
              <a:t>14:22</a:t>
            </a:fld>
            <a:endParaRPr lang="zh-CN" altLang="en-US"/>
          </a:p>
        </p:txBody>
      </p:sp>
      <p:sp>
        <p:nvSpPr>
          <p:cNvPr id="3" name="Rectangle 5"/>
          <p:cNvSpPr>
            <a:spLocks noGrp="1" noChangeArrowheads="1"/>
          </p:cNvSpPr>
          <p:nvPr>
            <p:ph type="ftr" sz="quarter" idx="11"/>
          </p:nvPr>
        </p:nvSpPr>
        <p:spPr>
          <a:xfrm>
            <a:off x="3124200" y="6245225"/>
            <a:ext cx="2895600" cy="476250"/>
          </a:xfrm>
          <a:prstGeom prst="rect">
            <a:avLst/>
          </a:prstGeom>
          <a:ln/>
        </p:spPr>
        <p:txBody>
          <a:bodyPr/>
          <a:lstStyle>
            <a:lvl1pPr>
              <a:defRPr/>
            </a:lvl1pPr>
          </a:lstStyle>
          <a:p>
            <a:endParaRPr lang="zh-CN" altLang="en-US"/>
          </a:p>
        </p:txBody>
      </p:sp>
      <p:sp>
        <p:nvSpPr>
          <p:cNvPr id="4" name="Rectangle 6"/>
          <p:cNvSpPr>
            <a:spLocks noGrp="1" noChangeArrowheads="1"/>
          </p:cNvSpPr>
          <p:nvPr>
            <p:ph type="sldNum" sz="quarter" idx="12"/>
          </p:nvPr>
        </p:nvSpPr>
        <p:spPr>
          <a:xfrm>
            <a:off x="6553200" y="6245225"/>
            <a:ext cx="2133600" cy="476250"/>
          </a:xfrm>
          <a:prstGeom prst="rect">
            <a:avLst/>
          </a:prstGeom>
          <a:ln/>
        </p:spPr>
        <p:txBody>
          <a:bodyPr/>
          <a:lstStyle>
            <a:lvl1pPr>
              <a:defRPr/>
            </a:lvl1pPr>
          </a:lstStyle>
          <a:p>
            <a:fld id="{0C913308-F349-4B6D-A68A-DD1791B4A57B}" type="slidenum">
              <a:rPr lang="zh-CN" altLang="en-US" smtClean="0"/>
              <a:t>‹#›</a:t>
            </a:fld>
            <a:endParaRPr lang="zh-CN" altLang="en-US"/>
          </a:p>
        </p:txBody>
      </p:sp>
    </p:spTree>
    <p:extLst>
      <p:ext uri="{BB962C8B-B14F-4D97-AF65-F5344CB8AC3E}">
        <p14:creationId xmlns:p14="http://schemas.microsoft.com/office/powerpoint/2010/main" val="1505738575"/>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4"/>
          <p:cNvSpPr>
            <a:spLocks noGrp="1" noChangeArrowheads="1"/>
          </p:cNvSpPr>
          <p:nvPr>
            <p:ph type="dt" sz="half" idx="10"/>
          </p:nvPr>
        </p:nvSpPr>
        <p:spPr>
          <a:xfrm>
            <a:off x="838200" y="6477000"/>
            <a:ext cx="914400" cy="228600"/>
          </a:xfrm>
          <a:prstGeom prst="rect">
            <a:avLst/>
          </a:prstGeom>
          <a:ln/>
        </p:spPr>
        <p:txBody>
          <a:bodyPr/>
          <a:lstStyle>
            <a:lvl1pPr>
              <a:defRPr/>
            </a:lvl1pPr>
          </a:lstStyle>
          <a:p>
            <a:fld id="{C25BE4FD-3497-427C-958A-84600CF8DD0B}" type="datetime10">
              <a:rPr lang="zh-CN" altLang="en-US" smtClean="0"/>
              <a:t>14:22</a:t>
            </a:fld>
            <a:endParaRPr lang="zh-CN" altLang="en-US"/>
          </a:p>
        </p:txBody>
      </p:sp>
      <p:sp>
        <p:nvSpPr>
          <p:cNvPr id="6" name="Rectangle 5"/>
          <p:cNvSpPr>
            <a:spLocks noGrp="1" noChangeArrowheads="1"/>
          </p:cNvSpPr>
          <p:nvPr>
            <p:ph type="ftr" sz="quarter" idx="11"/>
          </p:nvPr>
        </p:nvSpPr>
        <p:spPr>
          <a:xfrm>
            <a:off x="3124200" y="6245225"/>
            <a:ext cx="2895600" cy="476250"/>
          </a:xfrm>
          <a:prstGeom prst="rect">
            <a:avLst/>
          </a:prstGeom>
          <a:ln/>
        </p:spPr>
        <p:txBody>
          <a:bodyPr/>
          <a:lstStyle>
            <a:lvl1pPr>
              <a:defRPr/>
            </a:lvl1pPr>
          </a:lstStyle>
          <a:p>
            <a:endParaRPr lang="zh-CN" altLang="en-US"/>
          </a:p>
        </p:txBody>
      </p:sp>
      <p:sp>
        <p:nvSpPr>
          <p:cNvPr id="7" name="Rectangle 6"/>
          <p:cNvSpPr>
            <a:spLocks noGrp="1" noChangeArrowheads="1"/>
          </p:cNvSpPr>
          <p:nvPr>
            <p:ph type="sldNum" sz="quarter" idx="12"/>
          </p:nvPr>
        </p:nvSpPr>
        <p:spPr>
          <a:xfrm>
            <a:off x="6553200" y="6245225"/>
            <a:ext cx="2133600" cy="476250"/>
          </a:xfrm>
          <a:prstGeom prst="rect">
            <a:avLst/>
          </a:prstGeom>
          <a:ln/>
        </p:spPr>
        <p:txBody>
          <a:bodyPr/>
          <a:lstStyle>
            <a:lvl1pPr>
              <a:defRPr/>
            </a:lvl1pPr>
          </a:lstStyle>
          <a:p>
            <a:fld id="{0C913308-F349-4B6D-A68A-DD1791B4A57B}" type="slidenum">
              <a:rPr lang="zh-CN" altLang="en-US" smtClean="0"/>
              <a:t>‹#›</a:t>
            </a:fld>
            <a:endParaRPr lang="zh-CN" altLang="en-US"/>
          </a:p>
        </p:txBody>
      </p:sp>
    </p:spTree>
    <p:extLst>
      <p:ext uri="{BB962C8B-B14F-4D97-AF65-F5344CB8AC3E}">
        <p14:creationId xmlns:p14="http://schemas.microsoft.com/office/powerpoint/2010/main" val="3124781292"/>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zh-CN" altLang="en-US" noProof="0"/>
              <a:t>单击图标添加图片</a:t>
            </a: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4"/>
          <p:cNvSpPr>
            <a:spLocks noGrp="1" noChangeArrowheads="1"/>
          </p:cNvSpPr>
          <p:nvPr>
            <p:ph type="dt" sz="half" idx="10"/>
          </p:nvPr>
        </p:nvSpPr>
        <p:spPr>
          <a:xfrm>
            <a:off x="838200" y="6477000"/>
            <a:ext cx="914400" cy="228600"/>
          </a:xfrm>
          <a:prstGeom prst="rect">
            <a:avLst/>
          </a:prstGeom>
          <a:ln/>
        </p:spPr>
        <p:txBody>
          <a:bodyPr/>
          <a:lstStyle>
            <a:lvl1pPr>
              <a:defRPr/>
            </a:lvl1pPr>
          </a:lstStyle>
          <a:p>
            <a:fld id="{B756BC12-E467-483D-BD40-1AB8DA582DD1}" type="datetime10">
              <a:rPr lang="zh-CN" altLang="en-US" smtClean="0"/>
              <a:t>14:22</a:t>
            </a:fld>
            <a:endParaRPr lang="zh-CN" altLang="en-US"/>
          </a:p>
        </p:txBody>
      </p:sp>
      <p:sp>
        <p:nvSpPr>
          <p:cNvPr id="6" name="Rectangle 5"/>
          <p:cNvSpPr>
            <a:spLocks noGrp="1" noChangeArrowheads="1"/>
          </p:cNvSpPr>
          <p:nvPr>
            <p:ph type="ftr" sz="quarter" idx="11"/>
          </p:nvPr>
        </p:nvSpPr>
        <p:spPr>
          <a:xfrm>
            <a:off x="3124200" y="6245225"/>
            <a:ext cx="2895600" cy="476250"/>
          </a:xfrm>
          <a:prstGeom prst="rect">
            <a:avLst/>
          </a:prstGeom>
          <a:ln/>
        </p:spPr>
        <p:txBody>
          <a:bodyPr/>
          <a:lstStyle>
            <a:lvl1pPr>
              <a:defRPr/>
            </a:lvl1pPr>
          </a:lstStyle>
          <a:p>
            <a:endParaRPr lang="zh-CN" altLang="en-US"/>
          </a:p>
        </p:txBody>
      </p:sp>
      <p:sp>
        <p:nvSpPr>
          <p:cNvPr id="7" name="Rectangle 6"/>
          <p:cNvSpPr>
            <a:spLocks noGrp="1" noChangeArrowheads="1"/>
          </p:cNvSpPr>
          <p:nvPr>
            <p:ph type="sldNum" sz="quarter" idx="12"/>
          </p:nvPr>
        </p:nvSpPr>
        <p:spPr>
          <a:xfrm>
            <a:off x="6553200" y="6245225"/>
            <a:ext cx="2133600" cy="476250"/>
          </a:xfrm>
          <a:prstGeom prst="rect">
            <a:avLst/>
          </a:prstGeom>
          <a:ln/>
        </p:spPr>
        <p:txBody>
          <a:bodyPr/>
          <a:lstStyle>
            <a:lvl1pPr>
              <a:defRPr/>
            </a:lvl1pPr>
          </a:lstStyle>
          <a:p>
            <a:fld id="{0C913308-F349-4B6D-A68A-DD1791B4A57B}" type="slidenum">
              <a:rPr lang="zh-CN" altLang="en-US" smtClean="0"/>
              <a:t>‹#›</a:t>
            </a:fld>
            <a:endParaRPr lang="zh-CN" altLang="en-US"/>
          </a:p>
        </p:txBody>
      </p:sp>
    </p:spTree>
    <p:extLst>
      <p:ext uri="{BB962C8B-B14F-4D97-AF65-F5344CB8AC3E}">
        <p14:creationId xmlns:p14="http://schemas.microsoft.com/office/powerpoint/2010/main" val="2878706148"/>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p:cNvSpPr>
            <a:spLocks noGrp="1" noChangeArrowheads="1"/>
          </p:cNvSpPr>
          <p:nvPr>
            <p:ph type="dt" sz="half" idx="10"/>
          </p:nvPr>
        </p:nvSpPr>
        <p:spPr>
          <a:xfrm>
            <a:off x="838200" y="6477000"/>
            <a:ext cx="914400" cy="228600"/>
          </a:xfrm>
          <a:prstGeom prst="rect">
            <a:avLst/>
          </a:prstGeom>
          <a:ln/>
        </p:spPr>
        <p:txBody>
          <a:bodyPr/>
          <a:lstStyle>
            <a:lvl1pPr>
              <a:defRPr/>
            </a:lvl1pPr>
          </a:lstStyle>
          <a:p>
            <a:fld id="{E1545E15-1475-4FD5-8A44-E964084EEFCE}" type="datetime10">
              <a:rPr lang="zh-CN" altLang="en-US" smtClean="0"/>
              <a:t>14:22</a:t>
            </a:fld>
            <a:endParaRPr lang="zh-CN" altLang="en-US"/>
          </a:p>
        </p:txBody>
      </p:sp>
      <p:sp>
        <p:nvSpPr>
          <p:cNvPr id="5" name="Rectangle 5"/>
          <p:cNvSpPr>
            <a:spLocks noGrp="1" noChangeArrowheads="1"/>
          </p:cNvSpPr>
          <p:nvPr>
            <p:ph type="ftr" sz="quarter" idx="11"/>
          </p:nvPr>
        </p:nvSpPr>
        <p:spPr>
          <a:xfrm>
            <a:off x="3124200" y="6245225"/>
            <a:ext cx="2895600" cy="476250"/>
          </a:xfrm>
          <a:prstGeom prst="rect">
            <a:avLst/>
          </a:prstGeom>
          <a:ln/>
        </p:spPr>
        <p:txBody>
          <a:bodyPr/>
          <a:lstStyle>
            <a:lvl1pPr>
              <a:defRPr/>
            </a:lvl1pPr>
          </a:lstStyle>
          <a:p>
            <a:endParaRPr lang="zh-CN" altLang="en-US"/>
          </a:p>
        </p:txBody>
      </p:sp>
      <p:sp>
        <p:nvSpPr>
          <p:cNvPr id="6" name="Rectangle 6"/>
          <p:cNvSpPr>
            <a:spLocks noGrp="1" noChangeArrowheads="1"/>
          </p:cNvSpPr>
          <p:nvPr>
            <p:ph type="sldNum" sz="quarter" idx="12"/>
          </p:nvPr>
        </p:nvSpPr>
        <p:spPr>
          <a:xfrm>
            <a:off x="6553200" y="6245225"/>
            <a:ext cx="2133600" cy="476250"/>
          </a:xfrm>
          <a:prstGeom prst="rect">
            <a:avLst/>
          </a:prstGeom>
          <a:ln/>
        </p:spPr>
        <p:txBody>
          <a:bodyPr/>
          <a:lstStyle>
            <a:lvl1pPr>
              <a:defRPr/>
            </a:lvl1pPr>
          </a:lstStyle>
          <a:p>
            <a:fld id="{0C913308-F349-4B6D-A68A-DD1791B4A57B}" type="slidenum">
              <a:rPr lang="zh-CN" altLang="en-US" smtClean="0"/>
              <a:t>‹#›</a:t>
            </a:fld>
            <a:endParaRPr lang="zh-CN" altLang="en-US"/>
          </a:p>
        </p:txBody>
      </p:sp>
    </p:spTree>
    <p:extLst>
      <p:ext uri="{BB962C8B-B14F-4D97-AF65-F5344CB8AC3E}">
        <p14:creationId xmlns:p14="http://schemas.microsoft.com/office/powerpoint/2010/main" val="1505500041"/>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991350" y="152400"/>
            <a:ext cx="2000250" cy="5867400"/>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990600" y="152400"/>
            <a:ext cx="5848350" cy="5867400"/>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p:cNvSpPr>
            <a:spLocks noGrp="1" noChangeArrowheads="1"/>
          </p:cNvSpPr>
          <p:nvPr>
            <p:ph type="dt" sz="half" idx="10"/>
          </p:nvPr>
        </p:nvSpPr>
        <p:spPr>
          <a:xfrm>
            <a:off x="838200" y="6477000"/>
            <a:ext cx="914400" cy="228600"/>
          </a:xfrm>
          <a:prstGeom prst="rect">
            <a:avLst/>
          </a:prstGeom>
          <a:ln/>
        </p:spPr>
        <p:txBody>
          <a:bodyPr/>
          <a:lstStyle>
            <a:lvl1pPr>
              <a:defRPr/>
            </a:lvl1pPr>
          </a:lstStyle>
          <a:p>
            <a:fld id="{D6238700-A14E-4CC8-B264-458A630D6C8B}" type="datetime10">
              <a:rPr lang="zh-CN" altLang="en-US" smtClean="0"/>
              <a:t>14:22</a:t>
            </a:fld>
            <a:endParaRPr lang="zh-CN" altLang="en-US"/>
          </a:p>
        </p:txBody>
      </p:sp>
      <p:sp>
        <p:nvSpPr>
          <p:cNvPr id="5" name="Rectangle 5"/>
          <p:cNvSpPr>
            <a:spLocks noGrp="1" noChangeArrowheads="1"/>
          </p:cNvSpPr>
          <p:nvPr>
            <p:ph type="ftr" sz="quarter" idx="11"/>
          </p:nvPr>
        </p:nvSpPr>
        <p:spPr>
          <a:xfrm>
            <a:off x="3124200" y="6245225"/>
            <a:ext cx="2895600" cy="476250"/>
          </a:xfrm>
          <a:prstGeom prst="rect">
            <a:avLst/>
          </a:prstGeom>
          <a:ln/>
        </p:spPr>
        <p:txBody>
          <a:bodyPr/>
          <a:lstStyle>
            <a:lvl1pPr>
              <a:defRPr/>
            </a:lvl1pPr>
          </a:lstStyle>
          <a:p>
            <a:endParaRPr lang="zh-CN" altLang="en-US"/>
          </a:p>
        </p:txBody>
      </p:sp>
      <p:sp>
        <p:nvSpPr>
          <p:cNvPr id="6" name="Rectangle 6"/>
          <p:cNvSpPr>
            <a:spLocks noGrp="1" noChangeArrowheads="1"/>
          </p:cNvSpPr>
          <p:nvPr>
            <p:ph type="sldNum" sz="quarter" idx="12"/>
          </p:nvPr>
        </p:nvSpPr>
        <p:spPr>
          <a:xfrm>
            <a:off x="6553200" y="6245225"/>
            <a:ext cx="2133600" cy="476250"/>
          </a:xfrm>
          <a:prstGeom prst="rect">
            <a:avLst/>
          </a:prstGeom>
          <a:ln/>
        </p:spPr>
        <p:txBody>
          <a:bodyPr/>
          <a:lstStyle>
            <a:lvl1pPr>
              <a:defRPr/>
            </a:lvl1pPr>
          </a:lstStyle>
          <a:p>
            <a:fld id="{0C913308-F349-4B6D-A68A-DD1791B4A57B}" type="slidenum">
              <a:rPr lang="zh-CN" altLang="en-US" smtClean="0"/>
              <a:t>‹#›</a:t>
            </a:fld>
            <a:endParaRPr lang="zh-CN" altLang="en-US"/>
          </a:p>
        </p:txBody>
      </p:sp>
    </p:spTree>
    <p:extLst>
      <p:ext uri="{BB962C8B-B14F-4D97-AF65-F5344CB8AC3E}">
        <p14:creationId xmlns:p14="http://schemas.microsoft.com/office/powerpoint/2010/main" val="1037293577"/>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title">
  <p:cSld name="1_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a:t>单击此处编辑母版标题样式</a:t>
            </a:r>
          </a:p>
        </p:txBody>
      </p:sp>
      <p:sp>
        <p:nvSpPr>
          <p:cNvPr id="3" name="副标题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p>
        </p:txBody>
      </p:sp>
      <p:sp>
        <p:nvSpPr>
          <p:cNvPr id="4" name="日期占位符 3"/>
          <p:cNvSpPr>
            <a:spLocks noGrp="1"/>
          </p:cNvSpPr>
          <p:nvPr>
            <p:ph type="dt" sz="half" idx="10"/>
          </p:nvPr>
        </p:nvSpPr>
        <p:spPr>
          <a:xfrm>
            <a:off x="457200" y="6356350"/>
            <a:ext cx="2133600" cy="365125"/>
          </a:xfrm>
          <a:prstGeom prst="rect">
            <a:avLst/>
          </a:prstGeom>
        </p:spPr>
        <p:txBody>
          <a:bodyPr/>
          <a:lstStyle/>
          <a:p>
            <a:fld id="{E4F22E6C-63AB-4E04-B0EC-6EED47B2E82C}" type="datetime10">
              <a:rPr lang="zh-CN" altLang="en-US" smtClean="0"/>
              <a:t>14:22</a:t>
            </a:fld>
            <a:endParaRPr lang="zh-CN" altLang="en-US"/>
          </a:p>
        </p:txBody>
      </p:sp>
      <p:sp>
        <p:nvSpPr>
          <p:cNvPr id="5" name="页脚占位符 4"/>
          <p:cNvSpPr>
            <a:spLocks noGrp="1"/>
          </p:cNvSpPr>
          <p:nvPr>
            <p:ph type="ftr" sz="quarter" idx="11"/>
          </p:nvPr>
        </p:nvSpPr>
        <p:spPr>
          <a:xfrm>
            <a:off x="3124200" y="6356350"/>
            <a:ext cx="2895600"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6553200" y="6356350"/>
            <a:ext cx="2133600" cy="365125"/>
          </a:xfrm>
          <a:prstGeom prst="rect">
            <a:avLst/>
          </a:prstGeom>
        </p:spPr>
        <p:txBody>
          <a:bodyPr/>
          <a:lstStyle/>
          <a:p>
            <a:fld id="{0C913308-F349-4B6D-A68A-DD1791B4A57B}" type="slidenum">
              <a:rPr lang="zh-CN" altLang="en-US" smtClean="0"/>
              <a:t>‹#›</a:t>
            </a:fld>
            <a:endParaRPr lang="zh-CN" altLang="en-US"/>
          </a:p>
        </p:txBody>
      </p:sp>
    </p:spTree>
    <p:extLst>
      <p:ext uri="{BB962C8B-B14F-4D97-AF65-F5344CB8AC3E}">
        <p14:creationId xmlns:p14="http://schemas.microsoft.com/office/powerpoint/2010/main" val="2188559699"/>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txAndClipArt">
  <p:cSld name="标题，文本与剪贴画">
    <p:spTree>
      <p:nvGrpSpPr>
        <p:cNvPr id="1" name=""/>
        <p:cNvGrpSpPr/>
        <p:nvPr/>
      </p:nvGrpSpPr>
      <p:grpSpPr>
        <a:xfrm>
          <a:off x="0" y="0"/>
          <a:ext cx="0" cy="0"/>
          <a:chOff x="0" y="0"/>
          <a:chExt cx="0" cy="0"/>
        </a:xfrm>
      </p:grpSpPr>
      <p:sp>
        <p:nvSpPr>
          <p:cNvPr id="2" name="标题 1"/>
          <p:cNvSpPr>
            <a:spLocks noGrp="1"/>
          </p:cNvSpPr>
          <p:nvPr>
            <p:ph type="title"/>
          </p:nvPr>
        </p:nvSpPr>
        <p:spPr>
          <a:xfrm>
            <a:off x="1219200" y="152400"/>
            <a:ext cx="7467600" cy="685800"/>
          </a:xfrm>
        </p:spPr>
        <p:txBody>
          <a:bodyPr/>
          <a:lstStyle/>
          <a:p>
            <a:r>
              <a:rPr lang="zh-CN" altLang="en-US"/>
              <a:t>单击此处编辑母版标题样式</a:t>
            </a:r>
          </a:p>
        </p:txBody>
      </p:sp>
      <p:sp>
        <p:nvSpPr>
          <p:cNvPr id="3" name="文本占位符 2"/>
          <p:cNvSpPr>
            <a:spLocks noGrp="1"/>
          </p:cNvSpPr>
          <p:nvPr>
            <p:ph type="body" sz="half" idx="1"/>
          </p:nvPr>
        </p:nvSpPr>
        <p:spPr>
          <a:xfrm>
            <a:off x="762000" y="1447800"/>
            <a:ext cx="3810000" cy="41148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剪贴画占位符 3"/>
          <p:cNvSpPr>
            <a:spLocks noGrp="1"/>
          </p:cNvSpPr>
          <p:nvPr>
            <p:ph type="clipArt" sz="half" idx="2"/>
          </p:nvPr>
        </p:nvSpPr>
        <p:spPr>
          <a:xfrm>
            <a:off x="4724400" y="1447800"/>
            <a:ext cx="3810000" cy="4114800"/>
          </a:xfrm>
        </p:spPr>
        <p:txBody>
          <a:bodyPr/>
          <a:lstStyle/>
          <a:p>
            <a:endParaRPr lang="zh-CN" altLang="en-US"/>
          </a:p>
        </p:txBody>
      </p:sp>
      <p:sp>
        <p:nvSpPr>
          <p:cNvPr id="5" name="日期占位符 4"/>
          <p:cNvSpPr>
            <a:spLocks noGrp="1"/>
          </p:cNvSpPr>
          <p:nvPr>
            <p:ph type="dt" sz="half" idx="10"/>
          </p:nvPr>
        </p:nvSpPr>
        <p:spPr>
          <a:xfrm>
            <a:off x="685800" y="6248400"/>
            <a:ext cx="1905000" cy="457200"/>
          </a:xfrm>
          <a:prstGeom prst="rect">
            <a:avLst/>
          </a:prstGeom>
        </p:spPr>
        <p:txBody>
          <a:bodyPr/>
          <a:lstStyle>
            <a:lvl1pPr>
              <a:defRPr/>
            </a:lvl1pPr>
          </a:lstStyle>
          <a:p>
            <a:fld id="{61C4298F-D58D-40CB-A05D-33699424D242}" type="datetime10">
              <a:rPr lang="zh-CN" altLang="en-US" smtClean="0"/>
              <a:t>14:22</a:t>
            </a:fld>
            <a:endParaRPr lang="en-US" altLang="zh-CN"/>
          </a:p>
        </p:txBody>
      </p:sp>
      <p:sp>
        <p:nvSpPr>
          <p:cNvPr id="6" name="页脚占位符 5"/>
          <p:cNvSpPr>
            <a:spLocks noGrp="1"/>
          </p:cNvSpPr>
          <p:nvPr>
            <p:ph type="ftr" sz="quarter" idx="11"/>
          </p:nvPr>
        </p:nvSpPr>
        <p:spPr>
          <a:xfrm>
            <a:off x="3124200" y="6248400"/>
            <a:ext cx="2895600" cy="457200"/>
          </a:xfrm>
          <a:prstGeom prst="rect">
            <a:avLst/>
          </a:prstGeom>
        </p:spPr>
        <p:txBody>
          <a:bodyPr/>
          <a:lstStyle>
            <a:lvl1pPr>
              <a:defRPr/>
            </a:lvl1pPr>
          </a:lstStyle>
          <a:p>
            <a:endParaRPr lang="en-US" altLang="zh-CN"/>
          </a:p>
        </p:txBody>
      </p:sp>
      <p:sp>
        <p:nvSpPr>
          <p:cNvPr id="7" name="灯片编号占位符 6"/>
          <p:cNvSpPr>
            <a:spLocks noGrp="1"/>
          </p:cNvSpPr>
          <p:nvPr>
            <p:ph type="sldNum" sz="quarter" idx="12"/>
          </p:nvPr>
        </p:nvSpPr>
        <p:spPr>
          <a:xfrm>
            <a:off x="7086600" y="6553200"/>
            <a:ext cx="1905000" cy="228600"/>
          </a:xfrm>
          <a:prstGeom prst="rect">
            <a:avLst/>
          </a:prstGeom>
        </p:spPr>
        <p:txBody>
          <a:bodyPr/>
          <a:lstStyle>
            <a:lvl1pPr>
              <a:defRPr/>
            </a:lvl1pPr>
          </a:lstStyle>
          <a:p>
            <a:r>
              <a:rPr lang="en-US" altLang="zh-CN"/>
              <a:t>1-</a:t>
            </a:r>
            <a:fld id="{DB44362A-9B67-48FD-BE4A-A97B7D837A07}" type="slidenum">
              <a:rPr lang="en-US" altLang="zh-CN"/>
              <a:pPr/>
              <a:t>‹#›</a:t>
            </a:fld>
            <a:endParaRPr lang="en-US" altLang="zh-CN"/>
          </a:p>
        </p:txBody>
      </p:sp>
    </p:spTree>
    <p:extLst>
      <p:ext uri="{BB962C8B-B14F-4D97-AF65-F5344CB8AC3E}">
        <p14:creationId xmlns:p14="http://schemas.microsoft.com/office/powerpoint/2010/main" val="1055890763"/>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userDrawn="1">
  <p:cSld name="Title">
    <p:spTree>
      <p:nvGrpSpPr>
        <p:cNvPr id="1" name=""/>
        <p:cNvGrpSpPr/>
        <p:nvPr/>
      </p:nvGrpSpPr>
      <p:grpSpPr>
        <a:xfrm>
          <a:off x="0" y="0"/>
          <a:ext cx="0" cy="0"/>
          <a:chOff x="0" y="0"/>
          <a:chExt cx="0" cy="0"/>
        </a:xfrm>
      </p:grpSpPr>
    </p:spTree>
    <p:extLst>
      <p:ext uri="{BB962C8B-B14F-4D97-AF65-F5344CB8AC3E}">
        <p14:creationId xmlns:p14="http://schemas.microsoft.com/office/powerpoint/2010/main" val="3530047197"/>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a:t>单击此处编辑母版标题样式</a:t>
            </a:r>
          </a:p>
        </p:txBody>
      </p:sp>
      <p:sp>
        <p:nvSpPr>
          <p:cNvPr id="3" name="副标题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p>
        </p:txBody>
      </p:sp>
      <p:sp>
        <p:nvSpPr>
          <p:cNvPr id="4" name="日期占位符 3"/>
          <p:cNvSpPr>
            <a:spLocks noGrp="1"/>
          </p:cNvSpPr>
          <p:nvPr>
            <p:ph type="dt" sz="half" idx="10"/>
          </p:nvPr>
        </p:nvSpPr>
        <p:spPr/>
        <p:txBody>
          <a:bodyPr/>
          <a:lstStyle/>
          <a:p>
            <a:fld id="{C825EFE7-8B42-4D5E-9B3D-3A8291D19FD5}" type="datetime10">
              <a:rPr lang="zh-CN" altLang="en-US" smtClean="0"/>
              <a:t>14:22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650851C3-88A0-40D2-9357-2281829DF8A5}" type="slidenum">
              <a:rPr lang="zh-CN" altLang="en-US" smtClean="0"/>
              <a:t>‹#›</a:t>
            </a:fld>
            <a:endParaRPr lang="zh-CN" altLang="en-US"/>
          </a:p>
        </p:txBody>
      </p:sp>
    </p:spTree>
    <p:extLst>
      <p:ext uri="{BB962C8B-B14F-4D97-AF65-F5344CB8AC3E}">
        <p14:creationId xmlns:p14="http://schemas.microsoft.com/office/powerpoint/2010/main" val="2188559699"/>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38BBF9E6-C480-4BF9-86AC-031BC518F0AC}" type="datetime10">
              <a:rPr lang="zh-CN" altLang="en-US" smtClean="0"/>
              <a:t>14:22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650851C3-88A0-40D2-9357-2281829DF8A5}" type="slidenum">
              <a:rPr lang="zh-CN" altLang="en-US" smtClean="0"/>
              <a:t>‹#›</a:t>
            </a:fld>
            <a:endParaRPr lang="zh-CN" altLang="en-US"/>
          </a:p>
        </p:txBody>
      </p:sp>
    </p:spTree>
    <p:extLst>
      <p:ext uri="{BB962C8B-B14F-4D97-AF65-F5344CB8AC3E}">
        <p14:creationId xmlns:p14="http://schemas.microsoft.com/office/powerpoint/2010/main" val="4145782469"/>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D7E3A204-8F5A-49CF-99C6-339A5E5BBEB0}" type="datetime10">
              <a:rPr lang="zh-CN" altLang="en-US" smtClean="0"/>
              <a:t>14:22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650851C3-88A0-40D2-9357-2281829DF8A5}" type="slidenum">
              <a:rPr lang="zh-CN" altLang="en-US" smtClean="0"/>
              <a:t>‹#›</a:t>
            </a:fld>
            <a:endParaRPr lang="zh-CN" altLang="en-US"/>
          </a:p>
        </p:txBody>
      </p:sp>
    </p:spTree>
    <p:extLst>
      <p:ext uri="{BB962C8B-B14F-4D97-AF65-F5344CB8AC3E}">
        <p14:creationId xmlns:p14="http://schemas.microsoft.com/office/powerpoint/2010/main" val="1212618154"/>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09C7F4C4-C125-4CD8-8734-655E347976B9}" type="datetime10">
              <a:rPr lang="zh-CN" altLang="en-US" smtClean="0"/>
              <a:t>14:22</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650851C3-88A0-40D2-9357-2281829DF8A5}" type="slidenum">
              <a:rPr lang="zh-CN" altLang="en-US" smtClean="0"/>
              <a:t>‹#›</a:t>
            </a:fld>
            <a:endParaRPr lang="zh-CN" altLang="en-US"/>
          </a:p>
        </p:txBody>
      </p:sp>
    </p:spTree>
    <p:extLst>
      <p:ext uri="{BB962C8B-B14F-4D97-AF65-F5344CB8AC3E}">
        <p14:creationId xmlns:p14="http://schemas.microsoft.com/office/powerpoint/2010/main" val="3286955713"/>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F222DA44-B9DC-47F2-8267-3D3C024CDACF}" type="datetime10">
              <a:rPr lang="zh-CN" altLang="en-US" smtClean="0"/>
              <a:t>14:22</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650851C3-88A0-40D2-9357-2281829DF8A5}" type="slidenum">
              <a:rPr lang="zh-CN" altLang="en-US" smtClean="0"/>
              <a:t>‹#›</a:t>
            </a:fld>
            <a:endParaRPr lang="zh-CN" altLang="en-US"/>
          </a:p>
        </p:txBody>
      </p:sp>
    </p:spTree>
    <p:extLst>
      <p:ext uri="{BB962C8B-B14F-4D97-AF65-F5344CB8AC3E}">
        <p14:creationId xmlns:p14="http://schemas.microsoft.com/office/powerpoint/2010/main" val="617204180"/>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E76DDD03-B5EE-4187-AE34-BC944968B869}" type="datetime10">
              <a:rPr lang="zh-CN" altLang="en-US" smtClean="0"/>
              <a:t>14:22</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650851C3-88A0-40D2-9357-2281829DF8A5}" type="slidenum">
              <a:rPr lang="zh-CN" altLang="en-US" smtClean="0"/>
              <a:t>‹#›</a:t>
            </a:fld>
            <a:endParaRPr lang="zh-CN" altLang="en-US"/>
          </a:p>
        </p:txBody>
      </p:sp>
    </p:spTree>
    <p:extLst>
      <p:ext uri="{BB962C8B-B14F-4D97-AF65-F5344CB8AC3E}">
        <p14:creationId xmlns:p14="http://schemas.microsoft.com/office/powerpoint/2010/main" val="2319344075"/>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F28FA5A6-395F-4EEA-92EE-1E38207D8173}" type="datetime10">
              <a:rPr lang="zh-CN" altLang="en-US" smtClean="0"/>
              <a:t>14:22</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650851C3-88A0-40D2-9357-2281829DF8A5}" type="slidenum">
              <a:rPr lang="zh-CN" altLang="en-US" smtClean="0"/>
              <a:t>‹#›</a:t>
            </a:fld>
            <a:endParaRPr lang="zh-CN" altLang="en-US"/>
          </a:p>
        </p:txBody>
      </p:sp>
    </p:spTree>
    <p:extLst>
      <p:ext uri="{BB962C8B-B14F-4D97-AF65-F5344CB8AC3E}">
        <p14:creationId xmlns:p14="http://schemas.microsoft.com/office/powerpoint/2010/main" val="2099859976"/>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A0706791-A0B2-42F1-95A6-8E70A20380BB}" type="datetime10">
              <a:rPr lang="zh-CN" altLang="en-US" smtClean="0"/>
              <a:t>14:22</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650851C3-88A0-40D2-9357-2281829DF8A5}" type="slidenum">
              <a:rPr lang="zh-CN" altLang="en-US" smtClean="0"/>
              <a:t>‹#›</a:t>
            </a:fld>
            <a:endParaRPr lang="zh-CN" altLang="en-US"/>
          </a:p>
        </p:txBody>
      </p:sp>
    </p:spTree>
    <p:extLst>
      <p:ext uri="{BB962C8B-B14F-4D97-AF65-F5344CB8AC3E}">
        <p14:creationId xmlns:p14="http://schemas.microsoft.com/office/powerpoint/2010/main" val="870697989"/>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CBEE2FFA-038F-4CFC-8CB8-3060AE3AF46C}" type="datetime10">
              <a:rPr lang="zh-CN" altLang="en-US" smtClean="0"/>
              <a:t>14:22</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650851C3-88A0-40D2-9357-2281829DF8A5}" type="slidenum">
              <a:rPr lang="zh-CN" altLang="en-US" smtClean="0"/>
              <a:t>‹#›</a:t>
            </a:fld>
            <a:endParaRPr lang="zh-CN" altLang="en-US"/>
          </a:p>
        </p:txBody>
      </p:sp>
    </p:spTree>
    <p:extLst>
      <p:ext uri="{BB962C8B-B14F-4D97-AF65-F5344CB8AC3E}">
        <p14:creationId xmlns:p14="http://schemas.microsoft.com/office/powerpoint/2010/main" val="2991741959"/>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5C9F62E5-830C-4173-8198-F08387E52629}" type="datetime10">
              <a:rPr lang="zh-CN" altLang="en-US" smtClean="0"/>
              <a:t>14:22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650851C3-88A0-40D2-9357-2281829DF8A5}" type="slidenum">
              <a:rPr lang="zh-CN" altLang="en-US" smtClean="0"/>
              <a:t>‹#›</a:t>
            </a:fld>
            <a:endParaRPr lang="zh-CN" altLang="en-US"/>
          </a:p>
        </p:txBody>
      </p:sp>
    </p:spTree>
    <p:extLst>
      <p:ext uri="{BB962C8B-B14F-4D97-AF65-F5344CB8AC3E}">
        <p14:creationId xmlns:p14="http://schemas.microsoft.com/office/powerpoint/2010/main" val="771964873"/>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F68BAA3B-0737-4324-91FE-68BA01C7BCD8}" type="datetime10">
              <a:rPr lang="zh-CN" altLang="en-US" smtClean="0"/>
              <a:t>14:22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650851C3-88A0-40D2-9357-2281829DF8A5}" type="slidenum">
              <a:rPr lang="zh-CN" altLang="en-US" smtClean="0"/>
              <a:t>‹#›</a:t>
            </a:fld>
            <a:endParaRPr lang="zh-CN" altLang="en-US"/>
          </a:p>
        </p:txBody>
      </p:sp>
    </p:spTree>
    <p:extLst>
      <p:ext uri="{BB962C8B-B14F-4D97-AF65-F5344CB8AC3E}">
        <p14:creationId xmlns:p14="http://schemas.microsoft.com/office/powerpoint/2010/main" val="417043936"/>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txAndTwoObj" preserve="1">
  <p:cSld name="标题，文本与两项内容">
    <p:spTree>
      <p:nvGrpSpPr>
        <p:cNvPr id="1" name=""/>
        <p:cNvGrpSpPr/>
        <p:nvPr/>
      </p:nvGrpSpPr>
      <p:grpSpPr>
        <a:xfrm>
          <a:off x="0" y="0"/>
          <a:ext cx="0" cy="0"/>
          <a:chOff x="0" y="0"/>
          <a:chExt cx="0" cy="0"/>
        </a:xfrm>
      </p:grpSpPr>
      <p:sp>
        <p:nvSpPr>
          <p:cNvPr id="2" name="标题 1"/>
          <p:cNvSpPr>
            <a:spLocks noGrp="1"/>
          </p:cNvSpPr>
          <p:nvPr>
            <p:ph type="title"/>
          </p:nvPr>
        </p:nvSpPr>
        <p:spPr>
          <a:xfrm>
            <a:off x="827088" y="188913"/>
            <a:ext cx="7848600" cy="792162"/>
          </a:xfrm>
        </p:spPr>
        <p:txBody>
          <a:bodyPr/>
          <a:lstStyle/>
          <a:p>
            <a:r>
              <a:rPr lang="zh-CN" altLang="en-US"/>
              <a:t>单击此处编辑母版标题样式</a:t>
            </a:r>
          </a:p>
        </p:txBody>
      </p:sp>
      <p:sp>
        <p:nvSpPr>
          <p:cNvPr id="3" name="文本占位符 2"/>
          <p:cNvSpPr>
            <a:spLocks noGrp="1"/>
          </p:cNvSpPr>
          <p:nvPr>
            <p:ph type="body" sz="half" idx="1"/>
          </p:nvPr>
        </p:nvSpPr>
        <p:spPr>
          <a:xfrm>
            <a:off x="611188" y="1268413"/>
            <a:ext cx="3956050" cy="4897437"/>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quarter" idx="2"/>
          </p:nvPr>
        </p:nvSpPr>
        <p:spPr>
          <a:xfrm>
            <a:off x="4719638" y="1268413"/>
            <a:ext cx="3956050" cy="2371725"/>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内容占位符 4"/>
          <p:cNvSpPr>
            <a:spLocks noGrp="1"/>
          </p:cNvSpPr>
          <p:nvPr>
            <p:ph sz="quarter" idx="3"/>
          </p:nvPr>
        </p:nvSpPr>
        <p:spPr>
          <a:xfrm>
            <a:off x="4719638" y="3792538"/>
            <a:ext cx="3956050" cy="2373312"/>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日期占位符 5"/>
          <p:cNvSpPr>
            <a:spLocks noGrp="1"/>
          </p:cNvSpPr>
          <p:nvPr>
            <p:ph type="dt" sz="half" idx="10"/>
          </p:nvPr>
        </p:nvSpPr>
        <p:spPr>
          <a:xfrm>
            <a:off x="611188" y="6245225"/>
            <a:ext cx="2232025" cy="476250"/>
          </a:xfrm>
        </p:spPr>
        <p:txBody>
          <a:bodyPr/>
          <a:lstStyle>
            <a:lvl1pPr>
              <a:defRPr/>
            </a:lvl1pPr>
          </a:lstStyle>
          <a:p>
            <a:fld id="{D582A289-149E-4321-B7A9-2B29F4963C91}" type="datetime10">
              <a:rPr lang="zh-CN" altLang="en-US" smtClean="0"/>
              <a:t>14:22</a:t>
            </a:fld>
            <a:endParaRPr lang="en-US" altLang="zh-CN"/>
          </a:p>
        </p:txBody>
      </p:sp>
      <p:sp>
        <p:nvSpPr>
          <p:cNvPr id="7" name="页脚占位符 6"/>
          <p:cNvSpPr>
            <a:spLocks noGrp="1"/>
          </p:cNvSpPr>
          <p:nvPr>
            <p:ph type="ftr" sz="quarter" idx="11"/>
          </p:nvPr>
        </p:nvSpPr>
        <p:spPr>
          <a:xfrm>
            <a:off x="3276600" y="6245225"/>
            <a:ext cx="2808288" cy="476250"/>
          </a:xfrm>
        </p:spPr>
        <p:txBody>
          <a:bodyPr/>
          <a:lstStyle>
            <a:lvl1pPr>
              <a:defRPr/>
            </a:lvl1pPr>
          </a:lstStyle>
          <a:p>
            <a:endParaRPr lang="en-US" altLang="zh-CN"/>
          </a:p>
        </p:txBody>
      </p:sp>
      <p:sp>
        <p:nvSpPr>
          <p:cNvPr id="8" name="灯片编号占位符 7"/>
          <p:cNvSpPr>
            <a:spLocks noGrp="1"/>
          </p:cNvSpPr>
          <p:nvPr>
            <p:ph type="sldNum" sz="quarter" idx="12"/>
          </p:nvPr>
        </p:nvSpPr>
        <p:spPr>
          <a:xfrm>
            <a:off x="6553200" y="6245225"/>
            <a:ext cx="2133600" cy="476250"/>
          </a:xfrm>
        </p:spPr>
        <p:txBody>
          <a:bodyPr/>
          <a:lstStyle>
            <a:lvl1pPr>
              <a:defRPr/>
            </a:lvl1pPr>
          </a:lstStyle>
          <a:p>
            <a:fld id="{113DDE48-83CD-4A4A-B7BC-FAEFED3391E0}" type="slidenum">
              <a:rPr lang="en-US" altLang="zh-CN"/>
              <a:pPr/>
              <a:t>‹#›</a:t>
            </a:fld>
            <a:r>
              <a:rPr lang="en-US" altLang="zh-CN"/>
              <a:t>/7</a:t>
            </a:r>
          </a:p>
        </p:txBody>
      </p:sp>
    </p:spTree>
    <p:extLst>
      <p:ext uri="{BB962C8B-B14F-4D97-AF65-F5344CB8AC3E}">
        <p14:creationId xmlns:p14="http://schemas.microsoft.com/office/powerpoint/2010/main" val="1714245249"/>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a:t>单击此处编辑母版标题样式</a:t>
            </a:r>
          </a:p>
        </p:txBody>
      </p:sp>
      <p:sp>
        <p:nvSpPr>
          <p:cNvPr id="3" name="副标题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p>
        </p:txBody>
      </p:sp>
      <p:sp>
        <p:nvSpPr>
          <p:cNvPr id="4" name="日期占位符 3"/>
          <p:cNvSpPr>
            <a:spLocks noGrp="1"/>
          </p:cNvSpPr>
          <p:nvPr>
            <p:ph type="dt" sz="half" idx="10"/>
          </p:nvPr>
        </p:nvSpPr>
        <p:spPr/>
        <p:txBody>
          <a:bodyPr/>
          <a:lstStyle/>
          <a:p>
            <a:fld id="{0787457B-4CD8-4737-A0C9-5A75848F12D9}" type="datetime10">
              <a:rPr lang="zh-CN" altLang="en-US" smtClean="0"/>
              <a:t>14:22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3F6C674-5E21-498A-BE74-B0AEF3B3F524}" type="slidenum">
              <a:rPr lang="zh-CN" altLang="en-US" smtClean="0"/>
              <a:t>‹#›</a:t>
            </a:fld>
            <a:endParaRPr lang="zh-CN" altLang="en-US"/>
          </a:p>
        </p:txBody>
      </p:sp>
    </p:spTree>
    <p:extLst>
      <p:ext uri="{BB962C8B-B14F-4D97-AF65-F5344CB8AC3E}">
        <p14:creationId xmlns:p14="http://schemas.microsoft.com/office/powerpoint/2010/main" val="1143938418"/>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1888B075-7F0D-4AA9-A34E-A67720F5A078}" type="datetime10">
              <a:rPr lang="zh-CN" altLang="en-US" smtClean="0"/>
              <a:t>14:22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3F6C674-5E21-498A-BE74-B0AEF3B3F524}" type="slidenum">
              <a:rPr lang="zh-CN" altLang="en-US" smtClean="0"/>
              <a:t>‹#›</a:t>
            </a:fld>
            <a:endParaRPr lang="zh-CN" altLang="en-US"/>
          </a:p>
        </p:txBody>
      </p:sp>
    </p:spTree>
    <p:extLst>
      <p:ext uri="{BB962C8B-B14F-4D97-AF65-F5344CB8AC3E}">
        <p14:creationId xmlns:p14="http://schemas.microsoft.com/office/powerpoint/2010/main" val="3444656239"/>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F36F209C-54C3-44BF-B129-3D43D756BC30}" type="datetime10">
              <a:rPr lang="zh-CN" altLang="en-US" smtClean="0"/>
              <a:t>14:22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3F6C674-5E21-498A-BE74-B0AEF3B3F524}" type="slidenum">
              <a:rPr lang="zh-CN" altLang="en-US" smtClean="0"/>
              <a:t>‹#›</a:t>
            </a:fld>
            <a:endParaRPr lang="zh-CN" altLang="en-US"/>
          </a:p>
        </p:txBody>
      </p:sp>
    </p:spTree>
    <p:extLst>
      <p:ext uri="{BB962C8B-B14F-4D97-AF65-F5344CB8AC3E}">
        <p14:creationId xmlns:p14="http://schemas.microsoft.com/office/powerpoint/2010/main" val="3599033123"/>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DF0DA140-D5D3-40C9-8992-AA38CCA03AFB}" type="datetime10">
              <a:rPr lang="zh-CN" altLang="en-US" smtClean="0"/>
              <a:t>14:22</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3F6C674-5E21-498A-BE74-B0AEF3B3F524}" type="slidenum">
              <a:rPr lang="zh-CN" altLang="en-US" smtClean="0"/>
              <a:t>‹#›</a:t>
            </a:fld>
            <a:endParaRPr lang="zh-CN" altLang="en-US"/>
          </a:p>
        </p:txBody>
      </p:sp>
    </p:spTree>
    <p:extLst>
      <p:ext uri="{BB962C8B-B14F-4D97-AF65-F5344CB8AC3E}">
        <p14:creationId xmlns:p14="http://schemas.microsoft.com/office/powerpoint/2010/main" val="583521833"/>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7157A6F0-F387-4973-B8AD-692894D1B0C8}" type="datetime10">
              <a:rPr lang="zh-CN" altLang="en-US" smtClean="0"/>
              <a:t>14:22</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53F6C674-5E21-498A-BE74-B0AEF3B3F524}" type="slidenum">
              <a:rPr lang="zh-CN" altLang="en-US" smtClean="0"/>
              <a:t>‹#›</a:t>
            </a:fld>
            <a:endParaRPr lang="zh-CN" altLang="en-US"/>
          </a:p>
        </p:txBody>
      </p:sp>
    </p:spTree>
    <p:extLst>
      <p:ext uri="{BB962C8B-B14F-4D97-AF65-F5344CB8AC3E}">
        <p14:creationId xmlns:p14="http://schemas.microsoft.com/office/powerpoint/2010/main" val="3726767136"/>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029653A1-FB5A-4BF4-A073-70F1664FE971}" type="datetime10">
              <a:rPr lang="zh-CN" altLang="en-US" smtClean="0"/>
              <a:t>14:22</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53F6C674-5E21-498A-BE74-B0AEF3B3F524}" type="slidenum">
              <a:rPr lang="zh-CN" altLang="en-US" smtClean="0"/>
              <a:t>‹#›</a:t>
            </a:fld>
            <a:endParaRPr lang="zh-CN" altLang="en-US"/>
          </a:p>
        </p:txBody>
      </p:sp>
    </p:spTree>
    <p:extLst>
      <p:ext uri="{BB962C8B-B14F-4D97-AF65-F5344CB8AC3E}">
        <p14:creationId xmlns:p14="http://schemas.microsoft.com/office/powerpoint/2010/main" val="2704474601"/>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224403CE-A75E-42B8-89E6-7396CA367ED1}" type="datetime10">
              <a:rPr lang="zh-CN" altLang="en-US" smtClean="0"/>
              <a:t>14:22</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53F6C674-5E21-498A-BE74-B0AEF3B3F524}" type="slidenum">
              <a:rPr lang="zh-CN" altLang="en-US" smtClean="0"/>
              <a:t>‹#›</a:t>
            </a:fld>
            <a:endParaRPr lang="zh-CN" altLang="en-US"/>
          </a:p>
        </p:txBody>
      </p:sp>
    </p:spTree>
    <p:extLst>
      <p:ext uri="{BB962C8B-B14F-4D97-AF65-F5344CB8AC3E}">
        <p14:creationId xmlns:p14="http://schemas.microsoft.com/office/powerpoint/2010/main" val="2654590730"/>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D7D4CC52-AAED-49E7-A80C-6911CE13FDD7}" type="datetime10">
              <a:rPr lang="zh-CN" altLang="en-US" smtClean="0"/>
              <a:t>14:22</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3F6C674-5E21-498A-BE74-B0AEF3B3F524}" type="slidenum">
              <a:rPr lang="zh-CN" altLang="en-US" smtClean="0"/>
              <a:t>‹#›</a:t>
            </a:fld>
            <a:endParaRPr lang="zh-CN" altLang="en-US"/>
          </a:p>
        </p:txBody>
      </p:sp>
    </p:spTree>
    <p:extLst>
      <p:ext uri="{BB962C8B-B14F-4D97-AF65-F5344CB8AC3E}">
        <p14:creationId xmlns:p14="http://schemas.microsoft.com/office/powerpoint/2010/main" val="4106927936"/>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F7F60483-C58F-47BE-8B46-D84EDC7EB7F4}" type="datetime10">
              <a:rPr lang="zh-CN" altLang="en-US" smtClean="0"/>
              <a:t>14:22</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3F6C674-5E21-498A-BE74-B0AEF3B3F524}" type="slidenum">
              <a:rPr lang="zh-CN" altLang="en-US" smtClean="0"/>
              <a:t>‹#›</a:t>
            </a:fld>
            <a:endParaRPr lang="zh-CN" altLang="en-US"/>
          </a:p>
        </p:txBody>
      </p:sp>
    </p:spTree>
    <p:extLst>
      <p:ext uri="{BB962C8B-B14F-4D97-AF65-F5344CB8AC3E}">
        <p14:creationId xmlns:p14="http://schemas.microsoft.com/office/powerpoint/2010/main" val="1044089274"/>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E6371D0A-4DAD-497C-BFED-900DF0EB19AC}" type="datetime10">
              <a:rPr lang="zh-CN" altLang="en-US" smtClean="0"/>
              <a:t>14:22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3F6C674-5E21-498A-BE74-B0AEF3B3F524}" type="slidenum">
              <a:rPr lang="zh-CN" altLang="en-US" smtClean="0"/>
              <a:t>‹#›</a:t>
            </a:fld>
            <a:endParaRPr lang="zh-CN" altLang="en-US"/>
          </a:p>
        </p:txBody>
      </p:sp>
    </p:spTree>
    <p:extLst>
      <p:ext uri="{BB962C8B-B14F-4D97-AF65-F5344CB8AC3E}">
        <p14:creationId xmlns:p14="http://schemas.microsoft.com/office/powerpoint/2010/main" val="2808424337"/>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61F06E3B-4F19-463F-A3BA-D3167D5E8461}" type="datetime10">
              <a:rPr lang="zh-CN" altLang="en-US" smtClean="0"/>
              <a:t>14:22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3F6C674-5E21-498A-BE74-B0AEF3B3F524}" type="slidenum">
              <a:rPr lang="zh-CN" altLang="en-US" smtClean="0"/>
              <a:t>‹#›</a:t>
            </a:fld>
            <a:endParaRPr lang="zh-CN" altLang="en-US"/>
          </a:p>
        </p:txBody>
      </p:sp>
    </p:spTree>
    <p:extLst>
      <p:ext uri="{BB962C8B-B14F-4D97-AF65-F5344CB8AC3E}">
        <p14:creationId xmlns:p14="http://schemas.microsoft.com/office/powerpoint/2010/main" val="2350952190"/>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a:t>单击此处编辑母版标题样式</a:t>
            </a:r>
          </a:p>
        </p:txBody>
      </p:sp>
      <p:sp>
        <p:nvSpPr>
          <p:cNvPr id="3" name="副标题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p>
        </p:txBody>
      </p:sp>
      <p:sp>
        <p:nvSpPr>
          <p:cNvPr id="4" name="日期占位符 3"/>
          <p:cNvSpPr>
            <a:spLocks noGrp="1"/>
          </p:cNvSpPr>
          <p:nvPr>
            <p:ph type="dt" sz="half" idx="10"/>
          </p:nvPr>
        </p:nvSpPr>
        <p:spPr/>
        <p:txBody>
          <a:bodyPr/>
          <a:lstStyle/>
          <a:p>
            <a:fld id="{3DE7B3F6-7483-4DA2-B606-C83D483B579F}" type="datetime10">
              <a:rPr lang="zh-CN" altLang="en-US" smtClean="0"/>
              <a:t>14:22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1864A2-EFEB-4586-A493-CA97B016BDDA}" type="slidenum">
              <a:rPr lang="zh-CN" altLang="en-US" smtClean="0"/>
              <a:t>‹#›</a:t>
            </a:fld>
            <a:endParaRPr lang="zh-CN" altLang="en-US"/>
          </a:p>
        </p:txBody>
      </p:sp>
    </p:spTree>
    <p:extLst>
      <p:ext uri="{BB962C8B-B14F-4D97-AF65-F5344CB8AC3E}">
        <p14:creationId xmlns:p14="http://schemas.microsoft.com/office/powerpoint/2010/main" val="978518900"/>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4C42881B-65C8-4099-850B-787B618B587A}" type="datetime10">
              <a:rPr lang="zh-CN" altLang="en-US" smtClean="0"/>
              <a:t>14:22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1864A2-EFEB-4586-A493-CA97B016BDDA}" type="slidenum">
              <a:rPr lang="zh-CN" altLang="en-US" smtClean="0"/>
              <a:t>‹#›</a:t>
            </a:fld>
            <a:endParaRPr lang="zh-CN" altLang="en-US"/>
          </a:p>
        </p:txBody>
      </p:sp>
    </p:spTree>
    <p:extLst>
      <p:ext uri="{BB962C8B-B14F-4D97-AF65-F5344CB8AC3E}">
        <p14:creationId xmlns:p14="http://schemas.microsoft.com/office/powerpoint/2010/main" val="1474028212"/>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33821BE7-A410-4D50-BF0C-51A47CB1AC40}" type="datetime10">
              <a:rPr lang="zh-CN" altLang="en-US" smtClean="0"/>
              <a:t>14:22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1864A2-EFEB-4586-A493-CA97B016BDDA}" type="slidenum">
              <a:rPr lang="zh-CN" altLang="en-US" smtClean="0"/>
              <a:t>‹#›</a:t>
            </a:fld>
            <a:endParaRPr lang="zh-CN" altLang="en-US"/>
          </a:p>
        </p:txBody>
      </p:sp>
    </p:spTree>
    <p:extLst>
      <p:ext uri="{BB962C8B-B14F-4D97-AF65-F5344CB8AC3E}">
        <p14:creationId xmlns:p14="http://schemas.microsoft.com/office/powerpoint/2010/main" val="2391881409"/>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AB8B220D-F512-439C-ADFD-0CA67A382D48}" type="datetime10">
              <a:rPr lang="zh-CN" altLang="en-US" smtClean="0"/>
              <a:t>14:22</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1864A2-EFEB-4586-A493-CA97B016BDDA}" type="slidenum">
              <a:rPr lang="zh-CN" altLang="en-US" smtClean="0"/>
              <a:t>‹#›</a:t>
            </a:fld>
            <a:endParaRPr lang="zh-CN" altLang="en-US"/>
          </a:p>
        </p:txBody>
      </p:sp>
    </p:spTree>
    <p:extLst>
      <p:ext uri="{BB962C8B-B14F-4D97-AF65-F5344CB8AC3E}">
        <p14:creationId xmlns:p14="http://schemas.microsoft.com/office/powerpoint/2010/main" val="3227567037"/>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9A39404A-87B1-4518-9D4C-501368C6577B}" type="datetime10">
              <a:rPr lang="zh-CN" altLang="en-US" smtClean="0"/>
              <a:t>14:22</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0C1864A2-EFEB-4586-A493-CA97B016BDDA}" type="slidenum">
              <a:rPr lang="zh-CN" altLang="en-US" smtClean="0"/>
              <a:t>‹#›</a:t>
            </a:fld>
            <a:endParaRPr lang="zh-CN" altLang="en-US"/>
          </a:p>
        </p:txBody>
      </p:sp>
    </p:spTree>
    <p:extLst>
      <p:ext uri="{BB962C8B-B14F-4D97-AF65-F5344CB8AC3E}">
        <p14:creationId xmlns:p14="http://schemas.microsoft.com/office/powerpoint/2010/main" val="182485107"/>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96D813AF-82D8-43CF-AA43-3C7F7C1F5317}" type="datetime10">
              <a:rPr lang="zh-CN" altLang="en-US" smtClean="0"/>
              <a:t>14:22</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0C1864A2-EFEB-4586-A493-CA97B016BDDA}" type="slidenum">
              <a:rPr lang="zh-CN" altLang="en-US" smtClean="0"/>
              <a:t>‹#›</a:t>
            </a:fld>
            <a:endParaRPr lang="zh-CN" altLang="en-US"/>
          </a:p>
        </p:txBody>
      </p:sp>
    </p:spTree>
    <p:extLst>
      <p:ext uri="{BB962C8B-B14F-4D97-AF65-F5344CB8AC3E}">
        <p14:creationId xmlns:p14="http://schemas.microsoft.com/office/powerpoint/2010/main" val="1103607149"/>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7F22361-D162-4D76-B7AC-80980A655481}" type="datetime10">
              <a:rPr lang="zh-CN" altLang="en-US" smtClean="0"/>
              <a:t>14:22</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0C1864A2-EFEB-4586-A493-CA97B016BDDA}" type="slidenum">
              <a:rPr lang="zh-CN" altLang="en-US" smtClean="0"/>
              <a:t>‹#›</a:t>
            </a:fld>
            <a:endParaRPr lang="zh-CN" altLang="en-US"/>
          </a:p>
        </p:txBody>
      </p:sp>
    </p:spTree>
    <p:extLst>
      <p:ext uri="{BB962C8B-B14F-4D97-AF65-F5344CB8AC3E}">
        <p14:creationId xmlns:p14="http://schemas.microsoft.com/office/powerpoint/2010/main" val="1657539925"/>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12C1F35E-0A43-440D-9999-3AE056B00550}" type="datetime10">
              <a:rPr lang="zh-CN" altLang="en-US" smtClean="0"/>
              <a:t>14:22</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1864A2-EFEB-4586-A493-CA97B016BDDA}" type="slidenum">
              <a:rPr lang="zh-CN" altLang="en-US" smtClean="0"/>
              <a:t>‹#›</a:t>
            </a:fld>
            <a:endParaRPr lang="zh-CN" altLang="en-US"/>
          </a:p>
        </p:txBody>
      </p:sp>
    </p:spTree>
    <p:extLst>
      <p:ext uri="{BB962C8B-B14F-4D97-AF65-F5344CB8AC3E}">
        <p14:creationId xmlns:p14="http://schemas.microsoft.com/office/powerpoint/2010/main" val="2021607057"/>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A2869AF9-3AE6-433B-AE26-A639EFED9B38}" type="datetime10">
              <a:rPr lang="zh-CN" altLang="en-US" smtClean="0"/>
              <a:t>14:22</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1864A2-EFEB-4586-A493-CA97B016BDDA}" type="slidenum">
              <a:rPr lang="zh-CN" altLang="en-US" smtClean="0"/>
              <a:t>‹#›</a:t>
            </a:fld>
            <a:endParaRPr lang="zh-CN" altLang="en-US"/>
          </a:p>
        </p:txBody>
      </p:sp>
    </p:spTree>
    <p:extLst>
      <p:ext uri="{BB962C8B-B14F-4D97-AF65-F5344CB8AC3E}">
        <p14:creationId xmlns:p14="http://schemas.microsoft.com/office/powerpoint/2010/main" val="1556312755"/>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CACB420C-E408-47CB-8E64-E620B1919282}" type="datetime10">
              <a:rPr lang="zh-CN" altLang="en-US" smtClean="0"/>
              <a:t>14:22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1864A2-EFEB-4586-A493-CA97B016BDDA}" type="slidenum">
              <a:rPr lang="zh-CN" altLang="en-US" smtClean="0"/>
              <a:t>‹#›</a:t>
            </a:fld>
            <a:endParaRPr lang="zh-CN" altLang="en-US"/>
          </a:p>
        </p:txBody>
      </p:sp>
    </p:spTree>
    <p:extLst>
      <p:ext uri="{BB962C8B-B14F-4D97-AF65-F5344CB8AC3E}">
        <p14:creationId xmlns:p14="http://schemas.microsoft.com/office/powerpoint/2010/main" val="563293494"/>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C92F8977-97C0-4470-8DD0-50F1DBE6C35C}" type="datetime10">
              <a:rPr lang="zh-CN" altLang="en-US" smtClean="0"/>
              <a:t>14:22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1864A2-EFEB-4586-A493-CA97B016BDDA}" type="slidenum">
              <a:rPr lang="zh-CN" altLang="en-US" smtClean="0"/>
              <a:t>‹#›</a:t>
            </a:fld>
            <a:endParaRPr lang="zh-CN" altLang="en-US"/>
          </a:p>
        </p:txBody>
      </p:sp>
    </p:spTree>
    <p:extLst>
      <p:ext uri="{BB962C8B-B14F-4D97-AF65-F5344CB8AC3E}">
        <p14:creationId xmlns:p14="http://schemas.microsoft.com/office/powerpoint/2010/main" val="4289263590"/>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showMasterSp="0" preserve="1">
  <p:cSld name="标题幻灯片">
    <p:spTree>
      <p:nvGrpSpPr>
        <p:cNvPr id="1" name=""/>
        <p:cNvGrpSpPr/>
        <p:nvPr/>
      </p:nvGrpSpPr>
      <p:grpSpPr>
        <a:xfrm>
          <a:off x="0" y="0"/>
          <a:ext cx="0" cy="0"/>
          <a:chOff x="0" y="0"/>
          <a:chExt cx="0" cy="0"/>
        </a:xfrm>
      </p:grpSpPr>
      <p:pic>
        <p:nvPicPr>
          <p:cNvPr id="4" name="Picture 1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12" descr="a_1"/>
          <p:cNvPicPr>
            <a:picLocks noChangeAspect="1" noChangeArrowheads="1"/>
          </p:cNvPicPr>
          <p:nvPr/>
        </p:nvPicPr>
        <p:blipFill>
          <a:blip r:embed="rId3">
            <a:extLst>
              <a:ext uri="{28A0092B-C50C-407E-A947-70E740481C1C}">
                <a14:useLocalDpi xmlns:a14="http://schemas.microsoft.com/office/drawing/2010/main" val="0"/>
              </a:ext>
            </a:extLst>
          </a:blip>
          <a:srcRect l="2174"/>
          <a:stretch>
            <a:fillRect/>
          </a:stretch>
        </p:blipFill>
        <p:spPr bwMode="auto">
          <a:xfrm>
            <a:off x="0" y="0"/>
            <a:ext cx="9144000" cy="530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Line 27"/>
          <p:cNvSpPr>
            <a:spLocks noChangeShapeType="1"/>
          </p:cNvSpPr>
          <p:nvPr/>
        </p:nvSpPr>
        <p:spPr bwMode="auto">
          <a:xfrm>
            <a:off x="0" y="2590800"/>
            <a:ext cx="9144000" cy="0"/>
          </a:xfrm>
          <a:prstGeom prst="line">
            <a:avLst/>
          </a:prstGeom>
          <a:noFill/>
          <a:ln w="38100">
            <a:solidFill>
              <a:srgbClr val="FFFF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 name="Rectangle 29"/>
          <p:cNvSpPr>
            <a:spLocks noChangeArrowheads="1"/>
          </p:cNvSpPr>
          <p:nvPr/>
        </p:nvSpPr>
        <p:spPr bwMode="gray">
          <a:xfrm>
            <a:off x="0" y="0"/>
            <a:ext cx="9142413" cy="1447800"/>
          </a:xfrm>
          <a:prstGeom prst="rect">
            <a:avLst/>
          </a:prstGeom>
          <a:gradFill rotWithShape="1">
            <a:gsLst>
              <a:gs pos="0">
                <a:srgbClr val="81CFEB">
                  <a:alpha val="18999"/>
                </a:srgbClr>
              </a:gs>
              <a:gs pos="100000">
                <a:srgbClr val="FFFFFF"/>
              </a:gs>
            </a:gsLst>
            <a:lin ang="5400000" scaled="1"/>
          </a:gradFill>
          <a:ln>
            <a:noFill/>
          </a:ln>
          <a:extLst>
            <a:ext uri="{91240B29-F687-4F45-9708-019B960494DF}">
              <a14:hiddenLine xmlns:a14="http://schemas.microsoft.com/office/drawing/2010/main" w="0" algn="ctr">
                <a:solidFill>
                  <a:srgbClr val="000000"/>
                </a:solidFill>
                <a:miter lim="800000"/>
                <a:headEnd/>
                <a:tailEnd/>
              </a14:hiddenLine>
            </a:ext>
          </a:extLst>
        </p:spPr>
        <p:txBody>
          <a:bodyPr wrap="none" anchor="ctr"/>
          <a:lstStyle/>
          <a:p>
            <a:endParaRPr lang="zh-CN" altLang="en-US"/>
          </a:p>
        </p:txBody>
      </p:sp>
      <p:sp>
        <p:nvSpPr>
          <p:cNvPr id="10" name="Rectangle 33"/>
          <p:cNvSpPr>
            <a:spLocks noChangeArrowheads="1"/>
          </p:cNvSpPr>
          <p:nvPr/>
        </p:nvSpPr>
        <p:spPr bwMode="auto">
          <a:xfrm>
            <a:off x="0" y="1447800"/>
            <a:ext cx="9144000" cy="114300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a:p>
        </p:txBody>
      </p:sp>
      <p:sp>
        <p:nvSpPr>
          <p:cNvPr id="19" name="Rectangle 4"/>
          <p:cNvSpPr>
            <a:spLocks noChangeArrowheads="1"/>
          </p:cNvSpPr>
          <p:nvPr/>
        </p:nvSpPr>
        <p:spPr bwMode="auto">
          <a:xfrm>
            <a:off x="838200" y="6477000"/>
            <a:ext cx="9144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a:endParaRPr lang="zh-CN" altLang="zh-CN" sz="1400">
              <a:latin typeface="Times New Roman" pitchFamily="18" charset="0"/>
            </a:endParaRPr>
          </a:p>
        </p:txBody>
      </p:sp>
    </p:spTree>
    <p:extLst>
      <p:ext uri="{BB962C8B-B14F-4D97-AF65-F5344CB8AC3E}">
        <p14:creationId xmlns:p14="http://schemas.microsoft.com/office/powerpoint/2010/main" val="18079638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up)">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7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p:cNvSpPr>
            <a:spLocks noGrp="1" noChangeArrowheads="1"/>
          </p:cNvSpPr>
          <p:nvPr>
            <p:ph type="dt" sz="half" idx="10"/>
          </p:nvPr>
        </p:nvSpPr>
        <p:spPr>
          <a:xfrm>
            <a:off x="838200" y="6477000"/>
            <a:ext cx="914400" cy="228600"/>
          </a:xfrm>
          <a:prstGeom prst="rect">
            <a:avLst/>
          </a:prstGeom>
          <a:ln/>
        </p:spPr>
        <p:txBody>
          <a:bodyPr/>
          <a:lstStyle>
            <a:lvl1pPr>
              <a:defRPr/>
            </a:lvl1pPr>
          </a:lstStyle>
          <a:p>
            <a:fld id="{7AE4DAE6-9425-4207-85CB-153793932E4D}" type="datetime10">
              <a:rPr lang="zh-CN" altLang="en-US" smtClean="0"/>
              <a:t>14:22</a:t>
            </a:fld>
            <a:endParaRPr lang="zh-CN" altLang="en-US"/>
          </a:p>
        </p:txBody>
      </p:sp>
      <p:sp>
        <p:nvSpPr>
          <p:cNvPr id="5" name="Rectangle 5"/>
          <p:cNvSpPr>
            <a:spLocks noGrp="1" noChangeArrowheads="1"/>
          </p:cNvSpPr>
          <p:nvPr>
            <p:ph type="ftr" sz="quarter" idx="11"/>
          </p:nvPr>
        </p:nvSpPr>
        <p:spPr>
          <a:xfrm>
            <a:off x="3124200" y="6245225"/>
            <a:ext cx="2895600" cy="476250"/>
          </a:xfrm>
          <a:prstGeom prst="rect">
            <a:avLst/>
          </a:prstGeom>
          <a:ln/>
        </p:spPr>
        <p:txBody>
          <a:bodyPr/>
          <a:lstStyle>
            <a:lvl1pPr>
              <a:defRPr/>
            </a:lvl1pPr>
          </a:lstStyle>
          <a:p>
            <a:endParaRPr lang="zh-CN" altLang="en-US"/>
          </a:p>
        </p:txBody>
      </p:sp>
      <p:sp>
        <p:nvSpPr>
          <p:cNvPr id="6" name="Rectangle 6"/>
          <p:cNvSpPr>
            <a:spLocks noGrp="1" noChangeArrowheads="1"/>
          </p:cNvSpPr>
          <p:nvPr>
            <p:ph type="sldNum" sz="quarter" idx="12"/>
          </p:nvPr>
        </p:nvSpPr>
        <p:spPr>
          <a:xfrm>
            <a:off x="6553200" y="6245225"/>
            <a:ext cx="2133600" cy="476250"/>
          </a:xfrm>
          <a:prstGeom prst="rect">
            <a:avLst/>
          </a:prstGeom>
          <a:ln/>
        </p:spPr>
        <p:txBody>
          <a:bodyPr/>
          <a:lstStyle>
            <a:lvl1pPr>
              <a:defRPr/>
            </a:lvl1pPr>
          </a:lstStyle>
          <a:p>
            <a:fld id="{650851C3-88A0-40D2-9357-2281829DF8A5}" type="slidenum">
              <a:rPr lang="zh-CN" altLang="en-US" smtClean="0"/>
              <a:t>‹#›</a:t>
            </a:fld>
            <a:endParaRPr lang="zh-CN" altLang="en-US"/>
          </a:p>
        </p:txBody>
      </p:sp>
    </p:spTree>
    <p:extLst>
      <p:ext uri="{BB962C8B-B14F-4D97-AF65-F5344CB8AC3E}">
        <p14:creationId xmlns:p14="http://schemas.microsoft.com/office/powerpoint/2010/main" val="284879062"/>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Rectangle 4"/>
          <p:cNvSpPr>
            <a:spLocks noGrp="1" noChangeArrowheads="1"/>
          </p:cNvSpPr>
          <p:nvPr>
            <p:ph type="dt" sz="half" idx="10"/>
          </p:nvPr>
        </p:nvSpPr>
        <p:spPr>
          <a:xfrm>
            <a:off x="838200" y="6477000"/>
            <a:ext cx="914400" cy="228600"/>
          </a:xfrm>
          <a:prstGeom prst="rect">
            <a:avLst/>
          </a:prstGeom>
          <a:ln/>
        </p:spPr>
        <p:txBody>
          <a:bodyPr/>
          <a:lstStyle>
            <a:lvl1pPr>
              <a:defRPr/>
            </a:lvl1pPr>
          </a:lstStyle>
          <a:p>
            <a:fld id="{CC018242-89BB-4671-92AE-FE60BE9FAE4E}" type="datetime10">
              <a:rPr lang="zh-CN" altLang="en-US" smtClean="0"/>
              <a:t>14:22</a:t>
            </a:fld>
            <a:endParaRPr lang="zh-CN" altLang="en-US"/>
          </a:p>
        </p:txBody>
      </p:sp>
      <p:sp>
        <p:nvSpPr>
          <p:cNvPr id="5" name="Rectangle 5"/>
          <p:cNvSpPr>
            <a:spLocks noGrp="1" noChangeArrowheads="1"/>
          </p:cNvSpPr>
          <p:nvPr>
            <p:ph type="ftr" sz="quarter" idx="11"/>
          </p:nvPr>
        </p:nvSpPr>
        <p:spPr>
          <a:xfrm>
            <a:off x="3124200" y="6245225"/>
            <a:ext cx="2895600" cy="476250"/>
          </a:xfrm>
          <a:prstGeom prst="rect">
            <a:avLst/>
          </a:prstGeom>
          <a:ln/>
        </p:spPr>
        <p:txBody>
          <a:bodyPr/>
          <a:lstStyle>
            <a:lvl1pPr>
              <a:defRPr/>
            </a:lvl1pPr>
          </a:lstStyle>
          <a:p>
            <a:endParaRPr lang="zh-CN" altLang="en-US"/>
          </a:p>
        </p:txBody>
      </p:sp>
      <p:sp>
        <p:nvSpPr>
          <p:cNvPr id="6" name="Rectangle 6"/>
          <p:cNvSpPr>
            <a:spLocks noGrp="1" noChangeArrowheads="1"/>
          </p:cNvSpPr>
          <p:nvPr>
            <p:ph type="sldNum" sz="quarter" idx="12"/>
          </p:nvPr>
        </p:nvSpPr>
        <p:spPr>
          <a:xfrm>
            <a:off x="6553200" y="6245225"/>
            <a:ext cx="2133600" cy="476250"/>
          </a:xfrm>
          <a:prstGeom prst="rect">
            <a:avLst/>
          </a:prstGeom>
          <a:ln/>
        </p:spPr>
        <p:txBody>
          <a:bodyPr/>
          <a:lstStyle>
            <a:lvl1pPr>
              <a:defRPr/>
            </a:lvl1pPr>
          </a:lstStyle>
          <a:p>
            <a:fld id="{650851C3-88A0-40D2-9357-2281829DF8A5}" type="slidenum">
              <a:rPr lang="zh-CN" altLang="en-US" smtClean="0"/>
              <a:t>‹#›</a:t>
            </a:fld>
            <a:endParaRPr lang="zh-CN" altLang="en-US"/>
          </a:p>
        </p:txBody>
      </p:sp>
    </p:spTree>
    <p:extLst>
      <p:ext uri="{BB962C8B-B14F-4D97-AF65-F5344CB8AC3E}">
        <p14:creationId xmlns:p14="http://schemas.microsoft.com/office/powerpoint/2010/main" val="1436277568"/>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990600" y="838200"/>
            <a:ext cx="3924300" cy="5181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5067300" y="838200"/>
            <a:ext cx="3924300" cy="5181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4"/>
          <p:cNvSpPr>
            <a:spLocks noGrp="1" noChangeArrowheads="1"/>
          </p:cNvSpPr>
          <p:nvPr>
            <p:ph type="dt" sz="half" idx="10"/>
          </p:nvPr>
        </p:nvSpPr>
        <p:spPr>
          <a:xfrm>
            <a:off x="838200" y="6477000"/>
            <a:ext cx="914400" cy="228600"/>
          </a:xfrm>
          <a:prstGeom prst="rect">
            <a:avLst/>
          </a:prstGeom>
          <a:ln/>
        </p:spPr>
        <p:txBody>
          <a:bodyPr/>
          <a:lstStyle>
            <a:lvl1pPr>
              <a:defRPr/>
            </a:lvl1pPr>
          </a:lstStyle>
          <a:p>
            <a:fld id="{F6801249-88B2-43DD-8CF4-740CA433E21F}" type="datetime10">
              <a:rPr lang="zh-CN" altLang="en-US" smtClean="0"/>
              <a:t>14:22</a:t>
            </a:fld>
            <a:endParaRPr lang="zh-CN" altLang="en-US"/>
          </a:p>
        </p:txBody>
      </p:sp>
    </p:spTree>
    <p:extLst>
      <p:ext uri="{BB962C8B-B14F-4D97-AF65-F5344CB8AC3E}">
        <p14:creationId xmlns:p14="http://schemas.microsoft.com/office/powerpoint/2010/main" val="571710451"/>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3186162442"/>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4"/>
          <p:cNvSpPr>
            <a:spLocks noGrp="1" noChangeArrowheads="1"/>
          </p:cNvSpPr>
          <p:nvPr>
            <p:ph type="dt" sz="half" idx="10"/>
          </p:nvPr>
        </p:nvSpPr>
        <p:spPr>
          <a:xfrm>
            <a:off x="838200" y="6477000"/>
            <a:ext cx="914400" cy="228600"/>
          </a:xfrm>
          <a:prstGeom prst="rect">
            <a:avLst/>
          </a:prstGeom>
          <a:ln/>
        </p:spPr>
        <p:txBody>
          <a:bodyPr/>
          <a:lstStyle>
            <a:lvl1pPr>
              <a:defRPr/>
            </a:lvl1pPr>
          </a:lstStyle>
          <a:p>
            <a:fld id="{3C6FD9B8-2965-41A0-A7D9-935A1FD80F3D}" type="datetime10">
              <a:rPr lang="zh-CN" altLang="en-US" smtClean="0"/>
              <a:t>14:22</a:t>
            </a:fld>
            <a:endParaRPr lang="zh-CN" altLang="en-US"/>
          </a:p>
        </p:txBody>
      </p:sp>
      <p:sp>
        <p:nvSpPr>
          <p:cNvPr id="4" name="Rectangle 5"/>
          <p:cNvSpPr>
            <a:spLocks noGrp="1" noChangeArrowheads="1"/>
          </p:cNvSpPr>
          <p:nvPr>
            <p:ph type="ftr" sz="quarter" idx="11"/>
          </p:nvPr>
        </p:nvSpPr>
        <p:spPr>
          <a:xfrm>
            <a:off x="3124200" y="6245225"/>
            <a:ext cx="2895600" cy="476250"/>
          </a:xfrm>
          <a:prstGeom prst="rect">
            <a:avLst/>
          </a:prstGeom>
          <a:ln/>
        </p:spPr>
        <p:txBody>
          <a:bodyPr/>
          <a:lstStyle>
            <a:lvl1pPr>
              <a:defRPr/>
            </a:lvl1pPr>
          </a:lstStyle>
          <a:p>
            <a:endParaRPr lang="zh-CN" altLang="en-US"/>
          </a:p>
        </p:txBody>
      </p:sp>
      <p:sp>
        <p:nvSpPr>
          <p:cNvPr id="5" name="Rectangle 6"/>
          <p:cNvSpPr>
            <a:spLocks noGrp="1" noChangeArrowheads="1"/>
          </p:cNvSpPr>
          <p:nvPr>
            <p:ph type="sldNum" sz="quarter" idx="12"/>
          </p:nvPr>
        </p:nvSpPr>
        <p:spPr>
          <a:xfrm>
            <a:off x="6553200" y="6245225"/>
            <a:ext cx="2133600" cy="476250"/>
          </a:xfrm>
          <a:prstGeom prst="rect">
            <a:avLst/>
          </a:prstGeom>
          <a:ln/>
        </p:spPr>
        <p:txBody>
          <a:bodyPr/>
          <a:lstStyle>
            <a:lvl1pPr>
              <a:defRPr/>
            </a:lvl1pPr>
          </a:lstStyle>
          <a:p>
            <a:fld id="{650851C3-88A0-40D2-9357-2281829DF8A5}" type="slidenum">
              <a:rPr lang="zh-CN" altLang="en-US" smtClean="0"/>
              <a:t>‹#›</a:t>
            </a:fld>
            <a:endParaRPr lang="zh-CN" altLang="en-US"/>
          </a:p>
        </p:txBody>
      </p:sp>
    </p:spTree>
    <p:extLst>
      <p:ext uri="{BB962C8B-B14F-4D97-AF65-F5344CB8AC3E}">
        <p14:creationId xmlns:p14="http://schemas.microsoft.com/office/powerpoint/2010/main" val="2266810430"/>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xfrm>
            <a:off x="838200" y="6477000"/>
            <a:ext cx="914400" cy="228600"/>
          </a:xfrm>
          <a:prstGeom prst="rect">
            <a:avLst/>
          </a:prstGeom>
          <a:ln/>
        </p:spPr>
        <p:txBody>
          <a:bodyPr/>
          <a:lstStyle>
            <a:lvl1pPr>
              <a:defRPr/>
            </a:lvl1pPr>
          </a:lstStyle>
          <a:p>
            <a:fld id="{DF0B27A3-D3BE-4D0D-9CED-3EBABCA26215}" type="datetime10">
              <a:rPr lang="zh-CN" altLang="en-US" smtClean="0"/>
              <a:t>14:22</a:t>
            </a:fld>
            <a:endParaRPr lang="zh-CN" altLang="en-US"/>
          </a:p>
        </p:txBody>
      </p:sp>
      <p:sp>
        <p:nvSpPr>
          <p:cNvPr id="3" name="Rectangle 5"/>
          <p:cNvSpPr>
            <a:spLocks noGrp="1" noChangeArrowheads="1"/>
          </p:cNvSpPr>
          <p:nvPr>
            <p:ph type="ftr" sz="quarter" idx="11"/>
          </p:nvPr>
        </p:nvSpPr>
        <p:spPr>
          <a:xfrm>
            <a:off x="3124200" y="6245225"/>
            <a:ext cx="2895600" cy="476250"/>
          </a:xfrm>
          <a:prstGeom prst="rect">
            <a:avLst/>
          </a:prstGeom>
          <a:ln/>
        </p:spPr>
        <p:txBody>
          <a:bodyPr/>
          <a:lstStyle>
            <a:lvl1pPr>
              <a:defRPr/>
            </a:lvl1pPr>
          </a:lstStyle>
          <a:p>
            <a:endParaRPr lang="zh-CN" altLang="en-US"/>
          </a:p>
        </p:txBody>
      </p:sp>
      <p:sp>
        <p:nvSpPr>
          <p:cNvPr id="4" name="Rectangle 6"/>
          <p:cNvSpPr>
            <a:spLocks noGrp="1" noChangeArrowheads="1"/>
          </p:cNvSpPr>
          <p:nvPr>
            <p:ph type="sldNum" sz="quarter" idx="12"/>
          </p:nvPr>
        </p:nvSpPr>
        <p:spPr>
          <a:xfrm>
            <a:off x="6553200" y="6245225"/>
            <a:ext cx="2133600" cy="476250"/>
          </a:xfrm>
          <a:prstGeom prst="rect">
            <a:avLst/>
          </a:prstGeom>
          <a:ln/>
        </p:spPr>
        <p:txBody>
          <a:bodyPr/>
          <a:lstStyle>
            <a:lvl1pPr>
              <a:defRPr/>
            </a:lvl1pPr>
          </a:lstStyle>
          <a:p>
            <a:fld id="{650851C3-88A0-40D2-9357-2281829DF8A5}" type="slidenum">
              <a:rPr lang="zh-CN" altLang="en-US" smtClean="0"/>
              <a:t>‹#›</a:t>
            </a:fld>
            <a:endParaRPr lang="zh-CN" altLang="en-US"/>
          </a:p>
        </p:txBody>
      </p:sp>
    </p:spTree>
    <p:extLst>
      <p:ext uri="{BB962C8B-B14F-4D97-AF65-F5344CB8AC3E}">
        <p14:creationId xmlns:p14="http://schemas.microsoft.com/office/powerpoint/2010/main" val="1505738575"/>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4"/>
          <p:cNvSpPr>
            <a:spLocks noGrp="1" noChangeArrowheads="1"/>
          </p:cNvSpPr>
          <p:nvPr>
            <p:ph type="dt" sz="half" idx="10"/>
          </p:nvPr>
        </p:nvSpPr>
        <p:spPr>
          <a:xfrm>
            <a:off x="838200" y="6477000"/>
            <a:ext cx="914400" cy="228600"/>
          </a:xfrm>
          <a:prstGeom prst="rect">
            <a:avLst/>
          </a:prstGeom>
          <a:ln/>
        </p:spPr>
        <p:txBody>
          <a:bodyPr/>
          <a:lstStyle>
            <a:lvl1pPr>
              <a:defRPr/>
            </a:lvl1pPr>
          </a:lstStyle>
          <a:p>
            <a:fld id="{932DFB08-9DE0-4BFF-9F43-D382667A7E8E}" type="datetime10">
              <a:rPr lang="zh-CN" altLang="en-US" smtClean="0"/>
              <a:t>14:22</a:t>
            </a:fld>
            <a:endParaRPr lang="zh-CN" altLang="en-US"/>
          </a:p>
        </p:txBody>
      </p:sp>
      <p:sp>
        <p:nvSpPr>
          <p:cNvPr id="6" name="Rectangle 5"/>
          <p:cNvSpPr>
            <a:spLocks noGrp="1" noChangeArrowheads="1"/>
          </p:cNvSpPr>
          <p:nvPr>
            <p:ph type="ftr" sz="quarter" idx="11"/>
          </p:nvPr>
        </p:nvSpPr>
        <p:spPr>
          <a:xfrm>
            <a:off x="3124200" y="6245225"/>
            <a:ext cx="2895600" cy="476250"/>
          </a:xfrm>
          <a:prstGeom prst="rect">
            <a:avLst/>
          </a:prstGeom>
          <a:ln/>
        </p:spPr>
        <p:txBody>
          <a:bodyPr/>
          <a:lstStyle>
            <a:lvl1pPr>
              <a:defRPr/>
            </a:lvl1pPr>
          </a:lstStyle>
          <a:p>
            <a:endParaRPr lang="zh-CN" altLang="en-US"/>
          </a:p>
        </p:txBody>
      </p:sp>
      <p:sp>
        <p:nvSpPr>
          <p:cNvPr id="7" name="Rectangle 6"/>
          <p:cNvSpPr>
            <a:spLocks noGrp="1" noChangeArrowheads="1"/>
          </p:cNvSpPr>
          <p:nvPr>
            <p:ph type="sldNum" sz="quarter" idx="12"/>
          </p:nvPr>
        </p:nvSpPr>
        <p:spPr>
          <a:xfrm>
            <a:off x="6553200" y="6245225"/>
            <a:ext cx="2133600" cy="476250"/>
          </a:xfrm>
          <a:prstGeom prst="rect">
            <a:avLst/>
          </a:prstGeom>
          <a:ln/>
        </p:spPr>
        <p:txBody>
          <a:bodyPr/>
          <a:lstStyle>
            <a:lvl1pPr>
              <a:defRPr/>
            </a:lvl1pPr>
          </a:lstStyle>
          <a:p>
            <a:fld id="{650851C3-88A0-40D2-9357-2281829DF8A5}" type="slidenum">
              <a:rPr lang="zh-CN" altLang="en-US" smtClean="0"/>
              <a:t>‹#›</a:t>
            </a:fld>
            <a:endParaRPr lang="zh-CN" altLang="en-US"/>
          </a:p>
        </p:txBody>
      </p:sp>
    </p:spTree>
    <p:extLst>
      <p:ext uri="{BB962C8B-B14F-4D97-AF65-F5344CB8AC3E}">
        <p14:creationId xmlns:p14="http://schemas.microsoft.com/office/powerpoint/2010/main" val="3124781292"/>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zh-CN" altLang="en-US" noProof="0"/>
              <a:t>单击图标添加图片</a:t>
            </a: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4"/>
          <p:cNvSpPr>
            <a:spLocks noGrp="1" noChangeArrowheads="1"/>
          </p:cNvSpPr>
          <p:nvPr>
            <p:ph type="dt" sz="half" idx="10"/>
          </p:nvPr>
        </p:nvSpPr>
        <p:spPr>
          <a:xfrm>
            <a:off x="838200" y="6477000"/>
            <a:ext cx="914400" cy="228600"/>
          </a:xfrm>
          <a:prstGeom prst="rect">
            <a:avLst/>
          </a:prstGeom>
          <a:ln/>
        </p:spPr>
        <p:txBody>
          <a:bodyPr/>
          <a:lstStyle>
            <a:lvl1pPr>
              <a:defRPr/>
            </a:lvl1pPr>
          </a:lstStyle>
          <a:p>
            <a:fld id="{FAEDC809-6D4E-4DF1-B3B8-DCD842CEB391}" type="datetime10">
              <a:rPr lang="zh-CN" altLang="en-US" smtClean="0"/>
              <a:t>14:22</a:t>
            </a:fld>
            <a:endParaRPr lang="zh-CN" altLang="en-US"/>
          </a:p>
        </p:txBody>
      </p:sp>
      <p:sp>
        <p:nvSpPr>
          <p:cNvPr id="6" name="Rectangle 5"/>
          <p:cNvSpPr>
            <a:spLocks noGrp="1" noChangeArrowheads="1"/>
          </p:cNvSpPr>
          <p:nvPr>
            <p:ph type="ftr" sz="quarter" idx="11"/>
          </p:nvPr>
        </p:nvSpPr>
        <p:spPr>
          <a:xfrm>
            <a:off x="3124200" y="6245225"/>
            <a:ext cx="2895600" cy="476250"/>
          </a:xfrm>
          <a:prstGeom prst="rect">
            <a:avLst/>
          </a:prstGeom>
          <a:ln/>
        </p:spPr>
        <p:txBody>
          <a:bodyPr/>
          <a:lstStyle>
            <a:lvl1pPr>
              <a:defRPr/>
            </a:lvl1pPr>
          </a:lstStyle>
          <a:p>
            <a:endParaRPr lang="zh-CN" altLang="en-US"/>
          </a:p>
        </p:txBody>
      </p:sp>
      <p:sp>
        <p:nvSpPr>
          <p:cNvPr id="7" name="Rectangle 6"/>
          <p:cNvSpPr>
            <a:spLocks noGrp="1" noChangeArrowheads="1"/>
          </p:cNvSpPr>
          <p:nvPr>
            <p:ph type="sldNum" sz="quarter" idx="12"/>
          </p:nvPr>
        </p:nvSpPr>
        <p:spPr>
          <a:xfrm>
            <a:off x="6553200" y="6245225"/>
            <a:ext cx="2133600" cy="476250"/>
          </a:xfrm>
          <a:prstGeom prst="rect">
            <a:avLst/>
          </a:prstGeom>
          <a:ln/>
        </p:spPr>
        <p:txBody>
          <a:bodyPr/>
          <a:lstStyle>
            <a:lvl1pPr>
              <a:defRPr/>
            </a:lvl1pPr>
          </a:lstStyle>
          <a:p>
            <a:fld id="{650851C3-88A0-40D2-9357-2281829DF8A5}" type="slidenum">
              <a:rPr lang="zh-CN" altLang="en-US" smtClean="0"/>
              <a:t>‹#›</a:t>
            </a:fld>
            <a:endParaRPr lang="zh-CN" altLang="en-US"/>
          </a:p>
        </p:txBody>
      </p:sp>
    </p:spTree>
    <p:extLst>
      <p:ext uri="{BB962C8B-B14F-4D97-AF65-F5344CB8AC3E}">
        <p14:creationId xmlns:p14="http://schemas.microsoft.com/office/powerpoint/2010/main" val="2878706148"/>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p:cNvSpPr>
            <a:spLocks noGrp="1" noChangeArrowheads="1"/>
          </p:cNvSpPr>
          <p:nvPr>
            <p:ph type="dt" sz="half" idx="10"/>
          </p:nvPr>
        </p:nvSpPr>
        <p:spPr>
          <a:xfrm>
            <a:off x="838200" y="6477000"/>
            <a:ext cx="914400" cy="228600"/>
          </a:xfrm>
          <a:prstGeom prst="rect">
            <a:avLst/>
          </a:prstGeom>
          <a:ln/>
        </p:spPr>
        <p:txBody>
          <a:bodyPr/>
          <a:lstStyle>
            <a:lvl1pPr>
              <a:defRPr/>
            </a:lvl1pPr>
          </a:lstStyle>
          <a:p>
            <a:fld id="{6C90720C-47B9-463E-9FC2-EC460C5F3198}" type="datetime10">
              <a:rPr lang="zh-CN" altLang="en-US" smtClean="0"/>
              <a:t>14:22</a:t>
            </a:fld>
            <a:endParaRPr lang="zh-CN" altLang="en-US"/>
          </a:p>
        </p:txBody>
      </p:sp>
      <p:sp>
        <p:nvSpPr>
          <p:cNvPr id="5" name="Rectangle 5"/>
          <p:cNvSpPr>
            <a:spLocks noGrp="1" noChangeArrowheads="1"/>
          </p:cNvSpPr>
          <p:nvPr>
            <p:ph type="ftr" sz="quarter" idx="11"/>
          </p:nvPr>
        </p:nvSpPr>
        <p:spPr>
          <a:xfrm>
            <a:off x="3124200" y="6245225"/>
            <a:ext cx="2895600" cy="476250"/>
          </a:xfrm>
          <a:prstGeom prst="rect">
            <a:avLst/>
          </a:prstGeom>
          <a:ln/>
        </p:spPr>
        <p:txBody>
          <a:bodyPr/>
          <a:lstStyle>
            <a:lvl1pPr>
              <a:defRPr/>
            </a:lvl1pPr>
          </a:lstStyle>
          <a:p>
            <a:endParaRPr lang="zh-CN" altLang="en-US"/>
          </a:p>
        </p:txBody>
      </p:sp>
      <p:sp>
        <p:nvSpPr>
          <p:cNvPr id="6" name="Rectangle 6"/>
          <p:cNvSpPr>
            <a:spLocks noGrp="1" noChangeArrowheads="1"/>
          </p:cNvSpPr>
          <p:nvPr>
            <p:ph type="sldNum" sz="quarter" idx="12"/>
          </p:nvPr>
        </p:nvSpPr>
        <p:spPr>
          <a:xfrm>
            <a:off x="6553200" y="6245225"/>
            <a:ext cx="2133600" cy="476250"/>
          </a:xfrm>
          <a:prstGeom prst="rect">
            <a:avLst/>
          </a:prstGeom>
          <a:ln/>
        </p:spPr>
        <p:txBody>
          <a:bodyPr/>
          <a:lstStyle>
            <a:lvl1pPr>
              <a:defRPr/>
            </a:lvl1pPr>
          </a:lstStyle>
          <a:p>
            <a:fld id="{650851C3-88A0-40D2-9357-2281829DF8A5}" type="slidenum">
              <a:rPr lang="zh-CN" altLang="en-US" smtClean="0"/>
              <a:t>‹#›</a:t>
            </a:fld>
            <a:endParaRPr lang="zh-CN" altLang="en-US"/>
          </a:p>
        </p:txBody>
      </p:sp>
    </p:spTree>
    <p:extLst>
      <p:ext uri="{BB962C8B-B14F-4D97-AF65-F5344CB8AC3E}">
        <p14:creationId xmlns:p14="http://schemas.microsoft.com/office/powerpoint/2010/main" val="1505500041"/>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991350" y="152400"/>
            <a:ext cx="2000250" cy="5867400"/>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990600" y="152400"/>
            <a:ext cx="5848350" cy="5867400"/>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p:cNvSpPr>
            <a:spLocks noGrp="1" noChangeArrowheads="1"/>
          </p:cNvSpPr>
          <p:nvPr>
            <p:ph type="dt" sz="half" idx="10"/>
          </p:nvPr>
        </p:nvSpPr>
        <p:spPr>
          <a:xfrm>
            <a:off x="838200" y="6477000"/>
            <a:ext cx="914400" cy="228600"/>
          </a:xfrm>
          <a:prstGeom prst="rect">
            <a:avLst/>
          </a:prstGeom>
          <a:ln/>
        </p:spPr>
        <p:txBody>
          <a:bodyPr/>
          <a:lstStyle>
            <a:lvl1pPr>
              <a:defRPr/>
            </a:lvl1pPr>
          </a:lstStyle>
          <a:p>
            <a:fld id="{2AC530F9-8194-44BB-9E05-1A4216D40C3D}" type="datetime10">
              <a:rPr lang="zh-CN" altLang="en-US" smtClean="0"/>
              <a:t>14:22</a:t>
            </a:fld>
            <a:endParaRPr lang="zh-CN" altLang="en-US"/>
          </a:p>
        </p:txBody>
      </p:sp>
      <p:sp>
        <p:nvSpPr>
          <p:cNvPr id="5" name="Rectangle 5"/>
          <p:cNvSpPr>
            <a:spLocks noGrp="1" noChangeArrowheads="1"/>
          </p:cNvSpPr>
          <p:nvPr>
            <p:ph type="ftr" sz="quarter" idx="11"/>
          </p:nvPr>
        </p:nvSpPr>
        <p:spPr>
          <a:xfrm>
            <a:off x="3124200" y="6245225"/>
            <a:ext cx="2895600" cy="476250"/>
          </a:xfrm>
          <a:prstGeom prst="rect">
            <a:avLst/>
          </a:prstGeom>
          <a:ln/>
        </p:spPr>
        <p:txBody>
          <a:bodyPr/>
          <a:lstStyle>
            <a:lvl1pPr>
              <a:defRPr/>
            </a:lvl1pPr>
          </a:lstStyle>
          <a:p>
            <a:endParaRPr lang="zh-CN" altLang="en-US"/>
          </a:p>
        </p:txBody>
      </p:sp>
      <p:sp>
        <p:nvSpPr>
          <p:cNvPr id="6" name="Rectangle 6"/>
          <p:cNvSpPr>
            <a:spLocks noGrp="1" noChangeArrowheads="1"/>
          </p:cNvSpPr>
          <p:nvPr>
            <p:ph type="sldNum" sz="quarter" idx="12"/>
          </p:nvPr>
        </p:nvSpPr>
        <p:spPr>
          <a:xfrm>
            <a:off x="6553200" y="6245225"/>
            <a:ext cx="2133600" cy="476250"/>
          </a:xfrm>
          <a:prstGeom prst="rect">
            <a:avLst/>
          </a:prstGeom>
          <a:ln/>
        </p:spPr>
        <p:txBody>
          <a:bodyPr/>
          <a:lstStyle>
            <a:lvl1pPr>
              <a:defRPr/>
            </a:lvl1pPr>
          </a:lstStyle>
          <a:p>
            <a:fld id="{650851C3-88A0-40D2-9357-2281829DF8A5}" type="slidenum">
              <a:rPr lang="zh-CN" altLang="en-US" smtClean="0"/>
              <a:t>‹#›</a:t>
            </a:fld>
            <a:endParaRPr lang="zh-CN" altLang="en-US"/>
          </a:p>
        </p:txBody>
      </p:sp>
    </p:spTree>
    <p:extLst>
      <p:ext uri="{BB962C8B-B14F-4D97-AF65-F5344CB8AC3E}">
        <p14:creationId xmlns:p14="http://schemas.microsoft.com/office/powerpoint/2010/main" val="1037293577"/>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type="title" preserve="1">
  <p:cSld name="1_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a:t>单击此处编辑母版标题样式</a:t>
            </a:r>
          </a:p>
        </p:txBody>
      </p:sp>
      <p:sp>
        <p:nvSpPr>
          <p:cNvPr id="3" name="副标题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p>
        </p:txBody>
      </p:sp>
      <p:sp>
        <p:nvSpPr>
          <p:cNvPr id="4" name="日期占位符 3"/>
          <p:cNvSpPr>
            <a:spLocks noGrp="1"/>
          </p:cNvSpPr>
          <p:nvPr>
            <p:ph type="dt" sz="half" idx="10"/>
          </p:nvPr>
        </p:nvSpPr>
        <p:spPr>
          <a:xfrm>
            <a:off x="457200" y="6356350"/>
            <a:ext cx="2133600" cy="365125"/>
          </a:xfrm>
          <a:prstGeom prst="rect">
            <a:avLst/>
          </a:prstGeom>
        </p:spPr>
        <p:txBody>
          <a:bodyPr/>
          <a:lstStyle/>
          <a:p>
            <a:fld id="{4543C513-C542-495F-8CC1-602CFA818FD0}" type="datetime10">
              <a:rPr lang="zh-CN" altLang="en-US" smtClean="0"/>
              <a:t>14:22</a:t>
            </a:fld>
            <a:endParaRPr lang="zh-CN" altLang="en-US"/>
          </a:p>
        </p:txBody>
      </p:sp>
      <p:sp>
        <p:nvSpPr>
          <p:cNvPr id="5" name="页脚占位符 4"/>
          <p:cNvSpPr>
            <a:spLocks noGrp="1"/>
          </p:cNvSpPr>
          <p:nvPr>
            <p:ph type="ftr" sz="quarter" idx="11"/>
          </p:nvPr>
        </p:nvSpPr>
        <p:spPr>
          <a:xfrm>
            <a:off x="3124200" y="6356350"/>
            <a:ext cx="2895600"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6553200" y="6356350"/>
            <a:ext cx="2133600" cy="365125"/>
          </a:xfrm>
          <a:prstGeom prst="rect">
            <a:avLst/>
          </a:prstGeom>
        </p:spPr>
        <p:txBody>
          <a:bodyPr/>
          <a:lstStyle/>
          <a:p>
            <a:fld id="{650851C3-88A0-40D2-9357-2281829DF8A5}" type="slidenum">
              <a:rPr lang="zh-CN" altLang="en-US" smtClean="0"/>
              <a:t>‹#›</a:t>
            </a:fld>
            <a:endParaRPr lang="zh-CN" altLang="en-US"/>
          </a:p>
        </p:txBody>
      </p:sp>
    </p:spTree>
    <p:extLst>
      <p:ext uri="{BB962C8B-B14F-4D97-AF65-F5344CB8AC3E}">
        <p14:creationId xmlns:p14="http://schemas.microsoft.com/office/powerpoint/2010/main" val="2188559699"/>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type="txAndTwoObj" preserve="1">
  <p:cSld name="标题，文本与两项内容">
    <p:spTree>
      <p:nvGrpSpPr>
        <p:cNvPr id="1" name=""/>
        <p:cNvGrpSpPr/>
        <p:nvPr/>
      </p:nvGrpSpPr>
      <p:grpSpPr>
        <a:xfrm>
          <a:off x="0" y="0"/>
          <a:ext cx="0" cy="0"/>
          <a:chOff x="0" y="0"/>
          <a:chExt cx="0" cy="0"/>
        </a:xfrm>
      </p:grpSpPr>
      <p:sp>
        <p:nvSpPr>
          <p:cNvPr id="2" name="标题 1"/>
          <p:cNvSpPr>
            <a:spLocks noGrp="1"/>
          </p:cNvSpPr>
          <p:nvPr>
            <p:ph type="title"/>
          </p:nvPr>
        </p:nvSpPr>
        <p:spPr>
          <a:xfrm>
            <a:off x="827088" y="188913"/>
            <a:ext cx="7848600" cy="792162"/>
          </a:xfrm>
        </p:spPr>
        <p:txBody>
          <a:bodyPr/>
          <a:lstStyle/>
          <a:p>
            <a:r>
              <a:rPr lang="zh-CN" altLang="en-US"/>
              <a:t>单击此处编辑母版标题样式</a:t>
            </a:r>
          </a:p>
        </p:txBody>
      </p:sp>
      <p:sp>
        <p:nvSpPr>
          <p:cNvPr id="3" name="文本占位符 2"/>
          <p:cNvSpPr>
            <a:spLocks noGrp="1"/>
          </p:cNvSpPr>
          <p:nvPr>
            <p:ph type="body" sz="half" idx="1"/>
          </p:nvPr>
        </p:nvSpPr>
        <p:spPr>
          <a:xfrm>
            <a:off x="611188" y="1268413"/>
            <a:ext cx="3956050" cy="4897437"/>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quarter" idx="2"/>
          </p:nvPr>
        </p:nvSpPr>
        <p:spPr>
          <a:xfrm>
            <a:off x="4719638" y="1268413"/>
            <a:ext cx="3956050" cy="2371725"/>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内容占位符 4"/>
          <p:cNvSpPr>
            <a:spLocks noGrp="1"/>
          </p:cNvSpPr>
          <p:nvPr>
            <p:ph sz="quarter" idx="3"/>
          </p:nvPr>
        </p:nvSpPr>
        <p:spPr>
          <a:xfrm>
            <a:off x="4719638" y="3792538"/>
            <a:ext cx="3956050" cy="2373312"/>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171424524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13" Type="http://schemas.openxmlformats.org/officeDocument/2006/relationships/slideLayout" Target="../slideLayouts/slideLayout35.xml"/><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slideLayout" Target="../slideLayouts/slideLayout34.xml"/><Relationship Id="rId17" Type="http://schemas.openxmlformats.org/officeDocument/2006/relationships/image" Target="../media/image2.jpeg"/><Relationship Id="rId2" Type="http://schemas.openxmlformats.org/officeDocument/2006/relationships/slideLayout" Target="../slideLayouts/slideLayout24.xml"/><Relationship Id="rId16" Type="http://schemas.openxmlformats.org/officeDocument/2006/relationships/image" Target="../media/image1.png"/><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5" Type="http://schemas.openxmlformats.org/officeDocument/2006/relationships/theme" Target="../theme/theme3.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 Id="rId14" Type="http://schemas.openxmlformats.org/officeDocument/2006/relationships/slideLayout" Target="../slideLayouts/slideLayout36.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4.xml"/><Relationship Id="rId13" Type="http://schemas.openxmlformats.org/officeDocument/2006/relationships/theme" Target="../theme/theme4.xml"/><Relationship Id="rId3" Type="http://schemas.openxmlformats.org/officeDocument/2006/relationships/slideLayout" Target="../slideLayouts/slideLayout39.xml"/><Relationship Id="rId7" Type="http://schemas.openxmlformats.org/officeDocument/2006/relationships/slideLayout" Target="../slideLayouts/slideLayout43.xml"/><Relationship Id="rId12" Type="http://schemas.openxmlformats.org/officeDocument/2006/relationships/slideLayout" Target="../slideLayouts/slideLayout48.xml"/><Relationship Id="rId2" Type="http://schemas.openxmlformats.org/officeDocument/2006/relationships/slideLayout" Target="../slideLayouts/slideLayout38.xml"/><Relationship Id="rId1" Type="http://schemas.openxmlformats.org/officeDocument/2006/relationships/slideLayout" Target="../slideLayouts/slideLayout37.xml"/><Relationship Id="rId6" Type="http://schemas.openxmlformats.org/officeDocument/2006/relationships/slideLayout" Target="../slideLayouts/slideLayout42.xml"/><Relationship Id="rId11" Type="http://schemas.openxmlformats.org/officeDocument/2006/relationships/slideLayout" Target="../slideLayouts/slideLayout47.xml"/><Relationship Id="rId5" Type="http://schemas.openxmlformats.org/officeDocument/2006/relationships/slideLayout" Target="../slideLayouts/slideLayout41.xml"/><Relationship Id="rId10" Type="http://schemas.openxmlformats.org/officeDocument/2006/relationships/slideLayout" Target="../slideLayouts/slideLayout46.xml"/><Relationship Id="rId4" Type="http://schemas.openxmlformats.org/officeDocument/2006/relationships/slideLayout" Target="../slideLayouts/slideLayout40.xml"/><Relationship Id="rId9" Type="http://schemas.openxmlformats.org/officeDocument/2006/relationships/slideLayout" Target="../slideLayouts/slideLayout45.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56.xml"/><Relationship Id="rId3" Type="http://schemas.openxmlformats.org/officeDocument/2006/relationships/slideLayout" Target="../slideLayouts/slideLayout51.xml"/><Relationship Id="rId7" Type="http://schemas.openxmlformats.org/officeDocument/2006/relationships/slideLayout" Target="../slideLayouts/slideLayout55.xml"/><Relationship Id="rId12" Type="http://schemas.openxmlformats.org/officeDocument/2006/relationships/theme" Target="../theme/theme5.xml"/><Relationship Id="rId2" Type="http://schemas.openxmlformats.org/officeDocument/2006/relationships/slideLayout" Target="../slideLayouts/slideLayout50.xml"/><Relationship Id="rId1" Type="http://schemas.openxmlformats.org/officeDocument/2006/relationships/slideLayout" Target="../slideLayouts/slideLayout49.xml"/><Relationship Id="rId6" Type="http://schemas.openxmlformats.org/officeDocument/2006/relationships/slideLayout" Target="../slideLayouts/slideLayout54.xml"/><Relationship Id="rId11" Type="http://schemas.openxmlformats.org/officeDocument/2006/relationships/slideLayout" Target="../slideLayouts/slideLayout59.xml"/><Relationship Id="rId5" Type="http://schemas.openxmlformats.org/officeDocument/2006/relationships/slideLayout" Target="../slideLayouts/slideLayout53.xml"/><Relationship Id="rId10" Type="http://schemas.openxmlformats.org/officeDocument/2006/relationships/slideLayout" Target="../slideLayouts/slideLayout58.xml"/><Relationship Id="rId4" Type="http://schemas.openxmlformats.org/officeDocument/2006/relationships/slideLayout" Target="../slideLayouts/slideLayout52.xml"/><Relationship Id="rId9" Type="http://schemas.openxmlformats.org/officeDocument/2006/relationships/slideLayout" Target="../slideLayouts/slideLayout57.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67.xml"/><Relationship Id="rId3" Type="http://schemas.openxmlformats.org/officeDocument/2006/relationships/slideLayout" Target="../slideLayouts/slideLayout62.xml"/><Relationship Id="rId7" Type="http://schemas.openxmlformats.org/officeDocument/2006/relationships/slideLayout" Target="../slideLayouts/slideLayout66.xml"/><Relationship Id="rId12" Type="http://schemas.openxmlformats.org/officeDocument/2006/relationships/theme" Target="../theme/theme6.xml"/><Relationship Id="rId2" Type="http://schemas.openxmlformats.org/officeDocument/2006/relationships/slideLayout" Target="../slideLayouts/slideLayout61.xml"/><Relationship Id="rId1" Type="http://schemas.openxmlformats.org/officeDocument/2006/relationships/slideLayout" Target="../slideLayouts/slideLayout60.xml"/><Relationship Id="rId6" Type="http://schemas.openxmlformats.org/officeDocument/2006/relationships/slideLayout" Target="../slideLayouts/slideLayout65.xml"/><Relationship Id="rId11" Type="http://schemas.openxmlformats.org/officeDocument/2006/relationships/slideLayout" Target="../slideLayouts/slideLayout70.xml"/><Relationship Id="rId5" Type="http://schemas.openxmlformats.org/officeDocument/2006/relationships/slideLayout" Target="../slideLayouts/slideLayout64.xml"/><Relationship Id="rId10" Type="http://schemas.openxmlformats.org/officeDocument/2006/relationships/slideLayout" Target="../slideLayouts/slideLayout69.xml"/><Relationship Id="rId4" Type="http://schemas.openxmlformats.org/officeDocument/2006/relationships/slideLayout" Target="../slideLayouts/slideLayout63.xml"/><Relationship Id="rId9" Type="http://schemas.openxmlformats.org/officeDocument/2006/relationships/slideLayout" Target="../slideLayouts/slideLayout68.xml"/></Relationships>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78.xml"/><Relationship Id="rId13" Type="http://schemas.openxmlformats.org/officeDocument/2006/relationships/slideLayout" Target="../slideLayouts/slideLayout83.xml"/><Relationship Id="rId3" Type="http://schemas.openxmlformats.org/officeDocument/2006/relationships/slideLayout" Target="../slideLayouts/slideLayout73.xml"/><Relationship Id="rId7" Type="http://schemas.openxmlformats.org/officeDocument/2006/relationships/slideLayout" Target="../slideLayouts/slideLayout77.xml"/><Relationship Id="rId12" Type="http://schemas.openxmlformats.org/officeDocument/2006/relationships/slideLayout" Target="../slideLayouts/slideLayout82.xml"/><Relationship Id="rId2" Type="http://schemas.openxmlformats.org/officeDocument/2006/relationships/slideLayout" Target="../slideLayouts/slideLayout72.xml"/><Relationship Id="rId16" Type="http://schemas.openxmlformats.org/officeDocument/2006/relationships/image" Target="../media/image2.jpeg"/><Relationship Id="rId1" Type="http://schemas.openxmlformats.org/officeDocument/2006/relationships/slideLayout" Target="../slideLayouts/slideLayout71.xml"/><Relationship Id="rId6" Type="http://schemas.openxmlformats.org/officeDocument/2006/relationships/slideLayout" Target="../slideLayouts/slideLayout76.xml"/><Relationship Id="rId11" Type="http://schemas.openxmlformats.org/officeDocument/2006/relationships/slideLayout" Target="../slideLayouts/slideLayout81.xml"/><Relationship Id="rId5" Type="http://schemas.openxmlformats.org/officeDocument/2006/relationships/slideLayout" Target="../slideLayouts/slideLayout75.xml"/><Relationship Id="rId15" Type="http://schemas.openxmlformats.org/officeDocument/2006/relationships/image" Target="../media/image1.png"/><Relationship Id="rId10" Type="http://schemas.openxmlformats.org/officeDocument/2006/relationships/slideLayout" Target="../slideLayouts/slideLayout80.xml"/><Relationship Id="rId4" Type="http://schemas.openxmlformats.org/officeDocument/2006/relationships/slideLayout" Target="../slideLayouts/slideLayout74.xml"/><Relationship Id="rId9" Type="http://schemas.openxmlformats.org/officeDocument/2006/relationships/slideLayout" Target="../slideLayouts/slideLayout79.xml"/><Relationship Id="rId14" Type="http://schemas.openxmlformats.org/officeDocument/2006/relationships/theme" Target="../theme/theme7.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D969087-A9D2-437C-A068-E9FB2EF51758}" type="datetime10">
              <a:rPr lang="zh-CN" altLang="en-US" smtClean="0"/>
              <a:t>14:22</a:t>
            </a:fld>
            <a:endParaRPr lang="zh-CN" altLang="en-US"/>
          </a:p>
        </p:txBody>
      </p:sp>
      <p:sp>
        <p:nvSpPr>
          <p:cNvPr id="5" name="页脚占位符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50851C3-88A0-40D2-9357-2281829DF8A5}" type="slidenum">
              <a:rPr lang="zh-CN" altLang="en-US" smtClean="0"/>
              <a:t>‹#›</a:t>
            </a:fld>
            <a:endParaRPr lang="zh-CN" altLang="en-US"/>
          </a:p>
        </p:txBody>
      </p:sp>
    </p:spTree>
    <p:extLst>
      <p:ext uri="{BB962C8B-B14F-4D97-AF65-F5344CB8AC3E}">
        <p14:creationId xmlns:p14="http://schemas.microsoft.com/office/powerpoint/2010/main" val="1123456782"/>
      </p:ext>
    </p:extLst>
  </p:cSld>
  <p:clrMap bg1="lt1" tx1="dk1" bg2="lt2" tx2="dk2" accent1="accent1" accent2="accent2" accent3="accent3" accent4="accent4" accent5="accent5" accent6="accent6" hlink="hlink" folHlink="folHlink"/>
  <p:sldLayoutIdLst>
    <p:sldLayoutId id="2147483688" r:id="rId1"/>
    <p:sldLayoutId id="2147483689" r:id="rId2"/>
    <p:sldLayoutId id="2147483690" r:id="rId3"/>
    <p:sldLayoutId id="2147483691" r:id="rId4"/>
    <p:sldLayoutId id="2147483692" r:id="rId5"/>
    <p:sldLayoutId id="2147483693" r:id="rId6"/>
    <p:sldLayoutId id="2147483694" r:id="rId7"/>
    <p:sldLayoutId id="2147483695" r:id="rId8"/>
    <p:sldLayoutId id="2147483696" r:id="rId9"/>
    <p:sldLayoutId id="2147483697" r:id="rId10"/>
    <p:sldLayoutId id="2147483698" r:id="rId11"/>
  </p:sldLayoutIdLst>
  <p:hf hdr="0" ftr="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2"/>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3AC8863-CCD6-4453-9D87-705FE25A7D9D}" type="datetime10">
              <a:rPr lang="zh-CN" altLang="en-US" smtClean="0"/>
              <a:t>14:22</a:t>
            </a:fld>
            <a:endParaRPr lang="zh-CN" altLang="en-US"/>
          </a:p>
        </p:txBody>
      </p:sp>
      <p:sp>
        <p:nvSpPr>
          <p:cNvPr id="5" name="页脚占位符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C1864A2-EFEB-4586-A493-CA97B016BDDA}" type="slidenum">
              <a:rPr lang="zh-CN" altLang="en-US" smtClean="0"/>
              <a:t>‹#›</a:t>
            </a:fld>
            <a:endParaRPr lang="zh-CN" altLang="en-US"/>
          </a:p>
        </p:txBody>
      </p:sp>
    </p:spTree>
    <p:extLst>
      <p:ext uri="{BB962C8B-B14F-4D97-AF65-F5344CB8AC3E}">
        <p14:creationId xmlns:p14="http://schemas.microsoft.com/office/powerpoint/2010/main" val="4227253951"/>
      </p:ext>
    </p:extLst>
  </p:cSld>
  <p:clrMap bg1="lt1" tx1="dk1" bg2="lt2" tx2="dk2" accent1="accent1" accent2="accent2" accent3="accent3" accent4="accent4" accent5="accent5" accent6="accent6" hlink="hlink" folHlink="folHlink"/>
  <p:sldLayoutIdLst>
    <p:sldLayoutId id="2147483676" r:id="rId1"/>
    <p:sldLayoutId id="2147483677" r:id="rId2"/>
    <p:sldLayoutId id="2147483678" r:id="rId3"/>
    <p:sldLayoutId id="2147483679" r:id="rId4"/>
    <p:sldLayoutId id="2147483680" r:id="rId5"/>
    <p:sldLayoutId id="2147483681" r:id="rId6"/>
    <p:sldLayoutId id="2147483682" r:id="rId7"/>
    <p:sldLayoutId id="2147483683" r:id="rId8"/>
    <p:sldLayoutId id="2147483684" r:id="rId9"/>
    <p:sldLayoutId id="2147483685" r:id="rId10"/>
    <p:sldLayoutId id="2147483686" r:id="rId11"/>
  </p:sldLayoutIdLst>
  <p:hf hdr="0" ftr="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33"/>
          <p:cNvSpPr>
            <a:spLocks noChangeArrowheads="1"/>
          </p:cNvSpPr>
          <p:nvPr/>
        </p:nvSpPr>
        <p:spPr bwMode="gray">
          <a:xfrm>
            <a:off x="838200" y="685800"/>
            <a:ext cx="8305800" cy="5562600"/>
          </a:xfrm>
          <a:prstGeom prst="rect">
            <a:avLst/>
          </a:prstGeom>
          <a:gradFill rotWithShape="1">
            <a:gsLst>
              <a:gs pos="0">
                <a:srgbClr val="81CFEB">
                  <a:alpha val="18999"/>
                </a:srgbClr>
              </a:gs>
              <a:gs pos="100000">
                <a:srgbClr val="FFFFFF"/>
              </a:gs>
            </a:gsLst>
            <a:lin ang="5400000" scaled="1"/>
          </a:gradFill>
          <a:ln>
            <a:noFill/>
          </a:ln>
          <a:extLst>
            <a:ext uri="{91240B29-F687-4F45-9708-019B960494DF}">
              <a14:hiddenLine xmlns:a14="http://schemas.microsoft.com/office/drawing/2010/main" w="0" algn="ctr">
                <a:solidFill>
                  <a:srgbClr val="000000"/>
                </a:solidFill>
                <a:miter lim="800000"/>
                <a:headEnd/>
                <a:tailEnd/>
              </a14:hiddenLine>
            </a:ext>
          </a:extLst>
        </p:spPr>
        <p:txBody>
          <a:bodyPr wrap="none" anchor="ctr"/>
          <a:lstStyle/>
          <a:p>
            <a:endParaRPr lang="zh-CN" altLang="en-US"/>
          </a:p>
        </p:txBody>
      </p:sp>
      <p:sp>
        <p:nvSpPr>
          <p:cNvPr id="1027" name="Rectangle 3"/>
          <p:cNvSpPr>
            <a:spLocks noGrp="1" noChangeArrowheads="1"/>
          </p:cNvSpPr>
          <p:nvPr>
            <p:ph type="body" idx="1"/>
          </p:nvPr>
        </p:nvSpPr>
        <p:spPr bwMode="auto">
          <a:xfrm>
            <a:off x="990600" y="838200"/>
            <a:ext cx="8001000" cy="5181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pic>
        <p:nvPicPr>
          <p:cNvPr id="1035" name="Picture 11" descr="a_1"/>
          <p:cNvPicPr>
            <a:picLocks noChangeAspect="1" noChangeArrowheads="1"/>
          </p:cNvPicPr>
          <p:nvPr/>
        </p:nvPicPr>
        <p:blipFill>
          <a:blip r:embed="rId16">
            <a:extLst>
              <a:ext uri="{28A0092B-C50C-407E-A947-70E740481C1C}">
                <a14:useLocalDpi xmlns:a14="http://schemas.microsoft.com/office/drawing/2010/main" val="0"/>
              </a:ext>
            </a:extLst>
          </a:blip>
          <a:srcRect l="2174"/>
          <a:stretch>
            <a:fillRect/>
          </a:stretch>
        </p:blipFill>
        <p:spPr bwMode="auto">
          <a:xfrm>
            <a:off x="685800" y="685800"/>
            <a:ext cx="8458200" cy="5192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32" name="Rectangle 13"/>
          <p:cNvSpPr>
            <a:spLocks noChangeArrowheads="1"/>
          </p:cNvSpPr>
          <p:nvPr/>
        </p:nvSpPr>
        <p:spPr bwMode="gray">
          <a:xfrm>
            <a:off x="0" y="0"/>
            <a:ext cx="9144000" cy="685800"/>
          </a:xfrm>
          <a:prstGeom prst="rect">
            <a:avLst/>
          </a:prstGeom>
          <a:gradFill rotWithShape="1">
            <a:gsLst>
              <a:gs pos="0">
                <a:srgbClr val="81CFEB"/>
              </a:gs>
              <a:gs pos="100000">
                <a:srgbClr val="FFFFFF"/>
              </a:gs>
            </a:gsLst>
            <a:lin ang="5400000" scaled="1"/>
          </a:gradFill>
          <a:ln>
            <a:noFill/>
          </a:ln>
          <a:extLst>
            <a:ext uri="{91240B29-F687-4F45-9708-019B960494DF}">
              <a14:hiddenLine xmlns:a14="http://schemas.microsoft.com/office/drawing/2010/main" w="0" algn="ctr">
                <a:solidFill>
                  <a:srgbClr val="000000"/>
                </a:solidFill>
                <a:miter lim="800000"/>
                <a:headEnd/>
                <a:tailEnd/>
              </a14:hiddenLine>
            </a:ext>
          </a:extLst>
        </p:spPr>
        <p:txBody>
          <a:bodyPr wrap="none" anchor="ctr"/>
          <a:lstStyle/>
          <a:p>
            <a:endParaRPr lang="zh-CN" altLang="en-US"/>
          </a:p>
        </p:txBody>
      </p:sp>
      <p:sp>
        <p:nvSpPr>
          <p:cNvPr id="1033" name="Rectangle 2"/>
          <p:cNvSpPr>
            <a:spLocks noGrp="1" noChangeArrowheads="1"/>
          </p:cNvSpPr>
          <p:nvPr>
            <p:ph type="title"/>
          </p:nvPr>
        </p:nvSpPr>
        <p:spPr bwMode="auto">
          <a:xfrm>
            <a:off x="1066800" y="152400"/>
            <a:ext cx="60960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grpSp>
        <p:nvGrpSpPr>
          <p:cNvPr id="1034" name="Group 31"/>
          <p:cNvGrpSpPr>
            <a:grpSpLocks/>
          </p:cNvGrpSpPr>
          <p:nvPr/>
        </p:nvGrpSpPr>
        <p:grpSpPr bwMode="auto">
          <a:xfrm rot="10800000">
            <a:off x="8382000" y="0"/>
            <a:ext cx="762000" cy="685800"/>
            <a:chOff x="5216" y="628"/>
            <a:chExt cx="546" cy="543"/>
          </a:xfrm>
        </p:grpSpPr>
        <p:sp>
          <p:nvSpPr>
            <p:cNvPr id="1041" name="Rectangle 14"/>
            <p:cNvSpPr>
              <a:spLocks noChangeArrowheads="1"/>
            </p:cNvSpPr>
            <p:nvPr userDrawn="1"/>
          </p:nvSpPr>
          <p:spPr bwMode="gray">
            <a:xfrm rot="-5400000">
              <a:off x="5219" y="627"/>
              <a:ext cx="165" cy="168"/>
            </a:xfrm>
            <a:prstGeom prst="rect">
              <a:avLst/>
            </a:prstGeom>
            <a:solidFill>
              <a:srgbClr val="297CDD">
                <a:alpha val="89803"/>
              </a:srgbClr>
            </a:solidFill>
            <a:ln w="19050" algn="ctr">
              <a:solidFill>
                <a:schemeClr val="bg1">
                  <a:alpha val="70195"/>
                </a:schemeClr>
              </a:solidFill>
              <a:miter lim="800000"/>
              <a:headEnd/>
              <a:tailEnd/>
            </a:ln>
          </p:spPr>
          <p:txBody>
            <a:bodyPr wrap="none" anchor="ctr"/>
            <a:lstStyle/>
            <a:p>
              <a:endParaRPr lang="zh-CN" altLang="en-US"/>
            </a:p>
          </p:txBody>
        </p:sp>
        <p:sp>
          <p:nvSpPr>
            <p:cNvPr id="1042" name="Rectangle 15"/>
            <p:cNvSpPr>
              <a:spLocks noChangeArrowheads="1"/>
            </p:cNvSpPr>
            <p:nvPr userDrawn="1"/>
          </p:nvSpPr>
          <p:spPr bwMode="gray">
            <a:xfrm rot="-5400000">
              <a:off x="5408" y="627"/>
              <a:ext cx="165" cy="168"/>
            </a:xfrm>
            <a:prstGeom prst="rect">
              <a:avLst/>
            </a:prstGeom>
            <a:solidFill>
              <a:srgbClr val="297CDD">
                <a:alpha val="59999"/>
              </a:srgbClr>
            </a:solidFill>
            <a:ln w="19050" algn="ctr">
              <a:solidFill>
                <a:schemeClr val="bg1">
                  <a:alpha val="70195"/>
                </a:schemeClr>
              </a:solidFill>
              <a:miter lim="800000"/>
              <a:headEnd/>
              <a:tailEnd/>
            </a:ln>
          </p:spPr>
          <p:txBody>
            <a:bodyPr wrap="none" anchor="ctr"/>
            <a:lstStyle/>
            <a:p>
              <a:endParaRPr lang="zh-CN" altLang="en-US"/>
            </a:p>
          </p:txBody>
        </p:sp>
        <p:sp>
          <p:nvSpPr>
            <p:cNvPr id="1043" name="Rectangle 16"/>
            <p:cNvSpPr>
              <a:spLocks noChangeArrowheads="1"/>
            </p:cNvSpPr>
            <p:nvPr userDrawn="1"/>
          </p:nvSpPr>
          <p:spPr bwMode="gray">
            <a:xfrm rot="-5400000">
              <a:off x="5595" y="627"/>
              <a:ext cx="165" cy="168"/>
            </a:xfrm>
            <a:prstGeom prst="rect">
              <a:avLst/>
            </a:prstGeom>
            <a:solidFill>
              <a:srgbClr val="297CDD">
                <a:alpha val="85097"/>
              </a:srgbClr>
            </a:solidFill>
            <a:ln w="19050" algn="ctr">
              <a:solidFill>
                <a:schemeClr val="bg1">
                  <a:alpha val="70195"/>
                </a:schemeClr>
              </a:solidFill>
              <a:miter lim="800000"/>
              <a:headEnd/>
              <a:tailEnd/>
            </a:ln>
          </p:spPr>
          <p:txBody>
            <a:bodyPr wrap="none" anchor="ctr"/>
            <a:lstStyle/>
            <a:p>
              <a:endParaRPr lang="zh-CN" altLang="en-US"/>
            </a:p>
          </p:txBody>
        </p:sp>
        <p:sp>
          <p:nvSpPr>
            <p:cNvPr id="1044" name="Rectangle 17"/>
            <p:cNvSpPr>
              <a:spLocks noChangeArrowheads="1"/>
            </p:cNvSpPr>
            <p:nvPr userDrawn="1"/>
          </p:nvSpPr>
          <p:spPr bwMode="gray">
            <a:xfrm rot="-5400000">
              <a:off x="5406" y="815"/>
              <a:ext cx="166" cy="168"/>
            </a:xfrm>
            <a:prstGeom prst="rect">
              <a:avLst/>
            </a:prstGeom>
            <a:solidFill>
              <a:srgbClr val="297CDD"/>
            </a:solidFill>
            <a:ln w="19050" algn="ctr">
              <a:solidFill>
                <a:schemeClr val="bg1">
                  <a:alpha val="70195"/>
                </a:schemeClr>
              </a:solidFill>
              <a:miter lim="800000"/>
              <a:headEnd/>
              <a:tailEnd/>
            </a:ln>
          </p:spPr>
          <p:txBody>
            <a:bodyPr wrap="none" anchor="ctr"/>
            <a:lstStyle/>
            <a:p>
              <a:endParaRPr lang="zh-CN" altLang="en-US"/>
            </a:p>
          </p:txBody>
        </p:sp>
        <p:sp>
          <p:nvSpPr>
            <p:cNvPr id="1045" name="Rectangle 18"/>
            <p:cNvSpPr>
              <a:spLocks noChangeArrowheads="1"/>
            </p:cNvSpPr>
            <p:nvPr userDrawn="1"/>
          </p:nvSpPr>
          <p:spPr bwMode="gray">
            <a:xfrm rot="-5400000">
              <a:off x="5217" y="818"/>
              <a:ext cx="166" cy="168"/>
            </a:xfrm>
            <a:prstGeom prst="rect">
              <a:avLst/>
            </a:prstGeom>
            <a:solidFill>
              <a:srgbClr val="297CDD">
                <a:alpha val="59999"/>
              </a:srgbClr>
            </a:solidFill>
            <a:ln w="19050" algn="ctr">
              <a:solidFill>
                <a:schemeClr val="bg1">
                  <a:alpha val="70195"/>
                </a:schemeClr>
              </a:solidFill>
              <a:miter lim="800000"/>
              <a:headEnd/>
              <a:tailEnd/>
            </a:ln>
          </p:spPr>
          <p:txBody>
            <a:bodyPr wrap="none" anchor="ctr"/>
            <a:lstStyle/>
            <a:p>
              <a:endParaRPr lang="zh-CN" altLang="en-US"/>
            </a:p>
          </p:txBody>
        </p:sp>
        <p:sp>
          <p:nvSpPr>
            <p:cNvPr id="1046" name="Rectangle 19"/>
            <p:cNvSpPr>
              <a:spLocks noChangeArrowheads="1"/>
            </p:cNvSpPr>
            <p:nvPr userDrawn="1"/>
          </p:nvSpPr>
          <p:spPr bwMode="gray">
            <a:xfrm rot="-5400000">
              <a:off x="5218" y="1006"/>
              <a:ext cx="166" cy="168"/>
            </a:xfrm>
            <a:prstGeom prst="rect">
              <a:avLst/>
            </a:prstGeom>
            <a:solidFill>
              <a:srgbClr val="297CDD">
                <a:alpha val="89803"/>
              </a:srgbClr>
            </a:solidFill>
            <a:ln w="19050" algn="ctr">
              <a:solidFill>
                <a:schemeClr val="bg1">
                  <a:alpha val="70195"/>
                </a:schemeClr>
              </a:solidFill>
              <a:miter lim="800000"/>
              <a:headEnd/>
              <a:tailEnd/>
            </a:ln>
          </p:spPr>
          <p:txBody>
            <a:bodyPr wrap="none" anchor="ctr"/>
            <a:lstStyle/>
            <a:p>
              <a:endParaRPr lang="zh-CN" altLang="en-US"/>
            </a:p>
          </p:txBody>
        </p:sp>
      </p:grpSp>
      <p:sp>
        <p:nvSpPr>
          <p:cNvPr id="3" name="Rectangle 26"/>
          <p:cNvSpPr>
            <a:spLocks noChangeArrowheads="1"/>
          </p:cNvSpPr>
          <p:nvPr/>
        </p:nvSpPr>
        <p:spPr bwMode="gray">
          <a:xfrm>
            <a:off x="269875" y="0"/>
            <a:ext cx="284163" cy="6889750"/>
          </a:xfrm>
          <a:prstGeom prst="rect">
            <a:avLst/>
          </a:prstGeom>
          <a:solidFill>
            <a:srgbClr val="4A9ACC">
              <a:alpha val="79999"/>
            </a:srgbClr>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wrap="none" anchor="ctr"/>
          <a:lstStyle/>
          <a:p>
            <a:endParaRPr lang="zh-CN" altLang="en-US"/>
          </a:p>
        </p:txBody>
      </p:sp>
      <p:sp>
        <p:nvSpPr>
          <p:cNvPr id="1036" name="Rectangle 27"/>
          <p:cNvSpPr>
            <a:spLocks noChangeArrowheads="1"/>
          </p:cNvSpPr>
          <p:nvPr/>
        </p:nvSpPr>
        <p:spPr bwMode="gray">
          <a:xfrm>
            <a:off x="-12700" y="0"/>
            <a:ext cx="330200" cy="6884988"/>
          </a:xfrm>
          <a:prstGeom prst="rect">
            <a:avLst/>
          </a:prstGeom>
          <a:gradFill rotWithShape="1">
            <a:gsLst>
              <a:gs pos="0">
                <a:srgbClr val="152C3A"/>
              </a:gs>
              <a:gs pos="100000">
                <a:srgbClr val="4A9ACC"/>
              </a:gs>
            </a:gsLst>
            <a:lin ang="18900000" scaled="1"/>
          </a:gradFill>
          <a:ln>
            <a:noFill/>
          </a:ln>
          <a:extLst>
            <a:ext uri="{91240B29-F687-4F45-9708-019B960494DF}">
              <a14:hiddenLine xmlns:a14="http://schemas.microsoft.com/office/drawing/2010/main" w="28575" algn="ctr">
                <a:solidFill>
                  <a:srgbClr val="000000"/>
                </a:solidFill>
                <a:miter lim="800000"/>
                <a:headEnd/>
                <a:tailEnd/>
              </a14:hiddenLine>
            </a:ext>
          </a:extLst>
        </p:spPr>
        <p:txBody>
          <a:bodyPr wrap="none" anchor="ctr"/>
          <a:lstStyle/>
          <a:p>
            <a:endParaRPr lang="zh-CN" altLang="en-US"/>
          </a:p>
        </p:txBody>
      </p:sp>
      <p:sp>
        <p:nvSpPr>
          <p:cNvPr id="1037" name="Rectangle 28"/>
          <p:cNvSpPr>
            <a:spLocks noChangeArrowheads="1"/>
          </p:cNvSpPr>
          <p:nvPr/>
        </p:nvSpPr>
        <p:spPr bwMode="gray">
          <a:xfrm>
            <a:off x="749300" y="23813"/>
            <a:ext cx="71438" cy="6872287"/>
          </a:xfrm>
          <a:prstGeom prst="rect">
            <a:avLst/>
          </a:prstGeom>
          <a:solidFill>
            <a:srgbClr val="4A9ACC">
              <a:alpha val="20000"/>
            </a:srgbClr>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wrap="none" anchor="ctr"/>
          <a:lstStyle/>
          <a:p>
            <a:endParaRPr lang="zh-CN" altLang="en-US"/>
          </a:p>
        </p:txBody>
      </p:sp>
      <p:sp>
        <p:nvSpPr>
          <p:cNvPr id="1038" name="Rectangle 29"/>
          <p:cNvSpPr>
            <a:spLocks noChangeArrowheads="1"/>
          </p:cNvSpPr>
          <p:nvPr/>
        </p:nvSpPr>
        <p:spPr bwMode="gray">
          <a:xfrm>
            <a:off x="508000" y="0"/>
            <a:ext cx="168275" cy="6865938"/>
          </a:xfrm>
          <a:prstGeom prst="rect">
            <a:avLst/>
          </a:prstGeom>
          <a:solidFill>
            <a:srgbClr val="4A9ACC">
              <a:alpha val="54117"/>
            </a:srgbClr>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wrap="none" anchor="ctr"/>
          <a:lstStyle/>
          <a:p>
            <a:endParaRPr lang="zh-CN" altLang="en-US"/>
          </a:p>
        </p:txBody>
      </p:sp>
      <p:sp>
        <p:nvSpPr>
          <p:cNvPr id="1039" name="Rectangle 30"/>
          <p:cNvSpPr>
            <a:spLocks noChangeArrowheads="1"/>
          </p:cNvSpPr>
          <p:nvPr/>
        </p:nvSpPr>
        <p:spPr bwMode="gray">
          <a:xfrm>
            <a:off x="685800" y="0"/>
            <a:ext cx="114300" cy="6872288"/>
          </a:xfrm>
          <a:prstGeom prst="rect">
            <a:avLst/>
          </a:prstGeom>
          <a:solidFill>
            <a:srgbClr val="4A9ACC">
              <a:alpha val="36862"/>
            </a:srgbClr>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wrap="none" anchor="ctr"/>
          <a:lstStyle/>
          <a:p>
            <a:endParaRPr lang="zh-CN" altLang="en-US"/>
          </a:p>
        </p:txBody>
      </p:sp>
      <p:pic>
        <p:nvPicPr>
          <p:cNvPr id="1040" name="Picture 26" descr="hust-en"/>
          <p:cNvPicPr>
            <a:picLocks noChangeAspect="1" noChangeArrowheads="1"/>
          </p:cNvPicPr>
          <p:nvPr/>
        </p:nvPicPr>
        <p:blipFill>
          <a:blip r:embed="rId17" cstate="print">
            <a:extLst>
              <a:ext uri="{28A0092B-C50C-407E-A947-70E740481C1C}">
                <a14:useLocalDpi xmlns:a14="http://schemas.microsoft.com/office/drawing/2010/main" val="0"/>
              </a:ext>
            </a:extLst>
          </a:blip>
          <a:srcRect/>
          <a:stretch>
            <a:fillRect/>
          </a:stretch>
        </p:blipFill>
        <p:spPr bwMode="auto">
          <a:xfrm>
            <a:off x="6937375" y="6248400"/>
            <a:ext cx="2206625"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712" r:id="rId1"/>
    <p:sldLayoutId id="2147483713" r:id="rId2"/>
    <p:sldLayoutId id="2147483714" r:id="rId3"/>
    <p:sldLayoutId id="2147483715" r:id="rId4"/>
    <p:sldLayoutId id="2147483716" r:id="rId5"/>
    <p:sldLayoutId id="2147483717" r:id="rId6"/>
    <p:sldLayoutId id="2147483718" r:id="rId7"/>
    <p:sldLayoutId id="2147483719" r:id="rId8"/>
    <p:sldLayoutId id="2147483720" r:id="rId9"/>
    <p:sldLayoutId id="2147483721" r:id="rId10"/>
    <p:sldLayoutId id="2147483722" r:id="rId11"/>
    <p:sldLayoutId id="2147483723" r:id="rId12"/>
    <p:sldLayoutId id="2147483862" r:id="rId13"/>
    <p:sldLayoutId id="2147483863" r:id="rId14"/>
  </p:sldLayoutIdLs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nodeType="withEffect">
                                  <p:stCondLst>
                                    <p:cond delay="0"/>
                                  </p:stCondLst>
                                  <p:childTnLst>
                                    <p:set>
                                      <p:cBhvr>
                                        <p:cTn id="6" dur="1" fill="hold">
                                          <p:stCondLst>
                                            <p:cond delay="0"/>
                                          </p:stCondLst>
                                        </p:cTn>
                                        <p:tgtEl>
                                          <p:spTgt spid="1035"/>
                                        </p:tgtEl>
                                        <p:attrNameLst>
                                          <p:attrName>style.visibility</p:attrName>
                                        </p:attrNameLst>
                                      </p:cBhvr>
                                      <p:to>
                                        <p:strVal val="visible"/>
                                      </p:to>
                                    </p:set>
                                    <p:animEffect transition="in" filter="wipe(up)">
                                      <p:cBhvr>
                                        <p:cTn id="7" dur="500"/>
                                        <p:tgtEl>
                                          <p:spTgt spid="10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hdr="0" ftr="0"/>
  <p:txStyles>
    <p:titleStyle>
      <a:lvl1pPr algn="l" rtl="0" eaLnBrk="1" fontAlgn="base" hangingPunct="1">
        <a:spcBef>
          <a:spcPct val="0"/>
        </a:spcBef>
        <a:spcAft>
          <a:spcPct val="0"/>
        </a:spcAft>
        <a:defRPr sz="3200" b="1">
          <a:solidFill>
            <a:schemeClr val="tx2"/>
          </a:solidFill>
          <a:latin typeface="+mj-lt"/>
          <a:ea typeface="+mj-ea"/>
          <a:cs typeface="+mj-cs"/>
        </a:defRPr>
      </a:lvl1pPr>
      <a:lvl2pPr algn="l" rtl="0" eaLnBrk="1" fontAlgn="base" hangingPunct="1">
        <a:spcBef>
          <a:spcPct val="0"/>
        </a:spcBef>
        <a:spcAft>
          <a:spcPct val="0"/>
        </a:spcAft>
        <a:defRPr sz="3200" b="1">
          <a:solidFill>
            <a:schemeClr val="tx2"/>
          </a:solidFill>
          <a:latin typeface="Arial" charset="0"/>
          <a:ea typeface="华文中宋" pitchFamily="2" charset="-122"/>
        </a:defRPr>
      </a:lvl2pPr>
      <a:lvl3pPr algn="l" rtl="0" eaLnBrk="1" fontAlgn="base" hangingPunct="1">
        <a:spcBef>
          <a:spcPct val="0"/>
        </a:spcBef>
        <a:spcAft>
          <a:spcPct val="0"/>
        </a:spcAft>
        <a:defRPr sz="3200" b="1">
          <a:solidFill>
            <a:schemeClr val="tx2"/>
          </a:solidFill>
          <a:latin typeface="Arial" charset="0"/>
          <a:ea typeface="华文中宋" pitchFamily="2" charset="-122"/>
        </a:defRPr>
      </a:lvl3pPr>
      <a:lvl4pPr algn="l" rtl="0" eaLnBrk="1" fontAlgn="base" hangingPunct="1">
        <a:spcBef>
          <a:spcPct val="0"/>
        </a:spcBef>
        <a:spcAft>
          <a:spcPct val="0"/>
        </a:spcAft>
        <a:defRPr sz="3200" b="1">
          <a:solidFill>
            <a:schemeClr val="tx2"/>
          </a:solidFill>
          <a:latin typeface="Arial" charset="0"/>
          <a:ea typeface="华文中宋" pitchFamily="2" charset="-122"/>
        </a:defRPr>
      </a:lvl4pPr>
      <a:lvl5pPr algn="l" rtl="0" eaLnBrk="1" fontAlgn="base" hangingPunct="1">
        <a:spcBef>
          <a:spcPct val="0"/>
        </a:spcBef>
        <a:spcAft>
          <a:spcPct val="0"/>
        </a:spcAft>
        <a:defRPr sz="3200" b="1">
          <a:solidFill>
            <a:schemeClr val="tx2"/>
          </a:solidFill>
          <a:latin typeface="Arial" charset="0"/>
          <a:ea typeface="华文中宋" pitchFamily="2" charset="-122"/>
        </a:defRPr>
      </a:lvl5pPr>
      <a:lvl6pPr marL="457200" algn="l" rtl="0" eaLnBrk="1" fontAlgn="base" hangingPunct="1">
        <a:spcBef>
          <a:spcPct val="0"/>
        </a:spcBef>
        <a:spcAft>
          <a:spcPct val="0"/>
        </a:spcAft>
        <a:defRPr sz="3200" b="1">
          <a:solidFill>
            <a:schemeClr val="tx2"/>
          </a:solidFill>
          <a:latin typeface="Arial" charset="0"/>
          <a:ea typeface="华文中宋" pitchFamily="2" charset="-122"/>
        </a:defRPr>
      </a:lvl6pPr>
      <a:lvl7pPr marL="914400" algn="l" rtl="0" eaLnBrk="1" fontAlgn="base" hangingPunct="1">
        <a:spcBef>
          <a:spcPct val="0"/>
        </a:spcBef>
        <a:spcAft>
          <a:spcPct val="0"/>
        </a:spcAft>
        <a:defRPr sz="3200" b="1">
          <a:solidFill>
            <a:schemeClr val="tx2"/>
          </a:solidFill>
          <a:latin typeface="Arial" charset="0"/>
          <a:ea typeface="华文中宋" pitchFamily="2" charset="-122"/>
        </a:defRPr>
      </a:lvl7pPr>
      <a:lvl8pPr marL="1371600" algn="l" rtl="0" eaLnBrk="1" fontAlgn="base" hangingPunct="1">
        <a:spcBef>
          <a:spcPct val="0"/>
        </a:spcBef>
        <a:spcAft>
          <a:spcPct val="0"/>
        </a:spcAft>
        <a:defRPr sz="3200" b="1">
          <a:solidFill>
            <a:schemeClr val="tx2"/>
          </a:solidFill>
          <a:latin typeface="Arial" charset="0"/>
          <a:ea typeface="华文中宋" pitchFamily="2" charset="-122"/>
        </a:defRPr>
      </a:lvl8pPr>
      <a:lvl9pPr marL="1828800" algn="l" rtl="0" eaLnBrk="1" fontAlgn="base" hangingPunct="1">
        <a:spcBef>
          <a:spcPct val="0"/>
        </a:spcBef>
        <a:spcAft>
          <a:spcPct val="0"/>
        </a:spcAft>
        <a:defRPr sz="3200" b="1">
          <a:solidFill>
            <a:schemeClr val="tx2"/>
          </a:solidFill>
          <a:latin typeface="Arial" charset="0"/>
          <a:ea typeface="华文中宋" pitchFamily="2" charset="-122"/>
        </a:defRPr>
      </a:lvl9pPr>
    </p:titleStyle>
    <p:bodyStyle>
      <a:lvl1pPr marL="342900" indent="-342900" algn="l" rtl="0" eaLnBrk="1" fontAlgn="base" hangingPunct="1">
        <a:spcBef>
          <a:spcPct val="20000"/>
        </a:spcBef>
        <a:spcAft>
          <a:spcPct val="0"/>
        </a:spcAft>
        <a:buChar char="•"/>
        <a:defRPr sz="3200">
          <a:solidFill>
            <a:schemeClr val="tx1"/>
          </a:solidFill>
          <a:latin typeface="+mn-lt"/>
          <a:ea typeface="+mn-ea"/>
          <a:cs typeface="+mn-cs"/>
        </a:defRPr>
      </a:lvl1pPr>
      <a:lvl2pPr marL="742950" indent="-285750" algn="l" rtl="0" eaLnBrk="1" fontAlgn="base" hangingPunct="1">
        <a:spcBef>
          <a:spcPct val="20000"/>
        </a:spcBef>
        <a:spcAft>
          <a:spcPct val="0"/>
        </a:spcAft>
        <a:buChar char="–"/>
        <a:defRPr sz="2800">
          <a:solidFill>
            <a:schemeClr val="tx1"/>
          </a:solidFill>
          <a:latin typeface="+mn-lt"/>
          <a:ea typeface="+mn-ea"/>
        </a:defRPr>
      </a:lvl2pPr>
      <a:lvl3pPr marL="1143000" indent="-228600" algn="l" rtl="0" eaLnBrk="1" fontAlgn="base" hangingPunct="1">
        <a:spcBef>
          <a:spcPct val="20000"/>
        </a:spcBef>
        <a:spcAft>
          <a:spcPct val="0"/>
        </a:spcAft>
        <a:buChar char="•"/>
        <a:defRPr sz="2400">
          <a:solidFill>
            <a:schemeClr val="tx1"/>
          </a:solidFill>
          <a:latin typeface="+mn-lt"/>
          <a:ea typeface="+mn-ea"/>
        </a:defRPr>
      </a:lvl3pPr>
      <a:lvl4pPr marL="1600200" indent="-228600" algn="l" rtl="0" eaLnBrk="1" fontAlgn="base" hangingPunct="1">
        <a:spcBef>
          <a:spcPct val="20000"/>
        </a:spcBef>
        <a:spcAft>
          <a:spcPct val="0"/>
        </a:spcAft>
        <a:buChar char="–"/>
        <a:defRPr sz="2000">
          <a:solidFill>
            <a:schemeClr val="tx1"/>
          </a:solidFill>
          <a:latin typeface="+mn-lt"/>
          <a:ea typeface="+mn-ea"/>
        </a:defRPr>
      </a:lvl4pPr>
      <a:lvl5pPr marL="2057400" indent="-228600" algn="l" rtl="0" eaLnBrk="1" fontAlgn="base" hangingPunct="1">
        <a:spcBef>
          <a:spcPct val="20000"/>
        </a:spcBef>
        <a:spcAft>
          <a:spcPct val="0"/>
        </a:spcAft>
        <a:buChar char="»"/>
        <a:defRPr sz="2000">
          <a:solidFill>
            <a:schemeClr val="tx1"/>
          </a:solidFill>
          <a:latin typeface="+mn-lt"/>
          <a:ea typeface="+mn-ea"/>
        </a:defRPr>
      </a:lvl5pPr>
      <a:lvl6pPr marL="2514600" indent="-228600" algn="l" rtl="0" eaLnBrk="1" fontAlgn="base" hangingPunct="1">
        <a:spcBef>
          <a:spcPct val="20000"/>
        </a:spcBef>
        <a:spcAft>
          <a:spcPct val="0"/>
        </a:spcAft>
        <a:buChar char="»"/>
        <a:defRPr sz="2000">
          <a:solidFill>
            <a:schemeClr val="tx1"/>
          </a:solidFill>
          <a:latin typeface="+mn-lt"/>
          <a:ea typeface="+mn-ea"/>
        </a:defRPr>
      </a:lvl6pPr>
      <a:lvl7pPr marL="2971800" indent="-228600" algn="l" rtl="0" eaLnBrk="1" fontAlgn="base" hangingPunct="1">
        <a:spcBef>
          <a:spcPct val="20000"/>
        </a:spcBef>
        <a:spcAft>
          <a:spcPct val="0"/>
        </a:spcAft>
        <a:buChar char="»"/>
        <a:defRPr sz="2000">
          <a:solidFill>
            <a:schemeClr val="tx1"/>
          </a:solidFill>
          <a:latin typeface="+mn-lt"/>
          <a:ea typeface="+mn-ea"/>
        </a:defRPr>
      </a:lvl7pPr>
      <a:lvl8pPr marL="3429000" indent="-228600" algn="l" rtl="0" eaLnBrk="1" fontAlgn="base" hangingPunct="1">
        <a:spcBef>
          <a:spcPct val="20000"/>
        </a:spcBef>
        <a:spcAft>
          <a:spcPct val="0"/>
        </a:spcAft>
        <a:buChar char="»"/>
        <a:defRPr sz="2000">
          <a:solidFill>
            <a:schemeClr val="tx1"/>
          </a:solidFill>
          <a:latin typeface="+mn-lt"/>
          <a:ea typeface="+mn-ea"/>
        </a:defRPr>
      </a:lvl8pPr>
      <a:lvl9pPr marL="3886200" indent="-228600" algn="l" rtl="0" eaLnBrk="1" fontAlgn="base" hangingPunct="1">
        <a:spcBef>
          <a:spcPct val="20000"/>
        </a:spcBef>
        <a:spcAft>
          <a:spcPct val="0"/>
        </a:spcAft>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7EC45E9-30C9-4933-907A-ADEA0A11C440}" type="datetime10">
              <a:rPr lang="zh-CN" altLang="en-US" smtClean="0"/>
              <a:t>14:22</a:t>
            </a:fld>
            <a:endParaRPr lang="zh-CN" altLang="en-US"/>
          </a:p>
        </p:txBody>
      </p:sp>
      <p:sp>
        <p:nvSpPr>
          <p:cNvPr id="5" name="页脚占位符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50851C3-88A0-40D2-9357-2281829DF8A5}" type="slidenum">
              <a:rPr lang="zh-CN" altLang="en-US" smtClean="0"/>
              <a:t>‹#›</a:t>
            </a:fld>
            <a:endParaRPr lang="zh-CN" altLang="en-US"/>
          </a:p>
        </p:txBody>
      </p:sp>
    </p:spTree>
    <p:extLst>
      <p:ext uri="{BB962C8B-B14F-4D97-AF65-F5344CB8AC3E}">
        <p14:creationId xmlns:p14="http://schemas.microsoft.com/office/powerpoint/2010/main" val="1123456782"/>
      </p:ext>
    </p:extLst>
  </p:cSld>
  <p:clrMap bg1="lt1" tx1="dk1" bg2="lt2" tx2="dk2" accent1="accent1" accent2="accent2" accent3="accent3" accent4="accent4" accent5="accent5" accent6="accent6" hlink="hlink" folHlink="folHlink"/>
  <p:sldLayoutIdLst>
    <p:sldLayoutId id="2147483726" r:id="rId1"/>
    <p:sldLayoutId id="2147483727" r:id="rId2"/>
    <p:sldLayoutId id="2147483728" r:id="rId3"/>
    <p:sldLayoutId id="2147483729" r:id="rId4"/>
    <p:sldLayoutId id="2147483730" r:id="rId5"/>
    <p:sldLayoutId id="2147483731" r:id="rId6"/>
    <p:sldLayoutId id="2147483732" r:id="rId7"/>
    <p:sldLayoutId id="2147483733" r:id="rId8"/>
    <p:sldLayoutId id="2147483734" r:id="rId9"/>
    <p:sldLayoutId id="2147483735" r:id="rId10"/>
    <p:sldLayoutId id="2147483736" r:id="rId11"/>
    <p:sldLayoutId id="2147483737" r:id="rId12"/>
  </p:sldLayoutIdLst>
  <p:hf hdr="0" ftr="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BDE0B57-D271-46D4-8AC9-04D7210F1E54}" type="datetime10">
              <a:rPr lang="zh-CN" altLang="en-US" smtClean="0"/>
              <a:t>14:22</a:t>
            </a:fld>
            <a:endParaRPr lang="zh-CN" altLang="en-US"/>
          </a:p>
        </p:txBody>
      </p:sp>
      <p:sp>
        <p:nvSpPr>
          <p:cNvPr id="5" name="页脚占位符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3F6C674-5E21-498A-BE74-B0AEF3B3F524}" type="slidenum">
              <a:rPr lang="zh-CN" altLang="en-US" smtClean="0"/>
              <a:t>‹#›</a:t>
            </a:fld>
            <a:endParaRPr lang="zh-CN" altLang="en-US"/>
          </a:p>
        </p:txBody>
      </p:sp>
    </p:spTree>
    <p:extLst>
      <p:ext uri="{BB962C8B-B14F-4D97-AF65-F5344CB8AC3E}">
        <p14:creationId xmlns:p14="http://schemas.microsoft.com/office/powerpoint/2010/main" val="2786522048"/>
      </p:ext>
    </p:extLst>
  </p:cSld>
  <p:clrMap bg1="lt1" tx1="dk1" bg2="lt2" tx2="dk2" accent1="accent1" accent2="accent2" accent3="accent3" accent4="accent4" accent5="accent5" accent6="accent6" hlink="hlink" folHlink="folHlink"/>
  <p:sldLayoutIdLst>
    <p:sldLayoutId id="2147483739" r:id="rId1"/>
    <p:sldLayoutId id="2147483740" r:id="rId2"/>
    <p:sldLayoutId id="2147483741" r:id="rId3"/>
    <p:sldLayoutId id="2147483742" r:id="rId4"/>
    <p:sldLayoutId id="2147483743" r:id="rId5"/>
    <p:sldLayoutId id="2147483744" r:id="rId6"/>
    <p:sldLayoutId id="2147483745" r:id="rId7"/>
    <p:sldLayoutId id="2147483746" r:id="rId8"/>
    <p:sldLayoutId id="2147483747" r:id="rId9"/>
    <p:sldLayoutId id="2147483748" r:id="rId10"/>
    <p:sldLayoutId id="2147483749" r:id="rId11"/>
  </p:sldLayoutIdLst>
  <p:hf hdr="0" ftr="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Ref idx="1001">
        <a:schemeClr val="bg2"/>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F8F8015-AABA-4574-8F40-D0FE62AD8C28}" type="datetime10">
              <a:rPr lang="zh-CN" altLang="en-US" smtClean="0"/>
              <a:t>14:22</a:t>
            </a:fld>
            <a:endParaRPr lang="zh-CN" altLang="en-US"/>
          </a:p>
        </p:txBody>
      </p:sp>
      <p:sp>
        <p:nvSpPr>
          <p:cNvPr id="5" name="页脚占位符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C1864A2-EFEB-4586-A493-CA97B016BDDA}" type="slidenum">
              <a:rPr lang="zh-CN" altLang="en-US" smtClean="0"/>
              <a:t>‹#›</a:t>
            </a:fld>
            <a:endParaRPr lang="zh-CN" altLang="en-US"/>
          </a:p>
        </p:txBody>
      </p:sp>
    </p:spTree>
    <p:extLst>
      <p:ext uri="{BB962C8B-B14F-4D97-AF65-F5344CB8AC3E}">
        <p14:creationId xmlns:p14="http://schemas.microsoft.com/office/powerpoint/2010/main" val="4227253951"/>
      </p:ext>
    </p:extLst>
  </p:cSld>
  <p:clrMap bg1="lt1" tx1="dk1" bg2="lt2" tx2="dk2" accent1="accent1" accent2="accent2" accent3="accent3" accent4="accent4" accent5="accent5" accent6="accent6" hlink="hlink" folHlink="folHlink"/>
  <p:sldLayoutIdLst>
    <p:sldLayoutId id="2147483751" r:id="rId1"/>
    <p:sldLayoutId id="2147483752" r:id="rId2"/>
    <p:sldLayoutId id="2147483753" r:id="rId3"/>
    <p:sldLayoutId id="2147483754" r:id="rId4"/>
    <p:sldLayoutId id="2147483755" r:id="rId5"/>
    <p:sldLayoutId id="2147483756" r:id="rId6"/>
    <p:sldLayoutId id="2147483757" r:id="rId7"/>
    <p:sldLayoutId id="2147483758" r:id="rId8"/>
    <p:sldLayoutId id="2147483759" r:id="rId9"/>
    <p:sldLayoutId id="2147483760" r:id="rId10"/>
    <p:sldLayoutId id="2147483761" r:id="rId11"/>
  </p:sldLayoutIdLst>
  <p:hf hdr="0" ftr="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33"/>
          <p:cNvSpPr>
            <a:spLocks noChangeArrowheads="1"/>
          </p:cNvSpPr>
          <p:nvPr/>
        </p:nvSpPr>
        <p:spPr bwMode="gray">
          <a:xfrm>
            <a:off x="838200" y="685800"/>
            <a:ext cx="8305800" cy="5562600"/>
          </a:xfrm>
          <a:prstGeom prst="rect">
            <a:avLst/>
          </a:prstGeom>
          <a:gradFill rotWithShape="1">
            <a:gsLst>
              <a:gs pos="0">
                <a:srgbClr val="81CFEB">
                  <a:alpha val="18999"/>
                </a:srgbClr>
              </a:gs>
              <a:gs pos="100000">
                <a:srgbClr val="FFFFFF"/>
              </a:gs>
            </a:gsLst>
            <a:lin ang="5400000" scaled="1"/>
          </a:gradFill>
          <a:ln>
            <a:noFill/>
          </a:ln>
          <a:extLst>
            <a:ext uri="{91240B29-F687-4F45-9708-019B960494DF}">
              <a14:hiddenLine xmlns:a14="http://schemas.microsoft.com/office/drawing/2010/main" w="0" algn="ctr">
                <a:solidFill>
                  <a:srgbClr val="000000"/>
                </a:solidFill>
                <a:miter lim="800000"/>
                <a:headEnd/>
                <a:tailEnd/>
              </a14:hiddenLine>
            </a:ext>
          </a:extLst>
        </p:spPr>
        <p:txBody>
          <a:bodyPr wrap="none" anchor="ctr"/>
          <a:lstStyle/>
          <a:p>
            <a:endParaRPr lang="zh-CN" altLang="en-US"/>
          </a:p>
        </p:txBody>
      </p:sp>
      <p:sp>
        <p:nvSpPr>
          <p:cNvPr id="1027" name="Rectangle 3"/>
          <p:cNvSpPr>
            <a:spLocks noGrp="1" noChangeArrowheads="1"/>
          </p:cNvSpPr>
          <p:nvPr>
            <p:ph type="body" idx="1"/>
          </p:nvPr>
        </p:nvSpPr>
        <p:spPr bwMode="auto">
          <a:xfrm>
            <a:off x="990600" y="838200"/>
            <a:ext cx="8001000" cy="5181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pic>
        <p:nvPicPr>
          <p:cNvPr id="1035" name="Picture 11" descr="a_1"/>
          <p:cNvPicPr>
            <a:picLocks noChangeAspect="1" noChangeArrowheads="1"/>
          </p:cNvPicPr>
          <p:nvPr/>
        </p:nvPicPr>
        <p:blipFill>
          <a:blip r:embed="rId15">
            <a:extLst>
              <a:ext uri="{28A0092B-C50C-407E-A947-70E740481C1C}">
                <a14:useLocalDpi xmlns:a14="http://schemas.microsoft.com/office/drawing/2010/main" val="0"/>
              </a:ext>
            </a:extLst>
          </a:blip>
          <a:srcRect l="2174"/>
          <a:stretch>
            <a:fillRect/>
          </a:stretch>
        </p:blipFill>
        <p:spPr bwMode="auto">
          <a:xfrm>
            <a:off x="685800" y="685800"/>
            <a:ext cx="8458200" cy="5192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32" name="Rectangle 13"/>
          <p:cNvSpPr>
            <a:spLocks noChangeArrowheads="1"/>
          </p:cNvSpPr>
          <p:nvPr/>
        </p:nvSpPr>
        <p:spPr bwMode="gray">
          <a:xfrm>
            <a:off x="0" y="0"/>
            <a:ext cx="9144000" cy="685800"/>
          </a:xfrm>
          <a:prstGeom prst="rect">
            <a:avLst/>
          </a:prstGeom>
          <a:gradFill rotWithShape="1">
            <a:gsLst>
              <a:gs pos="0">
                <a:srgbClr val="81CFEB"/>
              </a:gs>
              <a:gs pos="100000">
                <a:srgbClr val="FFFFFF"/>
              </a:gs>
            </a:gsLst>
            <a:lin ang="5400000" scaled="1"/>
          </a:gradFill>
          <a:ln>
            <a:noFill/>
          </a:ln>
          <a:extLst>
            <a:ext uri="{91240B29-F687-4F45-9708-019B960494DF}">
              <a14:hiddenLine xmlns:a14="http://schemas.microsoft.com/office/drawing/2010/main" w="0" algn="ctr">
                <a:solidFill>
                  <a:srgbClr val="000000"/>
                </a:solidFill>
                <a:miter lim="800000"/>
                <a:headEnd/>
                <a:tailEnd/>
              </a14:hiddenLine>
            </a:ext>
          </a:extLst>
        </p:spPr>
        <p:txBody>
          <a:bodyPr wrap="none" anchor="ctr"/>
          <a:lstStyle/>
          <a:p>
            <a:endParaRPr lang="zh-CN" altLang="en-US"/>
          </a:p>
        </p:txBody>
      </p:sp>
      <p:sp>
        <p:nvSpPr>
          <p:cNvPr id="1033" name="Rectangle 2"/>
          <p:cNvSpPr>
            <a:spLocks noGrp="1" noChangeArrowheads="1"/>
          </p:cNvSpPr>
          <p:nvPr>
            <p:ph type="title"/>
          </p:nvPr>
        </p:nvSpPr>
        <p:spPr bwMode="auto">
          <a:xfrm>
            <a:off x="1066800" y="152400"/>
            <a:ext cx="60960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grpSp>
        <p:nvGrpSpPr>
          <p:cNvPr id="1034" name="Group 31"/>
          <p:cNvGrpSpPr>
            <a:grpSpLocks/>
          </p:cNvGrpSpPr>
          <p:nvPr/>
        </p:nvGrpSpPr>
        <p:grpSpPr bwMode="auto">
          <a:xfrm rot="10800000">
            <a:off x="8382000" y="0"/>
            <a:ext cx="762000" cy="685800"/>
            <a:chOff x="5216" y="628"/>
            <a:chExt cx="546" cy="543"/>
          </a:xfrm>
        </p:grpSpPr>
        <p:sp>
          <p:nvSpPr>
            <p:cNvPr id="1041" name="Rectangle 14"/>
            <p:cNvSpPr>
              <a:spLocks noChangeArrowheads="1"/>
            </p:cNvSpPr>
            <p:nvPr userDrawn="1"/>
          </p:nvSpPr>
          <p:spPr bwMode="gray">
            <a:xfrm rot="-5400000">
              <a:off x="5219" y="627"/>
              <a:ext cx="165" cy="168"/>
            </a:xfrm>
            <a:prstGeom prst="rect">
              <a:avLst/>
            </a:prstGeom>
            <a:solidFill>
              <a:srgbClr val="297CDD">
                <a:alpha val="89803"/>
              </a:srgbClr>
            </a:solidFill>
            <a:ln w="19050" algn="ctr">
              <a:solidFill>
                <a:schemeClr val="bg1">
                  <a:alpha val="70195"/>
                </a:schemeClr>
              </a:solidFill>
              <a:miter lim="800000"/>
              <a:headEnd/>
              <a:tailEnd/>
            </a:ln>
          </p:spPr>
          <p:txBody>
            <a:bodyPr wrap="none" anchor="ctr"/>
            <a:lstStyle/>
            <a:p>
              <a:endParaRPr lang="zh-CN" altLang="en-US"/>
            </a:p>
          </p:txBody>
        </p:sp>
        <p:sp>
          <p:nvSpPr>
            <p:cNvPr id="1042" name="Rectangle 15"/>
            <p:cNvSpPr>
              <a:spLocks noChangeArrowheads="1"/>
            </p:cNvSpPr>
            <p:nvPr userDrawn="1"/>
          </p:nvSpPr>
          <p:spPr bwMode="gray">
            <a:xfrm rot="-5400000">
              <a:off x="5408" y="627"/>
              <a:ext cx="165" cy="168"/>
            </a:xfrm>
            <a:prstGeom prst="rect">
              <a:avLst/>
            </a:prstGeom>
            <a:solidFill>
              <a:srgbClr val="297CDD">
                <a:alpha val="59999"/>
              </a:srgbClr>
            </a:solidFill>
            <a:ln w="19050" algn="ctr">
              <a:solidFill>
                <a:schemeClr val="bg1">
                  <a:alpha val="70195"/>
                </a:schemeClr>
              </a:solidFill>
              <a:miter lim="800000"/>
              <a:headEnd/>
              <a:tailEnd/>
            </a:ln>
          </p:spPr>
          <p:txBody>
            <a:bodyPr wrap="none" anchor="ctr"/>
            <a:lstStyle/>
            <a:p>
              <a:endParaRPr lang="zh-CN" altLang="en-US"/>
            </a:p>
          </p:txBody>
        </p:sp>
        <p:sp>
          <p:nvSpPr>
            <p:cNvPr id="1043" name="Rectangle 16"/>
            <p:cNvSpPr>
              <a:spLocks noChangeArrowheads="1"/>
            </p:cNvSpPr>
            <p:nvPr userDrawn="1"/>
          </p:nvSpPr>
          <p:spPr bwMode="gray">
            <a:xfrm rot="-5400000">
              <a:off x="5595" y="627"/>
              <a:ext cx="165" cy="168"/>
            </a:xfrm>
            <a:prstGeom prst="rect">
              <a:avLst/>
            </a:prstGeom>
            <a:solidFill>
              <a:srgbClr val="297CDD">
                <a:alpha val="85097"/>
              </a:srgbClr>
            </a:solidFill>
            <a:ln w="19050" algn="ctr">
              <a:solidFill>
                <a:schemeClr val="bg1">
                  <a:alpha val="70195"/>
                </a:schemeClr>
              </a:solidFill>
              <a:miter lim="800000"/>
              <a:headEnd/>
              <a:tailEnd/>
            </a:ln>
          </p:spPr>
          <p:txBody>
            <a:bodyPr wrap="none" anchor="ctr"/>
            <a:lstStyle/>
            <a:p>
              <a:endParaRPr lang="zh-CN" altLang="en-US"/>
            </a:p>
          </p:txBody>
        </p:sp>
        <p:sp>
          <p:nvSpPr>
            <p:cNvPr id="1044" name="Rectangle 17"/>
            <p:cNvSpPr>
              <a:spLocks noChangeArrowheads="1"/>
            </p:cNvSpPr>
            <p:nvPr userDrawn="1"/>
          </p:nvSpPr>
          <p:spPr bwMode="gray">
            <a:xfrm rot="-5400000">
              <a:off x="5406" y="815"/>
              <a:ext cx="166" cy="168"/>
            </a:xfrm>
            <a:prstGeom prst="rect">
              <a:avLst/>
            </a:prstGeom>
            <a:solidFill>
              <a:srgbClr val="297CDD"/>
            </a:solidFill>
            <a:ln w="19050" algn="ctr">
              <a:solidFill>
                <a:schemeClr val="bg1">
                  <a:alpha val="70195"/>
                </a:schemeClr>
              </a:solidFill>
              <a:miter lim="800000"/>
              <a:headEnd/>
              <a:tailEnd/>
            </a:ln>
          </p:spPr>
          <p:txBody>
            <a:bodyPr wrap="none" anchor="ctr"/>
            <a:lstStyle/>
            <a:p>
              <a:endParaRPr lang="zh-CN" altLang="en-US"/>
            </a:p>
          </p:txBody>
        </p:sp>
        <p:sp>
          <p:nvSpPr>
            <p:cNvPr id="1045" name="Rectangle 18"/>
            <p:cNvSpPr>
              <a:spLocks noChangeArrowheads="1"/>
            </p:cNvSpPr>
            <p:nvPr userDrawn="1"/>
          </p:nvSpPr>
          <p:spPr bwMode="gray">
            <a:xfrm rot="-5400000">
              <a:off x="5217" y="818"/>
              <a:ext cx="166" cy="168"/>
            </a:xfrm>
            <a:prstGeom prst="rect">
              <a:avLst/>
            </a:prstGeom>
            <a:solidFill>
              <a:srgbClr val="297CDD">
                <a:alpha val="59999"/>
              </a:srgbClr>
            </a:solidFill>
            <a:ln w="19050" algn="ctr">
              <a:solidFill>
                <a:schemeClr val="bg1">
                  <a:alpha val="70195"/>
                </a:schemeClr>
              </a:solidFill>
              <a:miter lim="800000"/>
              <a:headEnd/>
              <a:tailEnd/>
            </a:ln>
          </p:spPr>
          <p:txBody>
            <a:bodyPr wrap="none" anchor="ctr"/>
            <a:lstStyle/>
            <a:p>
              <a:endParaRPr lang="zh-CN" altLang="en-US"/>
            </a:p>
          </p:txBody>
        </p:sp>
        <p:sp>
          <p:nvSpPr>
            <p:cNvPr id="1046" name="Rectangle 19"/>
            <p:cNvSpPr>
              <a:spLocks noChangeArrowheads="1"/>
            </p:cNvSpPr>
            <p:nvPr userDrawn="1"/>
          </p:nvSpPr>
          <p:spPr bwMode="gray">
            <a:xfrm rot="-5400000">
              <a:off x="5218" y="1006"/>
              <a:ext cx="166" cy="168"/>
            </a:xfrm>
            <a:prstGeom prst="rect">
              <a:avLst/>
            </a:prstGeom>
            <a:solidFill>
              <a:srgbClr val="297CDD">
                <a:alpha val="89803"/>
              </a:srgbClr>
            </a:solidFill>
            <a:ln w="19050" algn="ctr">
              <a:solidFill>
                <a:schemeClr val="bg1">
                  <a:alpha val="70195"/>
                </a:schemeClr>
              </a:solidFill>
              <a:miter lim="800000"/>
              <a:headEnd/>
              <a:tailEnd/>
            </a:ln>
          </p:spPr>
          <p:txBody>
            <a:bodyPr wrap="none" anchor="ctr"/>
            <a:lstStyle/>
            <a:p>
              <a:endParaRPr lang="zh-CN" altLang="en-US"/>
            </a:p>
          </p:txBody>
        </p:sp>
      </p:grpSp>
      <p:sp>
        <p:nvSpPr>
          <p:cNvPr id="3" name="Rectangle 26"/>
          <p:cNvSpPr>
            <a:spLocks noChangeArrowheads="1"/>
          </p:cNvSpPr>
          <p:nvPr/>
        </p:nvSpPr>
        <p:spPr bwMode="gray">
          <a:xfrm>
            <a:off x="269875" y="0"/>
            <a:ext cx="284163" cy="6889750"/>
          </a:xfrm>
          <a:prstGeom prst="rect">
            <a:avLst/>
          </a:prstGeom>
          <a:solidFill>
            <a:srgbClr val="4A9ACC">
              <a:alpha val="79999"/>
            </a:srgbClr>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wrap="none" anchor="ctr"/>
          <a:lstStyle/>
          <a:p>
            <a:endParaRPr lang="zh-CN" altLang="en-US"/>
          </a:p>
        </p:txBody>
      </p:sp>
      <p:sp>
        <p:nvSpPr>
          <p:cNvPr id="1036" name="Rectangle 27"/>
          <p:cNvSpPr>
            <a:spLocks noChangeArrowheads="1"/>
          </p:cNvSpPr>
          <p:nvPr/>
        </p:nvSpPr>
        <p:spPr bwMode="gray">
          <a:xfrm>
            <a:off x="-12700" y="0"/>
            <a:ext cx="330200" cy="6884988"/>
          </a:xfrm>
          <a:prstGeom prst="rect">
            <a:avLst/>
          </a:prstGeom>
          <a:gradFill rotWithShape="1">
            <a:gsLst>
              <a:gs pos="0">
                <a:srgbClr val="152C3A"/>
              </a:gs>
              <a:gs pos="100000">
                <a:srgbClr val="4A9ACC"/>
              </a:gs>
            </a:gsLst>
            <a:lin ang="18900000" scaled="1"/>
          </a:gradFill>
          <a:ln>
            <a:noFill/>
          </a:ln>
          <a:extLst>
            <a:ext uri="{91240B29-F687-4F45-9708-019B960494DF}">
              <a14:hiddenLine xmlns:a14="http://schemas.microsoft.com/office/drawing/2010/main" w="28575" algn="ctr">
                <a:solidFill>
                  <a:srgbClr val="000000"/>
                </a:solidFill>
                <a:miter lim="800000"/>
                <a:headEnd/>
                <a:tailEnd/>
              </a14:hiddenLine>
            </a:ext>
          </a:extLst>
        </p:spPr>
        <p:txBody>
          <a:bodyPr wrap="none" anchor="ctr"/>
          <a:lstStyle/>
          <a:p>
            <a:endParaRPr lang="zh-CN" altLang="en-US"/>
          </a:p>
        </p:txBody>
      </p:sp>
      <p:sp>
        <p:nvSpPr>
          <p:cNvPr id="1037" name="Rectangle 28"/>
          <p:cNvSpPr>
            <a:spLocks noChangeArrowheads="1"/>
          </p:cNvSpPr>
          <p:nvPr/>
        </p:nvSpPr>
        <p:spPr bwMode="gray">
          <a:xfrm>
            <a:off x="749300" y="23813"/>
            <a:ext cx="71438" cy="6872287"/>
          </a:xfrm>
          <a:prstGeom prst="rect">
            <a:avLst/>
          </a:prstGeom>
          <a:solidFill>
            <a:srgbClr val="4A9ACC">
              <a:alpha val="20000"/>
            </a:srgbClr>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wrap="none" anchor="ctr"/>
          <a:lstStyle/>
          <a:p>
            <a:endParaRPr lang="zh-CN" altLang="en-US"/>
          </a:p>
        </p:txBody>
      </p:sp>
      <p:sp>
        <p:nvSpPr>
          <p:cNvPr id="1038" name="Rectangle 29"/>
          <p:cNvSpPr>
            <a:spLocks noChangeArrowheads="1"/>
          </p:cNvSpPr>
          <p:nvPr/>
        </p:nvSpPr>
        <p:spPr bwMode="gray">
          <a:xfrm>
            <a:off x="508000" y="0"/>
            <a:ext cx="168275" cy="6865938"/>
          </a:xfrm>
          <a:prstGeom prst="rect">
            <a:avLst/>
          </a:prstGeom>
          <a:solidFill>
            <a:srgbClr val="4A9ACC">
              <a:alpha val="54117"/>
            </a:srgbClr>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wrap="none" anchor="ctr"/>
          <a:lstStyle/>
          <a:p>
            <a:endParaRPr lang="zh-CN" altLang="en-US"/>
          </a:p>
        </p:txBody>
      </p:sp>
      <p:sp>
        <p:nvSpPr>
          <p:cNvPr id="1039" name="Rectangle 30"/>
          <p:cNvSpPr>
            <a:spLocks noChangeArrowheads="1"/>
          </p:cNvSpPr>
          <p:nvPr/>
        </p:nvSpPr>
        <p:spPr bwMode="gray">
          <a:xfrm>
            <a:off x="685800" y="0"/>
            <a:ext cx="114300" cy="6872288"/>
          </a:xfrm>
          <a:prstGeom prst="rect">
            <a:avLst/>
          </a:prstGeom>
          <a:solidFill>
            <a:srgbClr val="4A9ACC">
              <a:alpha val="36862"/>
            </a:srgbClr>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wrap="none" anchor="ctr"/>
          <a:lstStyle/>
          <a:p>
            <a:endParaRPr lang="zh-CN" altLang="en-US"/>
          </a:p>
        </p:txBody>
      </p:sp>
      <p:pic>
        <p:nvPicPr>
          <p:cNvPr id="1040" name="Picture 26" descr="hust-en"/>
          <p:cNvPicPr>
            <a:picLocks noChangeAspect="1" noChangeArrowheads="1"/>
          </p:cNvPicPr>
          <p:nvPr/>
        </p:nvPicPr>
        <p:blipFill>
          <a:blip r:embed="rId16" cstate="print">
            <a:extLst>
              <a:ext uri="{28A0092B-C50C-407E-A947-70E740481C1C}">
                <a14:useLocalDpi xmlns:a14="http://schemas.microsoft.com/office/drawing/2010/main" val="0"/>
              </a:ext>
            </a:extLst>
          </a:blip>
          <a:srcRect/>
          <a:stretch>
            <a:fillRect/>
          </a:stretch>
        </p:blipFill>
        <p:spPr bwMode="auto">
          <a:xfrm>
            <a:off x="6937375" y="6248400"/>
            <a:ext cx="2206625"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763" r:id="rId1"/>
    <p:sldLayoutId id="2147483764" r:id="rId2"/>
    <p:sldLayoutId id="2147483765" r:id="rId3"/>
    <p:sldLayoutId id="2147483766" r:id="rId4"/>
    <p:sldLayoutId id="2147483767" r:id="rId5"/>
    <p:sldLayoutId id="2147483768" r:id="rId6"/>
    <p:sldLayoutId id="2147483769" r:id="rId7"/>
    <p:sldLayoutId id="2147483770" r:id="rId8"/>
    <p:sldLayoutId id="2147483771" r:id="rId9"/>
    <p:sldLayoutId id="2147483772" r:id="rId10"/>
    <p:sldLayoutId id="2147483773" r:id="rId11"/>
    <p:sldLayoutId id="2147483774" r:id="rId12"/>
    <p:sldLayoutId id="2147483775" r:id="rId13"/>
  </p:sldLayoutIdLs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nodeType="withEffect">
                                  <p:stCondLst>
                                    <p:cond delay="0"/>
                                  </p:stCondLst>
                                  <p:childTnLst>
                                    <p:set>
                                      <p:cBhvr>
                                        <p:cTn id="6" dur="1" fill="hold">
                                          <p:stCondLst>
                                            <p:cond delay="0"/>
                                          </p:stCondLst>
                                        </p:cTn>
                                        <p:tgtEl>
                                          <p:spTgt spid="1035"/>
                                        </p:tgtEl>
                                        <p:attrNameLst>
                                          <p:attrName>style.visibility</p:attrName>
                                        </p:attrNameLst>
                                      </p:cBhvr>
                                      <p:to>
                                        <p:strVal val="visible"/>
                                      </p:to>
                                    </p:set>
                                    <p:animEffect transition="in" filter="wipe(up)">
                                      <p:cBhvr>
                                        <p:cTn id="7" dur="500"/>
                                        <p:tgtEl>
                                          <p:spTgt spid="10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hdr="0" ftr="0"/>
  <p:txStyles>
    <p:titleStyle>
      <a:lvl1pPr algn="l" rtl="0" eaLnBrk="1" fontAlgn="base" hangingPunct="1">
        <a:spcBef>
          <a:spcPct val="0"/>
        </a:spcBef>
        <a:spcAft>
          <a:spcPct val="0"/>
        </a:spcAft>
        <a:defRPr sz="3200" b="1">
          <a:solidFill>
            <a:schemeClr val="tx2"/>
          </a:solidFill>
          <a:latin typeface="+mj-lt"/>
          <a:ea typeface="+mj-ea"/>
          <a:cs typeface="+mj-cs"/>
        </a:defRPr>
      </a:lvl1pPr>
      <a:lvl2pPr algn="l" rtl="0" eaLnBrk="1" fontAlgn="base" hangingPunct="1">
        <a:spcBef>
          <a:spcPct val="0"/>
        </a:spcBef>
        <a:spcAft>
          <a:spcPct val="0"/>
        </a:spcAft>
        <a:defRPr sz="3200" b="1">
          <a:solidFill>
            <a:schemeClr val="tx2"/>
          </a:solidFill>
          <a:latin typeface="Arial" charset="0"/>
          <a:ea typeface="华文中宋" pitchFamily="2" charset="-122"/>
        </a:defRPr>
      </a:lvl2pPr>
      <a:lvl3pPr algn="l" rtl="0" eaLnBrk="1" fontAlgn="base" hangingPunct="1">
        <a:spcBef>
          <a:spcPct val="0"/>
        </a:spcBef>
        <a:spcAft>
          <a:spcPct val="0"/>
        </a:spcAft>
        <a:defRPr sz="3200" b="1">
          <a:solidFill>
            <a:schemeClr val="tx2"/>
          </a:solidFill>
          <a:latin typeface="Arial" charset="0"/>
          <a:ea typeface="华文中宋" pitchFamily="2" charset="-122"/>
        </a:defRPr>
      </a:lvl3pPr>
      <a:lvl4pPr algn="l" rtl="0" eaLnBrk="1" fontAlgn="base" hangingPunct="1">
        <a:spcBef>
          <a:spcPct val="0"/>
        </a:spcBef>
        <a:spcAft>
          <a:spcPct val="0"/>
        </a:spcAft>
        <a:defRPr sz="3200" b="1">
          <a:solidFill>
            <a:schemeClr val="tx2"/>
          </a:solidFill>
          <a:latin typeface="Arial" charset="0"/>
          <a:ea typeface="华文中宋" pitchFamily="2" charset="-122"/>
        </a:defRPr>
      </a:lvl4pPr>
      <a:lvl5pPr algn="l" rtl="0" eaLnBrk="1" fontAlgn="base" hangingPunct="1">
        <a:spcBef>
          <a:spcPct val="0"/>
        </a:spcBef>
        <a:spcAft>
          <a:spcPct val="0"/>
        </a:spcAft>
        <a:defRPr sz="3200" b="1">
          <a:solidFill>
            <a:schemeClr val="tx2"/>
          </a:solidFill>
          <a:latin typeface="Arial" charset="0"/>
          <a:ea typeface="华文中宋" pitchFamily="2" charset="-122"/>
        </a:defRPr>
      </a:lvl5pPr>
      <a:lvl6pPr marL="457200" algn="l" rtl="0" eaLnBrk="1" fontAlgn="base" hangingPunct="1">
        <a:spcBef>
          <a:spcPct val="0"/>
        </a:spcBef>
        <a:spcAft>
          <a:spcPct val="0"/>
        </a:spcAft>
        <a:defRPr sz="3200" b="1">
          <a:solidFill>
            <a:schemeClr val="tx2"/>
          </a:solidFill>
          <a:latin typeface="Arial" charset="0"/>
          <a:ea typeface="华文中宋" pitchFamily="2" charset="-122"/>
        </a:defRPr>
      </a:lvl6pPr>
      <a:lvl7pPr marL="914400" algn="l" rtl="0" eaLnBrk="1" fontAlgn="base" hangingPunct="1">
        <a:spcBef>
          <a:spcPct val="0"/>
        </a:spcBef>
        <a:spcAft>
          <a:spcPct val="0"/>
        </a:spcAft>
        <a:defRPr sz="3200" b="1">
          <a:solidFill>
            <a:schemeClr val="tx2"/>
          </a:solidFill>
          <a:latin typeface="Arial" charset="0"/>
          <a:ea typeface="华文中宋" pitchFamily="2" charset="-122"/>
        </a:defRPr>
      </a:lvl7pPr>
      <a:lvl8pPr marL="1371600" algn="l" rtl="0" eaLnBrk="1" fontAlgn="base" hangingPunct="1">
        <a:spcBef>
          <a:spcPct val="0"/>
        </a:spcBef>
        <a:spcAft>
          <a:spcPct val="0"/>
        </a:spcAft>
        <a:defRPr sz="3200" b="1">
          <a:solidFill>
            <a:schemeClr val="tx2"/>
          </a:solidFill>
          <a:latin typeface="Arial" charset="0"/>
          <a:ea typeface="华文中宋" pitchFamily="2" charset="-122"/>
        </a:defRPr>
      </a:lvl8pPr>
      <a:lvl9pPr marL="1828800" algn="l" rtl="0" eaLnBrk="1" fontAlgn="base" hangingPunct="1">
        <a:spcBef>
          <a:spcPct val="0"/>
        </a:spcBef>
        <a:spcAft>
          <a:spcPct val="0"/>
        </a:spcAft>
        <a:defRPr sz="3200" b="1">
          <a:solidFill>
            <a:schemeClr val="tx2"/>
          </a:solidFill>
          <a:latin typeface="Arial" charset="0"/>
          <a:ea typeface="华文中宋" pitchFamily="2" charset="-122"/>
        </a:defRPr>
      </a:lvl9pPr>
    </p:titleStyle>
    <p:bodyStyle>
      <a:lvl1pPr marL="342900" indent="-342900" algn="l" rtl="0" eaLnBrk="1" fontAlgn="base" hangingPunct="1">
        <a:spcBef>
          <a:spcPct val="20000"/>
        </a:spcBef>
        <a:spcAft>
          <a:spcPct val="0"/>
        </a:spcAft>
        <a:buChar char="•"/>
        <a:defRPr sz="3200">
          <a:solidFill>
            <a:schemeClr val="tx1"/>
          </a:solidFill>
          <a:latin typeface="+mn-lt"/>
          <a:ea typeface="+mn-ea"/>
          <a:cs typeface="+mn-cs"/>
        </a:defRPr>
      </a:lvl1pPr>
      <a:lvl2pPr marL="742950" indent="-285750" algn="l" rtl="0" eaLnBrk="1" fontAlgn="base" hangingPunct="1">
        <a:spcBef>
          <a:spcPct val="20000"/>
        </a:spcBef>
        <a:spcAft>
          <a:spcPct val="0"/>
        </a:spcAft>
        <a:buChar char="–"/>
        <a:defRPr sz="2800">
          <a:solidFill>
            <a:schemeClr val="tx1"/>
          </a:solidFill>
          <a:latin typeface="+mn-lt"/>
          <a:ea typeface="+mn-ea"/>
        </a:defRPr>
      </a:lvl2pPr>
      <a:lvl3pPr marL="1143000" indent="-228600" algn="l" rtl="0" eaLnBrk="1" fontAlgn="base" hangingPunct="1">
        <a:spcBef>
          <a:spcPct val="20000"/>
        </a:spcBef>
        <a:spcAft>
          <a:spcPct val="0"/>
        </a:spcAft>
        <a:buChar char="•"/>
        <a:defRPr sz="2400">
          <a:solidFill>
            <a:schemeClr val="tx1"/>
          </a:solidFill>
          <a:latin typeface="+mn-lt"/>
          <a:ea typeface="+mn-ea"/>
        </a:defRPr>
      </a:lvl3pPr>
      <a:lvl4pPr marL="1600200" indent="-228600" algn="l" rtl="0" eaLnBrk="1" fontAlgn="base" hangingPunct="1">
        <a:spcBef>
          <a:spcPct val="20000"/>
        </a:spcBef>
        <a:spcAft>
          <a:spcPct val="0"/>
        </a:spcAft>
        <a:buChar char="–"/>
        <a:defRPr sz="2000">
          <a:solidFill>
            <a:schemeClr val="tx1"/>
          </a:solidFill>
          <a:latin typeface="+mn-lt"/>
          <a:ea typeface="+mn-ea"/>
        </a:defRPr>
      </a:lvl4pPr>
      <a:lvl5pPr marL="2057400" indent="-228600" algn="l" rtl="0" eaLnBrk="1" fontAlgn="base" hangingPunct="1">
        <a:spcBef>
          <a:spcPct val="20000"/>
        </a:spcBef>
        <a:spcAft>
          <a:spcPct val="0"/>
        </a:spcAft>
        <a:buChar char="»"/>
        <a:defRPr sz="2000">
          <a:solidFill>
            <a:schemeClr val="tx1"/>
          </a:solidFill>
          <a:latin typeface="+mn-lt"/>
          <a:ea typeface="+mn-ea"/>
        </a:defRPr>
      </a:lvl5pPr>
      <a:lvl6pPr marL="2514600" indent="-228600" algn="l" rtl="0" eaLnBrk="1" fontAlgn="base" hangingPunct="1">
        <a:spcBef>
          <a:spcPct val="20000"/>
        </a:spcBef>
        <a:spcAft>
          <a:spcPct val="0"/>
        </a:spcAft>
        <a:buChar char="»"/>
        <a:defRPr sz="2000">
          <a:solidFill>
            <a:schemeClr val="tx1"/>
          </a:solidFill>
          <a:latin typeface="+mn-lt"/>
          <a:ea typeface="+mn-ea"/>
        </a:defRPr>
      </a:lvl6pPr>
      <a:lvl7pPr marL="2971800" indent="-228600" algn="l" rtl="0" eaLnBrk="1" fontAlgn="base" hangingPunct="1">
        <a:spcBef>
          <a:spcPct val="20000"/>
        </a:spcBef>
        <a:spcAft>
          <a:spcPct val="0"/>
        </a:spcAft>
        <a:buChar char="»"/>
        <a:defRPr sz="2000">
          <a:solidFill>
            <a:schemeClr val="tx1"/>
          </a:solidFill>
          <a:latin typeface="+mn-lt"/>
          <a:ea typeface="+mn-ea"/>
        </a:defRPr>
      </a:lvl7pPr>
      <a:lvl8pPr marL="3429000" indent="-228600" algn="l" rtl="0" eaLnBrk="1" fontAlgn="base" hangingPunct="1">
        <a:spcBef>
          <a:spcPct val="20000"/>
        </a:spcBef>
        <a:spcAft>
          <a:spcPct val="0"/>
        </a:spcAft>
        <a:buChar char="»"/>
        <a:defRPr sz="2000">
          <a:solidFill>
            <a:schemeClr val="tx1"/>
          </a:solidFill>
          <a:latin typeface="+mn-lt"/>
          <a:ea typeface="+mn-ea"/>
        </a:defRPr>
      </a:lvl8pPr>
      <a:lvl9pPr marL="3886200" indent="-228600" algn="l" rtl="0" eaLnBrk="1" fontAlgn="base" hangingPunct="1">
        <a:spcBef>
          <a:spcPct val="20000"/>
        </a:spcBef>
        <a:spcAft>
          <a:spcPct val="0"/>
        </a:spcAft>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4.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4.xml"/><Relationship Id="rId1" Type="http://schemas.openxmlformats.org/officeDocument/2006/relationships/vmlDrawing" Target="../drawings/vmlDrawing1.vml"/><Relationship Id="rId6" Type="http://schemas.openxmlformats.org/officeDocument/2006/relationships/image" Target="../media/image5.png"/><Relationship Id="rId5" Type="http://schemas.openxmlformats.org/officeDocument/2006/relationships/image" Target="../media/image4.emf"/><Relationship Id="rId4" Type="http://schemas.openxmlformats.org/officeDocument/2006/relationships/oleObject" Target="../embeddings/oleObject1.bin"/></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7" Type="http://schemas.openxmlformats.org/officeDocument/2006/relationships/image" Target="../media/image6.png"/><Relationship Id="rId2" Type="http://schemas.openxmlformats.org/officeDocument/2006/relationships/slideLayout" Target="../slideLayouts/slideLayout24.xml"/><Relationship Id="rId1" Type="http://schemas.openxmlformats.org/officeDocument/2006/relationships/vmlDrawing" Target="../drawings/vmlDrawing2.vml"/><Relationship Id="rId6" Type="http://schemas.openxmlformats.org/officeDocument/2006/relationships/image" Target="../media/image5.png"/><Relationship Id="rId5" Type="http://schemas.openxmlformats.org/officeDocument/2006/relationships/image" Target="../media/image4.emf"/><Relationship Id="rId4" Type="http://schemas.openxmlformats.org/officeDocument/2006/relationships/oleObject" Target="../embeddings/oleObject1.bin"/></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24.xml"/><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24.xml"/></Relationships>
</file>

<file path=ppt/slides/_rels/slide6.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29.xml"/><Relationship Id="rId1" Type="http://schemas.openxmlformats.org/officeDocument/2006/relationships/vmlDrawing" Target="../drawings/vmlDrawing3.vml"/><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24.xml"/><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7.xml"/><Relationship Id="rId7" Type="http://schemas.openxmlformats.org/officeDocument/2006/relationships/image" Target="../media/image6.png"/><Relationship Id="rId2" Type="http://schemas.openxmlformats.org/officeDocument/2006/relationships/slideLayout" Target="../slideLayouts/slideLayout24.xml"/><Relationship Id="rId1" Type="http://schemas.openxmlformats.org/officeDocument/2006/relationships/vmlDrawing" Target="../drawings/vmlDrawing4.vml"/><Relationship Id="rId6" Type="http://schemas.openxmlformats.org/officeDocument/2006/relationships/image" Target="../media/image5.png"/><Relationship Id="rId5" Type="http://schemas.openxmlformats.org/officeDocument/2006/relationships/image" Target="../media/image4.emf"/><Relationship Id="rId4" Type="http://schemas.openxmlformats.org/officeDocument/2006/relationships/oleObject" Target="../embeddings/oleObject1.bin"/></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24.xml"/><Relationship Id="rId6" Type="http://schemas.openxmlformats.org/officeDocument/2006/relationships/image" Target="../media/image6.png"/><Relationship Id="rId5" Type="http://schemas.openxmlformats.org/officeDocument/2006/relationships/image" Target="../media/image10.png"/><Relationship Id="rId4" Type="http://schemas.openxmlformats.org/officeDocument/2006/relationships/image" Target="../media/image11.png"/></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24.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24.xml"/><Relationship Id="rId4" Type="http://schemas.openxmlformats.org/officeDocument/2006/relationships/image" Target="../media/image12.png"/></Relationships>
</file>

<file path=ppt/slides/_rels/slide1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4.xml"/></Relationships>
</file>

<file path=ppt/slides/_rels/slide1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4.xml"/></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1.xml"/><Relationship Id="rId1" Type="http://schemas.openxmlformats.org/officeDocument/2006/relationships/slideLayout" Target="../slideLayouts/slideLayout24.xml"/><Relationship Id="rId5" Type="http://schemas.openxmlformats.org/officeDocument/2006/relationships/image" Target="../media/image15.png"/><Relationship Id="rId4" Type="http://schemas.openxmlformats.org/officeDocument/2006/relationships/image" Target="../media/image7.png"/></Relationships>
</file>

<file path=ppt/slides/_rels/slide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2.xml"/><Relationship Id="rId1" Type="http://schemas.openxmlformats.org/officeDocument/2006/relationships/slideLayout" Target="../slideLayouts/slideLayout24.xml"/><Relationship Id="rId5" Type="http://schemas.openxmlformats.org/officeDocument/2006/relationships/image" Target="../media/image15.png"/><Relationship Id="rId4" Type="http://schemas.openxmlformats.org/officeDocument/2006/relationships/image" Target="../media/image7.png"/></Relationships>
</file>

<file path=ppt/slides/_rels/slide1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3.xml"/><Relationship Id="rId1" Type="http://schemas.openxmlformats.org/officeDocument/2006/relationships/slideLayout" Target="../slideLayouts/slideLayout24.xml"/><Relationship Id="rId5" Type="http://schemas.openxmlformats.org/officeDocument/2006/relationships/image" Target="../media/image6.png"/><Relationship Id="rId4" Type="http://schemas.openxmlformats.org/officeDocument/2006/relationships/image" Target="../media/image16.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20.xml.rels><?xml version="1.0" encoding="UTF-8" standalone="yes"?>
<Relationships xmlns="http://schemas.openxmlformats.org/package/2006/relationships"><Relationship Id="rId8" Type="http://schemas.openxmlformats.org/officeDocument/2006/relationships/image" Target="../media/image19.wmf"/><Relationship Id="rId13" Type="http://schemas.openxmlformats.org/officeDocument/2006/relationships/oleObject" Target="../embeddings/oleObject8.bin"/><Relationship Id="rId18" Type="http://schemas.openxmlformats.org/officeDocument/2006/relationships/image" Target="../media/image24.wmf"/><Relationship Id="rId26" Type="http://schemas.openxmlformats.org/officeDocument/2006/relationships/image" Target="../media/image28.wmf"/><Relationship Id="rId3" Type="http://schemas.openxmlformats.org/officeDocument/2006/relationships/oleObject" Target="../embeddings/oleObject3.bin"/><Relationship Id="rId21" Type="http://schemas.openxmlformats.org/officeDocument/2006/relationships/oleObject" Target="../embeddings/oleObject12.bin"/><Relationship Id="rId7" Type="http://schemas.openxmlformats.org/officeDocument/2006/relationships/oleObject" Target="../embeddings/oleObject5.bin"/><Relationship Id="rId12" Type="http://schemas.openxmlformats.org/officeDocument/2006/relationships/image" Target="../media/image21.wmf"/><Relationship Id="rId17" Type="http://schemas.openxmlformats.org/officeDocument/2006/relationships/oleObject" Target="../embeddings/oleObject10.bin"/><Relationship Id="rId25" Type="http://schemas.openxmlformats.org/officeDocument/2006/relationships/oleObject" Target="../embeddings/oleObject14.bin"/><Relationship Id="rId2" Type="http://schemas.openxmlformats.org/officeDocument/2006/relationships/slideLayout" Target="../slideLayouts/slideLayout35.xml"/><Relationship Id="rId16" Type="http://schemas.openxmlformats.org/officeDocument/2006/relationships/image" Target="../media/image23.wmf"/><Relationship Id="rId20" Type="http://schemas.openxmlformats.org/officeDocument/2006/relationships/image" Target="../media/image25.wmf"/><Relationship Id="rId1" Type="http://schemas.openxmlformats.org/officeDocument/2006/relationships/vmlDrawing" Target="../drawings/vmlDrawing5.vml"/><Relationship Id="rId6" Type="http://schemas.openxmlformats.org/officeDocument/2006/relationships/image" Target="../media/image18.wmf"/><Relationship Id="rId11" Type="http://schemas.openxmlformats.org/officeDocument/2006/relationships/oleObject" Target="../embeddings/oleObject7.bin"/><Relationship Id="rId24" Type="http://schemas.openxmlformats.org/officeDocument/2006/relationships/image" Target="../media/image27.wmf"/><Relationship Id="rId5" Type="http://schemas.openxmlformats.org/officeDocument/2006/relationships/oleObject" Target="../embeddings/oleObject4.bin"/><Relationship Id="rId15" Type="http://schemas.openxmlformats.org/officeDocument/2006/relationships/oleObject" Target="../embeddings/oleObject9.bin"/><Relationship Id="rId23" Type="http://schemas.openxmlformats.org/officeDocument/2006/relationships/oleObject" Target="../embeddings/oleObject13.bin"/><Relationship Id="rId28" Type="http://schemas.openxmlformats.org/officeDocument/2006/relationships/image" Target="../media/image29.wmf"/><Relationship Id="rId10" Type="http://schemas.openxmlformats.org/officeDocument/2006/relationships/image" Target="../media/image20.wmf"/><Relationship Id="rId19" Type="http://schemas.openxmlformats.org/officeDocument/2006/relationships/oleObject" Target="../embeddings/oleObject11.bin"/><Relationship Id="rId4" Type="http://schemas.openxmlformats.org/officeDocument/2006/relationships/image" Target="../media/image17.wmf"/><Relationship Id="rId9" Type="http://schemas.openxmlformats.org/officeDocument/2006/relationships/oleObject" Target="../embeddings/oleObject6.bin"/><Relationship Id="rId14" Type="http://schemas.openxmlformats.org/officeDocument/2006/relationships/image" Target="../media/image22.wmf"/><Relationship Id="rId22" Type="http://schemas.openxmlformats.org/officeDocument/2006/relationships/image" Target="../media/image26.wmf"/><Relationship Id="rId27" Type="http://schemas.openxmlformats.org/officeDocument/2006/relationships/oleObject" Target="../embeddings/oleObject15.bin"/></Relationships>
</file>

<file path=ppt/slides/_rels/slide21.xml.rels><?xml version="1.0" encoding="UTF-8" standalone="yes"?>
<Relationships xmlns="http://schemas.openxmlformats.org/package/2006/relationships"><Relationship Id="rId2" Type="http://schemas.openxmlformats.org/officeDocument/2006/relationships/image" Target="../media/image30.jpeg"/><Relationship Id="rId1" Type="http://schemas.openxmlformats.org/officeDocument/2006/relationships/slideLayout" Target="../slideLayouts/slideLayout2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23.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slideLayout" Target="../slideLayouts/slideLayout29.xml"/><Relationship Id="rId1" Type="http://schemas.openxmlformats.org/officeDocument/2006/relationships/vmlDrawing" Target="../drawings/vmlDrawing6.vml"/><Relationship Id="rId5" Type="http://schemas.openxmlformats.org/officeDocument/2006/relationships/image" Target="../media/image31.emf"/><Relationship Id="rId4" Type="http://schemas.openxmlformats.org/officeDocument/2006/relationships/oleObject" Target="../embeddings/oleObject16.bin"/></Relationships>
</file>

<file path=ppt/slides/_rels/slide24.xml.rels><?xml version="1.0" encoding="UTF-8" standalone="yes"?>
<Relationships xmlns="http://schemas.openxmlformats.org/package/2006/relationships"><Relationship Id="rId3" Type="http://schemas.openxmlformats.org/officeDocument/2006/relationships/image" Target="../media/image34.png"/><Relationship Id="rId7" Type="http://schemas.openxmlformats.org/officeDocument/2006/relationships/image" Target="../media/image38.png"/><Relationship Id="rId2" Type="http://schemas.openxmlformats.org/officeDocument/2006/relationships/image" Target="../media/image33.png"/><Relationship Id="rId1" Type="http://schemas.openxmlformats.org/officeDocument/2006/relationships/slideLayout" Target="../slideLayouts/slideLayout29.xml"/><Relationship Id="rId6" Type="http://schemas.openxmlformats.org/officeDocument/2006/relationships/image" Target="../media/image37.png"/><Relationship Id="rId5" Type="http://schemas.openxmlformats.org/officeDocument/2006/relationships/image" Target="../media/image36.png"/><Relationship Id="rId4" Type="http://schemas.openxmlformats.org/officeDocument/2006/relationships/image" Target="../media/image35.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28.xml.rels><?xml version="1.0" encoding="UTF-8" standalone="yes"?>
<Relationships xmlns="http://schemas.openxmlformats.org/package/2006/relationships"><Relationship Id="rId3" Type="http://schemas.openxmlformats.org/officeDocument/2006/relationships/image" Target="../media/image39.jpeg"/><Relationship Id="rId2" Type="http://schemas.openxmlformats.org/officeDocument/2006/relationships/notesSlide" Target="../notesSlides/notesSlide14.xml"/><Relationship Id="rId1" Type="http://schemas.openxmlformats.org/officeDocument/2006/relationships/slideLayout" Target="../slideLayouts/slideLayout24.xml"/><Relationship Id="rId4" Type="http://schemas.openxmlformats.org/officeDocument/2006/relationships/image" Target="../media/image8.png"/></Relationships>
</file>

<file path=ppt/slides/_rels/slide29.xml.rels><?xml version="1.0" encoding="UTF-8" standalone="yes"?>
<Relationships xmlns="http://schemas.openxmlformats.org/package/2006/relationships"><Relationship Id="rId2" Type="http://schemas.openxmlformats.org/officeDocument/2006/relationships/image" Target="../media/image40.jpeg"/><Relationship Id="rId1" Type="http://schemas.openxmlformats.org/officeDocument/2006/relationships/slideLayout" Target="../slideLayouts/slideLayout2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32.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4.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4.xml"/></Relationships>
</file>

<file path=ppt/slides/_rels/slide38.xml.rels><?xml version="1.0" encoding="UTF-8" standalone="yes"?>
<Relationships xmlns="http://schemas.openxmlformats.org/package/2006/relationships"><Relationship Id="rId3" Type="http://schemas.openxmlformats.org/officeDocument/2006/relationships/image" Target="../media/image42.jpeg"/><Relationship Id="rId7" Type="http://schemas.openxmlformats.org/officeDocument/2006/relationships/image" Target="../media/image46.png"/><Relationship Id="rId2" Type="http://schemas.openxmlformats.org/officeDocument/2006/relationships/notesSlide" Target="../notesSlides/notesSlide16.xml"/><Relationship Id="rId1" Type="http://schemas.openxmlformats.org/officeDocument/2006/relationships/slideLayout" Target="../slideLayouts/slideLayout11.xml"/><Relationship Id="rId6" Type="http://schemas.openxmlformats.org/officeDocument/2006/relationships/image" Target="../media/image45.jpeg"/><Relationship Id="rId5" Type="http://schemas.openxmlformats.org/officeDocument/2006/relationships/image" Target="../media/image44.png"/><Relationship Id="rId4" Type="http://schemas.openxmlformats.org/officeDocument/2006/relationships/image" Target="../media/image43.png"/></Relationships>
</file>

<file path=ppt/slides/_rels/slide39.xml.rels><?xml version="1.0" encoding="UTF-8" standalone="yes"?>
<Relationships xmlns="http://schemas.openxmlformats.org/package/2006/relationships"><Relationship Id="rId3" Type="http://schemas.openxmlformats.org/officeDocument/2006/relationships/image" Target="../media/image42.jpeg"/><Relationship Id="rId2" Type="http://schemas.openxmlformats.org/officeDocument/2006/relationships/notesSlide" Target="../notesSlides/notesSlide17.xml"/><Relationship Id="rId1" Type="http://schemas.openxmlformats.org/officeDocument/2006/relationships/slideLayout" Target="../slideLayouts/slideLayout7.xml"/><Relationship Id="rId4" Type="http://schemas.openxmlformats.org/officeDocument/2006/relationships/image" Target="../media/image47.png"/></Relationships>
</file>

<file path=ppt/slides/_rels/slide40.xml.rels><?xml version="1.0" encoding="UTF-8" standalone="yes"?>
<Relationships xmlns="http://schemas.openxmlformats.org/package/2006/relationships"><Relationship Id="rId3" Type="http://schemas.openxmlformats.org/officeDocument/2006/relationships/image" Target="../media/image42.jpeg"/><Relationship Id="rId7" Type="http://schemas.openxmlformats.org/officeDocument/2006/relationships/image" Target="../media/image51.png"/><Relationship Id="rId2" Type="http://schemas.openxmlformats.org/officeDocument/2006/relationships/notesSlide" Target="../notesSlides/notesSlide18.xml"/><Relationship Id="rId1" Type="http://schemas.openxmlformats.org/officeDocument/2006/relationships/slideLayout" Target="../slideLayouts/slideLayout7.xml"/><Relationship Id="rId6" Type="http://schemas.openxmlformats.org/officeDocument/2006/relationships/image" Target="../media/image50.png"/><Relationship Id="rId5" Type="http://schemas.openxmlformats.org/officeDocument/2006/relationships/image" Target="../media/image49.png"/><Relationship Id="rId4" Type="http://schemas.openxmlformats.org/officeDocument/2006/relationships/image" Target="../media/image48.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42.xml.rels><?xml version="1.0" encoding="UTF-8" standalone="yes"?>
<Relationships xmlns="http://schemas.openxmlformats.org/package/2006/relationships"><Relationship Id="rId2" Type="http://schemas.openxmlformats.org/officeDocument/2006/relationships/slideLayout" Target="../slideLayouts/slideLayout29.xml"/><Relationship Id="rId1" Type="http://schemas.openxmlformats.org/officeDocument/2006/relationships/tags" Target="../tags/tag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作业</a:t>
            </a:r>
          </a:p>
        </p:txBody>
      </p:sp>
      <p:sp>
        <p:nvSpPr>
          <p:cNvPr id="3" name="内容占位符 2"/>
          <p:cNvSpPr>
            <a:spLocks noGrp="1"/>
          </p:cNvSpPr>
          <p:nvPr>
            <p:ph idx="1"/>
          </p:nvPr>
        </p:nvSpPr>
        <p:spPr/>
        <p:txBody>
          <a:bodyPr/>
          <a:lstStyle/>
          <a:p>
            <a:r>
              <a:rPr lang="zh-CN" altLang="en-US" dirty="0"/>
              <a:t>第一章：</a:t>
            </a:r>
            <a:endParaRPr lang="en-US" altLang="zh-CN" dirty="0"/>
          </a:p>
          <a:p>
            <a:pPr marL="457200" lvl="1" indent="0">
              <a:buNone/>
            </a:pPr>
            <a:r>
              <a:rPr lang="en-US" altLang="zh-CN" dirty="0"/>
              <a:t>6</a:t>
            </a:r>
            <a:r>
              <a:rPr lang="zh-CN" altLang="en-US" dirty="0"/>
              <a:t>、</a:t>
            </a:r>
            <a:r>
              <a:rPr lang="en-US" altLang="zh-CN" dirty="0"/>
              <a:t>7</a:t>
            </a:r>
            <a:r>
              <a:rPr lang="zh-CN" altLang="en-US" dirty="0"/>
              <a:t>、</a:t>
            </a:r>
            <a:r>
              <a:rPr lang="en-US" altLang="zh-CN" dirty="0"/>
              <a:t>8</a:t>
            </a:r>
          </a:p>
          <a:p>
            <a:endParaRPr lang="zh-CN" altLang="en-US" dirty="0"/>
          </a:p>
        </p:txBody>
      </p:sp>
      <p:sp>
        <p:nvSpPr>
          <p:cNvPr id="4" name="灯片编号占位符 3"/>
          <p:cNvSpPr>
            <a:spLocks noGrp="1"/>
          </p:cNvSpPr>
          <p:nvPr>
            <p:ph type="sldNum" sz="quarter" idx="12"/>
          </p:nvPr>
        </p:nvSpPr>
        <p:spPr/>
        <p:txBody>
          <a:bodyPr/>
          <a:lstStyle/>
          <a:p>
            <a:fld id="{0C913308-F349-4B6D-A68A-DD1791B4A57B}" type="slidenum">
              <a:rPr lang="zh-CN" altLang="en-US" smtClean="0"/>
              <a:t>1</a:t>
            </a:fld>
            <a:endParaRPr lang="zh-CN" altLang="en-US"/>
          </a:p>
        </p:txBody>
      </p:sp>
      <p:sp>
        <p:nvSpPr>
          <p:cNvPr id="5" name="日期占位符 4"/>
          <p:cNvSpPr>
            <a:spLocks noGrp="1"/>
          </p:cNvSpPr>
          <p:nvPr>
            <p:ph type="dt" sz="half" idx="10"/>
          </p:nvPr>
        </p:nvSpPr>
        <p:spPr/>
        <p:txBody>
          <a:bodyPr/>
          <a:lstStyle/>
          <a:p>
            <a:fld id="{C4FCA199-1229-436A-BBD4-75822D8141E3}" type="datetime10">
              <a:rPr lang="zh-CN" altLang="en-US" smtClean="0"/>
              <a:t>14:22</a:t>
            </a:fld>
            <a:endParaRPr lang="zh-CN" altLang="en-US"/>
          </a:p>
        </p:txBody>
      </p:sp>
    </p:spTree>
    <p:extLst>
      <p:ext uri="{BB962C8B-B14F-4D97-AF65-F5344CB8AC3E}">
        <p14:creationId xmlns:p14="http://schemas.microsoft.com/office/powerpoint/2010/main" val="302204076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1922" name="Rectangle 2"/>
          <p:cNvSpPr>
            <a:spLocks noGrp="1" noChangeArrowheads="1"/>
          </p:cNvSpPr>
          <p:nvPr>
            <p:ph type="title"/>
          </p:nvPr>
        </p:nvSpPr>
        <p:spPr/>
        <p:txBody>
          <a:bodyPr/>
          <a:lstStyle/>
          <a:p>
            <a:r>
              <a:rPr lang="en-US" altLang="zh-CN" sz="3600" b="1">
                <a:latin typeface="Arial" pitchFamily="34" charset="0"/>
              </a:rPr>
              <a:t>2.4.4</a:t>
            </a:r>
            <a:r>
              <a:rPr lang="en-US" altLang="zh-CN" sz="3600" b="1">
                <a:latin typeface="华文中宋" pitchFamily="2" charset="-122"/>
              </a:rPr>
              <a:t>    </a:t>
            </a:r>
            <a:r>
              <a:rPr lang="zh-CN" altLang="en-US" sz="3600" b="1">
                <a:latin typeface="华文中宋" pitchFamily="2" charset="-122"/>
              </a:rPr>
              <a:t>绝缘栅双极晶体管</a:t>
            </a:r>
            <a:endParaRPr lang="zh-CN" altLang="en-US" sz="3200" b="1">
              <a:solidFill>
                <a:schemeClr val="bg1"/>
              </a:solidFill>
              <a:latin typeface="华文中宋" pitchFamily="2" charset="-122"/>
            </a:endParaRPr>
          </a:p>
        </p:txBody>
      </p:sp>
      <p:sp>
        <p:nvSpPr>
          <p:cNvPr id="81928" name="Text Box 8"/>
          <p:cNvSpPr txBox="1">
            <a:spLocks noChangeArrowheads="1"/>
          </p:cNvSpPr>
          <p:nvPr/>
        </p:nvSpPr>
        <p:spPr bwMode="auto">
          <a:xfrm>
            <a:off x="647825" y="765969"/>
            <a:ext cx="8496175" cy="2616101"/>
          </a:xfrm>
          <a:prstGeom prst="rect">
            <a:avLst/>
          </a:prstGeom>
          <a:noFill/>
          <a:ln w="9525">
            <a:solidFill>
              <a:srgbClr val="9966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187325" indent="-187325">
              <a:defRPr kumimoji="1" sz="2400">
                <a:solidFill>
                  <a:schemeClr val="tx1"/>
                </a:solidFill>
                <a:latin typeface="Times New Roman" pitchFamily="18" charset="0"/>
                <a:ea typeface="宋体" pitchFamily="2" charset="-122"/>
              </a:defRPr>
            </a:lvl1pPr>
            <a:lvl2pPr>
              <a:defRPr kumimoji="1" sz="2400">
                <a:solidFill>
                  <a:schemeClr val="tx1"/>
                </a:solidFill>
                <a:latin typeface="Times New Roman" pitchFamily="18" charset="0"/>
                <a:ea typeface="宋体" pitchFamily="2" charset="-122"/>
              </a:defRPr>
            </a:lvl2pPr>
            <a:lvl3pPr>
              <a:defRPr kumimoji="1" sz="2400">
                <a:solidFill>
                  <a:schemeClr val="tx1"/>
                </a:solidFill>
                <a:latin typeface="Times New Roman" pitchFamily="18" charset="0"/>
                <a:ea typeface="宋体" pitchFamily="2" charset="-122"/>
              </a:defRPr>
            </a:lvl3pPr>
            <a:lvl4pPr>
              <a:defRPr kumimoji="1" sz="2400">
                <a:solidFill>
                  <a:schemeClr val="tx1"/>
                </a:solidFill>
                <a:latin typeface="Times New Roman" pitchFamily="18" charset="0"/>
                <a:ea typeface="宋体" pitchFamily="2" charset="-122"/>
              </a:defRPr>
            </a:lvl4pPr>
            <a:lvl5pPr>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lgn="just">
              <a:lnSpc>
                <a:spcPct val="120000"/>
              </a:lnSpc>
              <a:spcBef>
                <a:spcPct val="50000"/>
              </a:spcBef>
              <a:buClr>
                <a:schemeClr val="accent1"/>
              </a:buClr>
              <a:buFont typeface="Wingdings" pitchFamily="2" charset="2"/>
              <a:buNone/>
            </a:pPr>
            <a:r>
              <a:rPr lang="en-US" altLang="zh-CN" sz="2000" dirty="0">
                <a:solidFill>
                  <a:srgbClr val="0000FF"/>
                </a:solidFill>
                <a:latin typeface="Arial" pitchFamily="34" charset="0"/>
                <a:ea typeface="华文中宋" pitchFamily="2" charset="-122"/>
              </a:rPr>
              <a:t>          GTR</a:t>
            </a:r>
            <a:r>
              <a:rPr lang="zh-CN" altLang="en-US" sz="2000" dirty="0">
                <a:solidFill>
                  <a:srgbClr val="0000FF"/>
                </a:solidFill>
                <a:ea typeface="华文中宋" pitchFamily="2" charset="-122"/>
              </a:rPr>
              <a:t>和</a:t>
            </a:r>
            <a:r>
              <a:rPr lang="en-US" altLang="zh-CN" sz="2000" dirty="0">
                <a:solidFill>
                  <a:srgbClr val="0000FF"/>
                </a:solidFill>
                <a:latin typeface="Arial" pitchFamily="34" charset="0"/>
                <a:ea typeface="华文中宋" pitchFamily="2" charset="-122"/>
              </a:rPr>
              <a:t>GTO</a:t>
            </a:r>
            <a:r>
              <a:rPr lang="zh-CN" altLang="en-US" sz="2000" dirty="0">
                <a:solidFill>
                  <a:srgbClr val="0000FF"/>
                </a:solidFill>
                <a:ea typeface="华文中宋" pitchFamily="2" charset="-122"/>
              </a:rPr>
              <a:t>的特点</a:t>
            </a:r>
            <a:r>
              <a:rPr lang="en-US" altLang="zh-CN" sz="2000" dirty="0">
                <a:solidFill>
                  <a:srgbClr val="0000FF"/>
                </a:solidFill>
                <a:ea typeface="华文中宋" pitchFamily="2" charset="-122"/>
              </a:rPr>
              <a:t>——</a:t>
            </a:r>
            <a:r>
              <a:rPr lang="zh-CN" altLang="en-US" sz="2000" dirty="0">
                <a:solidFill>
                  <a:srgbClr val="0000FF"/>
                </a:solidFill>
                <a:ea typeface="华文中宋" pitchFamily="2" charset="-122"/>
              </a:rPr>
              <a:t>双极型，电流驱动，</a:t>
            </a:r>
            <a:r>
              <a:rPr lang="zh-CN" altLang="en-US" sz="2000" dirty="0">
                <a:solidFill>
                  <a:srgbClr val="FF0000"/>
                </a:solidFill>
                <a:ea typeface="华文中宋" pitchFamily="2" charset="-122"/>
              </a:rPr>
              <a:t>有电导调制效应，</a:t>
            </a:r>
            <a:r>
              <a:rPr lang="zh-CN" altLang="en-US" sz="2000" dirty="0">
                <a:solidFill>
                  <a:srgbClr val="0000FF"/>
                </a:solidFill>
                <a:ea typeface="华文中宋" pitchFamily="2" charset="-122"/>
              </a:rPr>
              <a:t>通流能力很强，</a:t>
            </a:r>
            <a:r>
              <a:rPr lang="zh-CN" altLang="en-US" sz="2000" dirty="0">
                <a:solidFill>
                  <a:srgbClr val="FF0000"/>
                </a:solidFill>
                <a:ea typeface="华文中宋" pitchFamily="2" charset="-122"/>
              </a:rPr>
              <a:t>开关速度较低，</a:t>
            </a:r>
            <a:r>
              <a:rPr lang="zh-CN" altLang="en-US" sz="2000" dirty="0">
                <a:solidFill>
                  <a:srgbClr val="0000FF"/>
                </a:solidFill>
                <a:ea typeface="华文中宋" pitchFamily="2" charset="-122"/>
              </a:rPr>
              <a:t>所需驱动功率大，驱动电路复杂。</a:t>
            </a:r>
          </a:p>
          <a:p>
            <a:pPr algn="just">
              <a:lnSpc>
                <a:spcPct val="120000"/>
              </a:lnSpc>
              <a:spcBef>
                <a:spcPct val="50000"/>
              </a:spcBef>
              <a:buClr>
                <a:schemeClr val="accent1"/>
              </a:buClr>
              <a:buFont typeface="Wingdings" pitchFamily="2" charset="2"/>
              <a:buNone/>
            </a:pPr>
            <a:r>
              <a:rPr lang="zh-CN" altLang="en-US" sz="2000" dirty="0">
                <a:solidFill>
                  <a:srgbClr val="0000FF"/>
                </a:solidFill>
                <a:latin typeface="Arial" pitchFamily="34" charset="0"/>
                <a:ea typeface="华文中宋" pitchFamily="2" charset="-122"/>
              </a:rPr>
              <a:t>          </a:t>
            </a:r>
            <a:r>
              <a:rPr lang="en-US" altLang="zh-CN" sz="2000" dirty="0">
                <a:solidFill>
                  <a:srgbClr val="0000FF"/>
                </a:solidFill>
                <a:ea typeface="华文中宋" pitchFamily="2" charset="-122"/>
              </a:rPr>
              <a:t>MOSFET</a:t>
            </a:r>
            <a:r>
              <a:rPr lang="zh-CN" altLang="en-US" sz="2000" dirty="0">
                <a:solidFill>
                  <a:srgbClr val="0000FF"/>
                </a:solidFill>
                <a:ea typeface="华文中宋" pitchFamily="2" charset="-122"/>
              </a:rPr>
              <a:t>的特点</a:t>
            </a:r>
            <a:r>
              <a:rPr lang="en-US" altLang="zh-CN" sz="2000" dirty="0">
                <a:solidFill>
                  <a:srgbClr val="0000FF"/>
                </a:solidFill>
                <a:ea typeface="华文中宋" pitchFamily="2" charset="-122"/>
              </a:rPr>
              <a:t>——</a:t>
            </a:r>
            <a:r>
              <a:rPr lang="zh-CN" altLang="en-US" sz="2000" dirty="0">
                <a:solidFill>
                  <a:srgbClr val="0000FF"/>
                </a:solidFill>
                <a:ea typeface="华文中宋" pitchFamily="2" charset="-122"/>
              </a:rPr>
              <a:t>单极型，电压驱动，</a:t>
            </a:r>
            <a:r>
              <a:rPr lang="zh-CN" altLang="en-US" sz="2000" dirty="0">
                <a:solidFill>
                  <a:srgbClr val="FF0000"/>
                </a:solidFill>
                <a:ea typeface="华文中宋" pitchFamily="2" charset="-122"/>
              </a:rPr>
              <a:t>开关速度快，</a:t>
            </a:r>
            <a:r>
              <a:rPr lang="zh-CN" altLang="en-US" sz="2000" dirty="0">
                <a:solidFill>
                  <a:srgbClr val="0000FF"/>
                </a:solidFill>
                <a:ea typeface="华文中宋" pitchFamily="2" charset="-122"/>
              </a:rPr>
              <a:t>输入阻抗高，热稳定性好，所需驱动功率小而且驱动电路简单，</a:t>
            </a:r>
            <a:r>
              <a:rPr lang="zh-CN" altLang="en-US" sz="2000" dirty="0">
                <a:solidFill>
                  <a:srgbClr val="FF0000"/>
                </a:solidFill>
                <a:ea typeface="华文中宋" pitchFamily="2" charset="-122"/>
              </a:rPr>
              <a:t>无电导调制效应。</a:t>
            </a:r>
            <a:endParaRPr lang="en-US" altLang="zh-CN" sz="2000" dirty="0">
              <a:solidFill>
                <a:srgbClr val="FF0000"/>
              </a:solidFill>
              <a:ea typeface="华文中宋" pitchFamily="2" charset="-122"/>
            </a:endParaRPr>
          </a:p>
          <a:p>
            <a:pPr algn="just">
              <a:lnSpc>
                <a:spcPct val="120000"/>
              </a:lnSpc>
              <a:spcBef>
                <a:spcPct val="50000"/>
              </a:spcBef>
              <a:buClr>
                <a:schemeClr val="accent1"/>
              </a:buClr>
              <a:buFont typeface="Wingdings" pitchFamily="2" charset="2"/>
              <a:buNone/>
            </a:pPr>
            <a:r>
              <a:rPr lang="zh-CN" altLang="en-US" sz="2000" dirty="0">
                <a:solidFill>
                  <a:srgbClr val="0000FF"/>
                </a:solidFill>
                <a:ea typeface="华文中宋" pitchFamily="2" charset="-122"/>
              </a:rPr>
              <a:t>           但高压</a:t>
            </a:r>
            <a:r>
              <a:rPr lang="en-US" altLang="zh-CN" sz="2000" dirty="0">
                <a:solidFill>
                  <a:srgbClr val="0000FF"/>
                </a:solidFill>
                <a:ea typeface="华文中宋" pitchFamily="2" charset="-122"/>
              </a:rPr>
              <a:t>MOSFET</a:t>
            </a:r>
            <a:r>
              <a:rPr lang="zh-CN" altLang="en-US" sz="2000" dirty="0">
                <a:solidFill>
                  <a:srgbClr val="0000FF"/>
                </a:solidFill>
                <a:ea typeface="华文中宋" pitchFamily="2" charset="-122"/>
              </a:rPr>
              <a:t>器件导通电阻较大，通流能力受限。</a:t>
            </a:r>
            <a:r>
              <a:rPr lang="en-US" altLang="zh-CN" sz="2000" dirty="0">
                <a:solidFill>
                  <a:srgbClr val="0000FF"/>
                </a:solidFill>
                <a:ea typeface="华文中宋" pitchFamily="2" charset="-122"/>
              </a:rPr>
              <a:t>MOS</a:t>
            </a:r>
            <a:r>
              <a:rPr lang="zh-CN" altLang="en-US" sz="2000" dirty="0">
                <a:solidFill>
                  <a:srgbClr val="0000FF"/>
                </a:solidFill>
                <a:ea typeface="华文中宋" pitchFamily="2" charset="-122"/>
              </a:rPr>
              <a:t>器件遇到了提高电压与降低导通电阻、降低损耗的尖锐矛盾。</a:t>
            </a:r>
          </a:p>
        </p:txBody>
      </p:sp>
      <p:sp>
        <p:nvSpPr>
          <p:cNvPr id="2" name="灯片编号占位符 1"/>
          <p:cNvSpPr>
            <a:spLocks noGrp="1"/>
          </p:cNvSpPr>
          <p:nvPr>
            <p:ph type="sldNum" sz="quarter" idx="12"/>
          </p:nvPr>
        </p:nvSpPr>
        <p:spPr/>
        <p:txBody>
          <a:bodyPr/>
          <a:lstStyle/>
          <a:p>
            <a:fld id="{0C913308-F349-4B6D-A68A-DD1791B4A57B}" type="slidenum">
              <a:rPr lang="zh-CN" altLang="en-US" smtClean="0"/>
              <a:t>2</a:t>
            </a:fld>
            <a:endParaRPr lang="zh-CN" altLang="en-US"/>
          </a:p>
        </p:txBody>
      </p:sp>
      <p:graphicFrame>
        <p:nvGraphicFramePr>
          <p:cNvPr id="6" name="Object 5"/>
          <p:cNvGraphicFramePr>
            <a:graphicFrameLocks noChangeAspect="1"/>
          </p:cNvGraphicFramePr>
          <p:nvPr>
            <p:extLst>
              <p:ext uri="{D42A27DB-BD31-4B8C-83A1-F6EECF244321}">
                <p14:modId xmlns:p14="http://schemas.microsoft.com/office/powerpoint/2010/main" val="2986111844"/>
              </p:ext>
            </p:extLst>
          </p:nvPr>
        </p:nvGraphicFramePr>
        <p:xfrm>
          <a:off x="1066800" y="3729291"/>
          <a:ext cx="3724799" cy="2369176"/>
        </p:xfrm>
        <a:graphic>
          <a:graphicData uri="http://schemas.openxmlformats.org/presentationml/2006/ole">
            <mc:AlternateContent xmlns:mc="http://schemas.openxmlformats.org/markup-compatibility/2006">
              <mc:Choice xmlns:v="urn:schemas-microsoft-com:vml" Requires="v">
                <p:oleObj spid="_x0000_s26814" name="VISIO" r:id="rId4" imgW="4329684" imgH="1773936" progId="Visio.Drawing.5">
                  <p:embed/>
                </p:oleObj>
              </mc:Choice>
              <mc:Fallback>
                <p:oleObj name="VISIO" r:id="rId4" imgW="4329684" imgH="1773936" progId="Visio.Drawing.5">
                  <p:embed/>
                  <p:pic>
                    <p:nvPicPr>
                      <p:cNvPr id="373765" name="Object 5"/>
                      <p:cNvPicPr>
                        <a:picLocks noChangeAspect="1" noChangeArrowheads="1"/>
                      </p:cNvPicPr>
                      <p:nvPr/>
                    </p:nvPicPr>
                    <p:blipFill>
                      <a:blip r:embed="rId5">
                        <a:extLst>
                          <a:ext uri="{28A0092B-C50C-407E-A947-70E740481C1C}">
                            <a14:useLocalDpi xmlns:a14="http://schemas.microsoft.com/office/drawing/2010/main" val="0"/>
                          </a:ext>
                        </a:extLst>
                      </a:blip>
                      <a:srcRect l="8315" t="4057" r="16628" b="16231"/>
                      <a:stretch>
                        <a:fillRect/>
                      </a:stretch>
                    </p:blipFill>
                    <p:spPr bwMode="auto">
                      <a:xfrm>
                        <a:off x="1066800" y="3729291"/>
                        <a:ext cx="3724799" cy="2369176"/>
                      </a:xfrm>
                      <a:prstGeom prst="rect">
                        <a:avLst/>
                      </a:prstGeom>
                      <a:noFill/>
                    </p:spPr>
                  </p:pic>
                </p:oleObj>
              </mc:Fallback>
            </mc:AlternateContent>
          </a:graphicData>
        </a:graphic>
      </p:graphicFrame>
      <p:pic>
        <p:nvPicPr>
          <p:cNvPr id="3" name="图片 2"/>
          <p:cNvPicPr>
            <a:picLocks noChangeAspect="1"/>
          </p:cNvPicPr>
          <p:nvPr/>
        </p:nvPicPr>
        <p:blipFill>
          <a:blip r:embed="rId6"/>
          <a:stretch>
            <a:fillRect/>
          </a:stretch>
        </p:blipFill>
        <p:spPr>
          <a:xfrm>
            <a:off x="6012160" y="3885179"/>
            <a:ext cx="1943100" cy="2057400"/>
          </a:xfrm>
          <a:prstGeom prst="rect">
            <a:avLst/>
          </a:prstGeom>
        </p:spPr>
      </p:pic>
      <p:sp>
        <p:nvSpPr>
          <p:cNvPr id="5" name="日期占位符 4"/>
          <p:cNvSpPr>
            <a:spLocks noGrp="1"/>
          </p:cNvSpPr>
          <p:nvPr>
            <p:ph type="dt" sz="half" idx="10"/>
          </p:nvPr>
        </p:nvSpPr>
        <p:spPr/>
        <p:txBody>
          <a:bodyPr/>
          <a:lstStyle/>
          <a:p>
            <a:fld id="{01837805-83EA-4804-B8DE-1A41D4DE97E3}" type="datetime10">
              <a:rPr lang="zh-CN" altLang="en-US" smtClean="0"/>
              <a:t>14:22</a:t>
            </a:fld>
            <a:endParaRPr lang="zh-CN" altLang="en-US"/>
          </a:p>
        </p:txBody>
      </p:sp>
    </p:spTree>
    <p:extLst>
      <p:ext uri="{BB962C8B-B14F-4D97-AF65-F5344CB8AC3E}">
        <p14:creationId xmlns:p14="http://schemas.microsoft.com/office/powerpoint/2010/main" val="90036118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5" presetClass="entr" presetSubtype="10" fill="hold"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checkerboard(across)">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81928">
                                            <p:txEl>
                                              <p:pRg st="0" end="0"/>
                                            </p:txEl>
                                          </p:spTgt>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81928">
                                            <p:txEl>
                                              <p:pRg st="1" end="1"/>
                                            </p:txEl>
                                          </p:spTgt>
                                        </p:tgtEl>
                                        <p:attrNameLst>
                                          <p:attrName>style.visibility</p:attrName>
                                        </p:attrNameLst>
                                      </p:cBhvr>
                                      <p:to>
                                        <p:strVal val="visible"/>
                                      </p:to>
                                    </p:set>
                                    <p:animEffect transition="in" filter="fade">
                                      <p:cBhvr>
                                        <p:cTn id="16" dur="500"/>
                                        <p:tgtEl>
                                          <p:spTgt spid="81928">
                                            <p:txEl>
                                              <p:pRg st="1" end="1"/>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81928">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1922" name="Rectangle 2"/>
          <p:cNvSpPr>
            <a:spLocks noGrp="1" noChangeArrowheads="1"/>
          </p:cNvSpPr>
          <p:nvPr>
            <p:ph type="title"/>
          </p:nvPr>
        </p:nvSpPr>
        <p:spPr/>
        <p:txBody>
          <a:bodyPr/>
          <a:lstStyle/>
          <a:p>
            <a:r>
              <a:rPr lang="en-US" altLang="zh-CN" sz="3600" b="1">
                <a:latin typeface="Arial" pitchFamily="34" charset="0"/>
              </a:rPr>
              <a:t>2.4.4</a:t>
            </a:r>
            <a:r>
              <a:rPr lang="en-US" altLang="zh-CN" sz="3600" b="1">
                <a:latin typeface="华文中宋" pitchFamily="2" charset="-122"/>
              </a:rPr>
              <a:t>    </a:t>
            </a:r>
            <a:r>
              <a:rPr lang="zh-CN" altLang="en-US" sz="3600" b="1">
                <a:latin typeface="华文中宋" pitchFamily="2" charset="-122"/>
              </a:rPr>
              <a:t>绝缘栅双极晶体管</a:t>
            </a:r>
            <a:endParaRPr lang="zh-CN" altLang="en-US" sz="3200" b="1">
              <a:solidFill>
                <a:schemeClr val="bg1"/>
              </a:solidFill>
              <a:latin typeface="华文中宋" pitchFamily="2" charset="-122"/>
            </a:endParaRPr>
          </a:p>
        </p:txBody>
      </p:sp>
      <p:sp>
        <p:nvSpPr>
          <p:cNvPr id="2" name="灯片编号占位符 1"/>
          <p:cNvSpPr>
            <a:spLocks noGrp="1"/>
          </p:cNvSpPr>
          <p:nvPr>
            <p:ph type="sldNum" sz="quarter" idx="12"/>
          </p:nvPr>
        </p:nvSpPr>
        <p:spPr/>
        <p:txBody>
          <a:bodyPr/>
          <a:lstStyle/>
          <a:p>
            <a:fld id="{0C913308-F349-4B6D-A68A-DD1791B4A57B}" type="slidenum">
              <a:rPr lang="zh-CN" altLang="en-US" smtClean="0"/>
              <a:t>3</a:t>
            </a:fld>
            <a:endParaRPr lang="zh-CN" altLang="en-US"/>
          </a:p>
        </p:txBody>
      </p:sp>
      <p:graphicFrame>
        <p:nvGraphicFramePr>
          <p:cNvPr id="7" name="Object 5"/>
          <p:cNvGraphicFramePr>
            <a:graphicFrameLocks noChangeAspect="1"/>
          </p:cNvGraphicFramePr>
          <p:nvPr>
            <p:extLst>
              <p:ext uri="{D42A27DB-BD31-4B8C-83A1-F6EECF244321}">
                <p14:modId xmlns:p14="http://schemas.microsoft.com/office/powerpoint/2010/main" val="295154429"/>
              </p:ext>
            </p:extLst>
          </p:nvPr>
        </p:nvGraphicFramePr>
        <p:xfrm>
          <a:off x="1115616" y="1386819"/>
          <a:ext cx="3724799" cy="2369176"/>
        </p:xfrm>
        <a:graphic>
          <a:graphicData uri="http://schemas.openxmlformats.org/presentationml/2006/ole">
            <mc:AlternateContent xmlns:mc="http://schemas.openxmlformats.org/markup-compatibility/2006">
              <mc:Choice xmlns:v="urn:schemas-microsoft-com:vml" Requires="v">
                <p:oleObj spid="_x0000_s27838" name="VISIO" r:id="rId4" imgW="4329684" imgH="1773936" progId="Visio.Drawing.5">
                  <p:embed/>
                </p:oleObj>
              </mc:Choice>
              <mc:Fallback>
                <p:oleObj name="VISIO" r:id="rId4" imgW="4329684" imgH="1773936" progId="Visio.Drawing.5">
                  <p:embed/>
                  <p:pic>
                    <p:nvPicPr>
                      <p:cNvPr id="6" name="Object 5"/>
                      <p:cNvPicPr>
                        <a:picLocks noChangeAspect="1" noChangeArrowheads="1"/>
                      </p:cNvPicPr>
                      <p:nvPr/>
                    </p:nvPicPr>
                    <p:blipFill>
                      <a:blip r:embed="rId5">
                        <a:extLst>
                          <a:ext uri="{28A0092B-C50C-407E-A947-70E740481C1C}">
                            <a14:useLocalDpi xmlns:a14="http://schemas.microsoft.com/office/drawing/2010/main" val="0"/>
                          </a:ext>
                        </a:extLst>
                      </a:blip>
                      <a:srcRect l="8315" t="4057" r="16628" b="16231"/>
                      <a:stretch>
                        <a:fillRect/>
                      </a:stretch>
                    </p:blipFill>
                    <p:spPr bwMode="auto">
                      <a:xfrm>
                        <a:off x="1115616" y="1386819"/>
                        <a:ext cx="3724799" cy="2369176"/>
                      </a:xfrm>
                      <a:prstGeom prst="rect">
                        <a:avLst/>
                      </a:prstGeom>
                      <a:noFill/>
                    </p:spPr>
                  </p:pic>
                </p:oleObj>
              </mc:Fallback>
            </mc:AlternateContent>
          </a:graphicData>
        </a:graphic>
      </p:graphicFrame>
      <p:pic>
        <p:nvPicPr>
          <p:cNvPr id="8" name="图片 7"/>
          <p:cNvPicPr>
            <a:picLocks noChangeAspect="1"/>
          </p:cNvPicPr>
          <p:nvPr/>
        </p:nvPicPr>
        <p:blipFill>
          <a:blip r:embed="rId6"/>
          <a:stretch>
            <a:fillRect/>
          </a:stretch>
        </p:blipFill>
        <p:spPr>
          <a:xfrm>
            <a:off x="6060976" y="1542707"/>
            <a:ext cx="1943100" cy="2057400"/>
          </a:xfrm>
          <a:prstGeom prst="rect">
            <a:avLst/>
          </a:prstGeom>
        </p:spPr>
      </p:pic>
      <p:sp>
        <p:nvSpPr>
          <p:cNvPr id="4" name="矩形 3"/>
          <p:cNvSpPr/>
          <p:nvPr/>
        </p:nvSpPr>
        <p:spPr>
          <a:xfrm>
            <a:off x="4644008" y="2420888"/>
            <a:ext cx="1416968" cy="14401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下箭头 4"/>
          <p:cNvSpPr/>
          <p:nvPr/>
        </p:nvSpPr>
        <p:spPr>
          <a:xfrm>
            <a:off x="5306679" y="2564904"/>
            <a:ext cx="288032" cy="1584176"/>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1" name="图片 10"/>
          <p:cNvPicPr>
            <a:picLocks noChangeAspect="1"/>
          </p:cNvPicPr>
          <p:nvPr/>
        </p:nvPicPr>
        <p:blipFill>
          <a:blip r:embed="rId7"/>
          <a:stretch>
            <a:fillRect/>
          </a:stretch>
        </p:blipFill>
        <p:spPr>
          <a:xfrm>
            <a:off x="4406579" y="4293348"/>
            <a:ext cx="2651484" cy="2231996"/>
          </a:xfrm>
          <a:prstGeom prst="rect">
            <a:avLst/>
          </a:prstGeom>
        </p:spPr>
      </p:pic>
      <p:sp>
        <p:nvSpPr>
          <p:cNvPr id="6" name="日期占位符 5"/>
          <p:cNvSpPr>
            <a:spLocks noGrp="1"/>
          </p:cNvSpPr>
          <p:nvPr>
            <p:ph type="dt" sz="half" idx="10"/>
          </p:nvPr>
        </p:nvSpPr>
        <p:spPr/>
        <p:txBody>
          <a:bodyPr/>
          <a:lstStyle/>
          <a:p>
            <a:fld id="{2D3C66BD-ED65-4BD8-873B-06077DF3736B}" type="datetime10">
              <a:rPr lang="zh-CN" altLang="en-US" smtClean="0"/>
              <a:t>14:23</a:t>
            </a:fld>
            <a:endParaRPr lang="zh-CN" altLang="en-US" dirty="0"/>
          </a:p>
        </p:txBody>
      </p:sp>
      <p:sp>
        <p:nvSpPr>
          <p:cNvPr id="3" name="矩形 2"/>
          <p:cNvSpPr/>
          <p:nvPr/>
        </p:nvSpPr>
        <p:spPr>
          <a:xfrm>
            <a:off x="3649767" y="5224680"/>
            <a:ext cx="723275" cy="369332"/>
          </a:xfrm>
          <a:prstGeom prst="rect">
            <a:avLst/>
          </a:prstGeom>
        </p:spPr>
        <p:txBody>
          <a:bodyPr wrap="none">
            <a:spAutoFit/>
          </a:bodyPr>
          <a:lstStyle/>
          <a:p>
            <a:r>
              <a:rPr lang="en-US" altLang="zh-CN" dirty="0">
                <a:solidFill>
                  <a:srgbClr val="0000FF"/>
                </a:solidFill>
                <a:ea typeface="华文中宋" pitchFamily="2" charset="-122"/>
              </a:rPr>
              <a:t>IGBT</a:t>
            </a:r>
            <a:endParaRPr lang="zh-CN" altLang="en-US" dirty="0"/>
          </a:p>
        </p:txBody>
      </p:sp>
      <p:sp>
        <p:nvSpPr>
          <p:cNvPr id="12" name="Text Box 8">
            <a:extLst>
              <a:ext uri="{FF2B5EF4-FFF2-40B4-BE49-F238E27FC236}">
                <a16:creationId xmlns:a16="http://schemas.microsoft.com/office/drawing/2014/main" id="{8CA20CDE-9888-4D78-88ED-C38BEF26F3FA}"/>
              </a:ext>
            </a:extLst>
          </p:cNvPr>
          <p:cNvSpPr txBox="1">
            <a:spLocks noChangeArrowheads="1"/>
          </p:cNvSpPr>
          <p:nvPr/>
        </p:nvSpPr>
        <p:spPr bwMode="auto">
          <a:xfrm>
            <a:off x="1272265" y="964691"/>
            <a:ext cx="7724089" cy="430054"/>
          </a:xfrm>
          <a:prstGeom prst="rect">
            <a:avLst/>
          </a:prstGeom>
          <a:noFill/>
          <a:ln w="9525">
            <a:solidFill>
              <a:srgbClr val="9966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187325" indent="-187325">
              <a:defRPr kumimoji="1" sz="2400">
                <a:solidFill>
                  <a:schemeClr val="tx1"/>
                </a:solidFill>
                <a:latin typeface="Times New Roman" pitchFamily="18" charset="0"/>
                <a:ea typeface="宋体" pitchFamily="2" charset="-122"/>
              </a:defRPr>
            </a:lvl1pPr>
            <a:lvl2pPr>
              <a:defRPr kumimoji="1" sz="2400">
                <a:solidFill>
                  <a:schemeClr val="tx1"/>
                </a:solidFill>
                <a:latin typeface="Times New Roman" pitchFamily="18" charset="0"/>
                <a:ea typeface="宋体" pitchFamily="2" charset="-122"/>
              </a:defRPr>
            </a:lvl2pPr>
            <a:lvl3pPr>
              <a:defRPr kumimoji="1" sz="2400">
                <a:solidFill>
                  <a:schemeClr val="tx1"/>
                </a:solidFill>
                <a:latin typeface="Times New Roman" pitchFamily="18" charset="0"/>
                <a:ea typeface="宋体" pitchFamily="2" charset="-122"/>
              </a:defRPr>
            </a:lvl3pPr>
            <a:lvl4pPr>
              <a:defRPr kumimoji="1" sz="2400">
                <a:solidFill>
                  <a:schemeClr val="tx1"/>
                </a:solidFill>
                <a:latin typeface="Times New Roman" pitchFamily="18" charset="0"/>
                <a:ea typeface="宋体" pitchFamily="2" charset="-122"/>
              </a:defRPr>
            </a:lvl4pPr>
            <a:lvl5pPr>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lgn="just">
              <a:lnSpc>
                <a:spcPct val="120000"/>
              </a:lnSpc>
              <a:spcBef>
                <a:spcPct val="50000"/>
              </a:spcBef>
              <a:buClr>
                <a:schemeClr val="accent1"/>
              </a:buClr>
              <a:buFont typeface="Wingdings" pitchFamily="2" charset="2"/>
              <a:buNone/>
            </a:pPr>
            <a:r>
              <a:rPr lang="en-US" altLang="zh-CN" sz="2000" dirty="0">
                <a:solidFill>
                  <a:srgbClr val="0000FF"/>
                </a:solidFill>
                <a:ea typeface="华文中宋" pitchFamily="2" charset="-122"/>
              </a:rPr>
              <a:t>RCA</a:t>
            </a:r>
            <a:r>
              <a:rPr lang="zh-CN" altLang="en-US" sz="2000" dirty="0">
                <a:solidFill>
                  <a:srgbClr val="0000FF"/>
                </a:solidFill>
                <a:ea typeface="华文中宋" pitchFamily="2" charset="-122"/>
              </a:rPr>
              <a:t>、</a:t>
            </a:r>
            <a:r>
              <a:rPr lang="en-US" altLang="zh-CN" sz="2000" dirty="0">
                <a:solidFill>
                  <a:srgbClr val="0000FF"/>
                </a:solidFill>
                <a:ea typeface="华文中宋" pitchFamily="2" charset="-122"/>
              </a:rPr>
              <a:t>GE</a:t>
            </a:r>
            <a:r>
              <a:rPr lang="zh-CN" altLang="en-US" sz="2000" dirty="0">
                <a:solidFill>
                  <a:srgbClr val="0000FF"/>
                </a:solidFill>
                <a:ea typeface="华文中宋" pitchFamily="2" charset="-122"/>
              </a:rPr>
              <a:t>、</a:t>
            </a:r>
            <a:r>
              <a:rPr lang="en-US" altLang="zh-CN" sz="2000" dirty="0">
                <a:solidFill>
                  <a:srgbClr val="0000FF"/>
                </a:solidFill>
                <a:ea typeface="华文中宋" pitchFamily="2" charset="-122"/>
              </a:rPr>
              <a:t>MOTLOLA</a:t>
            </a:r>
            <a:r>
              <a:rPr lang="zh-CN" altLang="en-US" sz="2000" dirty="0">
                <a:solidFill>
                  <a:srgbClr val="0000FF"/>
                </a:solidFill>
                <a:ea typeface="华文中宋" pitchFamily="2" charset="-122"/>
              </a:rPr>
              <a:t>公司在</a:t>
            </a:r>
            <a:r>
              <a:rPr lang="en-US" altLang="zh-CN" sz="2000" dirty="0">
                <a:solidFill>
                  <a:srgbClr val="0000FF"/>
                </a:solidFill>
                <a:ea typeface="华文中宋" pitchFamily="2" charset="-122"/>
              </a:rPr>
              <a:t>80</a:t>
            </a:r>
            <a:r>
              <a:rPr lang="zh-CN" altLang="en-US" sz="2000" dirty="0">
                <a:solidFill>
                  <a:srgbClr val="0000FF"/>
                </a:solidFill>
                <a:ea typeface="华文中宋" pitchFamily="2" charset="-122"/>
              </a:rPr>
              <a:t>年代初期几乎同时研制出了</a:t>
            </a:r>
            <a:r>
              <a:rPr lang="en-US" altLang="zh-CN" sz="2000" dirty="0">
                <a:solidFill>
                  <a:srgbClr val="0000FF"/>
                </a:solidFill>
                <a:ea typeface="华文中宋" pitchFamily="2" charset="-122"/>
              </a:rPr>
              <a:t>IGBT</a:t>
            </a:r>
            <a:r>
              <a:rPr lang="zh-CN" altLang="en-US" sz="2000" dirty="0">
                <a:solidFill>
                  <a:srgbClr val="0000FF"/>
                </a:solidFill>
                <a:ea typeface="华文中宋" pitchFamily="2" charset="-122"/>
              </a:rPr>
              <a:t>。</a:t>
            </a:r>
          </a:p>
        </p:txBody>
      </p:sp>
    </p:spTree>
    <p:extLst>
      <p:ext uri="{BB962C8B-B14F-4D97-AF65-F5344CB8AC3E}">
        <p14:creationId xmlns:p14="http://schemas.microsoft.com/office/powerpoint/2010/main" val="27413875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5"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2000"/>
                                        <p:tgtEl>
                                          <p:spTgt spid="7"/>
                                        </p:tgtEl>
                                      </p:cBhvr>
                                    </p:animEffect>
                                    <p:anim calcmode="lin" valueType="num">
                                      <p:cBhvr>
                                        <p:cTn id="8" dur="2000" fill="hold"/>
                                        <p:tgtEl>
                                          <p:spTgt spid="7"/>
                                        </p:tgtEl>
                                        <p:attrNameLst>
                                          <p:attrName>ppt_w</p:attrName>
                                        </p:attrNameLst>
                                      </p:cBhvr>
                                      <p:tavLst>
                                        <p:tav tm="0" fmla="#ppt_w*sin(2.5*pi*$)">
                                          <p:val>
                                            <p:fltVal val="0"/>
                                          </p:val>
                                        </p:tav>
                                        <p:tav tm="100000">
                                          <p:val>
                                            <p:fltVal val="1"/>
                                          </p:val>
                                        </p:tav>
                                      </p:tavLst>
                                    </p:anim>
                                    <p:anim calcmode="lin" valueType="num">
                                      <p:cBhvr>
                                        <p:cTn id="9" dur="2000" fill="hold"/>
                                        <p:tgtEl>
                                          <p:spTgt spid="7"/>
                                        </p:tgtEl>
                                        <p:attrNameLst>
                                          <p:attrName>ppt_h</p:attrName>
                                        </p:attrNameLst>
                                      </p:cBhvr>
                                      <p:tavLst>
                                        <p:tav tm="0">
                                          <p:val>
                                            <p:strVal val="#ppt_h"/>
                                          </p:val>
                                        </p:tav>
                                        <p:tav tm="100000">
                                          <p:val>
                                            <p:strVal val="#ppt_h"/>
                                          </p:val>
                                        </p:tav>
                                      </p:tavLst>
                                    </p:anim>
                                  </p:childTnLst>
                                </p:cTn>
                              </p:par>
                            </p:childTnLst>
                          </p:cTn>
                        </p:par>
                      </p:childTnLst>
                    </p:cTn>
                  </p:par>
                  <p:par>
                    <p:cTn id="10" fill="hold">
                      <p:stCondLst>
                        <p:cond delay="indefinite"/>
                      </p:stCondLst>
                      <p:childTnLst>
                        <p:par>
                          <p:cTn id="11" fill="hold">
                            <p:stCondLst>
                              <p:cond delay="0"/>
                            </p:stCondLst>
                            <p:childTnLst>
                              <p:par>
                                <p:cTn id="12" presetID="2" presetClass="entr" presetSubtype="4" fill="hold" nodeType="clickEffect">
                                  <p:stCondLst>
                                    <p:cond delay="0"/>
                                  </p:stCondLst>
                                  <p:childTnLst>
                                    <p:set>
                                      <p:cBhvr>
                                        <p:cTn id="13" dur="1" fill="hold">
                                          <p:stCondLst>
                                            <p:cond delay="0"/>
                                          </p:stCondLst>
                                        </p:cTn>
                                        <p:tgtEl>
                                          <p:spTgt spid="8"/>
                                        </p:tgtEl>
                                        <p:attrNameLst>
                                          <p:attrName>style.visibility</p:attrName>
                                        </p:attrNameLst>
                                      </p:cBhvr>
                                      <p:to>
                                        <p:strVal val="visible"/>
                                      </p:to>
                                    </p:set>
                                    <p:anim calcmode="lin" valueType="num">
                                      <p:cBhvr additive="base">
                                        <p:cTn id="14" dur="500" fill="hold"/>
                                        <p:tgtEl>
                                          <p:spTgt spid="8"/>
                                        </p:tgtEl>
                                        <p:attrNameLst>
                                          <p:attrName>ppt_x</p:attrName>
                                        </p:attrNameLst>
                                      </p:cBhvr>
                                      <p:tavLst>
                                        <p:tav tm="0">
                                          <p:val>
                                            <p:strVal val="#ppt_x"/>
                                          </p:val>
                                        </p:tav>
                                        <p:tav tm="100000">
                                          <p:val>
                                            <p:strVal val="#ppt_x"/>
                                          </p:val>
                                        </p:tav>
                                      </p:tavLst>
                                    </p:anim>
                                    <p:anim calcmode="lin" valueType="num">
                                      <p:cBhvr additive="base">
                                        <p:cTn id="15"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2" presetClass="entr" presetSubtype="4" fill="hold" nodeType="clickEffect">
                                  <p:stCondLst>
                                    <p:cond delay="0"/>
                                  </p:stCondLst>
                                  <p:childTnLst>
                                    <p:set>
                                      <p:cBhvr>
                                        <p:cTn id="19" dur="1" fill="hold">
                                          <p:stCondLst>
                                            <p:cond delay="0"/>
                                          </p:stCondLst>
                                        </p:cTn>
                                        <p:tgtEl>
                                          <p:spTgt spid="11"/>
                                        </p:tgtEl>
                                        <p:attrNameLst>
                                          <p:attrName>style.visibility</p:attrName>
                                        </p:attrNameLst>
                                      </p:cBhvr>
                                      <p:to>
                                        <p:strVal val="visible"/>
                                      </p:to>
                                    </p:set>
                                    <p:anim calcmode="lin" valueType="num">
                                      <p:cBhvr additive="base">
                                        <p:cTn id="20" dur="500" fill="hold"/>
                                        <p:tgtEl>
                                          <p:spTgt spid="11"/>
                                        </p:tgtEl>
                                        <p:attrNameLst>
                                          <p:attrName>ppt_x</p:attrName>
                                        </p:attrNameLst>
                                      </p:cBhvr>
                                      <p:tavLst>
                                        <p:tav tm="0">
                                          <p:val>
                                            <p:strVal val="#ppt_x"/>
                                          </p:val>
                                        </p:tav>
                                        <p:tav tm="100000">
                                          <p:val>
                                            <p:strVal val="#ppt_x"/>
                                          </p:val>
                                        </p:tav>
                                      </p:tavLst>
                                    </p:anim>
                                    <p:anim calcmode="lin" valueType="num">
                                      <p:cBhvr additive="base">
                                        <p:cTn id="21"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98338" name="Rectangle 2"/>
          <p:cNvSpPr>
            <a:spLocks noGrp="1" noChangeArrowheads="1"/>
          </p:cNvSpPr>
          <p:nvPr>
            <p:ph type="title"/>
          </p:nvPr>
        </p:nvSpPr>
        <p:spPr>
          <a:xfrm>
            <a:off x="1066800" y="152400"/>
            <a:ext cx="7537648" cy="381000"/>
          </a:xfrm>
        </p:spPr>
        <p:txBody>
          <a:bodyPr/>
          <a:lstStyle/>
          <a:p>
            <a:r>
              <a:rPr lang="en-US" altLang="zh-CN" sz="4000" b="1" dirty="0">
                <a:solidFill>
                  <a:schemeClr val="tx1"/>
                </a:solidFill>
              </a:rPr>
              <a:t>IGBT</a:t>
            </a:r>
            <a:r>
              <a:rPr lang="zh-CN" altLang="en-US" sz="4000" b="1" dirty="0">
                <a:solidFill>
                  <a:schemeClr val="tx1"/>
                </a:solidFill>
              </a:rPr>
              <a:t>的结构（与</a:t>
            </a:r>
            <a:r>
              <a:rPr lang="en-US" altLang="zh-CN" sz="4000" b="1" dirty="0">
                <a:solidFill>
                  <a:schemeClr val="tx1"/>
                </a:solidFill>
              </a:rPr>
              <a:t>MOSFET</a:t>
            </a:r>
            <a:r>
              <a:rPr lang="zh-CN" altLang="en-US" sz="4000" b="1" dirty="0">
                <a:solidFill>
                  <a:schemeClr val="tx1"/>
                </a:solidFill>
              </a:rPr>
              <a:t>不同）</a:t>
            </a:r>
            <a:endParaRPr lang="zh-CN" altLang="en-US" sz="4000" dirty="0">
              <a:solidFill>
                <a:schemeClr val="tx1"/>
              </a:solidFill>
            </a:endParaRPr>
          </a:p>
        </p:txBody>
      </p:sp>
      <p:sp>
        <p:nvSpPr>
          <p:cNvPr id="398339" name="Rectangle 3"/>
          <p:cNvSpPr>
            <a:spLocks noGrp="1" noChangeArrowheads="1"/>
          </p:cNvSpPr>
          <p:nvPr>
            <p:ph type="body" idx="1"/>
          </p:nvPr>
        </p:nvSpPr>
        <p:spPr>
          <a:xfrm>
            <a:off x="611560" y="908050"/>
            <a:ext cx="8318128" cy="1944688"/>
          </a:xfrm>
          <a:noFill/>
          <a:ln/>
        </p:spPr>
        <p:txBody>
          <a:bodyPr/>
          <a:lstStyle/>
          <a:p>
            <a:pPr lvl="1" algn="just">
              <a:spcBef>
                <a:spcPct val="35000"/>
              </a:spcBef>
              <a:buFontTx/>
              <a:buBlip>
                <a:blip r:embed="rId3"/>
              </a:buBlip>
            </a:pPr>
            <a:r>
              <a:rPr lang="en-US" altLang="zh-CN" sz="2400" dirty="0">
                <a:latin typeface="Arial" pitchFamily="34" charset="0"/>
              </a:rPr>
              <a:t>IGBT</a:t>
            </a:r>
            <a:r>
              <a:rPr lang="zh-CN" altLang="en-US" sz="2400" dirty="0">
                <a:latin typeface="Arial" pitchFamily="34" charset="0"/>
              </a:rPr>
              <a:t>比</a:t>
            </a:r>
            <a:r>
              <a:rPr lang="en-US" altLang="zh-CN" sz="2400" b="1" dirty="0">
                <a:solidFill>
                  <a:srgbClr val="FF0000"/>
                </a:solidFill>
                <a:latin typeface="Arial" pitchFamily="34" charset="0"/>
              </a:rPr>
              <a:t>VDMOSFET</a:t>
            </a:r>
            <a:r>
              <a:rPr lang="zh-CN" altLang="en-US" sz="2400" b="1" dirty="0">
                <a:solidFill>
                  <a:srgbClr val="FF0000"/>
                </a:solidFill>
                <a:latin typeface="Arial" pitchFamily="34" charset="0"/>
              </a:rPr>
              <a:t>多一层</a:t>
            </a:r>
            <a:r>
              <a:rPr lang="en-US" altLang="zh-CN" sz="2400" b="1" dirty="0">
                <a:solidFill>
                  <a:srgbClr val="FF0000"/>
                </a:solidFill>
                <a:latin typeface="Arial" pitchFamily="34" charset="0"/>
              </a:rPr>
              <a:t>P</a:t>
            </a:r>
            <a:r>
              <a:rPr lang="en-US" altLang="zh-CN" sz="2400" b="1" baseline="30000" dirty="0">
                <a:solidFill>
                  <a:srgbClr val="FF0000"/>
                </a:solidFill>
                <a:latin typeface="Arial" pitchFamily="34" charset="0"/>
              </a:rPr>
              <a:t>+</a:t>
            </a:r>
            <a:r>
              <a:rPr lang="zh-CN" altLang="en-US" sz="2400" b="1" dirty="0">
                <a:solidFill>
                  <a:srgbClr val="FF0000"/>
                </a:solidFill>
                <a:latin typeface="Arial" pitchFamily="34" charset="0"/>
              </a:rPr>
              <a:t>注入区</a:t>
            </a:r>
            <a:r>
              <a:rPr lang="zh-CN" altLang="en-US" sz="2400" dirty="0">
                <a:latin typeface="Arial" pitchFamily="34" charset="0"/>
              </a:rPr>
              <a:t>，形成一个大面积的</a:t>
            </a:r>
            <a:r>
              <a:rPr lang="en-US" altLang="zh-CN" sz="2400" b="1" dirty="0">
                <a:solidFill>
                  <a:srgbClr val="FF0000"/>
                </a:solidFill>
                <a:latin typeface="Arial" pitchFamily="34" charset="0"/>
              </a:rPr>
              <a:t>P</a:t>
            </a:r>
            <a:r>
              <a:rPr lang="en-US" altLang="zh-CN" sz="2400" b="1" baseline="30000" dirty="0">
                <a:solidFill>
                  <a:srgbClr val="FF0000"/>
                </a:solidFill>
                <a:latin typeface="Arial" pitchFamily="34" charset="0"/>
              </a:rPr>
              <a:t>+</a:t>
            </a:r>
            <a:r>
              <a:rPr lang="en-US" altLang="zh-CN" sz="2400" dirty="0">
                <a:solidFill>
                  <a:srgbClr val="FF0000"/>
                </a:solidFill>
                <a:latin typeface="Arial" pitchFamily="34" charset="0"/>
              </a:rPr>
              <a:t>N</a:t>
            </a:r>
            <a:r>
              <a:rPr lang="zh-CN" altLang="en-US" sz="2400" dirty="0">
                <a:solidFill>
                  <a:srgbClr val="FF0000"/>
                </a:solidFill>
                <a:latin typeface="Arial" pitchFamily="34" charset="0"/>
              </a:rPr>
              <a:t>节</a:t>
            </a:r>
            <a:r>
              <a:rPr lang="en-US" altLang="zh-CN" sz="2400" dirty="0">
                <a:solidFill>
                  <a:srgbClr val="FF0000"/>
                </a:solidFill>
                <a:latin typeface="Arial" pitchFamily="34" charset="0"/>
              </a:rPr>
              <a:t>J</a:t>
            </a:r>
            <a:r>
              <a:rPr lang="en-US" altLang="zh-CN" sz="2200" baseline="-30000" dirty="0">
                <a:latin typeface="Arial" pitchFamily="34" charset="0"/>
              </a:rPr>
              <a:t>1</a:t>
            </a:r>
            <a:r>
              <a:rPr lang="zh-CN" altLang="en-US" sz="2000" dirty="0">
                <a:latin typeface="Arial" pitchFamily="34" charset="0"/>
              </a:rPr>
              <a:t> 。</a:t>
            </a:r>
            <a:endParaRPr lang="en-US" altLang="zh-CN" sz="2200" baseline="-30000" dirty="0">
              <a:latin typeface="Arial" pitchFamily="34" charset="0"/>
            </a:endParaRPr>
          </a:p>
          <a:p>
            <a:pPr marL="457200" lvl="1" indent="0" algn="just">
              <a:spcBef>
                <a:spcPct val="35000"/>
              </a:spcBef>
              <a:buNone/>
            </a:pPr>
            <a:r>
              <a:rPr lang="en-US" altLang="zh-CN" sz="2400" dirty="0">
                <a:latin typeface="Arial" pitchFamily="34" charset="0"/>
              </a:rPr>
              <a:t>       </a:t>
            </a:r>
            <a:r>
              <a:rPr lang="zh-CN" altLang="en-US" sz="2400" dirty="0">
                <a:solidFill>
                  <a:srgbClr val="9900FF"/>
                </a:solidFill>
                <a:latin typeface="Arial" pitchFamily="34" charset="0"/>
              </a:rPr>
              <a:t>作用：</a:t>
            </a:r>
            <a:r>
              <a:rPr lang="en-US" altLang="zh-CN" sz="2400" dirty="0">
                <a:latin typeface="Arial" pitchFamily="34" charset="0"/>
              </a:rPr>
              <a:t>IGBT</a:t>
            </a:r>
            <a:r>
              <a:rPr lang="zh-CN" altLang="en-US" sz="2400" dirty="0">
                <a:latin typeface="Arial" pitchFamily="34" charset="0"/>
              </a:rPr>
              <a:t>导通时</a:t>
            </a:r>
            <a:r>
              <a:rPr lang="en-US" altLang="zh-CN" sz="2400" dirty="0">
                <a:latin typeface="Arial" pitchFamily="34" charset="0"/>
              </a:rPr>
              <a:t>P</a:t>
            </a:r>
            <a:r>
              <a:rPr lang="en-US" altLang="zh-CN" sz="2400" baseline="30000" dirty="0">
                <a:latin typeface="Arial" pitchFamily="34" charset="0"/>
              </a:rPr>
              <a:t>+</a:t>
            </a:r>
            <a:r>
              <a:rPr lang="en-US" altLang="zh-CN" sz="2400" dirty="0">
                <a:latin typeface="Arial" pitchFamily="34" charset="0"/>
              </a:rPr>
              <a:t> </a:t>
            </a:r>
            <a:r>
              <a:rPr lang="zh-CN" altLang="en-US" sz="2400" dirty="0">
                <a:latin typeface="Arial" pitchFamily="34" charset="0"/>
              </a:rPr>
              <a:t>往</a:t>
            </a:r>
            <a:r>
              <a:rPr lang="en-US" altLang="zh-CN" sz="2400" dirty="0">
                <a:latin typeface="Arial" pitchFamily="34" charset="0"/>
              </a:rPr>
              <a:t>N</a:t>
            </a:r>
            <a:r>
              <a:rPr lang="en-US" altLang="zh-CN" sz="2400" baseline="30000" dirty="0">
                <a:latin typeface="Arial" pitchFamily="34" charset="0"/>
              </a:rPr>
              <a:t>-</a:t>
            </a:r>
            <a:r>
              <a:rPr lang="zh-CN" altLang="en-US" sz="2400" dirty="0">
                <a:latin typeface="Arial" pitchFamily="34" charset="0"/>
              </a:rPr>
              <a:t>漂移区发射少子，对漂移区电阻率进行调制</a:t>
            </a:r>
            <a:r>
              <a:rPr lang="zh-CN" altLang="en-US" sz="2400" b="1" dirty="0">
                <a:solidFill>
                  <a:srgbClr val="FF0000"/>
                </a:solidFill>
                <a:latin typeface="Arial" pitchFamily="34" charset="0"/>
              </a:rPr>
              <a:t>（电导调制效应）</a:t>
            </a:r>
            <a:r>
              <a:rPr lang="zh-CN" altLang="en-US" sz="2400" dirty="0">
                <a:latin typeface="Arial" pitchFamily="34" charset="0"/>
              </a:rPr>
              <a:t>，使</a:t>
            </a:r>
            <a:r>
              <a:rPr lang="en-US" altLang="zh-CN" sz="2400" dirty="0">
                <a:latin typeface="Arial" pitchFamily="34" charset="0"/>
              </a:rPr>
              <a:t>IGBT </a:t>
            </a:r>
            <a:r>
              <a:rPr lang="zh-CN" altLang="en-US" sz="2400" dirty="0">
                <a:latin typeface="Arial" pitchFamily="34" charset="0"/>
              </a:rPr>
              <a:t>具备较大的通流能力，解决电力</a:t>
            </a:r>
            <a:r>
              <a:rPr lang="en-US" altLang="zh-CN" sz="2400" dirty="0">
                <a:latin typeface="Arial" pitchFamily="34" charset="0"/>
              </a:rPr>
              <a:t>MOSFTE</a:t>
            </a:r>
            <a:r>
              <a:rPr lang="zh-CN" altLang="en-US" sz="2400" dirty="0">
                <a:latin typeface="Arial" pitchFamily="34" charset="0"/>
              </a:rPr>
              <a:t>中追求高耐压与低通态电阻之间的矛盾。</a:t>
            </a:r>
          </a:p>
          <a:p>
            <a:pPr lvl="1" algn="just">
              <a:spcBef>
                <a:spcPct val="35000"/>
              </a:spcBef>
              <a:buFontTx/>
              <a:buBlip>
                <a:blip r:embed="rId3"/>
              </a:buBlip>
            </a:pPr>
            <a:endParaRPr lang="zh-CN" altLang="en-US" sz="3100" dirty="0">
              <a:latin typeface="Arial" pitchFamily="34" charset="0"/>
            </a:endParaRPr>
          </a:p>
          <a:p>
            <a:pPr lvl="1" algn="just">
              <a:spcBef>
                <a:spcPct val="35000"/>
              </a:spcBef>
              <a:buFontTx/>
              <a:buBlip>
                <a:blip r:embed="rId3"/>
              </a:buBlip>
            </a:pPr>
            <a:endParaRPr lang="en-US" altLang="zh-CN" sz="3100" dirty="0">
              <a:latin typeface="Arial" pitchFamily="34" charset="0"/>
            </a:endParaRPr>
          </a:p>
        </p:txBody>
      </p:sp>
      <p:sp>
        <p:nvSpPr>
          <p:cNvPr id="2" name="灯片编号占位符 1"/>
          <p:cNvSpPr>
            <a:spLocks noGrp="1"/>
          </p:cNvSpPr>
          <p:nvPr>
            <p:ph type="sldNum" sz="quarter" idx="12"/>
          </p:nvPr>
        </p:nvSpPr>
        <p:spPr/>
        <p:txBody>
          <a:bodyPr/>
          <a:lstStyle/>
          <a:p>
            <a:fld id="{0C913308-F349-4B6D-A68A-DD1791B4A57B}" type="slidenum">
              <a:rPr lang="zh-CN" altLang="en-US" smtClean="0"/>
              <a:t>4</a:t>
            </a:fld>
            <a:endParaRPr lang="zh-CN" altLang="en-US"/>
          </a:p>
        </p:txBody>
      </p:sp>
      <p:pic>
        <p:nvPicPr>
          <p:cNvPr id="3" name="图片 2"/>
          <p:cNvPicPr>
            <a:picLocks noChangeAspect="1"/>
          </p:cNvPicPr>
          <p:nvPr/>
        </p:nvPicPr>
        <p:blipFill>
          <a:blip r:embed="rId4"/>
          <a:stretch>
            <a:fillRect/>
          </a:stretch>
        </p:blipFill>
        <p:spPr>
          <a:xfrm>
            <a:off x="3352967" y="3540230"/>
            <a:ext cx="3190875" cy="2686050"/>
          </a:xfrm>
          <a:prstGeom prst="rect">
            <a:avLst/>
          </a:prstGeom>
        </p:spPr>
      </p:pic>
      <p:sp>
        <p:nvSpPr>
          <p:cNvPr id="4" name="日期占位符 3"/>
          <p:cNvSpPr>
            <a:spLocks noGrp="1"/>
          </p:cNvSpPr>
          <p:nvPr>
            <p:ph type="dt" sz="half" idx="10"/>
          </p:nvPr>
        </p:nvSpPr>
        <p:spPr/>
        <p:txBody>
          <a:bodyPr/>
          <a:lstStyle/>
          <a:p>
            <a:fld id="{FCE0044A-C12A-41B7-BB3C-A596050C1A17}" type="datetime10">
              <a:rPr lang="zh-CN" altLang="en-US" smtClean="0"/>
              <a:t>14:22</a:t>
            </a:fld>
            <a:endParaRPr lang="zh-CN" altLang="en-US"/>
          </a:p>
        </p:txBody>
      </p:sp>
    </p:spTree>
    <p:extLst>
      <p:ext uri="{BB962C8B-B14F-4D97-AF65-F5344CB8AC3E}">
        <p14:creationId xmlns:p14="http://schemas.microsoft.com/office/powerpoint/2010/main" val="39905957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98339">
                                            <p:txEl>
                                              <p:pRg st="0" end="0"/>
                                            </p:txEl>
                                          </p:spTgt>
                                        </p:tgtEl>
                                        <p:attrNameLst>
                                          <p:attrName>style.visibility</p:attrName>
                                        </p:attrNameLst>
                                      </p:cBhvr>
                                      <p:to>
                                        <p:strVal val="visible"/>
                                      </p:to>
                                    </p:set>
                                    <p:animEffect transition="in" filter="blinds(horizontal)">
                                      <p:cBhvr>
                                        <p:cTn id="7" dur="500"/>
                                        <p:tgtEl>
                                          <p:spTgt spid="39833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98339">
                                            <p:txEl>
                                              <p:pRg st="1" end="1"/>
                                            </p:txEl>
                                          </p:spTgt>
                                        </p:tgtEl>
                                        <p:attrNameLst>
                                          <p:attrName>style.visibility</p:attrName>
                                        </p:attrNameLst>
                                      </p:cBhvr>
                                      <p:to>
                                        <p:strVal val="visible"/>
                                      </p:to>
                                    </p:set>
                                    <p:animEffect transition="in" filter="blinds(horizontal)">
                                      <p:cBhvr>
                                        <p:cTn id="12" dur="500"/>
                                        <p:tgtEl>
                                          <p:spTgt spid="398339">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8339" grpId="0" build="p" bldLvl="2" autoUpdateAnimBg="0"/>
    </p:bldLst>
  </p:timing>
</p:sld>
</file>

<file path=ppt/slides/slide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1922" name="Rectangle 2"/>
          <p:cNvSpPr>
            <a:spLocks noGrp="1" noChangeArrowheads="1"/>
          </p:cNvSpPr>
          <p:nvPr>
            <p:ph type="title"/>
          </p:nvPr>
        </p:nvSpPr>
        <p:spPr/>
        <p:txBody>
          <a:bodyPr/>
          <a:lstStyle/>
          <a:p>
            <a:r>
              <a:rPr lang="en-US" altLang="zh-CN" sz="3600" b="1">
                <a:latin typeface="Arial" pitchFamily="34" charset="0"/>
              </a:rPr>
              <a:t>2.4.4</a:t>
            </a:r>
            <a:r>
              <a:rPr lang="en-US" altLang="zh-CN" sz="3600" b="1">
                <a:latin typeface="华文中宋" pitchFamily="2" charset="-122"/>
              </a:rPr>
              <a:t>    </a:t>
            </a:r>
            <a:r>
              <a:rPr lang="zh-CN" altLang="en-US" sz="3600" b="1">
                <a:latin typeface="华文中宋" pitchFamily="2" charset="-122"/>
              </a:rPr>
              <a:t>绝缘栅双极晶体管</a:t>
            </a:r>
            <a:endParaRPr lang="zh-CN" altLang="en-US" sz="3200" b="1">
              <a:solidFill>
                <a:schemeClr val="bg1"/>
              </a:solidFill>
              <a:latin typeface="华文中宋" pitchFamily="2" charset="-122"/>
            </a:endParaRPr>
          </a:p>
        </p:txBody>
      </p:sp>
      <p:sp>
        <p:nvSpPr>
          <p:cNvPr id="81924" name="Rectangle 4"/>
          <p:cNvSpPr>
            <a:spLocks noGrp="1" noChangeArrowheads="1"/>
          </p:cNvSpPr>
          <p:nvPr>
            <p:ph type="body" idx="1"/>
          </p:nvPr>
        </p:nvSpPr>
        <p:spPr>
          <a:xfrm>
            <a:off x="838200" y="908720"/>
            <a:ext cx="7848872" cy="2954337"/>
          </a:xfrm>
          <a:noFill/>
          <a:ln/>
        </p:spPr>
        <p:txBody>
          <a:bodyPr/>
          <a:lstStyle/>
          <a:p>
            <a:pPr lvl="1" algn="just">
              <a:lnSpc>
                <a:spcPct val="120000"/>
              </a:lnSpc>
              <a:spcBef>
                <a:spcPct val="50000"/>
              </a:spcBef>
              <a:buClr>
                <a:schemeClr val="accent1"/>
              </a:buClr>
              <a:buFont typeface="Wingdings" pitchFamily="2" charset="2"/>
              <a:buNone/>
            </a:pPr>
            <a:r>
              <a:rPr lang="zh-CN" altLang="en-US" sz="2400" dirty="0"/>
              <a:t>两类器件取长补短结合而成的复合器件</a:t>
            </a:r>
            <a:r>
              <a:rPr lang="en-US" altLang="zh-CN" sz="2400" dirty="0"/>
              <a:t>—</a:t>
            </a:r>
            <a:r>
              <a:rPr lang="en-US" altLang="zh-CN" sz="2400" dirty="0">
                <a:latin typeface="Arial" pitchFamily="34" charset="0"/>
              </a:rPr>
              <a:t>Bi-MOS</a:t>
            </a:r>
            <a:r>
              <a:rPr lang="zh-CN" altLang="en-US" sz="2400" dirty="0"/>
              <a:t>器件</a:t>
            </a:r>
          </a:p>
          <a:p>
            <a:pPr algn="just">
              <a:lnSpc>
                <a:spcPct val="110000"/>
              </a:lnSpc>
              <a:spcBef>
                <a:spcPct val="50000"/>
              </a:spcBef>
              <a:buFont typeface="Wingdings" pitchFamily="2" charset="2"/>
              <a:buBlip>
                <a:blip r:embed="rId3"/>
              </a:buBlip>
            </a:pPr>
            <a:r>
              <a:rPr lang="zh-CN" altLang="en-US" sz="2400" b="1" dirty="0">
                <a:solidFill>
                  <a:srgbClr val="FF0000"/>
                </a:solidFill>
              </a:rPr>
              <a:t>绝缘栅双极晶体管</a:t>
            </a:r>
            <a:r>
              <a:rPr lang="zh-CN" altLang="en-US" sz="2400" dirty="0"/>
              <a:t>（</a:t>
            </a:r>
            <a:r>
              <a:rPr lang="en-US" altLang="zh-CN" sz="2400" dirty="0">
                <a:latin typeface="Arial" pitchFamily="34" charset="0"/>
              </a:rPr>
              <a:t>Insulated-gate Bipolar Transistor—</a:t>
            </a:r>
            <a:r>
              <a:rPr lang="en-US" altLang="zh-CN" sz="2400" b="1" dirty="0">
                <a:latin typeface="Arial" pitchFamily="34" charset="0"/>
              </a:rPr>
              <a:t>IGBT</a:t>
            </a:r>
            <a:r>
              <a:rPr lang="zh-CN" altLang="en-US" sz="2400" dirty="0">
                <a:latin typeface="Arial" pitchFamily="34" charset="0"/>
              </a:rPr>
              <a:t>）</a:t>
            </a:r>
            <a:endParaRPr lang="en-US" altLang="zh-CN" sz="2400" dirty="0">
              <a:latin typeface="Arial" pitchFamily="34" charset="0"/>
            </a:endParaRPr>
          </a:p>
          <a:p>
            <a:pPr algn="just">
              <a:lnSpc>
                <a:spcPct val="110000"/>
              </a:lnSpc>
              <a:spcBef>
                <a:spcPct val="50000"/>
              </a:spcBef>
              <a:buFont typeface="Wingdings" pitchFamily="2" charset="2"/>
              <a:buBlip>
                <a:blip r:embed="rId3"/>
              </a:buBlip>
            </a:pPr>
            <a:r>
              <a:rPr lang="en-US" altLang="zh-CN" sz="2400" b="1" dirty="0">
                <a:solidFill>
                  <a:srgbClr val="FF0000"/>
                </a:solidFill>
                <a:latin typeface="Arial" pitchFamily="34" charset="0"/>
              </a:rPr>
              <a:t>GTR</a:t>
            </a:r>
            <a:r>
              <a:rPr lang="zh-CN" altLang="en-US" sz="2400" b="1" dirty="0">
                <a:solidFill>
                  <a:srgbClr val="FF0000"/>
                </a:solidFill>
                <a:latin typeface="Arial" pitchFamily="34" charset="0"/>
              </a:rPr>
              <a:t>和</a:t>
            </a:r>
            <a:r>
              <a:rPr lang="en-US" altLang="zh-CN" sz="2400" b="1" dirty="0">
                <a:solidFill>
                  <a:srgbClr val="FF0000"/>
                </a:solidFill>
                <a:latin typeface="Arial" pitchFamily="34" charset="0"/>
              </a:rPr>
              <a:t>MOSFET</a:t>
            </a:r>
            <a:r>
              <a:rPr lang="zh-CN" altLang="en-US" sz="2400" b="1" dirty="0">
                <a:solidFill>
                  <a:srgbClr val="FF0000"/>
                </a:solidFill>
              </a:rPr>
              <a:t>复合</a:t>
            </a:r>
            <a:r>
              <a:rPr lang="zh-CN" altLang="en-US" sz="2400" dirty="0"/>
              <a:t>，结合二者的优点</a:t>
            </a:r>
            <a:r>
              <a:rPr lang="zh-CN" altLang="en-US" sz="2800" dirty="0"/>
              <a:t>。</a:t>
            </a:r>
            <a:r>
              <a:rPr lang="en-US" altLang="zh-CN" sz="2400" dirty="0">
                <a:latin typeface="Arial" pitchFamily="34" charset="0"/>
              </a:rPr>
              <a:t>1986</a:t>
            </a:r>
            <a:r>
              <a:rPr lang="zh-CN" altLang="en-US" sz="2400" dirty="0"/>
              <a:t>年投入市场，是中小功率电力电子设备的主导器件。</a:t>
            </a:r>
          </a:p>
        </p:txBody>
      </p:sp>
      <p:sp>
        <p:nvSpPr>
          <p:cNvPr id="2" name="灯片编号占位符 1"/>
          <p:cNvSpPr>
            <a:spLocks noGrp="1"/>
          </p:cNvSpPr>
          <p:nvPr>
            <p:ph type="sldNum" sz="quarter" idx="12"/>
          </p:nvPr>
        </p:nvSpPr>
        <p:spPr/>
        <p:txBody>
          <a:bodyPr/>
          <a:lstStyle/>
          <a:p>
            <a:fld id="{0C913308-F349-4B6D-A68A-DD1791B4A57B}" type="slidenum">
              <a:rPr lang="zh-CN" altLang="en-US" smtClean="0"/>
              <a:t>5</a:t>
            </a:fld>
            <a:endParaRPr lang="zh-CN" altLang="en-US"/>
          </a:p>
        </p:txBody>
      </p:sp>
      <p:sp>
        <p:nvSpPr>
          <p:cNvPr id="3" name="日期占位符 2"/>
          <p:cNvSpPr>
            <a:spLocks noGrp="1"/>
          </p:cNvSpPr>
          <p:nvPr>
            <p:ph type="dt" sz="half" idx="10"/>
          </p:nvPr>
        </p:nvSpPr>
        <p:spPr/>
        <p:txBody>
          <a:bodyPr/>
          <a:lstStyle/>
          <a:p>
            <a:fld id="{EB106543-7322-44EE-9168-CAEDCE2849DA}" type="datetime10">
              <a:rPr lang="zh-CN" altLang="en-US" smtClean="0"/>
              <a:t>14:22</a:t>
            </a:fld>
            <a:endParaRPr lang="zh-CN" altLang="en-US"/>
          </a:p>
        </p:txBody>
      </p:sp>
    </p:spTree>
    <p:extLst>
      <p:ext uri="{BB962C8B-B14F-4D97-AF65-F5344CB8AC3E}">
        <p14:creationId xmlns:p14="http://schemas.microsoft.com/office/powerpoint/2010/main" val="354673800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 presetClass="entr" presetSubtype="10" fill="hold" grpId="0" nodeType="withEffect">
                                  <p:stCondLst>
                                    <p:cond delay="0"/>
                                  </p:stCondLst>
                                  <p:childTnLst>
                                    <p:set>
                                      <p:cBhvr>
                                        <p:cTn id="6" dur="1" fill="hold">
                                          <p:stCondLst>
                                            <p:cond delay="0"/>
                                          </p:stCondLst>
                                        </p:cTn>
                                        <p:tgtEl>
                                          <p:spTgt spid="81924">
                                            <p:txEl>
                                              <p:pRg st="0" end="0"/>
                                            </p:txEl>
                                          </p:spTgt>
                                        </p:tgtEl>
                                        <p:attrNameLst>
                                          <p:attrName>style.visibility</p:attrName>
                                        </p:attrNameLst>
                                      </p:cBhvr>
                                      <p:to>
                                        <p:strVal val="visible"/>
                                      </p:to>
                                    </p:set>
                                    <p:animEffect transition="in" filter="blinds(horizontal)">
                                      <p:cBhvr>
                                        <p:cTn id="7" dur="500"/>
                                        <p:tgtEl>
                                          <p:spTgt spid="81924">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81924">
                                            <p:txEl>
                                              <p:pRg st="1" end="1"/>
                                            </p:txEl>
                                          </p:spTgt>
                                        </p:tgtEl>
                                        <p:attrNameLst>
                                          <p:attrName>style.visibility</p:attrName>
                                        </p:attrNameLst>
                                      </p:cBhvr>
                                      <p:to>
                                        <p:strVal val="visible"/>
                                      </p:to>
                                    </p:set>
                                    <p:animEffect transition="in" filter="blinds(horizontal)">
                                      <p:cBhvr>
                                        <p:cTn id="12" dur="500"/>
                                        <p:tgtEl>
                                          <p:spTgt spid="8192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81924">
                                            <p:txEl>
                                              <p:pRg st="2" end="2"/>
                                            </p:txEl>
                                          </p:spTgt>
                                        </p:tgtEl>
                                        <p:attrNameLst>
                                          <p:attrName>style.visibility</p:attrName>
                                        </p:attrNameLst>
                                      </p:cBhvr>
                                      <p:to>
                                        <p:strVal val="visible"/>
                                      </p:to>
                                    </p:set>
                                    <p:animEffect transition="in" filter="blinds(horizontal)">
                                      <p:cBhvr>
                                        <p:cTn id="17" dur="500"/>
                                        <p:tgtEl>
                                          <p:spTgt spid="81924">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924" grpId="0" build="p" autoUpdateAnimBg="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6178" name="Rectangle 2"/>
          <p:cNvSpPr>
            <a:spLocks noChangeArrowheads="1"/>
          </p:cNvSpPr>
          <p:nvPr/>
        </p:nvSpPr>
        <p:spPr bwMode="auto">
          <a:xfrm>
            <a:off x="762000" y="44624"/>
            <a:ext cx="7772400"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nSpc>
                <a:spcPct val="100000"/>
              </a:lnSpc>
            </a:pPr>
            <a:r>
              <a:rPr lang="en-US" altLang="zh-CN" sz="2800" b="1" dirty="0">
                <a:solidFill>
                  <a:srgbClr val="FF9900"/>
                </a:solidFill>
                <a:latin typeface="Times New Roman" pitchFamily="18" charset="0"/>
                <a:ea typeface="黑体" pitchFamily="49" charset="-122"/>
              </a:rPr>
              <a:t> </a:t>
            </a:r>
            <a:r>
              <a:rPr lang="en-US" altLang="zh-CN" sz="2800" b="1" dirty="0">
                <a:solidFill>
                  <a:schemeClr val="accent2"/>
                </a:solidFill>
                <a:latin typeface="Times New Roman" pitchFamily="18" charset="0"/>
                <a:ea typeface="黑体" pitchFamily="49" charset="-122"/>
              </a:rPr>
              <a:t>IGBT</a:t>
            </a:r>
            <a:r>
              <a:rPr lang="zh-CN" altLang="en-US" sz="2800" b="1" dirty="0">
                <a:solidFill>
                  <a:schemeClr val="accent2"/>
                </a:solidFill>
                <a:latin typeface="Times New Roman" pitchFamily="18" charset="0"/>
                <a:ea typeface="黑体" pitchFamily="49" charset="-122"/>
              </a:rPr>
              <a:t>绝缘栅极双极晶体管（特点）</a:t>
            </a:r>
          </a:p>
        </p:txBody>
      </p:sp>
      <p:sp>
        <p:nvSpPr>
          <p:cNvPr id="306179" name="Rectangle 3"/>
          <p:cNvSpPr>
            <a:spLocks noChangeArrowheads="1"/>
          </p:cNvSpPr>
          <p:nvPr/>
        </p:nvSpPr>
        <p:spPr bwMode="auto">
          <a:xfrm>
            <a:off x="685800" y="1295400"/>
            <a:ext cx="3810000" cy="4800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342900" indent="-342900">
              <a:lnSpc>
                <a:spcPct val="100000"/>
              </a:lnSpc>
              <a:spcBef>
                <a:spcPct val="20000"/>
              </a:spcBef>
              <a:buFontTx/>
              <a:buChar char="•"/>
            </a:pPr>
            <a:r>
              <a:rPr lang="zh-CN" altLang="en-US" sz="2800" dirty="0">
                <a:latin typeface="Times New Roman" pitchFamily="18" charset="0"/>
              </a:rPr>
              <a:t>开关频率高于</a:t>
            </a:r>
            <a:r>
              <a:rPr lang="en-US" altLang="zh-CN" sz="2800" dirty="0">
                <a:latin typeface="Times New Roman" pitchFamily="18" charset="0"/>
              </a:rPr>
              <a:t>BJT</a:t>
            </a:r>
            <a:r>
              <a:rPr lang="zh-CN" altLang="en-US" sz="2800" dirty="0">
                <a:latin typeface="Times New Roman" pitchFamily="18" charset="0"/>
              </a:rPr>
              <a:t>，低于</a:t>
            </a:r>
            <a:r>
              <a:rPr lang="en-US" altLang="zh-CN" sz="2800" dirty="0">
                <a:latin typeface="Times New Roman" pitchFamily="18" charset="0"/>
              </a:rPr>
              <a:t>MOSFET</a:t>
            </a:r>
            <a:r>
              <a:rPr lang="zh-CN" altLang="en-US" sz="2800" dirty="0">
                <a:latin typeface="Times New Roman" pitchFamily="18" charset="0"/>
              </a:rPr>
              <a:t>。导通电阻低于</a:t>
            </a:r>
            <a:r>
              <a:rPr lang="en-US" altLang="zh-CN" sz="2800" dirty="0">
                <a:latin typeface="Times New Roman" pitchFamily="18" charset="0"/>
              </a:rPr>
              <a:t>MOSFET</a:t>
            </a:r>
            <a:r>
              <a:rPr lang="zh-CN" altLang="en-US" sz="2800" dirty="0">
                <a:latin typeface="Times New Roman" pitchFamily="18" charset="0"/>
              </a:rPr>
              <a:t>，与</a:t>
            </a:r>
            <a:r>
              <a:rPr lang="en-US" altLang="zh-CN" sz="2800" dirty="0">
                <a:latin typeface="Times New Roman" pitchFamily="18" charset="0"/>
              </a:rPr>
              <a:t>BJT</a:t>
            </a:r>
            <a:r>
              <a:rPr lang="zh-CN" altLang="en-US" sz="2800" dirty="0">
                <a:latin typeface="Times New Roman" pitchFamily="18" charset="0"/>
              </a:rPr>
              <a:t>相当。</a:t>
            </a:r>
          </a:p>
          <a:p>
            <a:pPr marL="342900" indent="-342900">
              <a:lnSpc>
                <a:spcPct val="100000"/>
              </a:lnSpc>
              <a:spcBef>
                <a:spcPct val="20000"/>
              </a:spcBef>
              <a:buFontTx/>
              <a:buChar char="•"/>
            </a:pPr>
            <a:r>
              <a:rPr lang="zh-CN" altLang="en-US" sz="2800" dirty="0">
                <a:latin typeface="Times New Roman" pitchFamily="18" charset="0"/>
              </a:rPr>
              <a:t>耐压高、电流容量大。</a:t>
            </a:r>
            <a:r>
              <a:rPr lang="en-US" altLang="zh-CN" sz="2800" dirty="0">
                <a:latin typeface="Times New Roman" pitchFamily="18" charset="0"/>
              </a:rPr>
              <a:t>(1.7kV/4.8kA</a:t>
            </a:r>
            <a:r>
              <a:rPr lang="zh-CN" altLang="en-US" sz="2800" dirty="0">
                <a:latin typeface="Times New Roman" pitchFamily="18" charset="0"/>
              </a:rPr>
              <a:t>，</a:t>
            </a:r>
            <a:r>
              <a:rPr lang="en-US" altLang="zh-CN" sz="2800" dirty="0">
                <a:latin typeface="Times New Roman" pitchFamily="18" charset="0"/>
              </a:rPr>
              <a:t>6.5kV/600A)</a:t>
            </a:r>
          </a:p>
          <a:p>
            <a:pPr marL="342900" indent="-342900">
              <a:lnSpc>
                <a:spcPct val="100000"/>
              </a:lnSpc>
              <a:spcBef>
                <a:spcPct val="20000"/>
              </a:spcBef>
              <a:buFontTx/>
              <a:buChar char="•"/>
            </a:pPr>
            <a:r>
              <a:rPr lang="en-US" altLang="zh-CN" sz="2800" dirty="0">
                <a:latin typeface="Times New Roman" pitchFamily="18" charset="0"/>
              </a:rPr>
              <a:t>IGBT</a:t>
            </a:r>
            <a:r>
              <a:rPr lang="zh-CN" altLang="en-US" sz="2800" dirty="0">
                <a:latin typeface="Times New Roman" pitchFamily="18" charset="0"/>
              </a:rPr>
              <a:t>由若干独立的单元并联组成。</a:t>
            </a:r>
          </a:p>
        </p:txBody>
      </p:sp>
      <p:graphicFrame>
        <p:nvGraphicFramePr>
          <p:cNvPr id="306180" name="Object 4"/>
          <p:cNvGraphicFramePr>
            <a:graphicFrameLocks noChangeAspect="1"/>
          </p:cNvGraphicFramePr>
          <p:nvPr/>
        </p:nvGraphicFramePr>
        <p:xfrm>
          <a:off x="4648200" y="2362200"/>
          <a:ext cx="3810000" cy="2778125"/>
        </p:xfrm>
        <a:graphic>
          <a:graphicData uri="http://schemas.openxmlformats.org/presentationml/2006/ole">
            <mc:AlternateContent xmlns:mc="http://schemas.openxmlformats.org/markup-compatibility/2006">
              <mc:Choice xmlns:v="urn:schemas-microsoft-com:vml" Requires="v">
                <p:oleObj spid="_x0000_s15720" name="Photo Editor 照片" r:id="rId3" imgW="6857143" imgH="5001323" progId="MSPhotoEd.3">
                  <p:embed/>
                </p:oleObj>
              </mc:Choice>
              <mc:Fallback>
                <p:oleObj name="Photo Editor 照片" r:id="rId3" imgW="6857143" imgH="5001323" progId="MSPhotoEd.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648200" y="2362200"/>
                        <a:ext cx="3810000" cy="2778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 name="灯片编号占位符 1"/>
          <p:cNvSpPr>
            <a:spLocks noGrp="1"/>
          </p:cNvSpPr>
          <p:nvPr>
            <p:ph type="sldNum" sz="quarter" idx="12"/>
          </p:nvPr>
        </p:nvSpPr>
        <p:spPr/>
        <p:txBody>
          <a:bodyPr/>
          <a:lstStyle/>
          <a:p>
            <a:fld id="{0C913308-F349-4B6D-A68A-DD1791B4A57B}" type="slidenum">
              <a:rPr lang="zh-CN" altLang="en-US" smtClean="0"/>
              <a:t>6</a:t>
            </a:fld>
            <a:endParaRPr lang="zh-CN" altLang="en-US"/>
          </a:p>
        </p:txBody>
      </p:sp>
      <p:sp>
        <p:nvSpPr>
          <p:cNvPr id="3" name="日期占位符 2"/>
          <p:cNvSpPr>
            <a:spLocks noGrp="1"/>
          </p:cNvSpPr>
          <p:nvPr>
            <p:ph type="dt" sz="half" idx="10"/>
          </p:nvPr>
        </p:nvSpPr>
        <p:spPr/>
        <p:txBody>
          <a:bodyPr/>
          <a:lstStyle/>
          <a:p>
            <a:fld id="{41A8E902-3526-447B-AF68-2841C3218853}" type="datetime10">
              <a:rPr lang="zh-CN" altLang="en-US" smtClean="0"/>
              <a:t>14:22</a:t>
            </a:fld>
            <a:endParaRPr lang="zh-CN" altLang="en-US"/>
          </a:p>
        </p:txBody>
      </p:sp>
    </p:spTree>
    <p:extLst>
      <p:ext uri="{BB962C8B-B14F-4D97-AF65-F5344CB8AC3E}">
        <p14:creationId xmlns:p14="http://schemas.microsoft.com/office/powerpoint/2010/main" val="19711374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6290" name="Rectangle 2"/>
          <p:cNvSpPr>
            <a:spLocks noGrp="1" noChangeArrowheads="1"/>
          </p:cNvSpPr>
          <p:nvPr>
            <p:ph type="title"/>
          </p:nvPr>
        </p:nvSpPr>
        <p:spPr/>
        <p:txBody>
          <a:bodyPr/>
          <a:lstStyle/>
          <a:p>
            <a:r>
              <a:rPr lang="en-US" altLang="zh-CN" sz="4000" b="1" dirty="0">
                <a:latin typeface="Arial" pitchFamily="34" charset="0"/>
              </a:rPr>
              <a:t>IGBT</a:t>
            </a:r>
            <a:r>
              <a:rPr lang="zh-CN" altLang="en-US" sz="4000" b="1" dirty="0">
                <a:latin typeface="Arial" pitchFamily="34" charset="0"/>
              </a:rPr>
              <a:t>的结构（外形）</a:t>
            </a:r>
          </a:p>
        </p:txBody>
      </p:sp>
      <p:sp>
        <p:nvSpPr>
          <p:cNvPr id="396291" name="Rectangle 3"/>
          <p:cNvSpPr>
            <a:spLocks noGrp="1" noChangeArrowheads="1"/>
          </p:cNvSpPr>
          <p:nvPr>
            <p:ph type="body" idx="1"/>
          </p:nvPr>
        </p:nvSpPr>
        <p:spPr>
          <a:xfrm>
            <a:off x="323528" y="850106"/>
            <a:ext cx="8891588" cy="2214563"/>
          </a:xfrm>
          <a:noFill/>
          <a:ln/>
        </p:spPr>
        <p:txBody>
          <a:bodyPr/>
          <a:lstStyle/>
          <a:p>
            <a:pPr lvl="1" algn="just">
              <a:lnSpc>
                <a:spcPct val="90000"/>
              </a:lnSpc>
              <a:buFont typeface="Wingdings" pitchFamily="2" charset="2"/>
              <a:buBlip>
                <a:blip r:embed="rId3"/>
              </a:buBlip>
            </a:pPr>
            <a:r>
              <a:rPr lang="zh-CN" altLang="en-US" sz="2200" dirty="0">
                <a:latin typeface="Arial" pitchFamily="34" charset="0"/>
              </a:rPr>
              <a:t>三端器件：</a:t>
            </a:r>
            <a:r>
              <a:rPr lang="zh-CN" altLang="en-US" sz="2200" b="1" dirty="0">
                <a:solidFill>
                  <a:srgbClr val="FF0000"/>
                </a:solidFill>
                <a:latin typeface="Arial" pitchFamily="34" charset="0"/>
              </a:rPr>
              <a:t>栅极</a:t>
            </a:r>
            <a:r>
              <a:rPr lang="en-US" altLang="zh-CN" sz="2200" b="1" dirty="0">
                <a:solidFill>
                  <a:srgbClr val="FF0000"/>
                </a:solidFill>
                <a:latin typeface="Arial" pitchFamily="34" charset="0"/>
              </a:rPr>
              <a:t>G</a:t>
            </a:r>
            <a:r>
              <a:rPr lang="zh-CN" altLang="en-US" sz="2200" b="1" dirty="0">
                <a:solidFill>
                  <a:srgbClr val="FF0000"/>
                </a:solidFill>
                <a:latin typeface="Arial" pitchFamily="34" charset="0"/>
              </a:rPr>
              <a:t>、集电极</a:t>
            </a:r>
            <a:r>
              <a:rPr lang="en-US" altLang="zh-CN" sz="2200" b="1" dirty="0">
                <a:solidFill>
                  <a:srgbClr val="FF0000"/>
                </a:solidFill>
                <a:latin typeface="Arial" pitchFamily="34" charset="0"/>
              </a:rPr>
              <a:t>C</a:t>
            </a:r>
            <a:r>
              <a:rPr lang="zh-CN" altLang="en-US" sz="2200" b="1" dirty="0">
                <a:solidFill>
                  <a:srgbClr val="FF0000"/>
                </a:solidFill>
                <a:latin typeface="Arial" pitchFamily="34" charset="0"/>
              </a:rPr>
              <a:t>和发射极</a:t>
            </a:r>
            <a:r>
              <a:rPr lang="en-US" altLang="zh-CN" sz="2200" b="1" dirty="0">
                <a:solidFill>
                  <a:srgbClr val="FF0000"/>
                </a:solidFill>
                <a:latin typeface="Arial" pitchFamily="34" charset="0"/>
              </a:rPr>
              <a:t>E</a:t>
            </a:r>
          </a:p>
        </p:txBody>
      </p:sp>
      <p:sp>
        <p:nvSpPr>
          <p:cNvPr id="2" name="灯片编号占位符 1"/>
          <p:cNvSpPr>
            <a:spLocks noGrp="1"/>
          </p:cNvSpPr>
          <p:nvPr>
            <p:ph type="sldNum" sz="quarter" idx="12"/>
          </p:nvPr>
        </p:nvSpPr>
        <p:spPr/>
        <p:txBody>
          <a:bodyPr/>
          <a:lstStyle/>
          <a:p>
            <a:fld id="{0C913308-F349-4B6D-A68A-DD1791B4A57B}" type="slidenum">
              <a:rPr lang="zh-CN" altLang="en-US" smtClean="0"/>
              <a:t>7</a:t>
            </a:fld>
            <a:endParaRPr lang="zh-CN" altLang="en-US"/>
          </a:p>
        </p:txBody>
      </p:sp>
      <p:sp>
        <p:nvSpPr>
          <p:cNvPr id="7" name="Rectangle 3"/>
          <p:cNvSpPr txBox="1">
            <a:spLocks noChangeArrowheads="1"/>
          </p:cNvSpPr>
          <p:nvPr/>
        </p:nvSpPr>
        <p:spPr bwMode="auto">
          <a:xfrm>
            <a:off x="323528" y="4148975"/>
            <a:ext cx="7776864" cy="5761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har char="•"/>
              <a:defRPr sz="3200">
                <a:solidFill>
                  <a:schemeClr val="tx1"/>
                </a:solidFill>
                <a:latin typeface="+mn-lt"/>
                <a:ea typeface="+mn-ea"/>
                <a:cs typeface="+mn-cs"/>
              </a:defRPr>
            </a:lvl1pPr>
            <a:lvl2pPr marL="742950" indent="-285750" algn="l" rtl="0" eaLnBrk="1" fontAlgn="base" hangingPunct="1">
              <a:spcBef>
                <a:spcPct val="20000"/>
              </a:spcBef>
              <a:spcAft>
                <a:spcPct val="0"/>
              </a:spcAft>
              <a:buChar char="–"/>
              <a:defRPr sz="2800">
                <a:solidFill>
                  <a:schemeClr val="tx1"/>
                </a:solidFill>
                <a:latin typeface="+mn-lt"/>
                <a:ea typeface="+mn-ea"/>
              </a:defRPr>
            </a:lvl2pPr>
            <a:lvl3pPr marL="1143000" indent="-228600" algn="l" rtl="0" eaLnBrk="1" fontAlgn="base" hangingPunct="1">
              <a:spcBef>
                <a:spcPct val="20000"/>
              </a:spcBef>
              <a:spcAft>
                <a:spcPct val="0"/>
              </a:spcAft>
              <a:buChar char="•"/>
              <a:defRPr sz="2400">
                <a:solidFill>
                  <a:schemeClr val="tx1"/>
                </a:solidFill>
                <a:latin typeface="+mn-lt"/>
                <a:ea typeface="+mn-ea"/>
              </a:defRPr>
            </a:lvl3pPr>
            <a:lvl4pPr marL="1600200" indent="-228600" algn="l" rtl="0" eaLnBrk="1" fontAlgn="base" hangingPunct="1">
              <a:spcBef>
                <a:spcPct val="20000"/>
              </a:spcBef>
              <a:spcAft>
                <a:spcPct val="0"/>
              </a:spcAft>
              <a:buChar char="–"/>
              <a:defRPr sz="2000">
                <a:solidFill>
                  <a:schemeClr val="tx1"/>
                </a:solidFill>
                <a:latin typeface="+mn-lt"/>
                <a:ea typeface="+mn-ea"/>
              </a:defRPr>
            </a:lvl4pPr>
            <a:lvl5pPr marL="2057400" indent="-228600" algn="l" rtl="0" eaLnBrk="1" fontAlgn="base" hangingPunct="1">
              <a:spcBef>
                <a:spcPct val="20000"/>
              </a:spcBef>
              <a:spcAft>
                <a:spcPct val="0"/>
              </a:spcAft>
              <a:buChar char="»"/>
              <a:defRPr sz="2000">
                <a:solidFill>
                  <a:schemeClr val="tx1"/>
                </a:solidFill>
                <a:latin typeface="+mn-lt"/>
                <a:ea typeface="+mn-ea"/>
              </a:defRPr>
            </a:lvl5pPr>
            <a:lvl6pPr marL="2514600" indent="-228600" algn="l" rtl="0" eaLnBrk="1" fontAlgn="base" hangingPunct="1">
              <a:spcBef>
                <a:spcPct val="20000"/>
              </a:spcBef>
              <a:spcAft>
                <a:spcPct val="0"/>
              </a:spcAft>
              <a:buChar char="»"/>
              <a:defRPr sz="2000">
                <a:solidFill>
                  <a:schemeClr val="tx1"/>
                </a:solidFill>
                <a:latin typeface="+mn-lt"/>
                <a:ea typeface="+mn-ea"/>
              </a:defRPr>
            </a:lvl6pPr>
            <a:lvl7pPr marL="2971800" indent="-228600" algn="l" rtl="0" eaLnBrk="1" fontAlgn="base" hangingPunct="1">
              <a:spcBef>
                <a:spcPct val="20000"/>
              </a:spcBef>
              <a:spcAft>
                <a:spcPct val="0"/>
              </a:spcAft>
              <a:buChar char="»"/>
              <a:defRPr sz="2000">
                <a:solidFill>
                  <a:schemeClr val="tx1"/>
                </a:solidFill>
                <a:latin typeface="+mn-lt"/>
                <a:ea typeface="+mn-ea"/>
              </a:defRPr>
            </a:lvl7pPr>
            <a:lvl8pPr marL="3429000" indent="-228600" algn="l" rtl="0" eaLnBrk="1" fontAlgn="base" hangingPunct="1">
              <a:spcBef>
                <a:spcPct val="20000"/>
              </a:spcBef>
              <a:spcAft>
                <a:spcPct val="0"/>
              </a:spcAft>
              <a:buChar char="»"/>
              <a:defRPr sz="2000">
                <a:solidFill>
                  <a:schemeClr val="tx1"/>
                </a:solidFill>
                <a:latin typeface="+mn-lt"/>
                <a:ea typeface="+mn-ea"/>
              </a:defRPr>
            </a:lvl8pPr>
            <a:lvl9pPr marL="3886200" indent="-228600" algn="l" rtl="0" eaLnBrk="1" fontAlgn="base" hangingPunct="1">
              <a:spcBef>
                <a:spcPct val="20000"/>
              </a:spcBef>
              <a:spcAft>
                <a:spcPct val="0"/>
              </a:spcAft>
              <a:buChar char="»"/>
              <a:defRPr sz="2000">
                <a:solidFill>
                  <a:schemeClr val="tx1"/>
                </a:solidFill>
                <a:latin typeface="+mn-lt"/>
                <a:ea typeface="+mn-ea"/>
              </a:defRPr>
            </a:lvl9pPr>
          </a:lstStyle>
          <a:p>
            <a:pPr lvl="1" algn="just">
              <a:lnSpc>
                <a:spcPct val="90000"/>
              </a:lnSpc>
              <a:buFont typeface="Wingdings" pitchFamily="2" charset="2"/>
              <a:buBlip>
                <a:blip r:embed="rId3"/>
              </a:buBlip>
            </a:pPr>
            <a:r>
              <a:rPr lang="zh-CN" altLang="en-US" sz="2200" kern="0" dirty="0">
                <a:solidFill>
                  <a:srgbClr val="9900FF"/>
                </a:solidFill>
                <a:latin typeface="Arial" pitchFamily="34" charset="0"/>
              </a:rPr>
              <a:t>图为</a:t>
            </a:r>
            <a:r>
              <a:rPr lang="en-US" altLang="zh-CN" sz="2200" kern="0" dirty="0">
                <a:solidFill>
                  <a:srgbClr val="9900FF"/>
                </a:solidFill>
                <a:latin typeface="Arial" pitchFamily="34" charset="0"/>
              </a:rPr>
              <a:t>N</a:t>
            </a:r>
            <a:r>
              <a:rPr lang="zh-CN" altLang="en-US" sz="2200" kern="0" dirty="0">
                <a:solidFill>
                  <a:srgbClr val="9900FF"/>
                </a:solidFill>
                <a:latin typeface="Arial" pitchFamily="34" charset="0"/>
              </a:rPr>
              <a:t>沟道</a:t>
            </a:r>
            <a:r>
              <a:rPr lang="en-US" altLang="zh-CN" sz="2200" kern="0" dirty="0">
                <a:solidFill>
                  <a:srgbClr val="9900FF"/>
                </a:solidFill>
                <a:latin typeface="Arial" pitchFamily="34" charset="0"/>
              </a:rPr>
              <a:t>VDMOSFET</a:t>
            </a:r>
            <a:r>
              <a:rPr lang="zh-CN" altLang="en-US" sz="2200" kern="0" dirty="0">
                <a:solidFill>
                  <a:srgbClr val="9900FF"/>
                </a:solidFill>
                <a:latin typeface="Arial" pitchFamily="34" charset="0"/>
              </a:rPr>
              <a:t>与</a:t>
            </a:r>
            <a:r>
              <a:rPr lang="en-US" altLang="zh-CN" sz="2200" kern="0" dirty="0">
                <a:solidFill>
                  <a:srgbClr val="9900FF"/>
                </a:solidFill>
                <a:latin typeface="Arial" pitchFamily="34" charset="0"/>
              </a:rPr>
              <a:t>GTR</a:t>
            </a:r>
            <a:r>
              <a:rPr lang="zh-CN" altLang="en-US" sz="2200" kern="0" dirty="0">
                <a:solidFill>
                  <a:srgbClr val="9900FF"/>
                </a:solidFill>
                <a:latin typeface="Arial" pitchFamily="34" charset="0"/>
              </a:rPr>
              <a:t>组合</a:t>
            </a:r>
            <a:r>
              <a:rPr lang="en-US" altLang="zh-CN" sz="2200" kern="0" dirty="0">
                <a:solidFill>
                  <a:srgbClr val="9900FF"/>
                </a:solidFill>
                <a:latin typeface="Arial" pitchFamily="34" charset="0"/>
              </a:rPr>
              <a:t>——N</a:t>
            </a:r>
            <a:r>
              <a:rPr lang="zh-CN" altLang="en-US" sz="2200" kern="0" dirty="0">
                <a:solidFill>
                  <a:srgbClr val="9900FF"/>
                </a:solidFill>
                <a:latin typeface="Arial" pitchFamily="34" charset="0"/>
              </a:rPr>
              <a:t>沟道</a:t>
            </a:r>
            <a:r>
              <a:rPr lang="en-US" altLang="zh-CN" sz="2200" kern="0" dirty="0">
                <a:solidFill>
                  <a:srgbClr val="9900FF"/>
                </a:solidFill>
                <a:latin typeface="Arial" pitchFamily="34" charset="0"/>
              </a:rPr>
              <a:t>IGBT</a:t>
            </a:r>
            <a:r>
              <a:rPr lang="zh-CN" altLang="en-US" sz="2200" kern="0" dirty="0">
                <a:solidFill>
                  <a:srgbClr val="9900FF"/>
                </a:solidFill>
                <a:latin typeface="Arial" pitchFamily="34" charset="0"/>
              </a:rPr>
              <a:t>。</a:t>
            </a:r>
          </a:p>
        </p:txBody>
      </p:sp>
      <p:pic>
        <p:nvPicPr>
          <p:cNvPr id="4" name="图片 3"/>
          <p:cNvPicPr>
            <a:picLocks noChangeAspect="1"/>
          </p:cNvPicPr>
          <p:nvPr/>
        </p:nvPicPr>
        <p:blipFill>
          <a:blip r:embed="rId4"/>
          <a:stretch>
            <a:fillRect/>
          </a:stretch>
        </p:blipFill>
        <p:spPr>
          <a:xfrm>
            <a:off x="3345185" y="1605384"/>
            <a:ext cx="1733550" cy="2219325"/>
          </a:xfrm>
          <a:prstGeom prst="rect">
            <a:avLst/>
          </a:prstGeom>
        </p:spPr>
      </p:pic>
      <p:sp>
        <p:nvSpPr>
          <p:cNvPr id="3" name="日期占位符 2"/>
          <p:cNvSpPr>
            <a:spLocks noGrp="1"/>
          </p:cNvSpPr>
          <p:nvPr>
            <p:ph type="dt" sz="half" idx="10"/>
          </p:nvPr>
        </p:nvSpPr>
        <p:spPr/>
        <p:txBody>
          <a:bodyPr/>
          <a:lstStyle/>
          <a:p>
            <a:fld id="{2357E811-0676-4DD2-BE23-41C783AD155B}" type="datetime10">
              <a:rPr lang="zh-CN" altLang="en-US" smtClean="0"/>
              <a:t>14:22</a:t>
            </a:fld>
            <a:endParaRPr lang="zh-CN" altLang="en-US"/>
          </a:p>
        </p:txBody>
      </p:sp>
    </p:spTree>
    <p:extLst>
      <p:ext uri="{BB962C8B-B14F-4D97-AF65-F5344CB8AC3E}">
        <p14:creationId xmlns:p14="http://schemas.microsoft.com/office/powerpoint/2010/main" val="172069454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1922" name="Rectangle 2"/>
          <p:cNvSpPr>
            <a:spLocks noGrp="1" noChangeArrowheads="1"/>
          </p:cNvSpPr>
          <p:nvPr>
            <p:ph type="title"/>
          </p:nvPr>
        </p:nvSpPr>
        <p:spPr>
          <a:xfrm>
            <a:off x="875184" y="124515"/>
            <a:ext cx="7537648" cy="381000"/>
          </a:xfrm>
        </p:spPr>
        <p:txBody>
          <a:bodyPr/>
          <a:lstStyle/>
          <a:p>
            <a:r>
              <a:rPr lang="en-US" altLang="zh-CN" sz="3600" dirty="0">
                <a:solidFill>
                  <a:srgbClr val="0000FF"/>
                </a:solidFill>
                <a:ea typeface="华文中宋" pitchFamily="2" charset="-122"/>
              </a:rPr>
              <a:t>IGBT</a:t>
            </a:r>
            <a:r>
              <a:rPr lang="zh-CN" altLang="en-US" sz="3600" dirty="0">
                <a:solidFill>
                  <a:srgbClr val="0000FF"/>
                </a:solidFill>
                <a:ea typeface="华文中宋" pitchFamily="2" charset="-122"/>
              </a:rPr>
              <a:t>是</a:t>
            </a:r>
            <a:r>
              <a:rPr lang="en-US" altLang="zh-CN" sz="3200" kern="0" dirty="0">
                <a:latin typeface="Arial" pitchFamily="34" charset="0"/>
              </a:rPr>
              <a:t>VDMOSFET</a:t>
            </a:r>
            <a:r>
              <a:rPr lang="zh-CN" altLang="en-US" sz="3200" kern="0" dirty="0">
                <a:latin typeface="Arial" pitchFamily="34" charset="0"/>
              </a:rPr>
              <a:t>与</a:t>
            </a:r>
            <a:r>
              <a:rPr lang="en-US" altLang="zh-CN" sz="3200" kern="0" dirty="0">
                <a:latin typeface="Arial" pitchFamily="34" charset="0"/>
              </a:rPr>
              <a:t>GTR</a:t>
            </a:r>
            <a:r>
              <a:rPr lang="zh-CN" altLang="en-US" dirty="0">
                <a:latin typeface="Arial" pitchFamily="34" charset="0"/>
              </a:rPr>
              <a:t>复合器件吗？</a:t>
            </a:r>
            <a:endParaRPr lang="zh-CN" altLang="en-US" sz="3200" b="1" dirty="0">
              <a:solidFill>
                <a:schemeClr val="bg1"/>
              </a:solidFill>
              <a:latin typeface="华文中宋" pitchFamily="2" charset="-122"/>
            </a:endParaRPr>
          </a:p>
        </p:txBody>
      </p:sp>
      <p:sp>
        <p:nvSpPr>
          <p:cNvPr id="81928" name="Text Box 8"/>
          <p:cNvSpPr txBox="1">
            <a:spLocks noChangeArrowheads="1"/>
          </p:cNvSpPr>
          <p:nvPr/>
        </p:nvSpPr>
        <p:spPr bwMode="auto">
          <a:xfrm>
            <a:off x="1403648" y="5176419"/>
            <a:ext cx="2869411" cy="952633"/>
          </a:xfrm>
          <a:prstGeom prst="rect">
            <a:avLst/>
          </a:prstGeom>
          <a:noFill/>
          <a:ln w="9525">
            <a:solidFill>
              <a:srgbClr val="9966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187325" indent="-187325">
              <a:defRPr kumimoji="1" sz="2400">
                <a:solidFill>
                  <a:schemeClr val="tx1"/>
                </a:solidFill>
                <a:latin typeface="Times New Roman" pitchFamily="18" charset="0"/>
                <a:ea typeface="宋体" pitchFamily="2" charset="-122"/>
              </a:defRPr>
            </a:lvl1pPr>
            <a:lvl2pPr>
              <a:defRPr kumimoji="1" sz="2400">
                <a:solidFill>
                  <a:schemeClr val="tx1"/>
                </a:solidFill>
                <a:latin typeface="Times New Roman" pitchFamily="18" charset="0"/>
                <a:ea typeface="宋体" pitchFamily="2" charset="-122"/>
              </a:defRPr>
            </a:lvl2pPr>
            <a:lvl3pPr>
              <a:defRPr kumimoji="1" sz="2400">
                <a:solidFill>
                  <a:schemeClr val="tx1"/>
                </a:solidFill>
                <a:latin typeface="Times New Roman" pitchFamily="18" charset="0"/>
                <a:ea typeface="宋体" pitchFamily="2" charset="-122"/>
              </a:defRPr>
            </a:lvl3pPr>
            <a:lvl4pPr>
              <a:defRPr kumimoji="1" sz="2400">
                <a:solidFill>
                  <a:schemeClr val="tx1"/>
                </a:solidFill>
                <a:latin typeface="Times New Roman" pitchFamily="18" charset="0"/>
                <a:ea typeface="宋体" pitchFamily="2" charset="-122"/>
              </a:defRPr>
            </a:lvl4pPr>
            <a:lvl5pPr>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lgn="just">
              <a:lnSpc>
                <a:spcPct val="120000"/>
              </a:lnSpc>
              <a:spcBef>
                <a:spcPct val="50000"/>
              </a:spcBef>
              <a:buClr>
                <a:schemeClr val="accent1"/>
              </a:buClr>
              <a:buFont typeface="Wingdings" pitchFamily="2" charset="2"/>
              <a:buNone/>
            </a:pPr>
            <a:r>
              <a:rPr lang="zh-CN" altLang="en-US" sz="2000" dirty="0">
                <a:solidFill>
                  <a:srgbClr val="0000FF"/>
                </a:solidFill>
                <a:ea typeface="华文中宋" pitchFamily="2" charset="-122"/>
              </a:rPr>
              <a:t>是两个管子的复合体吗？</a:t>
            </a:r>
            <a:endParaRPr lang="en-US" altLang="zh-CN" sz="2000" dirty="0">
              <a:solidFill>
                <a:srgbClr val="0000FF"/>
              </a:solidFill>
              <a:ea typeface="华文中宋" pitchFamily="2" charset="-122"/>
            </a:endParaRPr>
          </a:p>
          <a:p>
            <a:pPr algn="just">
              <a:lnSpc>
                <a:spcPct val="120000"/>
              </a:lnSpc>
              <a:spcBef>
                <a:spcPct val="50000"/>
              </a:spcBef>
              <a:buClr>
                <a:schemeClr val="accent1"/>
              </a:buClr>
              <a:buFont typeface="Wingdings" pitchFamily="2" charset="2"/>
              <a:buNone/>
            </a:pPr>
            <a:r>
              <a:rPr lang="zh-CN" altLang="en-US" sz="2000" dirty="0">
                <a:solidFill>
                  <a:srgbClr val="0000FF"/>
                </a:solidFill>
                <a:ea typeface="华文中宋" pitchFamily="2" charset="-122"/>
              </a:rPr>
              <a:t>好像不一样啊！</a:t>
            </a:r>
          </a:p>
        </p:txBody>
      </p:sp>
      <p:sp>
        <p:nvSpPr>
          <p:cNvPr id="2" name="灯片编号占位符 1"/>
          <p:cNvSpPr>
            <a:spLocks noGrp="1"/>
          </p:cNvSpPr>
          <p:nvPr>
            <p:ph type="sldNum" sz="quarter" idx="12"/>
          </p:nvPr>
        </p:nvSpPr>
        <p:spPr/>
        <p:txBody>
          <a:bodyPr/>
          <a:lstStyle/>
          <a:p>
            <a:fld id="{0C913308-F349-4B6D-A68A-DD1791B4A57B}" type="slidenum">
              <a:rPr lang="zh-CN" altLang="en-US" smtClean="0"/>
              <a:t>8</a:t>
            </a:fld>
            <a:endParaRPr lang="zh-CN" altLang="en-US"/>
          </a:p>
        </p:txBody>
      </p:sp>
      <p:graphicFrame>
        <p:nvGraphicFramePr>
          <p:cNvPr id="7" name="Object 5"/>
          <p:cNvGraphicFramePr>
            <a:graphicFrameLocks noChangeAspect="1"/>
          </p:cNvGraphicFramePr>
          <p:nvPr/>
        </p:nvGraphicFramePr>
        <p:xfrm>
          <a:off x="1115616" y="1386819"/>
          <a:ext cx="3724799" cy="2369176"/>
        </p:xfrm>
        <a:graphic>
          <a:graphicData uri="http://schemas.openxmlformats.org/presentationml/2006/ole">
            <mc:AlternateContent xmlns:mc="http://schemas.openxmlformats.org/markup-compatibility/2006">
              <mc:Choice xmlns:v="urn:schemas-microsoft-com:vml" Requires="v">
                <p:oleObj spid="_x0000_s30732" name="VISIO" r:id="rId4" imgW="4329684" imgH="1773936" progId="Visio.Drawing.5">
                  <p:embed/>
                </p:oleObj>
              </mc:Choice>
              <mc:Fallback>
                <p:oleObj name="VISIO" r:id="rId4" imgW="4329684" imgH="1773936" progId="Visio.Drawing.5">
                  <p:embed/>
                  <p:pic>
                    <p:nvPicPr>
                      <p:cNvPr id="7" name="Object 5"/>
                      <p:cNvPicPr>
                        <a:picLocks noChangeAspect="1" noChangeArrowheads="1"/>
                      </p:cNvPicPr>
                      <p:nvPr/>
                    </p:nvPicPr>
                    <p:blipFill>
                      <a:blip r:embed="rId5">
                        <a:extLst>
                          <a:ext uri="{28A0092B-C50C-407E-A947-70E740481C1C}">
                            <a14:useLocalDpi xmlns:a14="http://schemas.microsoft.com/office/drawing/2010/main" val="0"/>
                          </a:ext>
                        </a:extLst>
                      </a:blip>
                      <a:srcRect l="8315" t="4057" r="16628" b="16231"/>
                      <a:stretch>
                        <a:fillRect/>
                      </a:stretch>
                    </p:blipFill>
                    <p:spPr bwMode="auto">
                      <a:xfrm>
                        <a:off x="1115616" y="1386819"/>
                        <a:ext cx="3724799" cy="2369176"/>
                      </a:xfrm>
                      <a:prstGeom prst="rect">
                        <a:avLst/>
                      </a:prstGeom>
                      <a:noFill/>
                    </p:spPr>
                  </p:pic>
                </p:oleObj>
              </mc:Fallback>
            </mc:AlternateContent>
          </a:graphicData>
        </a:graphic>
      </p:graphicFrame>
      <p:pic>
        <p:nvPicPr>
          <p:cNvPr id="8" name="图片 7"/>
          <p:cNvPicPr>
            <a:picLocks noChangeAspect="1"/>
          </p:cNvPicPr>
          <p:nvPr/>
        </p:nvPicPr>
        <p:blipFill>
          <a:blip r:embed="rId6"/>
          <a:stretch>
            <a:fillRect/>
          </a:stretch>
        </p:blipFill>
        <p:spPr>
          <a:xfrm>
            <a:off x="6060976" y="1542707"/>
            <a:ext cx="1943100" cy="2057400"/>
          </a:xfrm>
          <a:prstGeom prst="rect">
            <a:avLst/>
          </a:prstGeom>
        </p:spPr>
      </p:pic>
      <p:sp>
        <p:nvSpPr>
          <p:cNvPr id="4" name="矩形 3"/>
          <p:cNvSpPr/>
          <p:nvPr/>
        </p:nvSpPr>
        <p:spPr>
          <a:xfrm>
            <a:off x="4644008" y="2420888"/>
            <a:ext cx="1416968" cy="14401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下箭头 4"/>
          <p:cNvSpPr/>
          <p:nvPr/>
        </p:nvSpPr>
        <p:spPr>
          <a:xfrm>
            <a:off x="5306679" y="2564904"/>
            <a:ext cx="288032" cy="1584176"/>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1" name="图片 10"/>
          <p:cNvPicPr>
            <a:picLocks noChangeAspect="1"/>
          </p:cNvPicPr>
          <p:nvPr/>
        </p:nvPicPr>
        <p:blipFill>
          <a:blip r:embed="rId7"/>
          <a:stretch>
            <a:fillRect/>
          </a:stretch>
        </p:blipFill>
        <p:spPr>
          <a:xfrm>
            <a:off x="4644008" y="4245004"/>
            <a:ext cx="2651484" cy="2231996"/>
          </a:xfrm>
          <a:prstGeom prst="rect">
            <a:avLst/>
          </a:prstGeom>
        </p:spPr>
      </p:pic>
      <p:sp>
        <p:nvSpPr>
          <p:cNvPr id="6" name="日期占位符 5"/>
          <p:cNvSpPr>
            <a:spLocks noGrp="1"/>
          </p:cNvSpPr>
          <p:nvPr>
            <p:ph type="dt" sz="half" idx="10"/>
          </p:nvPr>
        </p:nvSpPr>
        <p:spPr/>
        <p:txBody>
          <a:bodyPr/>
          <a:lstStyle/>
          <a:p>
            <a:fld id="{2D3C66BD-ED65-4BD8-873B-06077DF3736B}" type="datetime10">
              <a:rPr lang="zh-CN" altLang="en-US" smtClean="0"/>
              <a:t>14:30</a:t>
            </a:fld>
            <a:endParaRPr lang="zh-CN" altLang="en-US" dirty="0"/>
          </a:p>
        </p:txBody>
      </p:sp>
      <p:sp>
        <p:nvSpPr>
          <p:cNvPr id="3" name="矩形 2"/>
          <p:cNvSpPr/>
          <p:nvPr/>
        </p:nvSpPr>
        <p:spPr>
          <a:xfrm>
            <a:off x="7320198" y="5005637"/>
            <a:ext cx="723275" cy="369332"/>
          </a:xfrm>
          <a:prstGeom prst="rect">
            <a:avLst/>
          </a:prstGeom>
        </p:spPr>
        <p:txBody>
          <a:bodyPr wrap="none">
            <a:spAutoFit/>
          </a:bodyPr>
          <a:lstStyle/>
          <a:p>
            <a:r>
              <a:rPr lang="en-US" altLang="zh-CN" dirty="0">
                <a:solidFill>
                  <a:srgbClr val="0000FF"/>
                </a:solidFill>
                <a:ea typeface="华文中宋" pitchFamily="2" charset="-122"/>
              </a:rPr>
              <a:t>IGBT</a:t>
            </a:r>
            <a:endParaRPr lang="zh-CN" altLang="en-US" dirty="0"/>
          </a:p>
        </p:txBody>
      </p:sp>
    </p:spTree>
    <p:extLst>
      <p:ext uri="{BB962C8B-B14F-4D97-AF65-F5344CB8AC3E}">
        <p14:creationId xmlns:p14="http://schemas.microsoft.com/office/powerpoint/2010/main" val="18201730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5"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2000"/>
                                        <p:tgtEl>
                                          <p:spTgt spid="7"/>
                                        </p:tgtEl>
                                      </p:cBhvr>
                                    </p:animEffect>
                                    <p:anim calcmode="lin" valueType="num">
                                      <p:cBhvr>
                                        <p:cTn id="8" dur="2000" fill="hold"/>
                                        <p:tgtEl>
                                          <p:spTgt spid="7"/>
                                        </p:tgtEl>
                                        <p:attrNameLst>
                                          <p:attrName>ppt_w</p:attrName>
                                        </p:attrNameLst>
                                      </p:cBhvr>
                                      <p:tavLst>
                                        <p:tav tm="0" fmla="#ppt_w*sin(2.5*pi*$)">
                                          <p:val>
                                            <p:fltVal val="0"/>
                                          </p:val>
                                        </p:tav>
                                        <p:tav tm="100000">
                                          <p:val>
                                            <p:fltVal val="1"/>
                                          </p:val>
                                        </p:tav>
                                      </p:tavLst>
                                    </p:anim>
                                    <p:anim calcmode="lin" valueType="num">
                                      <p:cBhvr>
                                        <p:cTn id="9" dur="2000" fill="hold"/>
                                        <p:tgtEl>
                                          <p:spTgt spid="7"/>
                                        </p:tgtEl>
                                        <p:attrNameLst>
                                          <p:attrName>ppt_h</p:attrName>
                                        </p:attrNameLst>
                                      </p:cBhvr>
                                      <p:tavLst>
                                        <p:tav tm="0">
                                          <p:val>
                                            <p:strVal val="#ppt_h"/>
                                          </p:val>
                                        </p:tav>
                                        <p:tav tm="100000">
                                          <p:val>
                                            <p:strVal val="#ppt_h"/>
                                          </p:val>
                                        </p:tav>
                                      </p:tavLst>
                                    </p:anim>
                                  </p:childTnLst>
                                </p:cTn>
                              </p:par>
                            </p:childTnLst>
                          </p:cTn>
                        </p:par>
                      </p:childTnLst>
                    </p:cTn>
                  </p:par>
                  <p:par>
                    <p:cTn id="10" fill="hold">
                      <p:stCondLst>
                        <p:cond delay="indefinite"/>
                      </p:stCondLst>
                      <p:childTnLst>
                        <p:par>
                          <p:cTn id="11" fill="hold">
                            <p:stCondLst>
                              <p:cond delay="0"/>
                            </p:stCondLst>
                            <p:childTnLst>
                              <p:par>
                                <p:cTn id="12" presetID="2" presetClass="entr" presetSubtype="4" fill="hold" nodeType="clickEffect">
                                  <p:stCondLst>
                                    <p:cond delay="0"/>
                                  </p:stCondLst>
                                  <p:childTnLst>
                                    <p:set>
                                      <p:cBhvr>
                                        <p:cTn id="13" dur="1" fill="hold">
                                          <p:stCondLst>
                                            <p:cond delay="0"/>
                                          </p:stCondLst>
                                        </p:cTn>
                                        <p:tgtEl>
                                          <p:spTgt spid="8"/>
                                        </p:tgtEl>
                                        <p:attrNameLst>
                                          <p:attrName>style.visibility</p:attrName>
                                        </p:attrNameLst>
                                      </p:cBhvr>
                                      <p:to>
                                        <p:strVal val="visible"/>
                                      </p:to>
                                    </p:set>
                                    <p:anim calcmode="lin" valueType="num">
                                      <p:cBhvr additive="base">
                                        <p:cTn id="14" dur="500" fill="hold"/>
                                        <p:tgtEl>
                                          <p:spTgt spid="8"/>
                                        </p:tgtEl>
                                        <p:attrNameLst>
                                          <p:attrName>ppt_x</p:attrName>
                                        </p:attrNameLst>
                                      </p:cBhvr>
                                      <p:tavLst>
                                        <p:tav tm="0">
                                          <p:val>
                                            <p:strVal val="#ppt_x"/>
                                          </p:val>
                                        </p:tav>
                                        <p:tav tm="100000">
                                          <p:val>
                                            <p:strVal val="#ppt_x"/>
                                          </p:val>
                                        </p:tav>
                                      </p:tavLst>
                                    </p:anim>
                                    <p:anim calcmode="lin" valueType="num">
                                      <p:cBhvr additive="base">
                                        <p:cTn id="15"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2" presetClass="entr" presetSubtype="4" fill="hold" nodeType="clickEffect">
                                  <p:stCondLst>
                                    <p:cond delay="0"/>
                                  </p:stCondLst>
                                  <p:childTnLst>
                                    <p:set>
                                      <p:cBhvr>
                                        <p:cTn id="19" dur="1" fill="hold">
                                          <p:stCondLst>
                                            <p:cond delay="0"/>
                                          </p:stCondLst>
                                        </p:cTn>
                                        <p:tgtEl>
                                          <p:spTgt spid="11"/>
                                        </p:tgtEl>
                                        <p:attrNameLst>
                                          <p:attrName>style.visibility</p:attrName>
                                        </p:attrNameLst>
                                      </p:cBhvr>
                                      <p:to>
                                        <p:strVal val="visible"/>
                                      </p:to>
                                    </p:set>
                                    <p:anim calcmode="lin" valueType="num">
                                      <p:cBhvr additive="base">
                                        <p:cTn id="20" dur="500" fill="hold"/>
                                        <p:tgtEl>
                                          <p:spTgt spid="11"/>
                                        </p:tgtEl>
                                        <p:attrNameLst>
                                          <p:attrName>ppt_x</p:attrName>
                                        </p:attrNameLst>
                                      </p:cBhvr>
                                      <p:tavLst>
                                        <p:tav tm="0">
                                          <p:val>
                                            <p:strVal val="#ppt_x"/>
                                          </p:val>
                                        </p:tav>
                                        <p:tav tm="100000">
                                          <p:val>
                                            <p:strVal val="#ppt_x"/>
                                          </p:val>
                                        </p:tav>
                                      </p:tavLst>
                                    </p:anim>
                                    <p:anim calcmode="lin" valueType="num">
                                      <p:cBhvr additive="base">
                                        <p:cTn id="21"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grpId="0" nodeType="clickEffect">
                                  <p:stCondLst>
                                    <p:cond delay="0"/>
                                  </p:stCondLst>
                                  <p:childTnLst>
                                    <p:set>
                                      <p:cBhvr>
                                        <p:cTn id="25" dur="1" fill="hold">
                                          <p:stCondLst>
                                            <p:cond delay="0"/>
                                          </p:stCondLst>
                                        </p:cTn>
                                        <p:tgtEl>
                                          <p:spTgt spid="8192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928"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6290" name="Rectangle 2"/>
          <p:cNvSpPr>
            <a:spLocks noGrp="1" noChangeArrowheads="1"/>
          </p:cNvSpPr>
          <p:nvPr>
            <p:ph type="title"/>
          </p:nvPr>
        </p:nvSpPr>
        <p:spPr/>
        <p:txBody>
          <a:bodyPr/>
          <a:lstStyle/>
          <a:p>
            <a:r>
              <a:rPr lang="en-US" altLang="zh-CN" sz="4000" b="1" dirty="0">
                <a:latin typeface="Arial" pitchFamily="34" charset="0"/>
              </a:rPr>
              <a:t>IGBT</a:t>
            </a:r>
            <a:r>
              <a:rPr lang="zh-CN" altLang="en-US" sz="4000" b="1" dirty="0">
                <a:latin typeface="Arial" pitchFamily="34" charset="0"/>
              </a:rPr>
              <a:t>的结构（等效电路）</a:t>
            </a:r>
          </a:p>
        </p:txBody>
      </p:sp>
      <p:sp>
        <p:nvSpPr>
          <p:cNvPr id="396291" name="Rectangle 3"/>
          <p:cNvSpPr>
            <a:spLocks noGrp="1" noChangeArrowheads="1"/>
          </p:cNvSpPr>
          <p:nvPr>
            <p:ph type="body" idx="1"/>
          </p:nvPr>
        </p:nvSpPr>
        <p:spPr>
          <a:xfrm>
            <a:off x="179512" y="566365"/>
            <a:ext cx="8891588" cy="2214563"/>
          </a:xfrm>
          <a:noFill/>
          <a:ln/>
        </p:spPr>
        <p:txBody>
          <a:bodyPr/>
          <a:lstStyle/>
          <a:p>
            <a:pPr lvl="1" algn="just">
              <a:lnSpc>
                <a:spcPct val="120000"/>
              </a:lnSpc>
              <a:spcBef>
                <a:spcPct val="35000"/>
              </a:spcBef>
              <a:buFontTx/>
              <a:buBlip>
                <a:blip r:embed="rId3"/>
              </a:buBlip>
            </a:pPr>
            <a:r>
              <a:rPr lang="zh-CN" altLang="en-US" sz="2200" dirty="0">
                <a:latin typeface="Arial" pitchFamily="34" charset="0"/>
              </a:rPr>
              <a:t>简化等效电路表明，</a:t>
            </a:r>
            <a:r>
              <a:rPr lang="en-US" altLang="zh-CN" sz="2200" dirty="0">
                <a:latin typeface="Arial" pitchFamily="34" charset="0"/>
              </a:rPr>
              <a:t>IGBT</a:t>
            </a:r>
            <a:r>
              <a:rPr lang="zh-CN" altLang="en-US" sz="2200" dirty="0">
                <a:latin typeface="Arial" pitchFamily="34" charset="0"/>
              </a:rPr>
              <a:t>是</a:t>
            </a:r>
            <a:r>
              <a:rPr lang="en-US" altLang="zh-CN" sz="2200" dirty="0">
                <a:latin typeface="Arial" pitchFamily="34" charset="0"/>
              </a:rPr>
              <a:t>GTR</a:t>
            </a:r>
            <a:r>
              <a:rPr lang="zh-CN" altLang="en-US" sz="2200" dirty="0">
                <a:latin typeface="Arial" pitchFamily="34" charset="0"/>
              </a:rPr>
              <a:t>与</a:t>
            </a:r>
            <a:r>
              <a:rPr lang="en-US" altLang="zh-CN" sz="2200" dirty="0">
                <a:latin typeface="Arial" pitchFamily="34" charset="0"/>
              </a:rPr>
              <a:t>N</a:t>
            </a:r>
            <a:r>
              <a:rPr lang="zh-CN" altLang="en-US" sz="2200" dirty="0">
                <a:latin typeface="Arial" pitchFamily="34" charset="0"/>
              </a:rPr>
              <a:t>沟道</a:t>
            </a:r>
            <a:r>
              <a:rPr lang="en-US" altLang="zh-CN" sz="2200" dirty="0">
                <a:latin typeface="Arial" pitchFamily="34" charset="0"/>
              </a:rPr>
              <a:t>MOSFET</a:t>
            </a:r>
            <a:r>
              <a:rPr lang="zh-CN" altLang="en-US" sz="2200" dirty="0">
                <a:latin typeface="Arial" pitchFamily="34" charset="0"/>
              </a:rPr>
              <a:t>组成的达林顿结构，一个由</a:t>
            </a:r>
            <a:r>
              <a:rPr lang="en-US" altLang="zh-CN" sz="2200" dirty="0">
                <a:latin typeface="Arial" pitchFamily="34" charset="0"/>
              </a:rPr>
              <a:t>MOSFET</a:t>
            </a:r>
            <a:r>
              <a:rPr lang="zh-CN" altLang="en-US" sz="2200" dirty="0">
                <a:latin typeface="Arial" pitchFamily="34" charset="0"/>
              </a:rPr>
              <a:t>驱动的</a:t>
            </a:r>
            <a:r>
              <a:rPr lang="zh-CN" altLang="en-US" sz="2200" b="1" dirty="0">
                <a:solidFill>
                  <a:srgbClr val="FF0000"/>
                </a:solidFill>
                <a:latin typeface="Arial" pitchFamily="34" charset="0"/>
              </a:rPr>
              <a:t>厚基区</a:t>
            </a:r>
            <a:r>
              <a:rPr lang="en-US" altLang="zh-CN" sz="2200" b="1" dirty="0">
                <a:solidFill>
                  <a:srgbClr val="FF0000"/>
                </a:solidFill>
                <a:latin typeface="Arial" pitchFamily="34" charset="0"/>
              </a:rPr>
              <a:t>PNP</a:t>
            </a:r>
            <a:r>
              <a:rPr lang="zh-CN" altLang="en-US" sz="2200" b="1" dirty="0">
                <a:solidFill>
                  <a:srgbClr val="FF0000"/>
                </a:solidFill>
                <a:latin typeface="Arial" pitchFamily="34" charset="0"/>
              </a:rPr>
              <a:t>晶体管（提高耐压等级）。</a:t>
            </a:r>
            <a:endParaRPr lang="en-US" altLang="zh-CN" sz="2200" b="1" dirty="0">
              <a:solidFill>
                <a:srgbClr val="FF0000"/>
              </a:solidFill>
              <a:latin typeface="Arial" pitchFamily="34" charset="0"/>
            </a:endParaRPr>
          </a:p>
          <a:p>
            <a:pPr lvl="1" algn="just">
              <a:lnSpc>
                <a:spcPct val="90000"/>
              </a:lnSpc>
              <a:spcBef>
                <a:spcPct val="35000"/>
              </a:spcBef>
              <a:buFontTx/>
              <a:buBlip>
                <a:blip r:embed="rId3"/>
              </a:buBlip>
            </a:pPr>
            <a:r>
              <a:rPr lang="en-US" altLang="zh-CN" sz="2200" dirty="0">
                <a:latin typeface="Arial" pitchFamily="34" charset="0"/>
              </a:rPr>
              <a:t>R</a:t>
            </a:r>
            <a:r>
              <a:rPr lang="en-US" altLang="zh-CN" sz="2200" baseline="-30000" dirty="0">
                <a:latin typeface="Arial" pitchFamily="34" charset="0"/>
              </a:rPr>
              <a:t>N</a:t>
            </a:r>
            <a:r>
              <a:rPr lang="zh-CN" altLang="en-US" sz="2200" dirty="0">
                <a:latin typeface="Arial" pitchFamily="34" charset="0"/>
              </a:rPr>
              <a:t>为晶体管基区内的调制电阻。</a:t>
            </a:r>
            <a:endParaRPr lang="en-US" altLang="zh-CN" sz="2200" dirty="0">
              <a:latin typeface="Arial" pitchFamily="34" charset="0"/>
            </a:endParaRPr>
          </a:p>
          <a:p>
            <a:pPr lvl="1" algn="just">
              <a:lnSpc>
                <a:spcPct val="90000"/>
              </a:lnSpc>
              <a:spcBef>
                <a:spcPct val="35000"/>
              </a:spcBef>
              <a:buFontTx/>
              <a:buBlip>
                <a:blip r:embed="rId3"/>
              </a:buBlip>
            </a:pPr>
            <a:r>
              <a:rPr lang="zh-CN" altLang="en-US" sz="2200" dirty="0">
                <a:solidFill>
                  <a:srgbClr val="9900FF"/>
                </a:solidFill>
                <a:latin typeface="Arial" pitchFamily="34" charset="0"/>
              </a:rPr>
              <a:t>厚基区的电阻</a:t>
            </a:r>
            <a:r>
              <a:rPr lang="en-US" altLang="zh-CN" sz="2200" dirty="0">
                <a:solidFill>
                  <a:srgbClr val="9900FF"/>
                </a:solidFill>
                <a:latin typeface="Arial" pitchFamily="34" charset="0"/>
              </a:rPr>
              <a:t>R</a:t>
            </a:r>
            <a:r>
              <a:rPr lang="en-US" altLang="zh-CN" sz="2200" baseline="-30000" dirty="0">
                <a:solidFill>
                  <a:srgbClr val="9900FF"/>
                </a:solidFill>
                <a:latin typeface="Arial" pitchFamily="34" charset="0"/>
              </a:rPr>
              <a:t>N</a:t>
            </a:r>
            <a:r>
              <a:rPr lang="zh-CN" altLang="en-US" sz="2200" dirty="0">
                <a:solidFill>
                  <a:srgbClr val="9900FF"/>
                </a:solidFill>
                <a:latin typeface="Arial" pitchFamily="34" charset="0"/>
              </a:rPr>
              <a:t>可以通过电导调制效应进行调制。</a:t>
            </a:r>
            <a:endParaRPr lang="zh-CN" altLang="en-US" sz="1800" dirty="0">
              <a:solidFill>
                <a:srgbClr val="9900FF"/>
              </a:solidFill>
              <a:latin typeface="Arial" pitchFamily="34" charset="0"/>
            </a:endParaRPr>
          </a:p>
        </p:txBody>
      </p:sp>
      <p:sp>
        <p:nvSpPr>
          <p:cNvPr id="2" name="灯片编号占位符 1"/>
          <p:cNvSpPr>
            <a:spLocks noGrp="1"/>
          </p:cNvSpPr>
          <p:nvPr>
            <p:ph type="sldNum" sz="quarter" idx="12"/>
          </p:nvPr>
        </p:nvSpPr>
        <p:spPr/>
        <p:txBody>
          <a:bodyPr/>
          <a:lstStyle/>
          <a:p>
            <a:fld id="{0C913308-F349-4B6D-A68A-DD1791B4A57B}" type="slidenum">
              <a:rPr lang="zh-CN" altLang="en-US" smtClean="0"/>
              <a:t>9</a:t>
            </a:fld>
            <a:endParaRPr lang="zh-CN" altLang="en-US"/>
          </a:p>
        </p:txBody>
      </p:sp>
      <p:pic>
        <p:nvPicPr>
          <p:cNvPr id="3" name="图片 2"/>
          <p:cNvPicPr>
            <a:picLocks noChangeAspect="1"/>
          </p:cNvPicPr>
          <p:nvPr/>
        </p:nvPicPr>
        <p:blipFill>
          <a:blip r:embed="rId4"/>
          <a:stretch>
            <a:fillRect/>
          </a:stretch>
        </p:blipFill>
        <p:spPr>
          <a:xfrm>
            <a:off x="4756557" y="2780928"/>
            <a:ext cx="3028950" cy="2800350"/>
          </a:xfrm>
          <a:prstGeom prst="rect">
            <a:avLst/>
          </a:prstGeom>
        </p:spPr>
      </p:pic>
      <p:pic>
        <p:nvPicPr>
          <p:cNvPr id="4" name="图片 3"/>
          <p:cNvPicPr>
            <a:picLocks noChangeAspect="1"/>
          </p:cNvPicPr>
          <p:nvPr/>
        </p:nvPicPr>
        <p:blipFill>
          <a:blip r:embed="rId5"/>
          <a:stretch>
            <a:fillRect/>
          </a:stretch>
        </p:blipFill>
        <p:spPr>
          <a:xfrm>
            <a:off x="6918732" y="3284984"/>
            <a:ext cx="1733550" cy="2219325"/>
          </a:xfrm>
          <a:prstGeom prst="rect">
            <a:avLst/>
          </a:prstGeom>
        </p:spPr>
      </p:pic>
      <p:pic>
        <p:nvPicPr>
          <p:cNvPr id="7" name="图片 6"/>
          <p:cNvPicPr>
            <a:picLocks noChangeAspect="1"/>
          </p:cNvPicPr>
          <p:nvPr/>
        </p:nvPicPr>
        <p:blipFill>
          <a:blip r:embed="rId6"/>
          <a:stretch>
            <a:fillRect/>
          </a:stretch>
        </p:blipFill>
        <p:spPr>
          <a:xfrm>
            <a:off x="1051332" y="2761452"/>
            <a:ext cx="3190875" cy="2686050"/>
          </a:xfrm>
          <a:prstGeom prst="rect">
            <a:avLst/>
          </a:prstGeom>
        </p:spPr>
      </p:pic>
      <p:sp>
        <p:nvSpPr>
          <p:cNvPr id="5" name="日期占位符 4"/>
          <p:cNvSpPr>
            <a:spLocks noGrp="1"/>
          </p:cNvSpPr>
          <p:nvPr>
            <p:ph type="dt" sz="half" idx="10"/>
          </p:nvPr>
        </p:nvSpPr>
        <p:spPr/>
        <p:txBody>
          <a:bodyPr/>
          <a:lstStyle/>
          <a:p>
            <a:fld id="{FF27005D-EB65-4C0F-88C7-D6B82F7637F0}" type="datetime10">
              <a:rPr lang="zh-CN" altLang="en-US" smtClean="0"/>
              <a:t>14:22</a:t>
            </a:fld>
            <a:endParaRPr lang="zh-CN" altLang="en-US"/>
          </a:p>
        </p:txBody>
      </p:sp>
      <p:sp>
        <p:nvSpPr>
          <p:cNvPr id="10" name="文本框 9">
            <a:extLst>
              <a:ext uri="{FF2B5EF4-FFF2-40B4-BE49-F238E27FC236}">
                <a16:creationId xmlns:a16="http://schemas.microsoft.com/office/drawing/2014/main" id="{766ABE80-4CDB-4F79-94DF-7974D06959DC}"/>
              </a:ext>
            </a:extLst>
          </p:cNvPr>
          <p:cNvSpPr txBox="1"/>
          <p:nvPr/>
        </p:nvSpPr>
        <p:spPr>
          <a:xfrm>
            <a:off x="1066800" y="5504309"/>
            <a:ext cx="4584612" cy="646331"/>
          </a:xfrm>
          <a:prstGeom prst="rect">
            <a:avLst/>
          </a:prstGeom>
          <a:noFill/>
        </p:spPr>
        <p:txBody>
          <a:bodyPr wrap="square">
            <a:spAutoFit/>
          </a:bodyPr>
          <a:lstStyle/>
          <a:p>
            <a:r>
              <a:rPr lang="en-US" altLang="zh-CN" sz="1800" dirty="0">
                <a:latin typeface="Arial" pitchFamily="34" charset="0"/>
              </a:rPr>
              <a:t>V</a:t>
            </a:r>
            <a:r>
              <a:rPr lang="en-US" altLang="zh-CN" sz="1800" baseline="-30000" dirty="0">
                <a:latin typeface="Arial" pitchFamily="34" charset="0"/>
              </a:rPr>
              <a:t>GE</a:t>
            </a:r>
            <a:r>
              <a:rPr lang="zh-CN" altLang="en-US" sz="1800" dirty="0">
                <a:latin typeface="Arial" pitchFamily="34" charset="0"/>
              </a:rPr>
              <a:t>电压大于门槛电压，栅极下面形成导电沟道，</a:t>
            </a:r>
            <a:r>
              <a:rPr lang="en-US" altLang="zh-CN" sz="1800" dirty="0">
                <a:latin typeface="Arial" pitchFamily="34" charset="0"/>
              </a:rPr>
              <a:t> MOSFET</a:t>
            </a:r>
            <a:r>
              <a:rPr lang="zh-CN" altLang="en-US" dirty="0">
                <a:latin typeface="Arial" pitchFamily="34" charset="0"/>
              </a:rPr>
              <a:t>导通。</a:t>
            </a:r>
            <a:endParaRPr lang="zh-CN" altLang="en-US" dirty="0"/>
          </a:p>
        </p:txBody>
      </p:sp>
    </p:spTree>
    <p:extLst>
      <p:ext uri="{BB962C8B-B14F-4D97-AF65-F5344CB8AC3E}">
        <p14:creationId xmlns:p14="http://schemas.microsoft.com/office/powerpoint/2010/main" val="400074989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00386" name="Rectangle 2"/>
          <p:cNvSpPr>
            <a:spLocks noGrp="1" noChangeArrowheads="1"/>
          </p:cNvSpPr>
          <p:nvPr>
            <p:ph type="title"/>
          </p:nvPr>
        </p:nvSpPr>
        <p:spPr/>
        <p:txBody>
          <a:bodyPr/>
          <a:lstStyle/>
          <a:p>
            <a:r>
              <a:rPr lang="en-US" altLang="zh-CN" sz="4000" b="1" dirty="0">
                <a:solidFill>
                  <a:schemeClr val="tx1"/>
                </a:solidFill>
              </a:rPr>
              <a:t>IGBT</a:t>
            </a:r>
            <a:r>
              <a:rPr lang="zh-CN" altLang="en-US" sz="4000" b="1" dirty="0">
                <a:solidFill>
                  <a:schemeClr val="tx1"/>
                </a:solidFill>
              </a:rPr>
              <a:t>的工作原理</a:t>
            </a:r>
          </a:p>
        </p:txBody>
      </p:sp>
      <p:sp>
        <p:nvSpPr>
          <p:cNvPr id="400387" name="Rectangle 3"/>
          <p:cNvSpPr>
            <a:spLocks noGrp="1" noChangeArrowheads="1"/>
          </p:cNvSpPr>
          <p:nvPr>
            <p:ph type="body" idx="1"/>
          </p:nvPr>
        </p:nvSpPr>
        <p:spPr>
          <a:xfrm>
            <a:off x="107503" y="575468"/>
            <a:ext cx="7318821" cy="6093891"/>
          </a:xfrm>
        </p:spPr>
        <p:txBody>
          <a:bodyPr/>
          <a:lstStyle/>
          <a:p>
            <a:pPr algn="just">
              <a:lnSpc>
                <a:spcPct val="170000"/>
              </a:lnSpc>
              <a:buFont typeface="Wingdings" pitchFamily="2" charset="2"/>
              <a:buNone/>
            </a:pPr>
            <a:r>
              <a:rPr lang="en-US" altLang="zh-CN" sz="2800" dirty="0">
                <a:latin typeface="Arial" pitchFamily="34" charset="0"/>
                <a:cs typeface="Times New Roman" pitchFamily="18" charset="0"/>
              </a:rPr>
              <a:t>  </a:t>
            </a:r>
            <a:r>
              <a:rPr lang="zh-CN" altLang="en-US" sz="2400" dirty="0">
                <a:latin typeface="Arial" pitchFamily="34" charset="0"/>
              </a:rPr>
              <a:t>驱动原理与电力</a:t>
            </a:r>
            <a:r>
              <a:rPr lang="en-US" altLang="zh-CN" sz="2400" dirty="0">
                <a:latin typeface="Arial" pitchFamily="34" charset="0"/>
              </a:rPr>
              <a:t>MOSFET</a:t>
            </a:r>
            <a:r>
              <a:rPr lang="zh-CN" altLang="en-US" sz="2400" dirty="0">
                <a:latin typeface="Arial" pitchFamily="34" charset="0"/>
              </a:rPr>
              <a:t>基本相同，场控器件，通断由栅射极电压</a:t>
            </a:r>
            <a:r>
              <a:rPr lang="en-US" altLang="zh-CN" sz="2400" i="1" dirty="0" err="1">
                <a:latin typeface="Arial" pitchFamily="34" charset="0"/>
              </a:rPr>
              <a:t>u</a:t>
            </a:r>
            <a:r>
              <a:rPr lang="en-US" altLang="zh-CN" sz="2400" baseline="-30000" dirty="0" err="1">
                <a:latin typeface="Arial" pitchFamily="34" charset="0"/>
              </a:rPr>
              <a:t>GE</a:t>
            </a:r>
            <a:r>
              <a:rPr lang="zh-CN" altLang="en-US" sz="2400" dirty="0">
                <a:latin typeface="Arial" pitchFamily="34" charset="0"/>
              </a:rPr>
              <a:t>决定。</a:t>
            </a:r>
          </a:p>
          <a:p>
            <a:pPr lvl="1" algn="just">
              <a:lnSpc>
                <a:spcPct val="170000"/>
              </a:lnSpc>
              <a:buClr>
                <a:schemeClr val="tx1"/>
              </a:buClr>
              <a:buFontTx/>
              <a:buBlip>
                <a:blip r:embed="rId3"/>
              </a:buBlip>
            </a:pPr>
            <a:r>
              <a:rPr lang="zh-CN" altLang="en-US" sz="2400" b="1" dirty="0">
                <a:solidFill>
                  <a:srgbClr val="0000FF"/>
                </a:solidFill>
                <a:latin typeface="Arial" pitchFamily="34" charset="0"/>
              </a:rPr>
              <a:t>导通</a:t>
            </a:r>
            <a:r>
              <a:rPr lang="zh-CN" altLang="en-US" sz="2400" dirty="0">
                <a:latin typeface="Arial" pitchFamily="34" charset="0"/>
              </a:rPr>
              <a:t>：</a:t>
            </a:r>
            <a:r>
              <a:rPr lang="en-US" altLang="zh-CN" sz="2400" b="1" i="1" dirty="0" err="1">
                <a:latin typeface="Arial" pitchFamily="34" charset="0"/>
              </a:rPr>
              <a:t>u</a:t>
            </a:r>
            <a:r>
              <a:rPr lang="en-US" altLang="zh-CN" sz="2400" b="1" baseline="-30000" dirty="0" err="1">
                <a:latin typeface="Arial" pitchFamily="34" charset="0"/>
              </a:rPr>
              <a:t>GE</a:t>
            </a:r>
            <a:r>
              <a:rPr lang="zh-CN" altLang="en-US" sz="2400" dirty="0">
                <a:latin typeface="Arial" pitchFamily="34" charset="0"/>
              </a:rPr>
              <a:t>大于</a:t>
            </a:r>
            <a:r>
              <a:rPr lang="zh-CN" altLang="en-US" sz="2400" b="1" dirty="0">
                <a:latin typeface="Arial" pitchFamily="34" charset="0"/>
              </a:rPr>
              <a:t>开启电压</a:t>
            </a:r>
            <a:r>
              <a:rPr lang="en-US" altLang="zh-CN" sz="2400" b="1" i="1" dirty="0">
                <a:latin typeface="Arial" pitchFamily="34" charset="0"/>
              </a:rPr>
              <a:t>U</a:t>
            </a:r>
            <a:r>
              <a:rPr lang="en-US" altLang="zh-CN" sz="2400" b="1" baseline="-30000" dirty="0">
                <a:latin typeface="Arial" pitchFamily="34" charset="0"/>
              </a:rPr>
              <a:t>GE(</a:t>
            </a:r>
            <a:r>
              <a:rPr lang="en-US" altLang="zh-CN" sz="2400" b="1" baseline="-30000" dirty="0" err="1">
                <a:latin typeface="Arial" pitchFamily="34" charset="0"/>
              </a:rPr>
              <a:t>th</a:t>
            </a:r>
            <a:r>
              <a:rPr lang="en-US" altLang="zh-CN" sz="2400" b="1" baseline="-30000" dirty="0">
                <a:latin typeface="Arial" pitchFamily="34" charset="0"/>
              </a:rPr>
              <a:t>)</a:t>
            </a:r>
            <a:r>
              <a:rPr lang="zh-CN" altLang="en-US" sz="2400" dirty="0">
                <a:latin typeface="Arial" pitchFamily="34" charset="0"/>
              </a:rPr>
              <a:t>时，</a:t>
            </a:r>
            <a:r>
              <a:rPr lang="en-US" altLang="zh-CN" sz="2400" dirty="0">
                <a:latin typeface="Arial" pitchFamily="34" charset="0"/>
              </a:rPr>
              <a:t>MOSFET</a:t>
            </a:r>
            <a:r>
              <a:rPr lang="zh-CN" altLang="en-US" sz="2400" dirty="0">
                <a:latin typeface="Arial" pitchFamily="34" charset="0"/>
              </a:rPr>
              <a:t>内形成沟道，为晶体管提供基极电流，</a:t>
            </a:r>
            <a:r>
              <a:rPr lang="en-US" altLang="zh-CN" sz="2400" dirty="0">
                <a:latin typeface="Arial" pitchFamily="34" charset="0"/>
              </a:rPr>
              <a:t>IGBT</a:t>
            </a:r>
            <a:r>
              <a:rPr lang="zh-CN" altLang="en-US" sz="2400" dirty="0">
                <a:latin typeface="Arial" pitchFamily="34" charset="0"/>
              </a:rPr>
              <a:t>导通。</a:t>
            </a:r>
          </a:p>
          <a:p>
            <a:pPr lvl="1" algn="just">
              <a:lnSpc>
                <a:spcPct val="170000"/>
              </a:lnSpc>
              <a:buClr>
                <a:schemeClr val="tx1"/>
              </a:buClr>
              <a:buFontTx/>
              <a:buBlip>
                <a:blip r:embed="rId3"/>
              </a:buBlip>
            </a:pPr>
            <a:r>
              <a:rPr lang="zh-CN" altLang="en-US" sz="2400" b="1" dirty="0">
                <a:solidFill>
                  <a:srgbClr val="0000FF"/>
                </a:solidFill>
                <a:latin typeface="Arial" pitchFamily="34" charset="0"/>
              </a:rPr>
              <a:t>通态压降</a:t>
            </a:r>
            <a:r>
              <a:rPr lang="zh-CN" altLang="en-US" sz="2400" dirty="0">
                <a:latin typeface="Arial" pitchFamily="34" charset="0"/>
              </a:rPr>
              <a:t>：电导调制效应</a:t>
            </a:r>
            <a:r>
              <a:rPr lang="zh-CN" altLang="en-US" sz="2400" dirty="0">
                <a:solidFill>
                  <a:srgbClr val="FF0000"/>
                </a:solidFill>
                <a:latin typeface="Arial" pitchFamily="34" charset="0"/>
              </a:rPr>
              <a:t>使电阻</a:t>
            </a:r>
            <a:r>
              <a:rPr lang="en-US" altLang="zh-CN" sz="2400" dirty="0">
                <a:solidFill>
                  <a:srgbClr val="FF0000"/>
                </a:solidFill>
                <a:latin typeface="Arial" pitchFamily="34" charset="0"/>
              </a:rPr>
              <a:t>R</a:t>
            </a:r>
            <a:r>
              <a:rPr lang="en-US" altLang="zh-CN" sz="2400" baseline="-30000" dirty="0">
                <a:solidFill>
                  <a:srgbClr val="FF0000"/>
                </a:solidFill>
                <a:latin typeface="Arial" pitchFamily="34" charset="0"/>
              </a:rPr>
              <a:t>N</a:t>
            </a:r>
            <a:r>
              <a:rPr lang="zh-CN" altLang="en-US" sz="2400" dirty="0">
                <a:solidFill>
                  <a:srgbClr val="FF0000"/>
                </a:solidFill>
                <a:latin typeface="Arial" pitchFamily="34" charset="0"/>
              </a:rPr>
              <a:t>减小</a:t>
            </a:r>
            <a:r>
              <a:rPr lang="zh-CN" altLang="en-US" sz="2400" dirty="0">
                <a:latin typeface="Arial" pitchFamily="34" charset="0"/>
              </a:rPr>
              <a:t>，使通态压降减小。</a:t>
            </a:r>
          </a:p>
          <a:p>
            <a:pPr lvl="1" algn="just">
              <a:lnSpc>
                <a:spcPct val="170000"/>
              </a:lnSpc>
              <a:buClr>
                <a:schemeClr val="tx1"/>
              </a:buClr>
              <a:buFontTx/>
              <a:buBlip>
                <a:blip r:embed="rId3"/>
              </a:buBlip>
            </a:pPr>
            <a:r>
              <a:rPr lang="zh-CN" altLang="en-US" sz="2400" b="1" dirty="0">
                <a:solidFill>
                  <a:srgbClr val="0000FF"/>
                </a:solidFill>
                <a:latin typeface="Arial" pitchFamily="34" charset="0"/>
              </a:rPr>
              <a:t>关断</a:t>
            </a:r>
            <a:r>
              <a:rPr lang="zh-CN" altLang="en-US" sz="2400" dirty="0">
                <a:latin typeface="Arial" pitchFamily="34" charset="0"/>
              </a:rPr>
              <a:t>：栅射极间施加反压或不加信号时，</a:t>
            </a:r>
            <a:r>
              <a:rPr lang="en-US" altLang="zh-CN" sz="2400" dirty="0">
                <a:latin typeface="Arial" pitchFamily="34" charset="0"/>
              </a:rPr>
              <a:t>MOSFET</a:t>
            </a:r>
            <a:r>
              <a:rPr lang="zh-CN" altLang="en-US" sz="2400" dirty="0">
                <a:latin typeface="Arial" pitchFamily="34" charset="0"/>
              </a:rPr>
              <a:t>内的沟道消失，晶体管的基极电流被切断，</a:t>
            </a:r>
            <a:r>
              <a:rPr lang="en-US" altLang="zh-CN" sz="2400" dirty="0">
                <a:latin typeface="Arial" pitchFamily="34" charset="0"/>
              </a:rPr>
              <a:t>IGBT</a:t>
            </a:r>
            <a:r>
              <a:rPr lang="zh-CN" altLang="en-US" sz="2400" dirty="0">
                <a:latin typeface="Arial" pitchFamily="34" charset="0"/>
              </a:rPr>
              <a:t>关断。</a:t>
            </a:r>
          </a:p>
        </p:txBody>
      </p:sp>
      <p:grpSp>
        <p:nvGrpSpPr>
          <p:cNvPr id="400524" name="Group 140"/>
          <p:cNvGrpSpPr>
            <a:grpSpLocks/>
          </p:cNvGrpSpPr>
          <p:nvPr/>
        </p:nvGrpSpPr>
        <p:grpSpPr bwMode="auto">
          <a:xfrm>
            <a:off x="7426325" y="1773238"/>
            <a:ext cx="1717675" cy="3182937"/>
            <a:chOff x="4539" y="1111"/>
            <a:chExt cx="1082" cy="2005"/>
          </a:xfrm>
        </p:grpSpPr>
        <p:sp>
          <p:nvSpPr>
            <p:cNvPr id="400472" name="Rectangle 88"/>
            <p:cNvSpPr>
              <a:spLocks noChangeArrowheads="1"/>
            </p:cNvSpPr>
            <p:nvPr/>
          </p:nvSpPr>
          <p:spPr bwMode="auto">
            <a:xfrm>
              <a:off x="5076" y="1745"/>
              <a:ext cx="164" cy="6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pPr marL="342900" indent="-342900"/>
              <a:endParaRPr lang="zh-CN" altLang="zh-CN"/>
            </a:p>
          </p:txBody>
        </p:sp>
        <p:sp>
          <p:nvSpPr>
            <p:cNvPr id="400473" name="Line 89"/>
            <p:cNvSpPr>
              <a:spLocks noChangeShapeType="1"/>
            </p:cNvSpPr>
            <p:nvPr/>
          </p:nvSpPr>
          <p:spPr bwMode="auto">
            <a:xfrm>
              <a:off x="5240" y="1778"/>
              <a:ext cx="92"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00474" name="Line 90"/>
            <p:cNvSpPr>
              <a:spLocks noChangeShapeType="1"/>
            </p:cNvSpPr>
            <p:nvPr/>
          </p:nvSpPr>
          <p:spPr bwMode="auto">
            <a:xfrm flipH="1">
              <a:off x="4984" y="1778"/>
              <a:ext cx="92"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00475" name="Freeform 91"/>
            <p:cNvSpPr>
              <a:spLocks/>
            </p:cNvSpPr>
            <p:nvPr/>
          </p:nvSpPr>
          <p:spPr bwMode="auto">
            <a:xfrm>
              <a:off x="4686" y="2098"/>
              <a:ext cx="107" cy="120"/>
            </a:xfrm>
            <a:custGeom>
              <a:avLst/>
              <a:gdLst>
                <a:gd name="T0" fmla="*/ 0 w 107"/>
                <a:gd name="T1" fmla="*/ 120 h 120"/>
                <a:gd name="T2" fmla="*/ 107 w 107"/>
                <a:gd name="T3" fmla="*/ 120 h 120"/>
                <a:gd name="T4" fmla="*/ 107 w 107"/>
                <a:gd name="T5" fmla="*/ 0 h 120"/>
              </a:gdLst>
              <a:ahLst/>
              <a:cxnLst>
                <a:cxn ang="0">
                  <a:pos x="T0" y="T1"/>
                </a:cxn>
                <a:cxn ang="0">
                  <a:pos x="T2" y="T3"/>
                </a:cxn>
                <a:cxn ang="0">
                  <a:pos x="T4" y="T5"/>
                </a:cxn>
              </a:cxnLst>
              <a:rect l="0" t="0" r="r" b="b"/>
              <a:pathLst>
                <a:path w="107" h="120">
                  <a:moveTo>
                    <a:pt x="0" y="120"/>
                  </a:moveTo>
                  <a:lnTo>
                    <a:pt x="107" y="120"/>
                  </a:lnTo>
                  <a:lnTo>
                    <a:pt x="107" y="0"/>
                  </a:lnTo>
                </a:path>
              </a:pathLst>
            </a:custGeom>
            <a:noFill/>
            <a:ln w="9525">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400476" name="Freeform 92"/>
            <p:cNvSpPr>
              <a:spLocks/>
            </p:cNvSpPr>
            <p:nvPr/>
          </p:nvSpPr>
          <p:spPr bwMode="auto">
            <a:xfrm>
              <a:off x="4647" y="2193"/>
              <a:ext cx="39" cy="50"/>
            </a:xfrm>
            <a:custGeom>
              <a:avLst/>
              <a:gdLst>
                <a:gd name="T0" fmla="*/ 39 w 39"/>
                <a:gd name="T1" fmla="*/ 25 h 50"/>
                <a:gd name="T2" fmla="*/ 38 w 39"/>
                <a:gd name="T3" fmla="*/ 20 h 50"/>
                <a:gd name="T4" fmla="*/ 37 w 39"/>
                <a:gd name="T5" fmla="*/ 16 h 50"/>
                <a:gd name="T6" fmla="*/ 36 w 39"/>
                <a:gd name="T7" fmla="*/ 11 h 50"/>
                <a:gd name="T8" fmla="*/ 33 w 39"/>
                <a:gd name="T9" fmla="*/ 8 h 50"/>
                <a:gd name="T10" fmla="*/ 31 w 39"/>
                <a:gd name="T11" fmla="*/ 5 h 50"/>
                <a:gd name="T12" fmla="*/ 27 w 39"/>
                <a:gd name="T13" fmla="*/ 2 h 50"/>
                <a:gd name="T14" fmla="*/ 23 w 39"/>
                <a:gd name="T15" fmla="*/ 0 h 50"/>
                <a:gd name="T16" fmla="*/ 19 w 39"/>
                <a:gd name="T17" fmla="*/ 0 h 50"/>
                <a:gd name="T18" fmla="*/ 14 w 39"/>
                <a:gd name="T19" fmla="*/ 0 h 50"/>
                <a:gd name="T20" fmla="*/ 11 w 39"/>
                <a:gd name="T21" fmla="*/ 2 h 50"/>
                <a:gd name="T22" fmla="*/ 8 w 39"/>
                <a:gd name="T23" fmla="*/ 5 h 50"/>
                <a:gd name="T24" fmla="*/ 5 w 39"/>
                <a:gd name="T25" fmla="*/ 8 h 50"/>
                <a:gd name="T26" fmla="*/ 2 w 39"/>
                <a:gd name="T27" fmla="*/ 11 h 50"/>
                <a:gd name="T28" fmla="*/ 1 w 39"/>
                <a:gd name="T29" fmla="*/ 16 h 50"/>
                <a:gd name="T30" fmla="*/ 0 w 39"/>
                <a:gd name="T31" fmla="*/ 20 h 50"/>
                <a:gd name="T32" fmla="*/ 0 w 39"/>
                <a:gd name="T33" fmla="*/ 25 h 50"/>
                <a:gd name="T34" fmla="*/ 0 w 39"/>
                <a:gd name="T35" fmla="*/ 25 h 50"/>
                <a:gd name="T36" fmla="*/ 0 w 39"/>
                <a:gd name="T37" fmla="*/ 30 h 50"/>
                <a:gd name="T38" fmla="*/ 1 w 39"/>
                <a:gd name="T39" fmla="*/ 35 h 50"/>
                <a:gd name="T40" fmla="*/ 2 w 39"/>
                <a:gd name="T41" fmla="*/ 39 h 50"/>
                <a:gd name="T42" fmla="*/ 5 w 39"/>
                <a:gd name="T43" fmla="*/ 42 h 50"/>
                <a:gd name="T44" fmla="*/ 8 w 39"/>
                <a:gd name="T45" fmla="*/ 46 h 50"/>
                <a:gd name="T46" fmla="*/ 11 w 39"/>
                <a:gd name="T47" fmla="*/ 49 h 50"/>
                <a:gd name="T48" fmla="*/ 14 w 39"/>
                <a:gd name="T49" fmla="*/ 50 h 50"/>
                <a:gd name="T50" fmla="*/ 19 w 39"/>
                <a:gd name="T51" fmla="*/ 50 h 50"/>
                <a:gd name="T52" fmla="*/ 23 w 39"/>
                <a:gd name="T53" fmla="*/ 50 h 50"/>
                <a:gd name="T54" fmla="*/ 27 w 39"/>
                <a:gd name="T55" fmla="*/ 49 h 50"/>
                <a:gd name="T56" fmla="*/ 31 w 39"/>
                <a:gd name="T57" fmla="*/ 46 h 50"/>
                <a:gd name="T58" fmla="*/ 33 w 39"/>
                <a:gd name="T59" fmla="*/ 42 h 50"/>
                <a:gd name="T60" fmla="*/ 36 w 39"/>
                <a:gd name="T61" fmla="*/ 39 h 50"/>
                <a:gd name="T62" fmla="*/ 37 w 39"/>
                <a:gd name="T63" fmla="*/ 35 h 50"/>
                <a:gd name="T64" fmla="*/ 38 w 39"/>
                <a:gd name="T65" fmla="*/ 30 h 50"/>
                <a:gd name="T66" fmla="*/ 39 w 39"/>
                <a:gd name="T67" fmla="*/ 25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39" h="50">
                  <a:moveTo>
                    <a:pt x="39" y="25"/>
                  </a:moveTo>
                  <a:lnTo>
                    <a:pt x="38" y="20"/>
                  </a:lnTo>
                  <a:lnTo>
                    <a:pt x="37" y="16"/>
                  </a:lnTo>
                  <a:lnTo>
                    <a:pt x="36" y="11"/>
                  </a:lnTo>
                  <a:lnTo>
                    <a:pt x="33" y="8"/>
                  </a:lnTo>
                  <a:lnTo>
                    <a:pt x="31" y="5"/>
                  </a:lnTo>
                  <a:lnTo>
                    <a:pt x="27" y="2"/>
                  </a:lnTo>
                  <a:lnTo>
                    <a:pt x="23" y="0"/>
                  </a:lnTo>
                  <a:lnTo>
                    <a:pt x="19" y="0"/>
                  </a:lnTo>
                  <a:lnTo>
                    <a:pt x="14" y="0"/>
                  </a:lnTo>
                  <a:lnTo>
                    <a:pt x="11" y="2"/>
                  </a:lnTo>
                  <a:lnTo>
                    <a:pt x="8" y="5"/>
                  </a:lnTo>
                  <a:lnTo>
                    <a:pt x="5" y="8"/>
                  </a:lnTo>
                  <a:lnTo>
                    <a:pt x="2" y="11"/>
                  </a:lnTo>
                  <a:lnTo>
                    <a:pt x="1" y="16"/>
                  </a:lnTo>
                  <a:lnTo>
                    <a:pt x="0" y="20"/>
                  </a:lnTo>
                  <a:lnTo>
                    <a:pt x="0" y="25"/>
                  </a:lnTo>
                  <a:lnTo>
                    <a:pt x="0" y="25"/>
                  </a:lnTo>
                  <a:lnTo>
                    <a:pt x="0" y="30"/>
                  </a:lnTo>
                  <a:lnTo>
                    <a:pt x="1" y="35"/>
                  </a:lnTo>
                  <a:lnTo>
                    <a:pt x="2" y="39"/>
                  </a:lnTo>
                  <a:lnTo>
                    <a:pt x="5" y="42"/>
                  </a:lnTo>
                  <a:lnTo>
                    <a:pt x="8" y="46"/>
                  </a:lnTo>
                  <a:lnTo>
                    <a:pt x="11" y="49"/>
                  </a:lnTo>
                  <a:lnTo>
                    <a:pt x="14" y="50"/>
                  </a:lnTo>
                  <a:lnTo>
                    <a:pt x="19" y="50"/>
                  </a:lnTo>
                  <a:lnTo>
                    <a:pt x="23" y="50"/>
                  </a:lnTo>
                  <a:lnTo>
                    <a:pt x="27" y="49"/>
                  </a:lnTo>
                  <a:lnTo>
                    <a:pt x="31" y="46"/>
                  </a:lnTo>
                  <a:lnTo>
                    <a:pt x="33" y="42"/>
                  </a:lnTo>
                  <a:lnTo>
                    <a:pt x="36" y="39"/>
                  </a:lnTo>
                  <a:lnTo>
                    <a:pt x="37" y="35"/>
                  </a:lnTo>
                  <a:lnTo>
                    <a:pt x="38" y="30"/>
                  </a:lnTo>
                  <a:lnTo>
                    <a:pt x="39" y="25"/>
                  </a:lnTo>
                </a:path>
              </a:pathLst>
            </a:custGeom>
            <a:noFill/>
            <a:ln w="9525">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400477" name="Line 93"/>
            <p:cNvSpPr>
              <a:spLocks noChangeShapeType="1"/>
            </p:cNvSpPr>
            <p:nvPr/>
          </p:nvSpPr>
          <p:spPr bwMode="auto">
            <a:xfrm>
              <a:off x="4825" y="2079"/>
              <a:ext cx="0" cy="39"/>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00478" name="Line 94"/>
            <p:cNvSpPr>
              <a:spLocks noChangeShapeType="1"/>
            </p:cNvSpPr>
            <p:nvPr/>
          </p:nvSpPr>
          <p:spPr bwMode="auto">
            <a:xfrm>
              <a:off x="4825" y="2138"/>
              <a:ext cx="0" cy="4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00479" name="Line 95"/>
            <p:cNvSpPr>
              <a:spLocks noChangeShapeType="1"/>
            </p:cNvSpPr>
            <p:nvPr/>
          </p:nvSpPr>
          <p:spPr bwMode="auto">
            <a:xfrm>
              <a:off x="4825" y="2198"/>
              <a:ext cx="0" cy="4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00480" name="Line 96"/>
            <p:cNvSpPr>
              <a:spLocks noChangeShapeType="1"/>
            </p:cNvSpPr>
            <p:nvPr/>
          </p:nvSpPr>
          <p:spPr bwMode="auto">
            <a:xfrm>
              <a:off x="4921" y="2159"/>
              <a:ext cx="0" cy="28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00481" name="Line 97"/>
            <p:cNvSpPr>
              <a:spLocks noChangeShapeType="1"/>
            </p:cNvSpPr>
            <p:nvPr/>
          </p:nvSpPr>
          <p:spPr bwMode="auto">
            <a:xfrm flipH="1">
              <a:off x="4898" y="2159"/>
              <a:ext cx="23"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00482" name="Freeform 98"/>
            <p:cNvSpPr>
              <a:spLocks/>
            </p:cNvSpPr>
            <p:nvPr/>
          </p:nvSpPr>
          <p:spPr bwMode="auto">
            <a:xfrm>
              <a:off x="4825" y="2124"/>
              <a:ext cx="79" cy="68"/>
            </a:xfrm>
            <a:custGeom>
              <a:avLst/>
              <a:gdLst>
                <a:gd name="T0" fmla="*/ 79 w 79"/>
                <a:gd name="T1" fmla="*/ 68 h 68"/>
                <a:gd name="T2" fmla="*/ 0 w 79"/>
                <a:gd name="T3" fmla="*/ 35 h 68"/>
                <a:gd name="T4" fmla="*/ 79 w 79"/>
                <a:gd name="T5" fmla="*/ 0 h 68"/>
                <a:gd name="T6" fmla="*/ 79 w 79"/>
                <a:gd name="T7" fmla="*/ 68 h 68"/>
              </a:gdLst>
              <a:ahLst/>
              <a:cxnLst>
                <a:cxn ang="0">
                  <a:pos x="T0" y="T1"/>
                </a:cxn>
                <a:cxn ang="0">
                  <a:pos x="T2" y="T3"/>
                </a:cxn>
                <a:cxn ang="0">
                  <a:pos x="T4" y="T5"/>
                </a:cxn>
                <a:cxn ang="0">
                  <a:pos x="T6" y="T7"/>
                </a:cxn>
              </a:cxnLst>
              <a:rect l="0" t="0" r="r" b="b"/>
              <a:pathLst>
                <a:path w="79" h="68">
                  <a:moveTo>
                    <a:pt x="79" y="68"/>
                  </a:moveTo>
                  <a:lnTo>
                    <a:pt x="0" y="35"/>
                  </a:lnTo>
                  <a:lnTo>
                    <a:pt x="79" y="0"/>
                  </a:lnTo>
                  <a:lnTo>
                    <a:pt x="79" y="6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00483" name="Line 99"/>
            <p:cNvSpPr>
              <a:spLocks noChangeShapeType="1"/>
            </p:cNvSpPr>
            <p:nvPr/>
          </p:nvSpPr>
          <p:spPr bwMode="auto">
            <a:xfrm>
              <a:off x="4825" y="2218"/>
              <a:ext cx="96"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00484" name="Freeform 100"/>
            <p:cNvSpPr>
              <a:spLocks/>
            </p:cNvSpPr>
            <p:nvPr/>
          </p:nvSpPr>
          <p:spPr bwMode="auto">
            <a:xfrm>
              <a:off x="4825" y="1858"/>
              <a:ext cx="96" cy="240"/>
            </a:xfrm>
            <a:custGeom>
              <a:avLst/>
              <a:gdLst>
                <a:gd name="T0" fmla="*/ 0 w 96"/>
                <a:gd name="T1" fmla="*/ 240 h 240"/>
                <a:gd name="T2" fmla="*/ 96 w 96"/>
                <a:gd name="T3" fmla="*/ 240 h 240"/>
                <a:gd name="T4" fmla="*/ 96 w 96"/>
                <a:gd name="T5" fmla="*/ 0 h 240"/>
              </a:gdLst>
              <a:ahLst/>
              <a:cxnLst>
                <a:cxn ang="0">
                  <a:pos x="T0" y="T1"/>
                </a:cxn>
                <a:cxn ang="0">
                  <a:pos x="T2" y="T3"/>
                </a:cxn>
                <a:cxn ang="0">
                  <a:pos x="T4" y="T5"/>
                </a:cxn>
              </a:cxnLst>
              <a:rect l="0" t="0" r="r" b="b"/>
              <a:pathLst>
                <a:path w="96" h="240">
                  <a:moveTo>
                    <a:pt x="0" y="240"/>
                  </a:moveTo>
                  <a:lnTo>
                    <a:pt x="96" y="240"/>
                  </a:lnTo>
                  <a:lnTo>
                    <a:pt x="96" y="0"/>
                  </a:lnTo>
                </a:path>
              </a:pathLst>
            </a:custGeom>
            <a:noFill/>
            <a:ln w="9525">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400485" name="Line 101"/>
            <p:cNvSpPr>
              <a:spLocks noChangeShapeType="1"/>
            </p:cNvSpPr>
            <p:nvPr/>
          </p:nvSpPr>
          <p:spPr bwMode="auto">
            <a:xfrm>
              <a:off x="5364" y="1697"/>
              <a:ext cx="0" cy="16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00486" name="Freeform 102"/>
            <p:cNvSpPr>
              <a:spLocks/>
            </p:cNvSpPr>
            <p:nvPr/>
          </p:nvSpPr>
          <p:spPr bwMode="auto">
            <a:xfrm>
              <a:off x="5434" y="1537"/>
              <a:ext cx="26" cy="171"/>
            </a:xfrm>
            <a:custGeom>
              <a:avLst/>
              <a:gdLst>
                <a:gd name="T0" fmla="*/ 0 w 26"/>
                <a:gd name="T1" fmla="*/ 171 h 171"/>
                <a:gd name="T2" fmla="*/ 26 w 26"/>
                <a:gd name="T3" fmla="*/ 160 h 171"/>
                <a:gd name="T4" fmla="*/ 26 w 26"/>
                <a:gd name="T5" fmla="*/ 0 h 171"/>
              </a:gdLst>
              <a:ahLst/>
              <a:cxnLst>
                <a:cxn ang="0">
                  <a:pos x="T0" y="T1"/>
                </a:cxn>
                <a:cxn ang="0">
                  <a:pos x="T2" y="T3"/>
                </a:cxn>
                <a:cxn ang="0">
                  <a:pos x="T4" y="T5"/>
                </a:cxn>
              </a:cxnLst>
              <a:rect l="0" t="0" r="r" b="b"/>
              <a:pathLst>
                <a:path w="26" h="171">
                  <a:moveTo>
                    <a:pt x="0" y="171"/>
                  </a:moveTo>
                  <a:lnTo>
                    <a:pt x="26" y="160"/>
                  </a:lnTo>
                  <a:lnTo>
                    <a:pt x="26" y="0"/>
                  </a:lnTo>
                </a:path>
              </a:pathLst>
            </a:custGeom>
            <a:noFill/>
            <a:ln w="9525">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400487" name="Freeform 103"/>
            <p:cNvSpPr>
              <a:spLocks/>
            </p:cNvSpPr>
            <p:nvPr/>
          </p:nvSpPr>
          <p:spPr bwMode="auto">
            <a:xfrm>
              <a:off x="5364" y="1673"/>
              <a:ext cx="85" cy="65"/>
            </a:xfrm>
            <a:custGeom>
              <a:avLst/>
              <a:gdLst>
                <a:gd name="T0" fmla="*/ 85 w 85"/>
                <a:gd name="T1" fmla="*/ 65 h 65"/>
                <a:gd name="T2" fmla="*/ 0 w 85"/>
                <a:gd name="T3" fmla="*/ 65 h 65"/>
                <a:gd name="T4" fmla="*/ 67 w 85"/>
                <a:gd name="T5" fmla="*/ 0 h 65"/>
                <a:gd name="T6" fmla="*/ 85 w 85"/>
                <a:gd name="T7" fmla="*/ 65 h 65"/>
              </a:gdLst>
              <a:ahLst/>
              <a:cxnLst>
                <a:cxn ang="0">
                  <a:pos x="T0" y="T1"/>
                </a:cxn>
                <a:cxn ang="0">
                  <a:pos x="T2" y="T3"/>
                </a:cxn>
                <a:cxn ang="0">
                  <a:pos x="T4" y="T5"/>
                </a:cxn>
                <a:cxn ang="0">
                  <a:pos x="T6" y="T7"/>
                </a:cxn>
              </a:cxnLst>
              <a:rect l="0" t="0" r="r" b="b"/>
              <a:pathLst>
                <a:path w="85" h="65">
                  <a:moveTo>
                    <a:pt x="85" y="65"/>
                  </a:moveTo>
                  <a:lnTo>
                    <a:pt x="0" y="65"/>
                  </a:lnTo>
                  <a:lnTo>
                    <a:pt x="67" y="0"/>
                  </a:lnTo>
                  <a:lnTo>
                    <a:pt x="85" y="6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00488" name="Freeform 104"/>
            <p:cNvSpPr>
              <a:spLocks/>
            </p:cNvSpPr>
            <p:nvPr/>
          </p:nvSpPr>
          <p:spPr bwMode="auto">
            <a:xfrm>
              <a:off x="5364" y="1817"/>
              <a:ext cx="96" cy="201"/>
            </a:xfrm>
            <a:custGeom>
              <a:avLst/>
              <a:gdLst>
                <a:gd name="T0" fmla="*/ 0 w 96"/>
                <a:gd name="T1" fmla="*/ 0 h 201"/>
                <a:gd name="T2" fmla="*/ 96 w 96"/>
                <a:gd name="T3" fmla="*/ 41 h 201"/>
                <a:gd name="T4" fmla="*/ 96 w 96"/>
                <a:gd name="T5" fmla="*/ 201 h 201"/>
              </a:gdLst>
              <a:ahLst/>
              <a:cxnLst>
                <a:cxn ang="0">
                  <a:pos x="T0" y="T1"/>
                </a:cxn>
                <a:cxn ang="0">
                  <a:pos x="T2" y="T3"/>
                </a:cxn>
                <a:cxn ang="0">
                  <a:pos x="T4" y="T5"/>
                </a:cxn>
              </a:cxnLst>
              <a:rect l="0" t="0" r="r" b="b"/>
              <a:pathLst>
                <a:path w="96" h="201">
                  <a:moveTo>
                    <a:pt x="0" y="0"/>
                  </a:moveTo>
                  <a:lnTo>
                    <a:pt x="96" y="41"/>
                  </a:lnTo>
                  <a:lnTo>
                    <a:pt x="96" y="201"/>
                  </a:lnTo>
                </a:path>
              </a:pathLst>
            </a:custGeom>
            <a:noFill/>
            <a:ln w="9525">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400489" name="Line 105"/>
            <p:cNvSpPr>
              <a:spLocks noChangeShapeType="1"/>
            </p:cNvSpPr>
            <p:nvPr/>
          </p:nvSpPr>
          <p:spPr bwMode="auto">
            <a:xfrm flipH="1">
              <a:off x="5269" y="1778"/>
              <a:ext cx="95"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00490" name="Line 106"/>
            <p:cNvSpPr>
              <a:spLocks noChangeShapeType="1"/>
            </p:cNvSpPr>
            <p:nvPr/>
          </p:nvSpPr>
          <p:spPr bwMode="auto">
            <a:xfrm flipH="1">
              <a:off x="4921" y="1778"/>
              <a:ext cx="94"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00491" name="Freeform 107"/>
            <p:cNvSpPr>
              <a:spLocks/>
            </p:cNvSpPr>
            <p:nvPr/>
          </p:nvSpPr>
          <p:spPr bwMode="auto">
            <a:xfrm>
              <a:off x="4921" y="1979"/>
              <a:ext cx="539" cy="519"/>
            </a:xfrm>
            <a:custGeom>
              <a:avLst/>
              <a:gdLst>
                <a:gd name="T0" fmla="*/ 0 w 539"/>
                <a:gd name="T1" fmla="*/ 440 h 519"/>
                <a:gd name="T2" fmla="*/ 0 w 539"/>
                <a:gd name="T3" fmla="*/ 519 h 519"/>
                <a:gd name="T4" fmla="*/ 539 w 539"/>
                <a:gd name="T5" fmla="*/ 519 h 519"/>
                <a:gd name="T6" fmla="*/ 539 w 539"/>
                <a:gd name="T7" fmla="*/ 0 h 519"/>
              </a:gdLst>
              <a:ahLst/>
              <a:cxnLst>
                <a:cxn ang="0">
                  <a:pos x="T0" y="T1"/>
                </a:cxn>
                <a:cxn ang="0">
                  <a:pos x="T2" y="T3"/>
                </a:cxn>
                <a:cxn ang="0">
                  <a:pos x="T4" y="T5"/>
                </a:cxn>
                <a:cxn ang="0">
                  <a:pos x="T6" y="T7"/>
                </a:cxn>
              </a:cxnLst>
              <a:rect l="0" t="0" r="r" b="b"/>
              <a:pathLst>
                <a:path w="539" h="519">
                  <a:moveTo>
                    <a:pt x="0" y="440"/>
                  </a:moveTo>
                  <a:lnTo>
                    <a:pt x="0" y="519"/>
                  </a:lnTo>
                  <a:lnTo>
                    <a:pt x="539" y="519"/>
                  </a:lnTo>
                  <a:lnTo>
                    <a:pt x="539" y="0"/>
                  </a:lnTo>
                </a:path>
              </a:pathLst>
            </a:custGeom>
            <a:noFill/>
            <a:ln w="9525">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400492" name="Line 108"/>
            <p:cNvSpPr>
              <a:spLocks noChangeShapeType="1"/>
            </p:cNvSpPr>
            <p:nvPr/>
          </p:nvSpPr>
          <p:spPr bwMode="auto">
            <a:xfrm flipV="1">
              <a:off x="4921" y="1778"/>
              <a:ext cx="0" cy="96"/>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00493" name="Line 109"/>
            <p:cNvSpPr>
              <a:spLocks noChangeShapeType="1"/>
            </p:cNvSpPr>
            <p:nvPr/>
          </p:nvSpPr>
          <p:spPr bwMode="auto">
            <a:xfrm>
              <a:off x="5460" y="1241"/>
              <a:ext cx="0" cy="108"/>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00494" name="Freeform 110"/>
            <p:cNvSpPr>
              <a:spLocks/>
            </p:cNvSpPr>
            <p:nvPr/>
          </p:nvSpPr>
          <p:spPr bwMode="auto">
            <a:xfrm>
              <a:off x="5440" y="1191"/>
              <a:ext cx="40" cy="50"/>
            </a:xfrm>
            <a:custGeom>
              <a:avLst/>
              <a:gdLst>
                <a:gd name="T0" fmla="*/ 20 w 40"/>
                <a:gd name="T1" fmla="*/ 50 h 50"/>
                <a:gd name="T2" fmla="*/ 24 w 40"/>
                <a:gd name="T3" fmla="*/ 50 h 50"/>
                <a:gd name="T4" fmla="*/ 27 w 40"/>
                <a:gd name="T5" fmla="*/ 49 h 50"/>
                <a:gd name="T6" fmla="*/ 31 w 40"/>
                <a:gd name="T7" fmla="*/ 46 h 50"/>
                <a:gd name="T8" fmla="*/ 33 w 40"/>
                <a:gd name="T9" fmla="*/ 42 h 50"/>
                <a:gd name="T10" fmla="*/ 36 w 40"/>
                <a:gd name="T11" fmla="*/ 39 h 50"/>
                <a:gd name="T12" fmla="*/ 37 w 40"/>
                <a:gd name="T13" fmla="*/ 35 h 50"/>
                <a:gd name="T14" fmla="*/ 38 w 40"/>
                <a:gd name="T15" fmla="*/ 30 h 50"/>
                <a:gd name="T16" fmla="*/ 40 w 40"/>
                <a:gd name="T17" fmla="*/ 25 h 50"/>
                <a:gd name="T18" fmla="*/ 38 w 40"/>
                <a:gd name="T19" fmla="*/ 21 h 50"/>
                <a:gd name="T20" fmla="*/ 37 w 40"/>
                <a:gd name="T21" fmla="*/ 16 h 50"/>
                <a:gd name="T22" fmla="*/ 36 w 40"/>
                <a:gd name="T23" fmla="*/ 11 h 50"/>
                <a:gd name="T24" fmla="*/ 33 w 40"/>
                <a:gd name="T25" fmla="*/ 8 h 50"/>
                <a:gd name="T26" fmla="*/ 31 w 40"/>
                <a:gd name="T27" fmla="*/ 5 h 50"/>
                <a:gd name="T28" fmla="*/ 27 w 40"/>
                <a:gd name="T29" fmla="*/ 2 h 50"/>
                <a:gd name="T30" fmla="*/ 24 w 40"/>
                <a:gd name="T31" fmla="*/ 0 h 50"/>
                <a:gd name="T32" fmla="*/ 20 w 40"/>
                <a:gd name="T33" fmla="*/ 0 h 50"/>
                <a:gd name="T34" fmla="*/ 20 w 40"/>
                <a:gd name="T35" fmla="*/ 0 h 50"/>
                <a:gd name="T36" fmla="*/ 15 w 40"/>
                <a:gd name="T37" fmla="*/ 0 h 50"/>
                <a:gd name="T38" fmla="*/ 11 w 40"/>
                <a:gd name="T39" fmla="*/ 2 h 50"/>
                <a:gd name="T40" fmla="*/ 9 w 40"/>
                <a:gd name="T41" fmla="*/ 5 h 50"/>
                <a:gd name="T42" fmla="*/ 5 w 40"/>
                <a:gd name="T43" fmla="*/ 8 h 50"/>
                <a:gd name="T44" fmla="*/ 3 w 40"/>
                <a:gd name="T45" fmla="*/ 11 h 50"/>
                <a:gd name="T46" fmla="*/ 1 w 40"/>
                <a:gd name="T47" fmla="*/ 16 h 50"/>
                <a:gd name="T48" fmla="*/ 0 w 40"/>
                <a:gd name="T49" fmla="*/ 21 h 50"/>
                <a:gd name="T50" fmla="*/ 0 w 40"/>
                <a:gd name="T51" fmla="*/ 25 h 50"/>
                <a:gd name="T52" fmla="*/ 0 w 40"/>
                <a:gd name="T53" fmla="*/ 30 h 50"/>
                <a:gd name="T54" fmla="*/ 1 w 40"/>
                <a:gd name="T55" fmla="*/ 35 h 50"/>
                <a:gd name="T56" fmla="*/ 3 w 40"/>
                <a:gd name="T57" fmla="*/ 39 h 50"/>
                <a:gd name="T58" fmla="*/ 5 w 40"/>
                <a:gd name="T59" fmla="*/ 42 h 50"/>
                <a:gd name="T60" fmla="*/ 9 w 40"/>
                <a:gd name="T61" fmla="*/ 46 h 50"/>
                <a:gd name="T62" fmla="*/ 11 w 40"/>
                <a:gd name="T63" fmla="*/ 49 h 50"/>
                <a:gd name="T64" fmla="*/ 15 w 40"/>
                <a:gd name="T65" fmla="*/ 50 h 50"/>
                <a:gd name="T66" fmla="*/ 20 w 40"/>
                <a:gd name="T67" fmla="*/ 50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40" h="50">
                  <a:moveTo>
                    <a:pt x="20" y="50"/>
                  </a:moveTo>
                  <a:lnTo>
                    <a:pt x="24" y="50"/>
                  </a:lnTo>
                  <a:lnTo>
                    <a:pt x="27" y="49"/>
                  </a:lnTo>
                  <a:lnTo>
                    <a:pt x="31" y="46"/>
                  </a:lnTo>
                  <a:lnTo>
                    <a:pt x="33" y="42"/>
                  </a:lnTo>
                  <a:lnTo>
                    <a:pt x="36" y="39"/>
                  </a:lnTo>
                  <a:lnTo>
                    <a:pt x="37" y="35"/>
                  </a:lnTo>
                  <a:lnTo>
                    <a:pt x="38" y="30"/>
                  </a:lnTo>
                  <a:lnTo>
                    <a:pt x="40" y="25"/>
                  </a:lnTo>
                  <a:lnTo>
                    <a:pt x="38" y="21"/>
                  </a:lnTo>
                  <a:lnTo>
                    <a:pt x="37" y="16"/>
                  </a:lnTo>
                  <a:lnTo>
                    <a:pt x="36" y="11"/>
                  </a:lnTo>
                  <a:lnTo>
                    <a:pt x="33" y="8"/>
                  </a:lnTo>
                  <a:lnTo>
                    <a:pt x="31" y="5"/>
                  </a:lnTo>
                  <a:lnTo>
                    <a:pt x="27" y="2"/>
                  </a:lnTo>
                  <a:lnTo>
                    <a:pt x="24" y="0"/>
                  </a:lnTo>
                  <a:lnTo>
                    <a:pt x="20" y="0"/>
                  </a:lnTo>
                  <a:lnTo>
                    <a:pt x="20" y="0"/>
                  </a:lnTo>
                  <a:lnTo>
                    <a:pt x="15" y="0"/>
                  </a:lnTo>
                  <a:lnTo>
                    <a:pt x="11" y="2"/>
                  </a:lnTo>
                  <a:lnTo>
                    <a:pt x="9" y="5"/>
                  </a:lnTo>
                  <a:lnTo>
                    <a:pt x="5" y="8"/>
                  </a:lnTo>
                  <a:lnTo>
                    <a:pt x="3" y="11"/>
                  </a:lnTo>
                  <a:lnTo>
                    <a:pt x="1" y="16"/>
                  </a:lnTo>
                  <a:lnTo>
                    <a:pt x="0" y="21"/>
                  </a:lnTo>
                  <a:lnTo>
                    <a:pt x="0" y="25"/>
                  </a:lnTo>
                  <a:lnTo>
                    <a:pt x="0" y="30"/>
                  </a:lnTo>
                  <a:lnTo>
                    <a:pt x="1" y="35"/>
                  </a:lnTo>
                  <a:lnTo>
                    <a:pt x="3" y="39"/>
                  </a:lnTo>
                  <a:lnTo>
                    <a:pt x="5" y="42"/>
                  </a:lnTo>
                  <a:lnTo>
                    <a:pt x="9" y="46"/>
                  </a:lnTo>
                  <a:lnTo>
                    <a:pt x="11" y="49"/>
                  </a:lnTo>
                  <a:lnTo>
                    <a:pt x="15" y="50"/>
                  </a:lnTo>
                  <a:lnTo>
                    <a:pt x="20" y="50"/>
                  </a:lnTo>
                </a:path>
              </a:pathLst>
            </a:custGeom>
            <a:noFill/>
            <a:ln w="9525">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400495" name="Freeform 111"/>
            <p:cNvSpPr>
              <a:spLocks/>
            </p:cNvSpPr>
            <p:nvPr/>
          </p:nvSpPr>
          <p:spPr bwMode="auto">
            <a:xfrm>
              <a:off x="5433" y="1340"/>
              <a:ext cx="53" cy="102"/>
            </a:xfrm>
            <a:custGeom>
              <a:avLst/>
              <a:gdLst>
                <a:gd name="T0" fmla="*/ 53 w 53"/>
                <a:gd name="T1" fmla="*/ 0 h 102"/>
                <a:gd name="T2" fmla="*/ 27 w 53"/>
                <a:gd name="T3" fmla="*/ 102 h 102"/>
                <a:gd name="T4" fmla="*/ 0 w 53"/>
                <a:gd name="T5" fmla="*/ 0 h 102"/>
                <a:gd name="T6" fmla="*/ 53 w 53"/>
                <a:gd name="T7" fmla="*/ 0 h 102"/>
              </a:gdLst>
              <a:ahLst/>
              <a:cxnLst>
                <a:cxn ang="0">
                  <a:pos x="T0" y="T1"/>
                </a:cxn>
                <a:cxn ang="0">
                  <a:pos x="T2" y="T3"/>
                </a:cxn>
                <a:cxn ang="0">
                  <a:pos x="T4" y="T5"/>
                </a:cxn>
                <a:cxn ang="0">
                  <a:pos x="T6" y="T7"/>
                </a:cxn>
              </a:cxnLst>
              <a:rect l="0" t="0" r="r" b="b"/>
              <a:pathLst>
                <a:path w="53" h="102">
                  <a:moveTo>
                    <a:pt x="53" y="0"/>
                  </a:moveTo>
                  <a:lnTo>
                    <a:pt x="27" y="102"/>
                  </a:lnTo>
                  <a:lnTo>
                    <a:pt x="0" y="0"/>
                  </a:lnTo>
                  <a:lnTo>
                    <a:pt x="53"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00496" name="Line 112"/>
            <p:cNvSpPr>
              <a:spLocks noChangeShapeType="1"/>
            </p:cNvSpPr>
            <p:nvPr/>
          </p:nvSpPr>
          <p:spPr bwMode="auto">
            <a:xfrm flipH="1">
              <a:off x="5028" y="1778"/>
              <a:ext cx="23"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00497" name="Freeform 113"/>
            <p:cNvSpPr>
              <a:spLocks/>
            </p:cNvSpPr>
            <p:nvPr/>
          </p:nvSpPr>
          <p:spPr bwMode="auto">
            <a:xfrm>
              <a:off x="4955" y="1744"/>
              <a:ext cx="80" cy="67"/>
            </a:xfrm>
            <a:custGeom>
              <a:avLst/>
              <a:gdLst>
                <a:gd name="T0" fmla="*/ 80 w 80"/>
                <a:gd name="T1" fmla="*/ 0 h 67"/>
                <a:gd name="T2" fmla="*/ 0 w 80"/>
                <a:gd name="T3" fmla="*/ 34 h 67"/>
                <a:gd name="T4" fmla="*/ 80 w 80"/>
                <a:gd name="T5" fmla="*/ 67 h 67"/>
                <a:gd name="T6" fmla="*/ 80 w 80"/>
                <a:gd name="T7" fmla="*/ 0 h 67"/>
              </a:gdLst>
              <a:ahLst/>
              <a:cxnLst>
                <a:cxn ang="0">
                  <a:pos x="T0" y="T1"/>
                </a:cxn>
                <a:cxn ang="0">
                  <a:pos x="T2" y="T3"/>
                </a:cxn>
                <a:cxn ang="0">
                  <a:pos x="T4" y="T5"/>
                </a:cxn>
                <a:cxn ang="0">
                  <a:pos x="T6" y="T7"/>
                </a:cxn>
              </a:cxnLst>
              <a:rect l="0" t="0" r="r" b="b"/>
              <a:pathLst>
                <a:path w="80" h="67">
                  <a:moveTo>
                    <a:pt x="80" y="0"/>
                  </a:moveTo>
                  <a:lnTo>
                    <a:pt x="0" y="34"/>
                  </a:lnTo>
                  <a:lnTo>
                    <a:pt x="80" y="67"/>
                  </a:lnTo>
                  <a:lnTo>
                    <a:pt x="8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00498" name="Line 114"/>
            <p:cNvSpPr>
              <a:spLocks noChangeShapeType="1"/>
            </p:cNvSpPr>
            <p:nvPr/>
          </p:nvSpPr>
          <p:spPr bwMode="auto">
            <a:xfrm flipV="1">
              <a:off x="5187" y="2498"/>
              <a:ext cx="0" cy="137"/>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00499" name="Freeform 115"/>
            <p:cNvSpPr>
              <a:spLocks/>
            </p:cNvSpPr>
            <p:nvPr/>
          </p:nvSpPr>
          <p:spPr bwMode="auto">
            <a:xfrm>
              <a:off x="5167" y="2635"/>
              <a:ext cx="40" cy="50"/>
            </a:xfrm>
            <a:custGeom>
              <a:avLst/>
              <a:gdLst>
                <a:gd name="T0" fmla="*/ 20 w 40"/>
                <a:gd name="T1" fmla="*/ 0 h 50"/>
                <a:gd name="T2" fmla="*/ 24 w 40"/>
                <a:gd name="T3" fmla="*/ 0 h 50"/>
                <a:gd name="T4" fmla="*/ 28 w 40"/>
                <a:gd name="T5" fmla="*/ 1 h 50"/>
                <a:gd name="T6" fmla="*/ 30 w 40"/>
                <a:gd name="T7" fmla="*/ 3 h 50"/>
                <a:gd name="T8" fmla="*/ 34 w 40"/>
                <a:gd name="T9" fmla="*/ 6 h 50"/>
                <a:gd name="T10" fmla="*/ 36 w 40"/>
                <a:gd name="T11" fmla="*/ 11 h 50"/>
                <a:gd name="T12" fmla="*/ 37 w 40"/>
                <a:gd name="T13" fmla="*/ 15 h 50"/>
                <a:gd name="T14" fmla="*/ 39 w 40"/>
                <a:gd name="T15" fmla="*/ 20 h 50"/>
                <a:gd name="T16" fmla="*/ 40 w 40"/>
                <a:gd name="T17" fmla="*/ 25 h 50"/>
                <a:gd name="T18" fmla="*/ 39 w 40"/>
                <a:gd name="T19" fmla="*/ 29 h 50"/>
                <a:gd name="T20" fmla="*/ 37 w 40"/>
                <a:gd name="T21" fmla="*/ 34 h 50"/>
                <a:gd name="T22" fmla="*/ 36 w 40"/>
                <a:gd name="T23" fmla="*/ 39 h 50"/>
                <a:gd name="T24" fmla="*/ 34 w 40"/>
                <a:gd name="T25" fmla="*/ 42 h 50"/>
                <a:gd name="T26" fmla="*/ 30 w 40"/>
                <a:gd name="T27" fmla="*/ 45 h 50"/>
                <a:gd name="T28" fmla="*/ 28 w 40"/>
                <a:gd name="T29" fmla="*/ 48 h 50"/>
                <a:gd name="T30" fmla="*/ 24 w 40"/>
                <a:gd name="T31" fmla="*/ 48 h 50"/>
                <a:gd name="T32" fmla="*/ 20 w 40"/>
                <a:gd name="T33" fmla="*/ 50 h 50"/>
                <a:gd name="T34" fmla="*/ 20 w 40"/>
                <a:gd name="T35" fmla="*/ 50 h 50"/>
                <a:gd name="T36" fmla="*/ 15 w 40"/>
                <a:gd name="T37" fmla="*/ 48 h 50"/>
                <a:gd name="T38" fmla="*/ 11 w 40"/>
                <a:gd name="T39" fmla="*/ 48 h 50"/>
                <a:gd name="T40" fmla="*/ 9 w 40"/>
                <a:gd name="T41" fmla="*/ 45 h 50"/>
                <a:gd name="T42" fmla="*/ 5 w 40"/>
                <a:gd name="T43" fmla="*/ 42 h 50"/>
                <a:gd name="T44" fmla="*/ 3 w 40"/>
                <a:gd name="T45" fmla="*/ 39 h 50"/>
                <a:gd name="T46" fmla="*/ 2 w 40"/>
                <a:gd name="T47" fmla="*/ 34 h 50"/>
                <a:gd name="T48" fmla="*/ 0 w 40"/>
                <a:gd name="T49" fmla="*/ 29 h 50"/>
                <a:gd name="T50" fmla="*/ 0 w 40"/>
                <a:gd name="T51" fmla="*/ 25 h 50"/>
                <a:gd name="T52" fmla="*/ 0 w 40"/>
                <a:gd name="T53" fmla="*/ 20 h 50"/>
                <a:gd name="T54" fmla="*/ 2 w 40"/>
                <a:gd name="T55" fmla="*/ 15 h 50"/>
                <a:gd name="T56" fmla="*/ 3 w 40"/>
                <a:gd name="T57" fmla="*/ 11 h 50"/>
                <a:gd name="T58" fmla="*/ 5 w 40"/>
                <a:gd name="T59" fmla="*/ 6 h 50"/>
                <a:gd name="T60" fmla="*/ 9 w 40"/>
                <a:gd name="T61" fmla="*/ 3 h 50"/>
                <a:gd name="T62" fmla="*/ 11 w 40"/>
                <a:gd name="T63" fmla="*/ 1 h 50"/>
                <a:gd name="T64" fmla="*/ 15 w 40"/>
                <a:gd name="T65" fmla="*/ 0 h 50"/>
                <a:gd name="T66" fmla="*/ 20 w 40"/>
                <a:gd name="T67" fmla="*/ 0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40" h="50">
                  <a:moveTo>
                    <a:pt x="20" y="0"/>
                  </a:moveTo>
                  <a:lnTo>
                    <a:pt x="24" y="0"/>
                  </a:lnTo>
                  <a:lnTo>
                    <a:pt x="28" y="1"/>
                  </a:lnTo>
                  <a:lnTo>
                    <a:pt x="30" y="3"/>
                  </a:lnTo>
                  <a:lnTo>
                    <a:pt x="34" y="6"/>
                  </a:lnTo>
                  <a:lnTo>
                    <a:pt x="36" y="11"/>
                  </a:lnTo>
                  <a:lnTo>
                    <a:pt x="37" y="15"/>
                  </a:lnTo>
                  <a:lnTo>
                    <a:pt x="39" y="20"/>
                  </a:lnTo>
                  <a:lnTo>
                    <a:pt x="40" y="25"/>
                  </a:lnTo>
                  <a:lnTo>
                    <a:pt x="39" y="29"/>
                  </a:lnTo>
                  <a:lnTo>
                    <a:pt x="37" y="34"/>
                  </a:lnTo>
                  <a:lnTo>
                    <a:pt x="36" y="39"/>
                  </a:lnTo>
                  <a:lnTo>
                    <a:pt x="34" y="42"/>
                  </a:lnTo>
                  <a:lnTo>
                    <a:pt x="30" y="45"/>
                  </a:lnTo>
                  <a:lnTo>
                    <a:pt x="28" y="48"/>
                  </a:lnTo>
                  <a:lnTo>
                    <a:pt x="24" y="48"/>
                  </a:lnTo>
                  <a:lnTo>
                    <a:pt x="20" y="50"/>
                  </a:lnTo>
                  <a:lnTo>
                    <a:pt x="20" y="50"/>
                  </a:lnTo>
                  <a:lnTo>
                    <a:pt x="15" y="48"/>
                  </a:lnTo>
                  <a:lnTo>
                    <a:pt x="11" y="48"/>
                  </a:lnTo>
                  <a:lnTo>
                    <a:pt x="9" y="45"/>
                  </a:lnTo>
                  <a:lnTo>
                    <a:pt x="5" y="42"/>
                  </a:lnTo>
                  <a:lnTo>
                    <a:pt x="3" y="39"/>
                  </a:lnTo>
                  <a:lnTo>
                    <a:pt x="2" y="34"/>
                  </a:lnTo>
                  <a:lnTo>
                    <a:pt x="0" y="29"/>
                  </a:lnTo>
                  <a:lnTo>
                    <a:pt x="0" y="25"/>
                  </a:lnTo>
                  <a:lnTo>
                    <a:pt x="0" y="20"/>
                  </a:lnTo>
                  <a:lnTo>
                    <a:pt x="2" y="15"/>
                  </a:lnTo>
                  <a:lnTo>
                    <a:pt x="3" y="11"/>
                  </a:lnTo>
                  <a:lnTo>
                    <a:pt x="5" y="6"/>
                  </a:lnTo>
                  <a:lnTo>
                    <a:pt x="9" y="3"/>
                  </a:lnTo>
                  <a:lnTo>
                    <a:pt x="11" y="1"/>
                  </a:lnTo>
                  <a:lnTo>
                    <a:pt x="15" y="0"/>
                  </a:lnTo>
                  <a:lnTo>
                    <a:pt x="20" y="0"/>
                  </a:lnTo>
                </a:path>
              </a:pathLst>
            </a:custGeom>
            <a:noFill/>
            <a:ln w="9525">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400500" name="Rectangle 116"/>
            <p:cNvSpPr>
              <a:spLocks noChangeArrowheads="1"/>
            </p:cNvSpPr>
            <p:nvPr/>
          </p:nvSpPr>
          <p:spPr bwMode="auto">
            <a:xfrm>
              <a:off x="4539" y="2123"/>
              <a:ext cx="104" cy="1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marL="342900" indent="-342900"/>
              <a:r>
                <a:rPr lang="en-US" altLang="zh-CN" sz="1800">
                  <a:solidFill>
                    <a:srgbClr val="000000"/>
                  </a:solidFill>
                  <a:latin typeface="Times New Roman" pitchFamily="18" charset="0"/>
                </a:rPr>
                <a:t>G</a:t>
              </a:r>
              <a:endParaRPr lang="en-US" altLang="zh-CN"/>
            </a:p>
          </p:txBody>
        </p:sp>
        <p:sp>
          <p:nvSpPr>
            <p:cNvPr id="400501" name="Rectangle 117"/>
            <p:cNvSpPr>
              <a:spLocks noChangeArrowheads="1"/>
            </p:cNvSpPr>
            <p:nvPr/>
          </p:nvSpPr>
          <p:spPr bwMode="auto">
            <a:xfrm>
              <a:off x="5140" y="2686"/>
              <a:ext cx="88" cy="1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marL="342900" indent="-342900"/>
              <a:r>
                <a:rPr lang="en-US" altLang="zh-CN" sz="1800">
                  <a:solidFill>
                    <a:srgbClr val="000000"/>
                  </a:solidFill>
                  <a:latin typeface="Times New Roman" pitchFamily="18" charset="0"/>
                </a:rPr>
                <a:t>E</a:t>
              </a:r>
              <a:endParaRPr lang="en-US" altLang="zh-CN"/>
            </a:p>
          </p:txBody>
        </p:sp>
        <p:sp>
          <p:nvSpPr>
            <p:cNvPr id="400502" name="Rectangle 118"/>
            <p:cNvSpPr>
              <a:spLocks noChangeArrowheads="1"/>
            </p:cNvSpPr>
            <p:nvPr/>
          </p:nvSpPr>
          <p:spPr bwMode="auto">
            <a:xfrm>
              <a:off x="5496" y="1111"/>
              <a:ext cx="96" cy="1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marL="342900" indent="-342900"/>
              <a:r>
                <a:rPr lang="en-US" altLang="zh-CN" sz="1800">
                  <a:solidFill>
                    <a:srgbClr val="000000"/>
                  </a:solidFill>
                  <a:latin typeface="Times New Roman" pitchFamily="18" charset="0"/>
                </a:rPr>
                <a:t>C</a:t>
              </a:r>
              <a:endParaRPr lang="en-US" altLang="zh-CN"/>
            </a:p>
          </p:txBody>
        </p:sp>
        <p:sp>
          <p:nvSpPr>
            <p:cNvPr id="400503" name="Rectangle 119"/>
            <p:cNvSpPr>
              <a:spLocks noChangeArrowheads="1"/>
            </p:cNvSpPr>
            <p:nvPr/>
          </p:nvSpPr>
          <p:spPr bwMode="auto">
            <a:xfrm>
              <a:off x="5371" y="1434"/>
              <a:ext cx="81" cy="1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marL="342900" indent="-342900"/>
              <a:r>
                <a:rPr lang="en-US" altLang="zh-CN" sz="1800">
                  <a:solidFill>
                    <a:srgbClr val="000000"/>
                  </a:solidFill>
                  <a:latin typeface="Times New Roman" pitchFamily="18" charset="0"/>
                </a:rPr>
                <a:t>+</a:t>
              </a:r>
              <a:endParaRPr lang="en-US" altLang="zh-CN"/>
            </a:p>
          </p:txBody>
        </p:sp>
        <p:sp>
          <p:nvSpPr>
            <p:cNvPr id="400504" name="Line 120"/>
            <p:cNvSpPr>
              <a:spLocks noChangeShapeType="1"/>
            </p:cNvSpPr>
            <p:nvPr/>
          </p:nvSpPr>
          <p:spPr bwMode="auto">
            <a:xfrm flipV="1">
              <a:off x="5460" y="1417"/>
              <a:ext cx="0" cy="16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00505" name="Rectangle 121"/>
            <p:cNvSpPr>
              <a:spLocks noChangeArrowheads="1"/>
            </p:cNvSpPr>
            <p:nvPr/>
          </p:nvSpPr>
          <p:spPr bwMode="auto">
            <a:xfrm>
              <a:off x="5279" y="1640"/>
              <a:ext cx="72" cy="1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marL="342900" indent="-342900"/>
              <a:r>
                <a:rPr lang="en-US" altLang="zh-CN" sz="1800">
                  <a:solidFill>
                    <a:srgbClr val="000000"/>
                  </a:solidFill>
                  <a:latin typeface="宋体" pitchFamily="2" charset="-122"/>
                  <a:ea typeface="宋体" pitchFamily="2" charset="-122"/>
                </a:rPr>
                <a:t>-</a:t>
              </a:r>
              <a:endParaRPr lang="en-US" altLang="zh-CN"/>
            </a:p>
          </p:txBody>
        </p:sp>
        <p:sp>
          <p:nvSpPr>
            <p:cNvPr id="400506" name="Rectangle 122"/>
            <p:cNvSpPr>
              <a:spLocks noChangeArrowheads="1"/>
            </p:cNvSpPr>
            <p:nvPr/>
          </p:nvSpPr>
          <p:spPr bwMode="auto">
            <a:xfrm>
              <a:off x="5269" y="1773"/>
              <a:ext cx="81" cy="1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marL="342900" indent="-342900"/>
              <a:r>
                <a:rPr lang="en-US" altLang="zh-CN" sz="1800">
                  <a:solidFill>
                    <a:srgbClr val="000000"/>
                  </a:solidFill>
                  <a:latin typeface="Times New Roman" pitchFamily="18" charset="0"/>
                </a:rPr>
                <a:t>+</a:t>
              </a:r>
              <a:endParaRPr lang="en-US" altLang="zh-CN"/>
            </a:p>
          </p:txBody>
        </p:sp>
        <p:sp>
          <p:nvSpPr>
            <p:cNvPr id="400507" name="Rectangle 123"/>
            <p:cNvSpPr>
              <a:spLocks noChangeArrowheads="1"/>
            </p:cNvSpPr>
            <p:nvPr/>
          </p:nvSpPr>
          <p:spPr bwMode="auto">
            <a:xfrm>
              <a:off x="4992" y="1779"/>
              <a:ext cx="72" cy="1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marL="342900" indent="-342900"/>
              <a:r>
                <a:rPr lang="en-US" altLang="zh-CN" sz="1800">
                  <a:solidFill>
                    <a:srgbClr val="000000"/>
                  </a:solidFill>
                  <a:latin typeface="宋体" pitchFamily="2" charset="-122"/>
                  <a:ea typeface="宋体" pitchFamily="2" charset="-122"/>
                </a:rPr>
                <a:t>-</a:t>
              </a:r>
              <a:endParaRPr lang="en-US" altLang="zh-CN"/>
            </a:p>
          </p:txBody>
        </p:sp>
        <p:sp>
          <p:nvSpPr>
            <p:cNvPr id="400508" name="Rectangle 124"/>
            <p:cNvSpPr>
              <a:spLocks noChangeArrowheads="1"/>
            </p:cNvSpPr>
            <p:nvPr/>
          </p:nvSpPr>
          <p:spPr bwMode="auto">
            <a:xfrm>
              <a:off x="4952" y="1955"/>
              <a:ext cx="81" cy="1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marL="342900" indent="-342900"/>
              <a:r>
                <a:rPr lang="en-US" altLang="zh-CN" sz="1800">
                  <a:solidFill>
                    <a:srgbClr val="000000"/>
                  </a:solidFill>
                  <a:latin typeface="Times New Roman" pitchFamily="18" charset="0"/>
                </a:rPr>
                <a:t>+</a:t>
              </a:r>
              <a:endParaRPr lang="en-US" altLang="zh-CN"/>
            </a:p>
          </p:txBody>
        </p:sp>
        <p:sp>
          <p:nvSpPr>
            <p:cNvPr id="400509" name="Rectangle 125"/>
            <p:cNvSpPr>
              <a:spLocks noChangeArrowheads="1"/>
            </p:cNvSpPr>
            <p:nvPr/>
          </p:nvSpPr>
          <p:spPr bwMode="auto">
            <a:xfrm>
              <a:off x="4949" y="2201"/>
              <a:ext cx="72" cy="1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marL="342900" indent="-342900"/>
              <a:r>
                <a:rPr lang="en-US" altLang="zh-CN" sz="1800">
                  <a:solidFill>
                    <a:srgbClr val="000000"/>
                  </a:solidFill>
                  <a:latin typeface="宋体" pitchFamily="2" charset="-122"/>
                  <a:ea typeface="宋体" pitchFamily="2" charset="-122"/>
                </a:rPr>
                <a:t>-</a:t>
              </a:r>
              <a:endParaRPr lang="en-US" altLang="zh-CN"/>
            </a:p>
          </p:txBody>
        </p:sp>
        <p:sp>
          <p:nvSpPr>
            <p:cNvPr id="400510" name="Rectangle 126"/>
            <p:cNvSpPr>
              <a:spLocks noChangeArrowheads="1"/>
            </p:cNvSpPr>
            <p:nvPr/>
          </p:nvSpPr>
          <p:spPr bwMode="auto">
            <a:xfrm>
              <a:off x="4938" y="1537"/>
              <a:ext cx="48" cy="1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marL="342900" indent="-342900"/>
              <a:r>
                <a:rPr lang="en-US" altLang="zh-CN" sz="1800" i="1">
                  <a:solidFill>
                    <a:srgbClr val="000000"/>
                  </a:solidFill>
                  <a:latin typeface="Times New Roman" pitchFamily="18" charset="0"/>
                </a:rPr>
                <a:t>I</a:t>
              </a:r>
              <a:endParaRPr lang="en-US" altLang="zh-CN"/>
            </a:p>
          </p:txBody>
        </p:sp>
        <p:sp>
          <p:nvSpPr>
            <p:cNvPr id="400511" name="Rectangle 127"/>
            <p:cNvSpPr>
              <a:spLocks noChangeArrowheads="1"/>
            </p:cNvSpPr>
            <p:nvPr/>
          </p:nvSpPr>
          <p:spPr bwMode="auto">
            <a:xfrm>
              <a:off x="4975" y="1626"/>
              <a:ext cx="69" cy="1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marL="342900" indent="-342900"/>
              <a:r>
                <a:rPr lang="en-US" altLang="zh-CN" sz="1200">
                  <a:solidFill>
                    <a:srgbClr val="000000"/>
                  </a:solidFill>
                  <a:latin typeface="Times New Roman" pitchFamily="18" charset="0"/>
                </a:rPr>
                <a:t>D</a:t>
              </a:r>
              <a:endParaRPr lang="en-US" altLang="zh-CN"/>
            </a:p>
          </p:txBody>
        </p:sp>
        <p:sp>
          <p:nvSpPr>
            <p:cNvPr id="400512" name="Rectangle 128"/>
            <p:cNvSpPr>
              <a:spLocks noChangeArrowheads="1"/>
            </p:cNvSpPr>
            <p:nvPr/>
          </p:nvSpPr>
          <p:spPr bwMode="auto">
            <a:xfrm>
              <a:off x="5084" y="1537"/>
              <a:ext cx="88" cy="1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marL="342900" indent="-342900"/>
              <a:r>
                <a:rPr lang="en-US" altLang="zh-CN" sz="1800" i="1">
                  <a:solidFill>
                    <a:srgbClr val="000000"/>
                  </a:solidFill>
                  <a:latin typeface="Times New Roman" pitchFamily="18" charset="0"/>
                </a:rPr>
                <a:t>R</a:t>
              </a:r>
              <a:endParaRPr lang="en-US" altLang="zh-CN"/>
            </a:p>
          </p:txBody>
        </p:sp>
        <p:sp>
          <p:nvSpPr>
            <p:cNvPr id="400513" name="Rectangle 129"/>
            <p:cNvSpPr>
              <a:spLocks noChangeArrowheads="1"/>
            </p:cNvSpPr>
            <p:nvPr/>
          </p:nvSpPr>
          <p:spPr bwMode="auto">
            <a:xfrm>
              <a:off x="5154" y="1626"/>
              <a:ext cx="69" cy="1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marL="342900" indent="-342900"/>
              <a:r>
                <a:rPr lang="en-US" altLang="zh-CN" sz="1200">
                  <a:solidFill>
                    <a:srgbClr val="000000"/>
                  </a:solidFill>
                  <a:latin typeface="Times New Roman" pitchFamily="18" charset="0"/>
                </a:rPr>
                <a:t>N</a:t>
              </a:r>
              <a:endParaRPr lang="en-US" altLang="zh-CN"/>
            </a:p>
          </p:txBody>
        </p:sp>
        <p:sp>
          <p:nvSpPr>
            <p:cNvPr id="400514" name="Rectangle 130"/>
            <p:cNvSpPr>
              <a:spLocks noChangeArrowheads="1"/>
            </p:cNvSpPr>
            <p:nvPr/>
          </p:nvSpPr>
          <p:spPr bwMode="auto">
            <a:xfrm>
              <a:off x="5519" y="1312"/>
              <a:ext cx="48" cy="1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marL="342900" indent="-342900"/>
              <a:r>
                <a:rPr lang="en-US" altLang="zh-CN" sz="1800" i="1">
                  <a:solidFill>
                    <a:srgbClr val="000000"/>
                  </a:solidFill>
                  <a:latin typeface="Times New Roman" pitchFamily="18" charset="0"/>
                </a:rPr>
                <a:t>I</a:t>
              </a:r>
              <a:endParaRPr lang="en-US" altLang="zh-CN"/>
            </a:p>
          </p:txBody>
        </p:sp>
        <p:sp>
          <p:nvSpPr>
            <p:cNvPr id="400515" name="Rectangle 131"/>
            <p:cNvSpPr>
              <a:spLocks noChangeArrowheads="1"/>
            </p:cNvSpPr>
            <p:nvPr/>
          </p:nvSpPr>
          <p:spPr bwMode="auto">
            <a:xfrm>
              <a:off x="5557" y="1401"/>
              <a:ext cx="64" cy="1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marL="342900" indent="-342900"/>
              <a:r>
                <a:rPr lang="en-US" altLang="zh-CN" sz="1200">
                  <a:solidFill>
                    <a:srgbClr val="000000"/>
                  </a:solidFill>
                  <a:latin typeface="Times New Roman" pitchFamily="18" charset="0"/>
                </a:rPr>
                <a:t>C</a:t>
              </a:r>
              <a:endParaRPr lang="en-US" altLang="zh-CN"/>
            </a:p>
          </p:txBody>
        </p:sp>
        <p:sp>
          <p:nvSpPr>
            <p:cNvPr id="400516" name="Rectangle 132"/>
            <p:cNvSpPr>
              <a:spLocks noChangeArrowheads="1"/>
            </p:cNvSpPr>
            <p:nvPr/>
          </p:nvSpPr>
          <p:spPr bwMode="auto">
            <a:xfrm>
              <a:off x="5239" y="1487"/>
              <a:ext cx="104" cy="1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marL="342900" indent="-342900"/>
              <a:r>
                <a:rPr lang="en-US" altLang="zh-CN" sz="1800">
                  <a:solidFill>
                    <a:srgbClr val="000000"/>
                  </a:solidFill>
                  <a:latin typeface="Times New Roman" pitchFamily="18" charset="0"/>
                </a:rPr>
                <a:t>V</a:t>
              </a:r>
              <a:endParaRPr lang="en-US" altLang="zh-CN"/>
            </a:p>
          </p:txBody>
        </p:sp>
        <p:sp>
          <p:nvSpPr>
            <p:cNvPr id="400517" name="Rectangle 133"/>
            <p:cNvSpPr>
              <a:spLocks noChangeArrowheads="1"/>
            </p:cNvSpPr>
            <p:nvPr/>
          </p:nvSpPr>
          <p:spPr bwMode="auto">
            <a:xfrm>
              <a:off x="5320" y="1576"/>
              <a:ext cx="85" cy="1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marL="342900" indent="-342900"/>
              <a:r>
                <a:rPr lang="en-US" altLang="zh-CN" sz="1200">
                  <a:solidFill>
                    <a:srgbClr val="000000"/>
                  </a:solidFill>
                  <a:latin typeface="Times New Roman" pitchFamily="18" charset="0"/>
                </a:rPr>
                <a:t>J1</a:t>
              </a:r>
              <a:endParaRPr lang="en-US" altLang="zh-CN"/>
            </a:p>
          </p:txBody>
        </p:sp>
        <p:sp>
          <p:nvSpPr>
            <p:cNvPr id="400518" name="Rectangle 134"/>
            <p:cNvSpPr>
              <a:spLocks noChangeArrowheads="1"/>
            </p:cNvSpPr>
            <p:nvPr/>
          </p:nvSpPr>
          <p:spPr bwMode="auto">
            <a:xfrm>
              <a:off x="4958" y="2063"/>
              <a:ext cx="48" cy="1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marL="342900" indent="-342900"/>
              <a:r>
                <a:rPr lang="en-US" altLang="zh-CN" sz="1800" i="1">
                  <a:solidFill>
                    <a:srgbClr val="000000"/>
                  </a:solidFill>
                  <a:latin typeface="Times New Roman" pitchFamily="18" charset="0"/>
                </a:rPr>
                <a:t>I</a:t>
              </a:r>
              <a:endParaRPr lang="en-US" altLang="zh-CN"/>
            </a:p>
          </p:txBody>
        </p:sp>
        <p:sp>
          <p:nvSpPr>
            <p:cNvPr id="400519" name="Rectangle 135"/>
            <p:cNvSpPr>
              <a:spLocks noChangeArrowheads="1"/>
            </p:cNvSpPr>
            <p:nvPr/>
          </p:nvSpPr>
          <p:spPr bwMode="auto">
            <a:xfrm>
              <a:off x="4995" y="2152"/>
              <a:ext cx="69" cy="1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marL="342900" indent="-342900"/>
              <a:r>
                <a:rPr lang="en-US" altLang="zh-CN" sz="1200">
                  <a:solidFill>
                    <a:srgbClr val="000000"/>
                  </a:solidFill>
                  <a:latin typeface="Times New Roman" pitchFamily="18" charset="0"/>
                </a:rPr>
                <a:t>D</a:t>
              </a:r>
              <a:endParaRPr lang="en-US" altLang="zh-CN"/>
            </a:p>
          </p:txBody>
        </p:sp>
        <p:sp>
          <p:nvSpPr>
            <p:cNvPr id="400520" name="Rectangle 136"/>
            <p:cNvSpPr>
              <a:spLocks noChangeArrowheads="1"/>
            </p:cNvSpPr>
            <p:nvPr/>
          </p:nvSpPr>
          <p:spPr bwMode="auto">
            <a:xfrm>
              <a:off x="5048" y="2063"/>
              <a:ext cx="88" cy="1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marL="342900" indent="-342900"/>
              <a:r>
                <a:rPr lang="en-US" altLang="zh-CN" sz="1800" i="1">
                  <a:solidFill>
                    <a:srgbClr val="000000"/>
                  </a:solidFill>
                  <a:latin typeface="Times New Roman" pitchFamily="18" charset="0"/>
                </a:rPr>
                <a:t>R</a:t>
              </a:r>
              <a:endParaRPr lang="en-US" altLang="zh-CN"/>
            </a:p>
          </p:txBody>
        </p:sp>
        <p:sp>
          <p:nvSpPr>
            <p:cNvPr id="400521" name="Rectangle 137"/>
            <p:cNvSpPr>
              <a:spLocks noChangeArrowheads="1"/>
            </p:cNvSpPr>
            <p:nvPr/>
          </p:nvSpPr>
          <p:spPr bwMode="auto">
            <a:xfrm>
              <a:off x="5116" y="2152"/>
              <a:ext cx="96" cy="1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marL="342900" indent="-342900"/>
              <a:r>
                <a:rPr lang="en-US" altLang="zh-CN" sz="1200">
                  <a:solidFill>
                    <a:srgbClr val="000000"/>
                  </a:solidFill>
                  <a:latin typeface="Times New Roman" pitchFamily="18" charset="0"/>
                </a:rPr>
                <a:t>on</a:t>
              </a:r>
              <a:endParaRPr lang="en-US" altLang="zh-CN"/>
            </a:p>
          </p:txBody>
        </p:sp>
        <p:sp>
          <p:nvSpPr>
            <p:cNvPr id="400522" name="Rectangle 138"/>
            <p:cNvSpPr>
              <a:spLocks noChangeArrowheads="1"/>
            </p:cNvSpPr>
            <p:nvPr/>
          </p:nvSpPr>
          <p:spPr bwMode="auto">
            <a:xfrm>
              <a:off x="5126" y="2954"/>
              <a:ext cx="72" cy="1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marL="342900" indent="-342900"/>
              <a:r>
                <a:rPr lang="en-US" altLang="zh-CN" sz="1800">
                  <a:solidFill>
                    <a:srgbClr val="000000"/>
                  </a:solidFill>
                  <a:latin typeface="Times New Roman" pitchFamily="18" charset="0"/>
                </a:rPr>
                <a:t>b</a:t>
              </a:r>
              <a:endParaRPr lang="en-US" altLang="zh-CN"/>
            </a:p>
          </p:txBody>
        </p:sp>
        <p:sp>
          <p:nvSpPr>
            <p:cNvPr id="400523" name="Rectangle 139"/>
            <p:cNvSpPr>
              <a:spLocks noChangeArrowheads="1"/>
            </p:cNvSpPr>
            <p:nvPr/>
          </p:nvSpPr>
          <p:spPr bwMode="auto">
            <a:xfrm>
              <a:off x="5182" y="2960"/>
              <a:ext cx="72" cy="1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marL="342900" indent="-342900"/>
              <a:r>
                <a:rPr lang="en-US" altLang="zh-CN" sz="1800">
                  <a:solidFill>
                    <a:srgbClr val="000000"/>
                  </a:solidFill>
                  <a:latin typeface="宋体" pitchFamily="2" charset="-122"/>
                  <a:ea typeface="宋体" pitchFamily="2" charset="-122"/>
                </a:rPr>
                <a:t>)</a:t>
              </a:r>
              <a:endParaRPr lang="en-US" altLang="zh-CN"/>
            </a:p>
          </p:txBody>
        </p:sp>
      </p:grpSp>
      <p:sp>
        <p:nvSpPr>
          <p:cNvPr id="2" name="灯片编号占位符 1"/>
          <p:cNvSpPr>
            <a:spLocks noGrp="1"/>
          </p:cNvSpPr>
          <p:nvPr>
            <p:ph type="sldNum" sz="quarter" idx="12"/>
          </p:nvPr>
        </p:nvSpPr>
        <p:spPr/>
        <p:txBody>
          <a:bodyPr/>
          <a:lstStyle/>
          <a:p>
            <a:fld id="{0C913308-F349-4B6D-A68A-DD1791B4A57B}" type="slidenum">
              <a:rPr lang="zh-CN" altLang="en-US" smtClean="0"/>
              <a:t>10</a:t>
            </a:fld>
            <a:endParaRPr lang="zh-CN" altLang="en-US"/>
          </a:p>
        </p:txBody>
      </p:sp>
      <p:sp>
        <p:nvSpPr>
          <p:cNvPr id="3" name="日期占位符 2"/>
          <p:cNvSpPr>
            <a:spLocks noGrp="1"/>
          </p:cNvSpPr>
          <p:nvPr>
            <p:ph type="dt" sz="half" idx="10"/>
          </p:nvPr>
        </p:nvSpPr>
        <p:spPr/>
        <p:txBody>
          <a:bodyPr/>
          <a:lstStyle/>
          <a:p>
            <a:fld id="{E54B14F4-45A1-4E4E-911C-9F8F3154BE38}" type="datetime10">
              <a:rPr lang="zh-CN" altLang="en-US" smtClean="0"/>
              <a:t>14:22</a:t>
            </a:fld>
            <a:endParaRPr lang="zh-CN" altLang="en-US"/>
          </a:p>
        </p:txBody>
      </p:sp>
    </p:spTree>
    <p:extLst>
      <p:ext uri="{BB962C8B-B14F-4D97-AF65-F5344CB8AC3E}">
        <p14:creationId xmlns:p14="http://schemas.microsoft.com/office/powerpoint/2010/main" val="222201680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00387">
                                            <p:txEl>
                                              <p:pRg st="0" end="0"/>
                                            </p:txEl>
                                          </p:spTgt>
                                        </p:tgtEl>
                                        <p:attrNameLst>
                                          <p:attrName>style.visibility</p:attrName>
                                        </p:attrNameLst>
                                      </p:cBhvr>
                                      <p:to>
                                        <p:strVal val="visible"/>
                                      </p:to>
                                    </p:set>
                                    <p:animEffect transition="in" filter="blinds(horizontal)">
                                      <p:cBhvr>
                                        <p:cTn id="7" dur="500"/>
                                        <p:tgtEl>
                                          <p:spTgt spid="400387">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400387">
                                            <p:txEl>
                                              <p:pRg st="1" end="1"/>
                                            </p:txEl>
                                          </p:spTgt>
                                        </p:tgtEl>
                                        <p:attrNameLst>
                                          <p:attrName>style.visibility</p:attrName>
                                        </p:attrNameLst>
                                      </p:cBhvr>
                                      <p:to>
                                        <p:strVal val="visible"/>
                                      </p:to>
                                    </p:set>
                                    <p:animEffect transition="in" filter="blinds(horizontal)">
                                      <p:cBhvr>
                                        <p:cTn id="12" dur="500"/>
                                        <p:tgtEl>
                                          <p:spTgt spid="400387">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400387">
                                            <p:txEl>
                                              <p:pRg st="2" end="2"/>
                                            </p:txEl>
                                          </p:spTgt>
                                        </p:tgtEl>
                                        <p:attrNameLst>
                                          <p:attrName>style.visibility</p:attrName>
                                        </p:attrNameLst>
                                      </p:cBhvr>
                                      <p:to>
                                        <p:strVal val="visible"/>
                                      </p:to>
                                    </p:set>
                                    <p:animEffect transition="in" filter="blinds(horizontal)">
                                      <p:cBhvr>
                                        <p:cTn id="17" dur="500"/>
                                        <p:tgtEl>
                                          <p:spTgt spid="400387">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400387">
                                            <p:txEl>
                                              <p:pRg st="3" end="3"/>
                                            </p:txEl>
                                          </p:spTgt>
                                        </p:tgtEl>
                                        <p:attrNameLst>
                                          <p:attrName>style.visibility</p:attrName>
                                        </p:attrNameLst>
                                      </p:cBhvr>
                                      <p:to>
                                        <p:strVal val="visible"/>
                                      </p:to>
                                    </p:set>
                                    <p:animEffect transition="in" filter="blinds(horizontal)">
                                      <p:cBhvr>
                                        <p:cTn id="22" dur="500"/>
                                        <p:tgtEl>
                                          <p:spTgt spid="400387">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0387" grpId="0" build="p" bldLvl="2" autoUpdateAnimBg="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6290" name="Rectangle 2"/>
          <p:cNvSpPr>
            <a:spLocks noGrp="1" noChangeArrowheads="1"/>
          </p:cNvSpPr>
          <p:nvPr>
            <p:ph type="title"/>
          </p:nvPr>
        </p:nvSpPr>
        <p:spPr/>
        <p:txBody>
          <a:bodyPr/>
          <a:lstStyle/>
          <a:p>
            <a:r>
              <a:rPr lang="en-US" altLang="zh-CN" sz="4000" b="1" dirty="0">
                <a:latin typeface="Arial" pitchFamily="34" charset="0"/>
              </a:rPr>
              <a:t>IGBT</a:t>
            </a:r>
            <a:r>
              <a:rPr lang="zh-CN" altLang="en-US" sz="4000" b="1" dirty="0">
                <a:latin typeface="Arial" pitchFamily="34" charset="0"/>
              </a:rPr>
              <a:t>的微观导通机理</a:t>
            </a:r>
          </a:p>
        </p:txBody>
      </p:sp>
      <p:pic>
        <p:nvPicPr>
          <p:cNvPr id="7" name="图片 6"/>
          <p:cNvPicPr>
            <a:picLocks noChangeAspect="1"/>
          </p:cNvPicPr>
          <p:nvPr/>
        </p:nvPicPr>
        <p:blipFill>
          <a:blip r:embed="rId3"/>
          <a:stretch>
            <a:fillRect/>
          </a:stretch>
        </p:blipFill>
        <p:spPr>
          <a:xfrm>
            <a:off x="3419872" y="3494021"/>
            <a:ext cx="3190875" cy="2686050"/>
          </a:xfrm>
          <a:prstGeom prst="rect">
            <a:avLst/>
          </a:prstGeom>
        </p:spPr>
      </p:pic>
      <p:sp>
        <p:nvSpPr>
          <p:cNvPr id="5" name="日期占位符 4"/>
          <p:cNvSpPr>
            <a:spLocks noGrp="1"/>
          </p:cNvSpPr>
          <p:nvPr>
            <p:ph type="dt" sz="half" idx="10"/>
          </p:nvPr>
        </p:nvSpPr>
        <p:spPr/>
        <p:txBody>
          <a:bodyPr/>
          <a:lstStyle/>
          <a:p>
            <a:fld id="{FF27005D-EB65-4C0F-88C7-D6B82F7637F0}" type="datetime10">
              <a:rPr lang="zh-CN" altLang="en-US" smtClean="0"/>
              <a:t>14:38</a:t>
            </a:fld>
            <a:endParaRPr lang="zh-CN" altLang="en-US"/>
          </a:p>
        </p:txBody>
      </p:sp>
      <mc:AlternateContent xmlns:mc="http://schemas.openxmlformats.org/markup-compatibility/2006">
        <mc:Choice xmlns:a14="http://schemas.microsoft.com/office/drawing/2010/main" Requires="a14">
          <p:sp>
            <p:nvSpPr>
              <p:cNvPr id="10" name="文本框 9">
                <a:extLst>
                  <a:ext uri="{FF2B5EF4-FFF2-40B4-BE49-F238E27FC236}">
                    <a16:creationId xmlns:a16="http://schemas.microsoft.com/office/drawing/2014/main" id="{766ABE80-4CDB-4F79-94DF-7974D06959DC}"/>
                  </a:ext>
                </a:extLst>
              </p:cNvPr>
              <p:cNvSpPr txBox="1"/>
              <p:nvPr/>
            </p:nvSpPr>
            <p:spPr>
              <a:xfrm>
                <a:off x="851544" y="836712"/>
                <a:ext cx="7499188" cy="2605585"/>
              </a:xfrm>
              <a:prstGeom prst="rect">
                <a:avLst/>
              </a:prstGeom>
              <a:noFill/>
            </p:spPr>
            <p:txBody>
              <a:bodyPr wrap="square">
                <a:spAutoFit/>
              </a:bodyPr>
              <a:lstStyle/>
              <a:p>
                <a:pPr>
                  <a:lnSpc>
                    <a:spcPct val="150000"/>
                  </a:lnSpc>
                </a:pPr>
                <a:r>
                  <a:rPr lang="en-US" altLang="zh-CN" sz="1800" b="1" dirty="0">
                    <a:latin typeface="Arial" pitchFamily="34" charset="0"/>
                  </a:rPr>
                  <a:t>1</a:t>
                </a:r>
                <a:r>
                  <a:rPr lang="zh-CN" altLang="en-US" sz="1800" b="1" dirty="0">
                    <a:latin typeface="Arial" pitchFamily="34" charset="0"/>
                  </a:rPr>
                  <a:t>、</a:t>
                </a:r>
                <a:r>
                  <a:rPr lang="en-US" altLang="zh-CN" sz="1800" b="1" dirty="0">
                    <a:latin typeface="Arial" pitchFamily="34" charset="0"/>
                  </a:rPr>
                  <a:t>V</a:t>
                </a:r>
                <a:r>
                  <a:rPr lang="en-US" altLang="zh-CN" sz="1800" b="1" baseline="-30000" dirty="0">
                    <a:latin typeface="Arial" pitchFamily="34" charset="0"/>
                  </a:rPr>
                  <a:t>GE</a:t>
                </a:r>
                <a:r>
                  <a:rPr lang="zh-CN" altLang="en-US" sz="1800" b="1" dirty="0">
                    <a:latin typeface="Arial" pitchFamily="34" charset="0"/>
                  </a:rPr>
                  <a:t>电压大于门槛电压，栅极下面形成</a:t>
                </a:r>
                <a:r>
                  <a:rPr lang="zh-CN" altLang="en-US" sz="1800" b="1" dirty="0">
                    <a:solidFill>
                      <a:srgbClr val="9900FF"/>
                    </a:solidFill>
                    <a:latin typeface="Arial" pitchFamily="34" charset="0"/>
                  </a:rPr>
                  <a:t>导电沟道，</a:t>
                </a:r>
                <a:r>
                  <a:rPr lang="en-US" altLang="zh-CN" b="1" dirty="0">
                    <a:latin typeface="Arial" pitchFamily="34" charset="0"/>
                  </a:rPr>
                  <a:t>E</a:t>
                </a:r>
                <a:r>
                  <a:rPr lang="zh-CN" altLang="en-US" b="1" dirty="0">
                    <a:latin typeface="Arial" pitchFamily="34" charset="0"/>
                  </a:rPr>
                  <a:t>极下面的</a:t>
                </a:r>
                <a:r>
                  <a:rPr lang="en-US" altLang="zh-CN" b="1" dirty="0">
                    <a:solidFill>
                      <a:srgbClr val="0000FF"/>
                    </a:solidFill>
                    <a:latin typeface="Arial" pitchFamily="34" charset="0"/>
                  </a:rPr>
                  <a:t>P</a:t>
                </a:r>
                <a:r>
                  <a:rPr lang="zh-CN" altLang="en-US" b="1" dirty="0">
                    <a:solidFill>
                      <a:srgbClr val="0000FF"/>
                    </a:solidFill>
                    <a:latin typeface="Arial" pitchFamily="34" charset="0"/>
                  </a:rPr>
                  <a:t>型半导体分成两部分</a:t>
                </a:r>
                <a:r>
                  <a:rPr lang="zh-CN" altLang="en-US" b="1" dirty="0">
                    <a:latin typeface="Arial" pitchFamily="34" charset="0"/>
                  </a:rPr>
                  <a:t>：</a:t>
                </a:r>
                <a:r>
                  <a:rPr lang="en-US" altLang="zh-CN" b="1" dirty="0">
                    <a:latin typeface="Arial" pitchFamily="34" charset="0"/>
                  </a:rPr>
                  <a:t>1</a:t>
                </a:r>
                <a:r>
                  <a:rPr lang="zh-CN" altLang="en-US" b="1" dirty="0">
                    <a:latin typeface="Arial" pitchFamily="34" charset="0"/>
                  </a:rPr>
                  <a:t>）、反型层；</a:t>
                </a:r>
                <a:r>
                  <a:rPr lang="en-US" altLang="zh-CN" b="1" dirty="0">
                    <a:latin typeface="Arial" pitchFamily="34" charset="0"/>
                  </a:rPr>
                  <a:t>2</a:t>
                </a:r>
                <a:r>
                  <a:rPr lang="zh-CN" altLang="en-US" b="1" dirty="0">
                    <a:latin typeface="Arial" pitchFamily="34" charset="0"/>
                  </a:rPr>
                  <a:t>）、</a:t>
                </a:r>
                <a:r>
                  <a:rPr lang="en-US" altLang="zh-CN" b="1" dirty="0">
                    <a:latin typeface="Arial" pitchFamily="34" charset="0"/>
                  </a:rPr>
                  <a:t>P</a:t>
                </a:r>
                <a:r>
                  <a:rPr lang="zh-CN" altLang="en-US" b="1" dirty="0">
                    <a:latin typeface="Arial" pitchFamily="34" charset="0"/>
                  </a:rPr>
                  <a:t>型半导体。</a:t>
                </a:r>
                <a:endParaRPr lang="en-US" altLang="zh-CN" b="1" dirty="0">
                  <a:latin typeface="Arial" pitchFamily="34" charset="0"/>
                </a:endParaRPr>
              </a:p>
              <a:p>
                <a:pPr>
                  <a:lnSpc>
                    <a:spcPct val="150000"/>
                  </a:lnSpc>
                </a:pPr>
                <a:r>
                  <a:rPr lang="en-US" altLang="zh-CN" sz="1800" b="1" dirty="0">
                    <a:latin typeface="Arial" pitchFamily="34" charset="0"/>
                  </a:rPr>
                  <a:t>2</a:t>
                </a:r>
                <a:r>
                  <a:rPr lang="zh-CN" altLang="en-US" sz="1800" b="1" dirty="0">
                    <a:latin typeface="Arial" pitchFamily="34" charset="0"/>
                  </a:rPr>
                  <a:t>、外加正向电压：</a:t>
                </a:r>
                <a14:m>
                  <m:oMath xmlns:m="http://schemas.openxmlformats.org/officeDocument/2006/math">
                    <m:sSup>
                      <m:sSupPr>
                        <m:ctrlPr>
                          <a:rPr lang="en-US" altLang="zh-CN" sz="1800" b="1" i="1" smtClean="0">
                            <a:latin typeface="Cambria Math" panose="02040503050406030204" pitchFamily="18" charset="0"/>
                          </a:rPr>
                        </m:ctrlPr>
                      </m:sSupPr>
                      <m:e>
                        <m:r>
                          <a:rPr lang="en-US" altLang="zh-CN" b="1" i="1" smtClean="0">
                            <a:latin typeface="Cambria Math" panose="02040503050406030204" pitchFamily="18" charset="0"/>
                          </a:rPr>
                          <m:t>𝑷</m:t>
                        </m:r>
                      </m:e>
                      <m:sup>
                        <m:r>
                          <a:rPr lang="en-US" altLang="zh-CN" sz="1800" b="1" i="1" smtClean="0">
                            <a:latin typeface="Cambria Math" panose="02040503050406030204" pitchFamily="18" charset="0"/>
                          </a:rPr>
                          <m:t>+</m:t>
                        </m:r>
                      </m:sup>
                    </m:sSup>
                    <m:r>
                      <a:rPr lang="zh-CN" altLang="en-US" b="1" i="1" smtClean="0">
                        <a:latin typeface="Cambria Math" panose="02040503050406030204" pitchFamily="18" charset="0"/>
                      </a:rPr>
                      <m:t>注入区</m:t>
                    </m:r>
                  </m:oMath>
                </a14:m>
                <a:r>
                  <a:rPr lang="en-US" altLang="zh-CN" sz="1800" b="1" dirty="0">
                    <a:latin typeface="Arial" pitchFamily="34" charset="0"/>
                  </a:rPr>
                  <a:t>  </a:t>
                </a:r>
                <a:r>
                  <a:rPr lang="zh-CN" altLang="en-US" sz="1800" b="1" dirty="0">
                    <a:latin typeface="Arial" pitchFamily="34" charset="0"/>
                  </a:rPr>
                  <a:t>和 </a:t>
                </a:r>
                <a:r>
                  <a:rPr lang="en-US" altLang="zh-CN" sz="1800" b="1" dirty="0">
                    <a:solidFill>
                      <a:srgbClr val="9900FF"/>
                    </a:solidFill>
                    <a:latin typeface="Arial" pitchFamily="34" charset="0"/>
                  </a:rPr>
                  <a:t>MOSFET</a:t>
                </a:r>
                <a:r>
                  <a:rPr lang="zh-CN" altLang="en-US" b="1" dirty="0">
                    <a:solidFill>
                      <a:srgbClr val="9900FF"/>
                    </a:solidFill>
                    <a:latin typeface="Arial" pitchFamily="34" charset="0"/>
                  </a:rPr>
                  <a:t>导通</a:t>
                </a:r>
                <a:r>
                  <a:rPr lang="zh-CN" altLang="en-US" b="1" dirty="0">
                    <a:latin typeface="Arial" pitchFamily="34" charset="0"/>
                  </a:rPr>
                  <a:t>。</a:t>
                </a:r>
                <a:endParaRPr lang="en-US" altLang="zh-CN" b="1" dirty="0">
                  <a:latin typeface="Arial" pitchFamily="34" charset="0"/>
                </a:endParaRPr>
              </a:p>
              <a:p>
                <a:pPr>
                  <a:lnSpc>
                    <a:spcPct val="150000"/>
                  </a:lnSpc>
                </a:pPr>
                <a:r>
                  <a:rPr lang="en-US" altLang="zh-CN" b="1" dirty="0">
                    <a:latin typeface="Arial" pitchFamily="34" charset="0"/>
                  </a:rPr>
                  <a:t>3</a:t>
                </a:r>
                <a:r>
                  <a:rPr lang="zh-CN" altLang="en-US" b="1" dirty="0">
                    <a:latin typeface="Arial" pitchFamily="34" charset="0"/>
                  </a:rPr>
                  <a:t>、进一步：</a:t>
                </a:r>
                <a:r>
                  <a:rPr lang="zh-CN" altLang="en-US" b="1" dirty="0">
                    <a:solidFill>
                      <a:srgbClr val="9900FF"/>
                    </a:solidFill>
                    <a:latin typeface="Arial" pitchFamily="34" charset="0"/>
                  </a:rPr>
                  <a:t>反型层导电    扩展到    </a:t>
                </a:r>
                <a:r>
                  <a:rPr lang="en-US" altLang="zh-CN" b="1" dirty="0">
                    <a:solidFill>
                      <a:srgbClr val="9900FF"/>
                    </a:solidFill>
                    <a:latin typeface="Arial" pitchFamily="34" charset="0"/>
                  </a:rPr>
                  <a:t>P</a:t>
                </a:r>
                <a:r>
                  <a:rPr lang="zh-CN" altLang="en-US" b="1" dirty="0">
                    <a:solidFill>
                      <a:srgbClr val="9900FF"/>
                    </a:solidFill>
                    <a:latin typeface="Arial" pitchFamily="34" charset="0"/>
                  </a:rPr>
                  <a:t>型半导体导电，对应的是</a:t>
                </a:r>
                <a:r>
                  <a:rPr lang="en-US" altLang="zh-CN" sz="1800" b="1" dirty="0">
                    <a:solidFill>
                      <a:srgbClr val="9900FF"/>
                    </a:solidFill>
                    <a:latin typeface="Arial" pitchFamily="34" charset="0"/>
                  </a:rPr>
                  <a:t>MOSFET</a:t>
                </a:r>
                <a:r>
                  <a:rPr lang="zh-CN" altLang="en-US" b="1" dirty="0">
                    <a:solidFill>
                      <a:srgbClr val="9900FF"/>
                    </a:solidFill>
                    <a:latin typeface="Arial" pitchFamily="34" charset="0"/>
                  </a:rPr>
                  <a:t>导通再扩展到</a:t>
                </a:r>
                <a:r>
                  <a:rPr lang="en-US" altLang="zh-CN" b="1" dirty="0">
                    <a:solidFill>
                      <a:srgbClr val="9900FF"/>
                    </a:solidFill>
                    <a:latin typeface="Arial" pitchFamily="34" charset="0"/>
                  </a:rPr>
                  <a:t>PNP</a:t>
                </a:r>
                <a:r>
                  <a:rPr lang="zh-CN" altLang="en-US" b="1" dirty="0">
                    <a:solidFill>
                      <a:srgbClr val="9900FF"/>
                    </a:solidFill>
                    <a:latin typeface="Arial" pitchFamily="34" charset="0"/>
                  </a:rPr>
                  <a:t>晶体管导通，最后两者同时导通。</a:t>
                </a:r>
                <a:endParaRPr lang="en-US" altLang="zh-CN" b="1" dirty="0">
                  <a:solidFill>
                    <a:srgbClr val="9900FF"/>
                  </a:solidFill>
                  <a:latin typeface="Arial" pitchFamily="34" charset="0"/>
                </a:endParaRPr>
              </a:p>
              <a:p>
                <a:pPr>
                  <a:lnSpc>
                    <a:spcPct val="150000"/>
                  </a:lnSpc>
                </a:pPr>
                <a:r>
                  <a:rPr lang="en-US" altLang="zh-CN" b="1" dirty="0">
                    <a:latin typeface="Arial" pitchFamily="34" charset="0"/>
                  </a:rPr>
                  <a:t>4</a:t>
                </a:r>
                <a:r>
                  <a:rPr lang="zh-CN" altLang="en-US" b="1" dirty="0">
                    <a:latin typeface="Arial" pitchFamily="34" charset="0"/>
                  </a:rPr>
                  <a:t>、</a:t>
                </a:r>
                <a:r>
                  <a:rPr lang="zh-CN" altLang="en-US" b="1" dirty="0">
                    <a:solidFill>
                      <a:srgbClr val="0000FF"/>
                    </a:solidFill>
                    <a:latin typeface="Arial" pitchFamily="34" charset="0"/>
                  </a:rPr>
                  <a:t>整个器件导电：</a:t>
                </a:r>
                <a:r>
                  <a:rPr lang="zh-CN" altLang="en-US" b="1" dirty="0">
                    <a:solidFill>
                      <a:srgbClr val="9900FF"/>
                    </a:solidFill>
                    <a:latin typeface="Arial" pitchFamily="34" charset="0"/>
                  </a:rPr>
                  <a:t>主体以</a:t>
                </a:r>
                <a:r>
                  <a:rPr lang="en-US" altLang="zh-CN" b="1" dirty="0">
                    <a:solidFill>
                      <a:srgbClr val="9900FF"/>
                    </a:solidFill>
                    <a:latin typeface="Arial" pitchFamily="34" charset="0"/>
                  </a:rPr>
                  <a:t>PNP</a:t>
                </a:r>
                <a:r>
                  <a:rPr lang="zh-CN" altLang="en-US" b="1" dirty="0">
                    <a:solidFill>
                      <a:srgbClr val="9900FF"/>
                    </a:solidFill>
                    <a:latin typeface="Arial" pitchFamily="34" charset="0"/>
                  </a:rPr>
                  <a:t>晶体管导电为主</a:t>
                </a:r>
                <a:r>
                  <a:rPr lang="zh-CN" altLang="en-US" b="1" dirty="0">
                    <a:latin typeface="Arial" pitchFamily="34" charset="0"/>
                  </a:rPr>
                  <a:t>。</a:t>
                </a:r>
                <a:endParaRPr lang="zh-CN" altLang="en-US" b="1" dirty="0"/>
              </a:p>
            </p:txBody>
          </p:sp>
        </mc:Choice>
        <mc:Fallback>
          <p:sp>
            <p:nvSpPr>
              <p:cNvPr id="10" name="文本框 9">
                <a:extLst>
                  <a:ext uri="{FF2B5EF4-FFF2-40B4-BE49-F238E27FC236}">
                    <a16:creationId xmlns:a16="http://schemas.microsoft.com/office/drawing/2014/main" id="{766ABE80-4CDB-4F79-94DF-7974D06959DC}"/>
                  </a:ext>
                </a:extLst>
              </p:cNvPr>
              <p:cNvSpPr txBox="1">
                <a:spLocks noRot="1" noChangeAspect="1" noMove="1" noResize="1" noEditPoints="1" noAdjustHandles="1" noChangeArrowheads="1" noChangeShapeType="1" noTextEdit="1"/>
              </p:cNvSpPr>
              <p:nvPr/>
            </p:nvSpPr>
            <p:spPr>
              <a:xfrm>
                <a:off x="851544" y="836712"/>
                <a:ext cx="7499188" cy="2605585"/>
              </a:xfrm>
              <a:prstGeom prst="rect">
                <a:avLst/>
              </a:prstGeom>
              <a:blipFill>
                <a:blip r:embed="rId4"/>
                <a:stretch>
                  <a:fillRect l="-732" r="-244"/>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97295274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50" name="Rectangle 2"/>
          <p:cNvSpPr>
            <a:spLocks noGrp="1" noChangeArrowheads="1"/>
          </p:cNvSpPr>
          <p:nvPr>
            <p:ph type="title"/>
          </p:nvPr>
        </p:nvSpPr>
        <p:spPr>
          <a:xfrm>
            <a:off x="827088" y="261938"/>
            <a:ext cx="7848600" cy="428625"/>
          </a:xfrm>
        </p:spPr>
        <p:txBody>
          <a:bodyPr/>
          <a:lstStyle/>
          <a:p>
            <a:pPr algn="l"/>
            <a:r>
              <a:rPr lang="en-US" altLang="zh-CN" sz="3600" b="1">
                <a:solidFill>
                  <a:schemeClr val="tx1"/>
                </a:solidFill>
              </a:rPr>
              <a:t>2.4.4 </a:t>
            </a:r>
            <a:r>
              <a:rPr lang="zh-CN" altLang="en-US" sz="3600" b="1">
                <a:solidFill>
                  <a:schemeClr val="tx1"/>
                </a:solidFill>
              </a:rPr>
              <a:t>绝缘栅双极晶体管</a:t>
            </a:r>
          </a:p>
        </p:txBody>
      </p:sp>
      <p:sp>
        <p:nvSpPr>
          <p:cNvPr id="130051" name="Rectangle 3"/>
          <p:cNvSpPr>
            <a:spLocks noGrp="1" noChangeArrowheads="1"/>
          </p:cNvSpPr>
          <p:nvPr>
            <p:ph idx="1"/>
          </p:nvPr>
        </p:nvSpPr>
        <p:spPr>
          <a:xfrm>
            <a:off x="684213" y="871537"/>
            <a:ext cx="4463851" cy="4897437"/>
          </a:xfrm>
        </p:spPr>
        <p:txBody>
          <a:bodyPr/>
          <a:lstStyle/>
          <a:p>
            <a:pPr>
              <a:lnSpc>
                <a:spcPct val="125000"/>
              </a:lnSpc>
              <a:buFontTx/>
              <a:buNone/>
            </a:pPr>
            <a:r>
              <a:rPr lang="en-US" altLang="zh-CN" sz="2800" b="1" dirty="0">
                <a:solidFill>
                  <a:srgbClr val="E35449"/>
                </a:solidFill>
              </a:rPr>
              <a:t>■</a:t>
            </a:r>
            <a:r>
              <a:rPr lang="en-US" altLang="zh-CN" sz="2400" b="1" dirty="0"/>
              <a:t>IGBT</a:t>
            </a:r>
            <a:r>
              <a:rPr lang="zh-CN" altLang="en-US" sz="2400" b="1" dirty="0"/>
              <a:t>的基本特性</a:t>
            </a:r>
          </a:p>
          <a:p>
            <a:pPr>
              <a:lnSpc>
                <a:spcPct val="125000"/>
              </a:lnSpc>
              <a:buFontTx/>
              <a:buNone/>
            </a:pPr>
            <a:r>
              <a:rPr lang="zh-CN" altLang="en-US" sz="2400" dirty="0"/>
              <a:t>    </a:t>
            </a:r>
            <a:r>
              <a:rPr lang="zh-CN" altLang="en-US" sz="2400" b="1" dirty="0">
                <a:solidFill>
                  <a:srgbClr val="0000FF"/>
                </a:solidFill>
              </a:rPr>
              <a:t>◆</a:t>
            </a:r>
            <a:r>
              <a:rPr lang="zh-CN" altLang="en-US" sz="2400" b="1" dirty="0"/>
              <a:t>静态特性</a:t>
            </a:r>
          </a:p>
          <a:p>
            <a:pPr>
              <a:lnSpc>
                <a:spcPct val="125000"/>
              </a:lnSpc>
              <a:buFontTx/>
              <a:buNone/>
            </a:pPr>
            <a:r>
              <a:rPr lang="zh-CN" altLang="en-US" sz="2400" b="1" dirty="0"/>
              <a:t>        </a:t>
            </a:r>
            <a:r>
              <a:rPr lang="zh-CN" altLang="en-US" sz="2400" b="1" dirty="0">
                <a:solidFill>
                  <a:srgbClr val="009900"/>
                </a:solidFill>
              </a:rPr>
              <a:t>☞</a:t>
            </a:r>
            <a:r>
              <a:rPr lang="zh-CN" altLang="en-US" sz="2400" b="1" dirty="0"/>
              <a:t>转移特性</a:t>
            </a:r>
            <a:r>
              <a:rPr lang="zh-CN" altLang="en-US" sz="2400" dirty="0"/>
              <a:t> </a:t>
            </a:r>
          </a:p>
          <a:p>
            <a:pPr>
              <a:lnSpc>
                <a:spcPct val="125000"/>
              </a:lnSpc>
              <a:buFontTx/>
              <a:buNone/>
            </a:pPr>
            <a:r>
              <a:rPr lang="zh-CN" altLang="en-US" sz="2400" dirty="0"/>
              <a:t>           </a:t>
            </a:r>
            <a:r>
              <a:rPr lang="zh-CN" altLang="en-US" sz="2400" b="1" dirty="0">
                <a:solidFill>
                  <a:srgbClr val="FF00FF"/>
                </a:solidFill>
              </a:rPr>
              <a:t>√</a:t>
            </a:r>
            <a:r>
              <a:rPr lang="zh-CN" altLang="en-US" sz="2400" b="1" dirty="0"/>
              <a:t>描述的是集电极电流</a:t>
            </a:r>
            <a:r>
              <a:rPr lang="en-US" altLang="zh-CN" sz="2400" b="1" i="1" dirty="0">
                <a:solidFill>
                  <a:srgbClr val="E35449"/>
                </a:solidFill>
              </a:rPr>
              <a:t>I</a:t>
            </a:r>
            <a:r>
              <a:rPr lang="en-US" altLang="zh-CN" sz="2400" b="1" i="1" baseline="-25000" dirty="0">
                <a:solidFill>
                  <a:srgbClr val="E35449"/>
                </a:solidFill>
              </a:rPr>
              <a:t>C</a:t>
            </a:r>
            <a:r>
              <a:rPr lang="zh-CN" altLang="en-US" sz="2400" b="1" dirty="0"/>
              <a:t>与栅射电压</a:t>
            </a:r>
            <a:r>
              <a:rPr lang="en-US" altLang="zh-CN" sz="2400" b="1" i="1" dirty="0">
                <a:solidFill>
                  <a:srgbClr val="E35449"/>
                </a:solidFill>
              </a:rPr>
              <a:t>U</a:t>
            </a:r>
            <a:r>
              <a:rPr lang="en-US" altLang="zh-CN" sz="2400" b="1" i="1" baseline="-25000" dirty="0">
                <a:solidFill>
                  <a:srgbClr val="E35449"/>
                </a:solidFill>
              </a:rPr>
              <a:t>GE</a:t>
            </a:r>
            <a:r>
              <a:rPr lang="zh-CN" altLang="en-US" sz="2400" b="1" dirty="0"/>
              <a:t>之间的关系。</a:t>
            </a:r>
          </a:p>
          <a:p>
            <a:pPr algn="just">
              <a:lnSpc>
                <a:spcPct val="125000"/>
              </a:lnSpc>
              <a:buFontTx/>
              <a:buNone/>
            </a:pPr>
            <a:r>
              <a:rPr lang="zh-CN" altLang="en-US" sz="2400" b="1" dirty="0">
                <a:solidFill>
                  <a:srgbClr val="FF00FF"/>
                </a:solidFill>
              </a:rPr>
              <a:t>           √</a:t>
            </a:r>
            <a:r>
              <a:rPr lang="zh-CN" altLang="en-US" sz="2400" b="1" dirty="0"/>
              <a:t>开启电压</a:t>
            </a:r>
            <a:r>
              <a:rPr lang="en-US" altLang="zh-CN" sz="2400" b="1" i="1" dirty="0">
                <a:solidFill>
                  <a:srgbClr val="E35449"/>
                </a:solidFill>
              </a:rPr>
              <a:t>U</a:t>
            </a:r>
            <a:r>
              <a:rPr lang="en-US" altLang="zh-CN" sz="2400" b="1" i="1" baseline="-25000" dirty="0">
                <a:solidFill>
                  <a:srgbClr val="E35449"/>
                </a:solidFill>
              </a:rPr>
              <a:t>GE(</a:t>
            </a:r>
            <a:r>
              <a:rPr lang="en-US" altLang="zh-CN" sz="2400" b="1" i="1" baseline="-25000" dirty="0" err="1">
                <a:solidFill>
                  <a:srgbClr val="E35449"/>
                </a:solidFill>
              </a:rPr>
              <a:t>th</a:t>
            </a:r>
            <a:r>
              <a:rPr lang="en-US" altLang="zh-CN" sz="2400" b="1" i="1" baseline="-25000" dirty="0">
                <a:solidFill>
                  <a:srgbClr val="E35449"/>
                </a:solidFill>
              </a:rPr>
              <a:t>)</a:t>
            </a:r>
            <a:r>
              <a:rPr lang="zh-CN" altLang="en-US" sz="2400" b="1" dirty="0"/>
              <a:t>是        </a:t>
            </a:r>
            <a:r>
              <a:rPr lang="en-US" altLang="zh-CN" sz="2400" b="1" dirty="0"/>
              <a:t>IGBT</a:t>
            </a:r>
            <a:r>
              <a:rPr lang="zh-CN" altLang="en-US" sz="2400" b="1" dirty="0"/>
              <a:t>能实现电导调制而导通的最低栅射电压，随</a:t>
            </a:r>
            <a:r>
              <a:rPr lang="zh-CN" altLang="en-US" sz="2400" b="1" dirty="0">
                <a:solidFill>
                  <a:srgbClr val="E35449"/>
                </a:solidFill>
              </a:rPr>
              <a:t>温度</a:t>
            </a:r>
            <a:r>
              <a:rPr lang="zh-CN" altLang="en-US" sz="2400" b="1" dirty="0"/>
              <a:t>升高而略有下降。</a:t>
            </a:r>
            <a:r>
              <a:rPr lang="zh-CN" altLang="en-US" sz="2800" dirty="0"/>
              <a:t>   </a:t>
            </a:r>
          </a:p>
        </p:txBody>
      </p:sp>
      <p:pic>
        <p:nvPicPr>
          <p:cNvPr id="130052" name="Picture 4" descr="图2-24(a)"/>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651500" y="1555750"/>
            <a:ext cx="3024188" cy="3529013"/>
          </a:xfrm>
          <a:prstGeom prst="rect">
            <a:avLst/>
          </a:prstGeom>
          <a:noFill/>
          <a:extLst>
            <a:ext uri="{909E8E84-426E-40DD-AFC4-6F175D3DCCD1}">
              <a14:hiddenFill xmlns:a14="http://schemas.microsoft.com/office/drawing/2010/main">
                <a:solidFill>
                  <a:srgbClr val="FFFFFF"/>
                </a:solidFill>
              </a14:hiddenFill>
            </a:ext>
          </a:extLst>
        </p:spPr>
      </p:pic>
      <p:sp>
        <p:nvSpPr>
          <p:cNvPr id="130053" name="Text Box 5"/>
          <p:cNvSpPr txBox="1">
            <a:spLocks noChangeArrowheads="1"/>
          </p:cNvSpPr>
          <p:nvPr/>
        </p:nvSpPr>
        <p:spPr bwMode="auto">
          <a:xfrm>
            <a:off x="6856413" y="4868863"/>
            <a:ext cx="811212"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zh-CN" altLang="en-US" sz="1200" b="1">
                <a:latin typeface="Times New Roman" pitchFamily="18" charset="0"/>
              </a:rPr>
              <a:t>（</a:t>
            </a:r>
            <a:r>
              <a:rPr lang="en-US" altLang="zh-CN" sz="1200" b="1">
                <a:latin typeface="Times New Roman" pitchFamily="18" charset="0"/>
              </a:rPr>
              <a:t>a</a:t>
            </a:r>
            <a:r>
              <a:rPr lang="zh-CN" altLang="en-US" sz="1200" b="1">
                <a:latin typeface="Times New Roman" pitchFamily="18" charset="0"/>
              </a:rPr>
              <a:t>）</a:t>
            </a:r>
          </a:p>
        </p:txBody>
      </p:sp>
      <p:sp>
        <p:nvSpPr>
          <p:cNvPr id="130054" name="Text Box 6"/>
          <p:cNvSpPr txBox="1">
            <a:spLocks noChangeArrowheads="1"/>
          </p:cNvSpPr>
          <p:nvPr/>
        </p:nvSpPr>
        <p:spPr bwMode="auto">
          <a:xfrm>
            <a:off x="6353175" y="5084763"/>
            <a:ext cx="1747838" cy="1035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zh-CN" altLang="en-US" sz="1400" b="1">
                <a:solidFill>
                  <a:srgbClr val="6600CC"/>
                </a:solidFill>
                <a:latin typeface="Times New Roman" pitchFamily="18" charset="0"/>
              </a:rPr>
              <a:t>图</a:t>
            </a:r>
            <a:r>
              <a:rPr lang="en-US" altLang="zh-CN" sz="1400" b="1">
                <a:solidFill>
                  <a:srgbClr val="6600CC"/>
                </a:solidFill>
                <a:latin typeface="Times New Roman" pitchFamily="18" charset="0"/>
              </a:rPr>
              <a:t>2-24  IGBT</a:t>
            </a:r>
            <a:r>
              <a:rPr lang="zh-CN" altLang="en-US" sz="1400" b="1">
                <a:solidFill>
                  <a:srgbClr val="6600CC"/>
                </a:solidFill>
                <a:latin typeface="Times New Roman" pitchFamily="18" charset="0"/>
              </a:rPr>
              <a:t>的转移特性和输出特性       </a:t>
            </a:r>
            <a:r>
              <a:rPr lang="en-US" altLang="zh-CN" sz="1400" b="1">
                <a:solidFill>
                  <a:srgbClr val="6600CC"/>
                </a:solidFill>
                <a:latin typeface="Times New Roman" pitchFamily="18" charset="0"/>
              </a:rPr>
              <a:t>a) </a:t>
            </a:r>
            <a:r>
              <a:rPr lang="zh-CN" altLang="en-US" sz="1400" b="1">
                <a:solidFill>
                  <a:srgbClr val="6600CC"/>
                </a:solidFill>
                <a:latin typeface="Times New Roman" pitchFamily="18" charset="0"/>
              </a:rPr>
              <a:t>转移特性</a:t>
            </a:r>
          </a:p>
          <a:p>
            <a:r>
              <a:rPr lang="zh-CN" altLang="en-US" sz="2000" b="1">
                <a:solidFill>
                  <a:srgbClr val="0000FF"/>
                </a:solidFill>
                <a:latin typeface="Times New Roman" pitchFamily="18" charset="0"/>
              </a:rPr>
              <a:t> </a:t>
            </a:r>
          </a:p>
        </p:txBody>
      </p:sp>
      <p:sp>
        <p:nvSpPr>
          <p:cNvPr id="2" name="灯片编号占位符 1"/>
          <p:cNvSpPr>
            <a:spLocks noGrp="1"/>
          </p:cNvSpPr>
          <p:nvPr>
            <p:ph type="sldNum" sz="quarter" idx="12"/>
          </p:nvPr>
        </p:nvSpPr>
        <p:spPr/>
        <p:txBody>
          <a:bodyPr/>
          <a:lstStyle/>
          <a:p>
            <a:fld id="{0C913308-F349-4B6D-A68A-DD1791B4A57B}" type="slidenum">
              <a:rPr lang="zh-CN" altLang="en-US" smtClean="0"/>
              <a:t>12</a:t>
            </a:fld>
            <a:endParaRPr lang="zh-CN" altLang="en-US"/>
          </a:p>
        </p:txBody>
      </p:sp>
      <p:sp>
        <p:nvSpPr>
          <p:cNvPr id="3" name="日期占位符 2"/>
          <p:cNvSpPr>
            <a:spLocks noGrp="1"/>
          </p:cNvSpPr>
          <p:nvPr>
            <p:ph type="dt" sz="half" idx="10"/>
          </p:nvPr>
        </p:nvSpPr>
        <p:spPr/>
        <p:txBody>
          <a:bodyPr/>
          <a:lstStyle/>
          <a:p>
            <a:fld id="{7C15A7CA-5C18-497A-BEF6-4A466BCA0FFF}" type="datetime10">
              <a:rPr lang="zh-CN" altLang="en-US" smtClean="0"/>
              <a:t>14:22</a:t>
            </a:fld>
            <a:endParaRPr lang="zh-CN" altLang="en-US"/>
          </a:p>
        </p:txBody>
      </p:sp>
    </p:spTree>
    <p:extLst>
      <p:ext uri="{BB962C8B-B14F-4D97-AF65-F5344CB8AC3E}">
        <p14:creationId xmlns:p14="http://schemas.microsoft.com/office/powerpoint/2010/main" val="405953780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4" name="Rectangle 2"/>
          <p:cNvSpPr>
            <a:spLocks noGrp="1" noChangeArrowheads="1"/>
          </p:cNvSpPr>
          <p:nvPr>
            <p:ph type="title"/>
          </p:nvPr>
        </p:nvSpPr>
        <p:spPr>
          <a:xfrm>
            <a:off x="827088" y="261938"/>
            <a:ext cx="7848600" cy="428625"/>
          </a:xfrm>
        </p:spPr>
        <p:txBody>
          <a:bodyPr/>
          <a:lstStyle/>
          <a:p>
            <a:pPr algn="l"/>
            <a:r>
              <a:rPr lang="en-US" altLang="zh-CN" sz="3600" b="1">
                <a:solidFill>
                  <a:schemeClr val="tx1"/>
                </a:solidFill>
              </a:rPr>
              <a:t>2.4.4 </a:t>
            </a:r>
            <a:r>
              <a:rPr lang="zh-CN" altLang="en-US" sz="3600" b="1">
                <a:solidFill>
                  <a:schemeClr val="tx1"/>
                </a:solidFill>
              </a:rPr>
              <a:t>绝缘栅双极晶体管</a:t>
            </a:r>
          </a:p>
        </p:txBody>
      </p:sp>
      <p:pic>
        <p:nvPicPr>
          <p:cNvPr id="131075" name="Picture 3" descr="图2-24(b)"/>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1188" y="1484313"/>
            <a:ext cx="4392612" cy="3600450"/>
          </a:xfrm>
          <a:prstGeom prst="rect">
            <a:avLst/>
          </a:prstGeom>
          <a:noFill/>
          <a:extLst>
            <a:ext uri="{909E8E84-426E-40DD-AFC4-6F175D3DCCD1}">
              <a14:hiddenFill xmlns:a14="http://schemas.microsoft.com/office/drawing/2010/main">
                <a:solidFill>
                  <a:srgbClr val="FFFFFF"/>
                </a:solidFill>
              </a14:hiddenFill>
            </a:ext>
          </a:extLst>
        </p:spPr>
      </p:pic>
      <p:sp>
        <p:nvSpPr>
          <p:cNvPr id="131076" name="Text Box 4"/>
          <p:cNvSpPr txBox="1">
            <a:spLocks noChangeArrowheads="1"/>
          </p:cNvSpPr>
          <p:nvPr/>
        </p:nvSpPr>
        <p:spPr bwMode="auto">
          <a:xfrm>
            <a:off x="4860032" y="620688"/>
            <a:ext cx="4176464" cy="64017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nSpc>
                <a:spcPct val="125000"/>
              </a:lnSpc>
            </a:pPr>
            <a:r>
              <a:rPr lang="en-US" altLang="zh-CN" sz="2400" b="1" dirty="0">
                <a:solidFill>
                  <a:srgbClr val="009900"/>
                </a:solidFill>
                <a:latin typeface="Times New Roman" pitchFamily="18" charset="0"/>
              </a:rPr>
              <a:t>☞</a:t>
            </a:r>
            <a:r>
              <a:rPr lang="zh-CN" altLang="en-US" sz="2400" b="1" dirty="0">
                <a:latin typeface="Times New Roman" pitchFamily="18" charset="0"/>
              </a:rPr>
              <a:t>输出特性（伏安特性）</a:t>
            </a:r>
          </a:p>
          <a:p>
            <a:pPr>
              <a:lnSpc>
                <a:spcPct val="125000"/>
              </a:lnSpc>
            </a:pPr>
            <a:r>
              <a:rPr lang="zh-CN" altLang="en-US" sz="2400" b="1" dirty="0">
                <a:solidFill>
                  <a:srgbClr val="0000FF"/>
                </a:solidFill>
                <a:latin typeface="Times New Roman" pitchFamily="18" charset="0"/>
              </a:rPr>
              <a:t>   </a:t>
            </a:r>
            <a:r>
              <a:rPr lang="zh-CN" altLang="en-US" sz="2400" b="1" dirty="0">
                <a:solidFill>
                  <a:srgbClr val="FF00FF"/>
                </a:solidFill>
                <a:latin typeface="Times New Roman" pitchFamily="18" charset="0"/>
              </a:rPr>
              <a:t>√</a:t>
            </a:r>
            <a:r>
              <a:rPr lang="zh-CN" altLang="en-US" sz="2400" b="1" dirty="0">
                <a:latin typeface="Times New Roman" pitchFamily="18" charset="0"/>
              </a:rPr>
              <a:t>描述的是以栅射电压为参考变量时，集电极电流</a:t>
            </a:r>
            <a:r>
              <a:rPr lang="en-US" altLang="zh-CN" sz="2400" b="1" i="1" dirty="0">
                <a:solidFill>
                  <a:srgbClr val="E35449"/>
                </a:solidFill>
                <a:latin typeface="Times New Roman" pitchFamily="18" charset="0"/>
              </a:rPr>
              <a:t>I</a:t>
            </a:r>
            <a:r>
              <a:rPr lang="en-US" altLang="zh-CN" sz="2400" b="1" i="1" baseline="-25000" dirty="0">
                <a:solidFill>
                  <a:srgbClr val="E35449"/>
                </a:solidFill>
                <a:latin typeface="Times New Roman" pitchFamily="18" charset="0"/>
              </a:rPr>
              <a:t>C</a:t>
            </a:r>
            <a:r>
              <a:rPr lang="zh-CN" altLang="en-US" sz="2400" b="1" dirty="0">
                <a:latin typeface="Times New Roman" pitchFamily="18" charset="0"/>
              </a:rPr>
              <a:t>与集射极间电压</a:t>
            </a:r>
            <a:r>
              <a:rPr lang="en-US" altLang="zh-CN" sz="2400" b="1" i="1" dirty="0">
                <a:solidFill>
                  <a:srgbClr val="E35449"/>
                </a:solidFill>
                <a:latin typeface="Times New Roman" pitchFamily="18" charset="0"/>
              </a:rPr>
              <a:t>U</a:t>
            </a:r>
            <a:r>
              <a:rPr lang="en-US" altLang="zh-CN" sz="2400" b="1" i="1" baseline="-25000" dirty="0">
                <a:solidFill>
                  <a:srgbClr val="E35449"/>
                </a:solidFill>
                <a:latin typeface="Times New Roman" pitchFamily="18" charset="0"/>
              </a:rPr>
              <a:t>CE</a:t>
            </a:r>
            <a:r>
              <a:rPr lang="zh-CN" altLang="en-US" sz="2400" b="1" dirty="0">
                <a:latin typeface="Times New Roman" pitchFamily="18" charset="0"/>
              </a:rPr>
              <a:t>之间的关系。</a:t>
            </a:r>
            <a:r>
              <a:rPr lang="zh-CN" altLang="en-US" sz="2400" b="1" dirty="0">
                <a:solidFill>
                  <a:srgbClr val="0000FF"/>
                </a:solidFill>
                <a:latin typeface="Times New Roman" pitchFamily="18" charset="0"/>
              </a:rPr>
              <a:t> </a:t>
            </a:r>
          </a:p>
          <a:p>
            <a:pPr>
              <a:lnSpc>
                <a:spcPct val="125000"/>
              </a:lnSpc>
            </a:pPr>
            <a:r>
              <a:rPr lang="zh-CN" altLang="en-US" sz="2400" b="1" dirty="0">
                <a:solidFill>
                  <a:srgbClr val="0000FF"/>
                </a:solidFill>
                <a:latin typeface="Times New Roman" pitchFamily="18" charset="0"/>
              </a:rPr>
              <a:t>   </a:t>
            </a:r>
            <a:r>
              <a:rPr lang="zh-CN" altLang="en-US" sz="2400" b="1" dirty="0">
                <a:solidFill>
                  <a:srgbClr val="FF00FF"/>
                </a:solidFill>
                <a:latin typeface="Times New Roman" pitchFamily="18" charset="0"/>
              </a:rPr>
              <a:t>√</a:t>
            </a:r>
            <a:r>
              <a:rPr lang="zh-CN" altLang="en-US" sz="2400" b="1" dirty="0">
                <a:latin typeface="Times New Roman" pitchFamily="18" charset="0"/>
              </a:rPr>
              <a:t>分为三个区域：</a:t>
            </a:r>
            <a:r>
              <a:rPr lang="zh-CN" altLang="en-US" sz="2400" b="1" dirty="0">
                <a:solidFill>
                  <a:srgbClr val="E35449"/>
                </a:solidFill>
                <a:latin typeface="Times New Roman" pitchFamily="18" charset="0"/>
              </a:rPr>
              <a:t>正向阻断区</a:t>
            </a:r>
            <a:r>
              <a:rPr lang="zh-CN" altLang="en-US" sz="2400" b="1" dirty="0">
                <a:latin typeface="Times New Roman" pitchFamily="18" charset="0"/>
              </a:rPr>
              <a:t>、</a:t>
            </a:r>
            <a:r>
              <a:rPr lang="zh-CN" altLang="en-US" sz="2400" b="1" dirty="0">
                <a:solidFill>
                  <a:srgbClr val="E35449"/>
                </a:solidFill>
                <a:latin typeface="Times New Roman" pitchFamily="18" charset="0"/>
              </a:rPr>
              <a:t>有源区</a:t>
            </a:r>
            <a:r>
              <a:rPr lang="zh-CN" altLang="en-US" sz="2400" b="1" dirty="0">
                <a:latin typeface="Times New Roman" pitchFamily="18" charset="0"/>
              </a:rPr>
              <a:t>和</a:t>
            </a:r>
            <a:r>
              <a:rPr lang="zh-CN" altLang="en-US" sz="2400" b="1" dirty="0">
                <a:solidFill>
                  <a:srgbClr val="E35449"/>
                </a:solidFill>
                <a:latin typeface="Times New Roman" pitchFamily="18" charset="0"/>
              </a:rPr>
              <a:t>饱和区</a:t>
            </a:r>
            <a:r>
              <a:rPr lang="zh-CN" altLang="en-US" sz="2400" b="1" dirty="0">
                <a:latin typeface="Times New Roman" pitchFamily="18" charset="0"/>
              </a:rPr>
              <a:t>。</a:t>
            </a:r>
            <a:r>
              <a:rPr lang="zh-CN" altLang="en-US" sz="2400" b="1" dirty="0">
                <a:solidFill>
                  <a:srgbClr val="0000FF"/>
                </a:solidFill>
                <a:latin typeface="Times New Roman" pitchFamily="18" charset="0"/>
              </a:rPr>
              <a:t> </a:t>
            </a:r>
          </a:p>
          <a:p>
            <a:pPr>
              <a:lnSpc>
                <a:spcPct val="125000"/>
              </a:lnSpc>
            </a:pPr>
            <a:r>
              <a:rPr lang="zh-CN" altLang="en-US" sz="2400" b="1" dirty="0">
                <a:solidFill>
                  <a:srgbClr val="0000FF"/>
                </a:solidFill>
                <a:latin typeface="Times New Roman" pitchFamily="18" charset="0"/>
              </a:rPr>
              <a:t>   </a:t>
            </a:r>
            <a:r>
              <a:rPr lang="zh-CN" altLang="en-US" sz="2400" b="1" dirty="0">
                <a:solidFill>
                  <a:srgbClr val="FF00FF"/>
                </a:solidFill>
                <a:latin typeface="Times New Roman" pitchFamily="18" charset="0"/>
              </a:rPr>
              <a:t>√</a:t>
            </a:r>
            <a:r>
              <a:rPr lang="zh-CN" altLang="en-US" sz="2400" b="1" dirty="0">
                <a:latin typeface="Times New Roman" pitchFamily="18" charset="0"/>
              </a:rPr>
              <a:t>当</a:t>
            </a:r>
            <a:r>
              <a:rPr lang="en-US" altLang="zh-CN" sz="2400" b="1" i="1" dirty="0">
                <a:latin typeface="Times New Roman" pitchFamily="18" charset="0"/>
              </a:rPr>
              <a:t>U</a:t>
            </a:r>
            <a:r>
              <a:rPr lang="en-US" altLang="zh-CN" sz="2400" b="1" i="1" baseline="-25000" dirty="0">
                <a:latin typeface="Times New Roman" pitchFamily="18" charset="0"/>
              </a:rPr>
              <a:t>CE</a:t>
            </a:r>
            <a:r>
              <a:rPr lang="en-US" altLang="zh-CN" sz="2400" b="1" dirty="0">
                <a:latin typeface="Times New Roman" pitchFamily="18" charset="0"/>
              </a:rPr>
              <a:t>&lt;0</a:t>
            </a:r>
            <a:r>
              <a:rPr lang="zh-CN" altLang="en-US" sz="2400" b="1" dirty="0">
                <a:latin typeface="Times New Roman" pitchFamily="18" charset="0"/>
              </a:rPr>
              <a:t>时，</a:t>
            </a:r>
            <a:r>
              <a:rPr lang="en-US" altLang="zh-CN" sz="2400" b="1" dirty="0">
                <a:latin typeface="Times New Roman" pitchFamily="18" charset="0"/>
              </a:rPr>
              <a:t>IGBT</a:t>
            </a:r>
            <a:r>
              <a:rPr lang="zh-CN" altLang="en-US" sz="2400" b="1" dirty="0">
                <a:latin typeface="Times New Roman" pitchFamily="18" charset="0"/>
              </a:rPr>
              <a:t>为反向阻断工作状态</a:t>
            </a:r>
            <a:r>
              <a:rPr lang="zh-CN" altLang="en-US" sz="2400" b="1" dirty="0">
                <a:solidFill>
                  <a:srgbClr val="FF0000"/>
                </a:solidFill>
                <a:latin typeface="Times New Roman" pitchFamily="18" charset="0"/>
              </a:rPr>
              <a:t>（实际的器件会有反并联的快速二极管）</a:t>
            </a:r>
            <a:r>
              <a:rPr lang="zh-CN" altLang="en-US" sz="2400" b="1" dirty="0">
                <a:latin typeface="Times New Roman" pitchFamily="18" charset="0"/>
              </a:rPr>
              <a:t>。</a:t>
            </a:r>
            <a:r>
              <a:rPr lang="zh-CN" altLang="en-US" sz="2400" b="1" dirty="0">
                <a:solidFill>
                  <a:srgbClr val="0000FF"/>
                </a:solidFill>
                <a:latin typeface="Times New Roman" pitchFamily="18" charset="0"/>
              </a:rPr>
              <a:t> </a:t>
            </a:r>
          </a:p>
          <a:p>
            <a:pPr>
              <a:lnSpc>
                <a:spcPct val="125000"/>
              </a:lnSpc>
            </a:pPr>
            <a:r>
              <a:rPr lang="zh-CN" altLang="en-US" sz="2400" b="1" dirty="0">
                <a:solidFill>
                  <a:srgbClr val="FF00FF"/>
                </a:solidFill>
                <a:latin typeface="Times New Roman" pitchFamily="18" charset="0"/>
              </a:rPr>
              <a:t>   √</a:t>
            </a:r>
            <a:r>
              <a:rPr lang="zh-CN" altLang="en-US" sz="2400" b="1" dirty="0">
                <a:latin typeface="Times New Roman" pitchFamily="18" charset="0"/>
              </a:rPr>
              <a:t>在电力电子电路中，</a:t>
            </a:r>
            <a:r>
              <a:rPr lang="en-US" altLang="zh-CN" sz="2400" b="1" dirty="0">
                <a:latin typeface="Times New Roman" pitchFamily="18" charset="0"/>
              </a:rPr>
              <a:t>IGBT</a:t>
            </a:r>
            <a:r>
              <a:rPr lang="zh-CN" altLang="en-US" sz="2400" b="1" dirty="0">
                <a:latin typeface="Times New Roman" pitchFamily="18" charset="0"/>
              </a:rPr>
              <a:t>工作在</a:t>
            </a:r>
            <a:r>
              <a:rPr lang="zh-CN" altLang="en-US" sz="2400" b="1" dirty="0">
                <a:solidFill>
                  <a:srgbClr val="E35449"/>
                </a:solidFill>
                <a:latin typeface="Times New Roman" pitchFamily="18" charset="0"/>
              </a:rPr>
              <a:t>开关状态</a:t>
            </a:r>
            <a:r>
              <a:rPr lang="zh-CN" altLang="en-US" sz="2400" b="1" dirty="0">
                <a:latin typeface="Times New Roman" pitchFamily="18" charset="0"/>
              </a:rPr>
              <a:t>，因而是在</a:t>
            </a:r>
            <a:r>
              <a:rPr lang="zh-CN" altLang="en-US" sz="2400" b="1" dirty="0">
                <a:solidFill>
                  <a:srgbClr val="E35449"/>
                </a:solidFill>
                <a:latin typeface="Times New Roman" pitchFamily="18" charset="0"/>
              </a:rPr>
              <a:t>正向阻断区</a:t>
            </a:r>
            <a:r>
              <a:rPr lang="zh-CN" altLang="en-US" sz="2400" b="1" dirty="0">
                <a:latin typeface="Times New Roman" pitchFamily="18" charset="0"/>
              </a:rPr>
              <a:t>和</a:t>
            </a:r>
            <a:r>
              <a:rPr lang="zh-CN" altLang="en-US" sz="2400" b="1" dirty="0">
                <a:solidFill>
                  <a:srgbClr val="E35449"/>
                </a:solidFill>
                <a:latin typeface="Times New Roman" pitchFamily="18" charset="0"/>
              </a:rPr>
              <a:t>饱和区</a:t>
            </a:r>
            <a:r>
              <a:rPr lang="zh-CN" altLang="en-US" sz="2400" b="1" dirty="0">
                <a:latin typeface="Times New Roman" pitchFamily="18" charset="0"/>
              </a:rPr>
              <a:t>之间来回转换。</a:t>
            </a:r>
            <a:r>
              <a:rPr lang="zh-CN" altLang="en-US" sz="2000" b="1" dirty="0">
                <a:solidFill>
                  <a:srgbClr val="0000FF"/>
                </a:solidFill>
                <a:latin typeface="Times New Roman" pitchFamily="18" charset="0"/>
              </a:rPr>
              <a:t> </a:t>
            </a:r>
          </a:p>
          <a:p>
            <a:endParaRPr lang="en-US" altLang="zh-CN" sz="2000" b="1" dirty="0">
              <a:solidFill>
                <a:srgbClr val="0000FF"/>
              </a:solidFill>
              <a:latin typeface="Times New Roman" pitchFamily="18" charset="0"/>
            </a:endParaRPr>
          </a:p>
        </p:txBody>
      </p:sp>
      <p:sp>
        <p:nvSpPr>
          <p:cNvPr id="131077" name="Text Box 5"/>
          <p:cNvSpPr txBox="1">
            <a:spLocks noChangeArrowheads="1"/>
          </p:cNvSpPr>
          <p:nvPr/>
        </p:nvSpPr>
        <p:spPr bwMode="auto">
          <a:xfrm>
            <a:off x="2627313" y="4954588"/>
            <a:ext cx="595312"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sz="1200" b="1">
                <a:latin typeface="Times New Roman" pitchFamily="18" charset="0"/>
              </a:rPr>
              <a:t>(b)</a:t>
            </a:r>
          </a:p>
        </p:txBody>
      </p:sp>
      <p:sp>
        <p:nvSpPr>
          <p:cNvPr id="131078" name="Text Box 6"/>
          <p:cNvSpPr txBox="1">
            <a:spLocks noChangeArrowheads="1"/>
          </p:cNvSpPr>
          <p:nvPr/>
        </p:nvSpPr>
        <p:spPr bwMode="auto">
          <a:xfrm>
            <a:off x="2051050" y="5229225"/>
            <a:ext cx="1676400" cy="1035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zh-CN" altLang="en-US" sz="1400" b="1">
                <a:solidFill>
                  <a:srgbClr val="6600CC"/>
                </a:solidFill>
                <a:latin typeface="Times New Roman" pitchFamily="18" charset="0"/>
              </a:rPr>
              <a:t>图</a:t>
            </a:r>
            <a:r>
              <a:rPr lang="en-US" altLang="zh-CN" sz="1400" b="1">
                <a:solidFill>
                  <a:srgbClr val="6600CC"/>
                </a:solidFill>
                <a:latin typeface="Times New Roman" pitchFamily="18" charset="0"/>
              </a:rPr>
              <a:t>2-24  IGBT</a:t>
            </a:r>
            <a:r>
              <a:rPr lang="zh-CN" altLang="en-US" sz="1400" b="1">
                <a:solidFill>
                  <a:srgbClr val="6600CC"/>
                </a:solidFill>
                <a:latin typeface="Times New Roman" pitchFamily="18" charset="0"/>
              </a:rPr>
              <a:t>的转移特性和输出特性 </a:t>
            </a:r>
            <a:r>
              <a:rPr lang="en-US" altLang="zh-CN" sz="1400" b="1">
                <a:solidFill>
                  <a:srgbClr val="6600CC"/>
                </a:solidFill>
                <a:latin typeface="Times New Roman" pitchFamily="18" charset="0"/>
              </a:rPr>
              <a:t>b) </a:t>
            </a:r>
            <a:r>
              <a:rPr lang="zh-CN" altLang="en-US" sz="1400" b="1">
                <a:solidFill>
                  <a:srgbClr val="6600CC"/>
                </a:solidFill>
                <a:latin typeface="Times New Roman" pitchFamily="18" charset="0"/>
              </a:rPr>
              <a:t>输出特性</a:t>
            </a:r>
          </a:p>
          <a:p>
            <a:r>
              <a:rPr lang="zh-CN" altLang="en-US" sz="2000" b="1">
                <a:solidFill>
                  <a:srgbClr val="0000FF"/>
                </a:solidFill>
                <a:latin typeface="Times New Roman" pitchFamily="18" charset="0"/>
              </a:rPr>
              <a:t> </a:t>
            </a:r>
          </a:p>
        </p:txBody>
      </p:sp>
      <p:sp>
        <p:nvSpPr>
          <p:cNvPr id="2" name="灯片编号占位符 1"/>
          <p:cNvSpPr>
            <a:spLocks noGrp="1"/>
          </p:cNvSpPr>
          <p:nvPr>
            <p:ph type="sldNum" sz="quarter" idx="12"/>
          </p:nvPr>
        </p:nvSpPr>
        <p:spPr/>
        <p:txBody>
          <a:bodyPr/>
          <a:lstStyle/>
          <a:p>
            <a:fld id="{0C913308-F349-4B6D-A68A-DD1791B4A57B}" type="slidenum">
              <a:rPr lang="zh-CN" altLang="en-US" smtClean="0"/>
              <a:t>13</a:t>
            </a:fld>
            <a:endParaRPr lang="zh-CN" altLang="en-US"/>
          </a:p>
        </p:txBody>
      </p:sp>
      <p:sp>
        <p:nvSpPr>
          <p:cNvPr id="3" name="日期占位符 2"/>
          <p:cNvSpPr>
            <a:spLocks noGrp="1"/>
          </p:cNvSpPr>
          <p:nvPr>
            <p:ph type="dt" sz="half" idx="10"/>
          </p:nvPr>
        </p:nvSpPr>
        <p:spPr/>
        <p:txBody>
          <a:bodyPr/>
          <a:lstStyle/>
          <a:p>
            <a:fld id="{4F08D7EC-13DF-4888-B3F5-FD560B9FEBD1}" type="datetime10">
              <a:rPr lang="zh-CN" altLang="en-US" smtClean="0"/>
              <a:t>14:22</a:t>
            </a:fld>
            <a:endParaRPr lang="zh-CN" altLang="en-US"/>
          </a:p>
        </p:txBody>
      </p:sp>
    </p:spTree>
    <p:extLst>
      <p:ext uri="{BB962C8B-B14F-4D97-AF65-F5344CB8AC3E}">
        <p14:creationId xmlns:p14="http://schemas.microsoft.com/office/powerpoint/2010/main" val="382619284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06530" name="Rectangle 2"/>
          <p:cNvSpPr>
            <a:spLocks noGrp="1" noChangeArrowheads="1"/>
          </p:cNvSpPr>
          <p:nvPr>
            <p:ph type="title"/>
          </p:nvPr>
        </p:nvSpPr>
        <p:spPr>
          <a:xfrm>
            <a:off x="1066800" y="152400"/>
            <a:ext cx="7393632" cy="381000"/>
          </a:xfrm>
        </p:spPr>
        <p:txBody>
          <a:bodyPr/>
          <a:lstStyle/>
          <a:p>
            <a:r>
              <a:rPr lang="en-US" altLang="zh-CN" sz="4000" b="1" dirty="0">
                <a:solidFill>
                  <a:schemeClr val="tx2"/>
                </a:solidFill>
              </a:rPr>
              <a:t>IGBT</a:t>
            </a:r>
            <a:r>
              <a:rPr lang="zh-CN" altLang="en-US" sz="4000" b="1" dirty="0">
                <a:solidFill>
                  <a:schemeClr val="tx2"/>
                </a:solidFill>
              </a:rPr>
              <a:t>的动态特性：开通特性</a:t>
            </a:r>
          </a:p>
        </p:txBody>
      </p:sp>
      <p:sp>
        <p:nvSpPr>
          <p:cNvPr id="406789" name="Rectangle 261"/>
          <p:cNvSpPr>
            <a:spLocks noGrp="1" noChangeArrowheads="1"/>
          </p:cNvSpPr>
          <p:nvPr>
            <p:ph type="body" idx="1"/>
          </p:nvPr>
        </p:nvSpPr>
        <p:spPr>
          <a:xfrm>
            <a:off x="-323851" y="548680"/>
            <a:ext cx="5677803" cy="6237312"/>
          </a:xfrm>
          <a:noFill/>
          <a:ln/>
        </p:spPr>
        <p:txBody>
          <a:bodyPr/>
          <a:lstStyle/>
          <a:p>
            <a:pPr algn="just">
              <a:lnSpc>
                <a:spcPct val="110000"/>
              </a:lnSpc>
              <a:spcBef>
                <a:spcPct val="35000"/>
              </a:spcBef>
              <a:buClr>
                <a:schemeClr val="tx1"/>
              </a:buClr>
              <a:buFont typeface="Wingdings" pitchFamily="2" charset="2"/>
              <a:buBlip>
                <a:blip r:embed="rId3"/>
              </a:buBlip>
            </a:pPr>
            <a:r>
              <a:rPr lang="en-US" altLang="zh-CN" sz="2000" dirty="0">
                <a:latin typeface="Arial" pitchFamily="34" charset="0"/>
              </a:rPr>
              <a:t>IGBT</a:t>
            </a:r>
            <a:r>
              <a:rPr lang="zh-CN" altLang="en-US" sz="2000" dirty="0">
                <a:latin typeface="Arial" pitchFamily="34" charset="0"/>
              </a:rPr>
              <a:t>的开通过程：与</a:t>
            </a:r>
            <a:r>
              <a:rPr lang="en-US" altLang="zh-CN" sz="2000" dirty="0">
                <a:latin typeface="Arial" pitchFamily="34" charset="0"/>
              </a:rPr>
              <a:t>MOSFET</a:t>
            </a:r>
            <a:r>
              <a:rPr lang="zh-CN" altLang="en-US" sz="2000" b="1" dirty="0">
                <a:solidFill>
                  <a:srgbClr val="FF0000"/>
                </a:solidFill>
                <a:latin typeface="Arial" pitchFamily="34" charset="0"/>
              </a:rPr>
              <a:t>（比较不同</a:t>
            </a:r>
            <a:r>
              <a:rPr lang="en-US" altLang="zh-CN" sz="2000" b="1" dirty="0">
                <a:solidFill>
                  <a:srgbClr val="FF0000"/>
                </a:solidFill>
                <a:latin typeface="Arial" pitchFamily="34" charset="0"/>
              </a:rPr>
              <a:t>,</a:t>
            </a:r>
            <a:r>
              <a:rPr lang="zh-CN" altLang="en-US" sz="2000" b="1" dirty="0">
                <a:solidFill>
                  <a:srgbClr val="FF0000"/>
                </a:solidFill>
                <a:latin typeface="Arial" pitchFamily="34" charset="0"/>
              </a:rPr>
              <a:t>不同的原因是导通的机理不同）。</a:t>
            </a:r>
          </a:p>
          <a:p>
            <a:pPr lvl="1" algn="just">
              <a:lnSpc>
                <a:spcPct val="110000"/>
              </a:lnSpc>
              <a:spcBef>
                <a:spcPct val="35000"/>
              </a:spcBef>
              <a:buClr>
                <a:schemeClr val="tx1"/>
              </a:buClr>
              <a:buFont typeface="Wingdings" pitchFamily="2" charset="2"/>
              <a:buBlip>
                <a:blip r:embed="rId4"/>
              </a:buBlip>
            </a:pPr>
            <a:r>
              <a:rPr lang="zh-CN" altLang="en-US" sz="1900" b="1" dirty="0">
                <a:solidFill>
                  <a:srgbClr val="0000FF"/>
                </a:solidFill>
                <a:latin typeface="Arial" pitchFamily="34" charset="0"/>
              </a:rPr>
              <a:t>电流上升</a:t>
            </a:r>
            <a:r>
              <a:rPr lang="en-US" altLang="zh-CN" sz="1900" b="1" dirty="0">
                <a:solidFill>
                  <a:srgbClr val="0000FF"/>
                </a:solidFill>
                <a:latin typeface="Arial" pitchFamily="34" charset="0"/>
              </a:rPr>
              <a:t>+</a:t>
            </a:r>
            <a:r>
              <a:rPr lang="zh-CN" altLang="en-US" sz="1900" b="1" dirty="0">
                <a:solidFill>
                  <a:srgbClr val="0000FF"/>
                </a:solidFill>
                <a:latin typeface="Arial" pitchFamily="34" charset="0"/>
              </a:rPr>
              <a:t>电压下降的过程</a:t>
            </a:r>
            <a:endParaRPr lang="en-US" altLang="zh-CN" sz="1900" b="1" dirty="0">
              <a:solidFill>
                <a:srgbClr val="0000FF"/>
              </a:solidFill>
              <a:latin typeface="Arial" pitchFamily="34" charset="0"/>
            </a:endParaRPr>
          </a:p>
          <a:p>
            <a:pPr lvl="1" algn="just">
              <a:lnSpc>
                <a:spcPct val="110000"/>
              </a:lnSpc>
              <a:spcBef>
                <a:spcPct val="35000"/>
              </a:spcBef>
              <a:buClr>
                <a:schemeClr val="tx1"/>
              </a:buClr>
              <a:buFont typeface="Wingdings" pitchFamily="2" charset="2"/>
              <a:buBlip>
                <a:blip r:embed="rId4"/>
              </a:buBlip>
            </a:pPr>
            <a:r>
              <a:rPr lang="zh-CN" altLang="en-US" sz="1900" b="1" dirty="0">
                <a:solidFill>
                  <a:srgbClr val="0000FF"/>
                </a:solidFill>
                <a:latin typeface="Arial" pitchFamily="34" charset="0"/>
              </a:rPr>
              <a:t>开通延迟时间</a:t>
            </a:r>
            <a:r>
              <a:rPr lang="en-US" altLang="zh-CN" sz="1900" b="1" i="1" dirty="0">
                <a:solidFill>
                  <a:srgbClr val="0000FF"/>
                </a:solidFill>
                <a:latin typeface="Arial" pitchFamily="34" charset="0"/>
              </a:rPr>
              <a:t>t</a:t>
            </a:r>
            <a:r>
              <a:rPr lang="en-US" altLang="zh-CN" sz="1900" b="1" baseline="-30000" dirty="0">
                <a:solidFill>
                  <a:srgbClr val="0000FF"/>
                </a:solidFill>
                <a:latin typeface="Arial" pitchFamily="34" charset="0"/>
              </a:rPr>
              <a:t>d(on)</a:t>
            </a:r>
            <a:r>
              <a:rPr lang="zh-CN" altLang="en-US" sz="1900" dirty="0">
                <a:solidFill>
                  <a:srgbClr val="0000FF"/>
                </a:solidFill>
                <a:latin typeface="Arial" pitchFamily="34" charset="0"/>
              </a:rPr>
              <a:t>：</a:t>
            </a:r>
            <a:r>
              <a:rPr lang="en-US" altLang="zh-CN" sz="1900" dirty="0">
                <a:solidFill>
                  <a:srgbClr val="0000FF"/>
                </a:solidFill>
                <a:latin typeface="Arial" pitchFamily="34" charset="0"/>
              </a:rPr>
              <a:t>10% </a:t>
            </a:r>
            <a:r>
              <a:rPr lang="en-US" altLang="zh-CN" sz="1900" b="1" dirty="0" err="1">
                <a:solidFill>
                  <a:srgbClr val="0000FF"/>
                </a:solidFill>
              </a:rPr>
              <a:t>u</a:t>
            </a:r>
            <a:r>
              <a:rPr lang="en-US" altLang="zh-CN" sz="1900" b="1" baseline="-25000" dirty="0" err="1">
                <a:solidFill>
                  <a:srgbClr val="0000FF"/>
                </a:solidFill>
              </a:rPr>
              <a:t>GE</a:t>
            </a:r>
            <a:r>
              <a:rPr lang="zh-CN" altLang="en-US" sz="1900" b="1" dirty="0">
                <a:solidFill>
                  <a:srgbClr val="0000FF"/>
                </a:solidFill>
                <a:latin typeface="Arial" pitchFamily="34" charset="0"/>
              </a:rPr>
              <a:t>到</a:t>
            </a:r>
            <a:r>
              <a:rPr lang="en-US" altLang="zh-CN" sz="1900" dirty="0">
                <a:solidFill>
                  <a:srgbClr val="0000FF"/>
                </a:solidFill>
                <a:latin typeface="Arial" pitchFamily="34" charset="0"/>
              </a:rPr>
              <a:t>10% </a:t>
            </a:r>
            <a:r>
              <a:rPr lang="en-US" altLang="zh-CN" sz="1900" b="1" dirty="0" err="1">
                <a:solidFill>
                  <a:srgbClr val="0000FF"/>
                </a:solidFill>
              </a:rPr>
              <a:t>i</a:t>
            </a:r>
            <a:r>
              <a:rPr lang="en-US" altLang="zh-CN" sz="1900" b="1" baseline="-25000" dirty="0" err="1">
                <a:solidFill>
                  <a:srgbClr val="0000FF"/>
                </a:solidFill>
              </a:rPr>
              <a:t>C</a:t>
            </a:r>
            <a:r>
              <a:rPr lang="zh-CN" altLang="en-US" sz="1900" b="1" dirty="0">
                <a:solidFill>
                  <a:srgbClr val="0000FF"/>
                </a:solidFill>
                <a:latin typeface="Arial" pitchFamily="34" charset="0"/>
              </a:rPr>
              <a:t>幅值时间。</a:t>
            </a:r>
          </a:p>
          <a:p>
            <a:pPr lvl="1" algn="just">
              <a:lnSpc>
                <a:spcPct val="110000"/>
              </a:lnSpc>
              <a:spcBef>
                <a:spcPct val="35000"/>
              </a:spcBef>
              <a:buClr>
                <a:schemeClr val="tx1"/>
              </a:buClr>
              <a:buFont typeface="Wingdings" pitchFamily="2" charset="2"/>
              <a:buBlip>
                <a:blip r:embed="rId4"/>
              </a:buBlip>
            </a:pPr>
            <a:r>
              <a:rPr lang="zh-CN" altLang="en-US" sz="1900" b="1" dirty="0">
                <a:solidFill>
                  <a:srgbClr val="0000FF"/>
                </a:solidFill>
                <a:latin typeface="Arial" pitchFamily="34" charset="0"/>
              </a:rPr>
              <a:t>电流上升时间</a:t>
            </a:r>
            <a:r>
              <a:rPr lang="en-US" altLang="zh-CN" sz="1900" b="1" dirty="0" err="1">
                <a:solidFill>
                  <a:srgbClr val="0000FF"/>
                </a:solidFill>
                <a:latin typeface="Arial" pitchFamily="34" charset="0"/>
              </a:rPr>
              <a:t>t</a:t>
            </a:r>
            <a:r>
              <a:rPr lang="en-US" altLang="zh-CN" sz="1900" b="1" baseline="-30000" dirty="0" err="1">
                <a:solidFill>
                  <a:srgbClr val="0000FF"/>
                </a:solidFill>
                <a:latin typeface="Arial" pitchFamily="34" charset="0"/>
              </a:rPr>
              <a:t>r</a:t>
            </a:r>
            <a:r>
              <a:rPr lang="zh-CN" altLang="en-US" sz="1900" dirty="0">
                <a:solidFill>
                  <a:srgbClr val="0000FF"/>
                </a:solidFill>
                <a:latin typeface="Arial" pitchFamily="34" charset="0"/>
              </a:rPr>
              <a:t>：</a:t>
            </a:r>
            <a:r>
              <a:rPr lang="en-US" altLang="zh-CN" sz="1900" dirty="0">
                <a:solidFill>
                  <a:srgbClr val="0000FF"/>
                </a:solidFill>
                <a:latin typeface="Arial" pitchFamily="34" charset="0"/>
              </a:rPr>
              <a:t>10% </a:t>
            </a:r>
            <a:r>
              <a:rPr lang="en-US" altLang="zh-CN" sz="1900" b="1" dirty="0" err="1">
                <a:solidFill>
                  <a:srgbClr val="0000FF"/>
                </a:solidFill>
              </a:rPr>
              <a:t>i</a:t>
            </a:r>
            <a:r>
              <a:rPr lang="en-US" altLang="zh-CN" sz="1900" b="1" baseline="-25000" dirty="0" err="1">
                <a:solidFill>
                  <a:srgbClr val="0000FF"/>
                </a:solidFill>
              </a:rPr>
              <a:t>C</a:t>
            </a:r>
            <a:r>
              <a:rPr lang="zh-CN" altLang="en-US" sz="1900" b="1" dirty="0">
                <a:solidFill>
                  <a:srgbClr val="0000FF"/>
                </a:solidFill>
                <a:latin typeface="Arial" pitchFamily="34" charset="0"/>
              </a:rPr>
              <a:t>幅值上升到</a:t>
            </a:r>
            <a:r>
              <a:rPr lang="en-US" altLang="zh-CN" sz="1900" dirty="0">
                <a:solidFill>
                  <a:srgbClr val="0000FF"/>
                </a:solidFill>
                <a:latin typeface="Arial" pitchFamily="34" charset="0"/>
              </a:rPr>
              <a:t>90% </a:t>
            </a:r>
            <a:r>
              <a:rPr lang="en-US" altLang="zh-CN" sz="1900" b="1" dirty="0" err="1">
                <a:solidFill>
                  <a:srgbClr val="0000FF"/>
                </a:solidFill>
              </a:rPr>
              <a:t>i</a:t>
            </a:r>
            <a:r>
              <a:rPr lang="en-US" altLang="zh-CN" sz="1900" b="1" baseline="-25000" dirty="0" err="1">
                <a:solidFill>
                  <a:srgbClr val="0000FF"/>
                </a:solidFill>
              </a:rPr>
              <a:t>C</a:t>
            </a:r>
            <a:r>
              <a:rPr lang="zh-CN" altLang="en-US" sz="1900" b="1" dirty="0">
                <a:solidFill>
                  <a:srgbClr val="0000FF"/>
                </a:solidFill>
                <a:latin typeface="Arial" pitchFamily="34" charset="0"/>
              </a:rPr>
              <a:t>幅值时间。</a:t>
            </a:r>
            <a:endParaRPr lang="zh-CN" altLang="en-US" sz="1900" i="1" dirty="0">
              <a:solidFill>
                <a:srgbClr val="0000FF"/>
              </a:solidFill>
              <a:latin typeface="Arial" pitchFamily="34" charset="0"/>
            </a:endParaRPr>
          </a:p>
          <a:p>
            <a:pPr lvl="1" algn="just">
              <a:lnSpc>
                <a:spcPct val="110000"/>
              </a:lnSpc>
              <a:spcBef>
                <a:spcPct val="35000"/>
              </a:spcBef>
              <a:buClr>
                <a:schemeClr val="tx1"/>
              </a:buClr>
              <a:buFont typeface="Wingdings" pitchFamily="2" charset="2"/>
              <a:buBlip>
                <a:blip r:embed="rId4"/>
              </a:buBlip>
            </a:pPr>
            <a:r>
              <a:rPr lang="zh-CN" altLang="en-US" sz="1900" b="1" dirty="0">
                <a:solidFill>
                  <a:srgbClr val="0000FF"/>
                </a:solidFill>
                <a:latin typeface="Arial" pitchFamily="34" charset="0"/>
              </a:rPr>
              <a:t>集射电压下降时间</a:t>
            </a:r>
            <a:r>
              <a:rPr lang="en-US" altLang="zh-CN" sz="1900" b="1" i="1" dirty="0" err="1">
                <a:latin typeface="Arial" pitchFamily="34" charset="0"/>
              </a:rPr>
              <a:t>t</a:t>
            </a:r>
            <a:r>
              <a:rPr lang="en-US" altLang="zh-CN" sz="1900" b="1" baseline="-30000" dirty="0" err="1">
                <a:latin typeface="Arial" pitchFamily="34" charset="0"/>
              </a:rPr>
              <a:t>fv</a:t>
            </a:r>
            <a:r>
              <a:rPr lang="en-US" altLang="zh-CN" sz="1900" b="1" baseline="-30000" dirty="0">
                <a:latin typeface="Arial" pitchFamily="34" charset="0"/>
              </a:rPr>
              <a:t> </a:t>
            </a:r>
            <a:r>
              <a:rPr lang="zh-CN" altLang="en-US" sz="1900" dirty="0">
                <a:solidFill>
                  <a:srgbClr val="0000FF"/>
                </a:solidFill>
                <a:latin typeface="Arial" pitchFamily="34" charset="0"/>
              </a:rPr>
              <a:t>：</a:t>
            </a:r>
            <a:r>
              <a:rPr lang="en-US" altLang="zh-CN" sz="1900" b="1" i="1" dirty="0" err="1">
                <a:latin typeface="Arial" pitchFamily="34" charset="0"/>
              </a:rPr>
              <a:t>u</a:t>
            </a:r>
            <a:r>
              <a:rPr lang="en-US" altLang="zh-CN" sz="1900" b="1" baseline="-30000" dirty="0" err="1">
                <a:latin typeface="Arial" pitchFamily="34" charset="0"/>
              </a:rPr>
              <a:t>CE</a:t>
            </a:r>
            <a:r>
              <a:rPr lang="zh-CN" altLang="en-US" sz="1900" dirty="0">
                <a:latin typeface="Arial" pitchFamily="34" charset="0"/>
              </a:rPr>
              <a:t>的下降过程</a:t>
            </a:r>
            <a:r>
              <a:rPr lang="zh-CN" altLang="en-US" sz="1900" b="1" dirty="0">
                <a:solidFill>
                  <a:srgbClr val="FF0000"/>
                </a:solidFill>
                <a:latin typeface="Arial" pitchFamily="34" charset="0"/>
              </a:rPr>
              <a:t>分为</a:t>
            </a:r>
            <a:r>
              <a:rPr lang="en-US" altLang="zh-CN" sz="1900" b="1" i="1" dirty="0">
                <a:solidFill>
                  <a:srgbClr val="FF0000"/>
                </a:solidFill>
                <a:latin typeface="Arial" pitchFamily="34" charset="0"/>
              </a:rPr>
              <a:t>t</a:t>
            </a:r>
            <a:r>
              <a:rPr lang="en-US" altLang="zh-CN" sz="1900" b="1" baseline="-30000" dirty="0">
                <a:solidFill>
                  <a:srgbClr val="FF0000"/>
                </a:solidFill>
                <a:latin typeface="Arial" pitchFamily="34" charset="0"/>
              </a:rPr>
              <a:t>fv1</a:t>
            </a:r>
            <a:r>
              <a:rPr lang="zh-CN" altLang="en-US" sz="1900" b="1" dirty="0">
                <a:solidFill>
                  <a:srgbClr val="FF0000"/>
                </a:solidFill>
                <a:latin typeface="Arial" pitchFamily="34" charset="0"/>
              </a:rPr>
              <a:t>和</a:t>
            </a:r>
            <a:r>
              <a:rPr lang="en-US" altLang="zh-CN" sz="1900" b="1" i="1" dirty="0">
                <a:solidFill>
                  <a:srgbClr val="FF0000"/>
                </a:solidFill>
                <a:latin typeface="Arial" pitchFamily="34" charset="0"/>
              </a:rPr>
              <a:t>t</a:t>
            </a:r>
            <a:r>
              <a:rPr lang="en-US" altLang="zh-CN" sz="1900" b="1" baseline="-30000" dirty="0">
                <a:solidFill>
                  <a:srgbClr val="FF0000"/>
                </a:solidFill>
                <a:latin typeface="Arial" pitchFamily="34" charset="0"/>
              </a:rPr>
              <a:t>fv2</a:t>
            </a:r>
            <a:r>
              <a:rPr lang="zh-CN" altLang="en-US" sz="1900" b="1" dirty="0">
                <a:solidFill>
                  <a:srgbClr val="FF0000"/>
                </a:solidFill>
                <a:latin typeface="Arial" pitchFamily="34" charset="0"/>
              </a:rPr>
              <a:t>两段</a:t>
            </a:r>
            <a:r>
              <a:rPr lang="zh-CN" altLang="en-US" sz="1900" dirty="0">
                <a:latin typeface="Arial" pitchFamily="34" charset="0"/>
              </a:rPr>
              <a:t>。</a:t>
            </a:r>
          </a:p>
          <a:p>
            <a:pPr lvl="1" algn="just">
              <a:lnSpc>
                <a:spcPct val="110000"/>
              </a:lnSpc>
              <a:spcBef>
                <a:spcPct val="35000"/>
              </a:spcBef>
              <a:buFontTx/>
              <a:buNone/>
            </a:pPr>
            <a:r>
              <a:rPr lang="zh-CN" altLang="en-US" sz="1900" b="1" i="1" dirty="0">
                <a:latin typeface="Arial" pitchFamily="34" charset="0"/>
              </a:rPr>
              <a:t>   </a:t>
            </a:r>
            <a:r>
              <a:rPr lang="en-US" altLang="zh-CN" sz="1900" b="1" i="1" dirty="0">
                <a:latin typeface="Arial" pitchFamily="34" charset="0"/>
              </a:rPr>
              <a:t>t</a:t>
            </a:r>
            <a:r>
              <a:rPr lang="en-US" altLang="zh-CN" sz="1900" b="1" baseline="-30000" dirty="0">
                <a:latin typeface="Arial" pitchFamily="34" charset="0"/>
              </a:rPr>
              <a:t>fv1</a:t>
            </a:r>
            <a:r>
              <a:rPr lang="en-US" altLang="zh-CN" sz="1900" dirty="0">
                <a:latin typeface="Arial" pitchFamily="34" charset="0"/>
              </a:rPr>
              <a:t>——IGBT</a:t>
            </a:r>
            <a:r>
              <a:rPr lang="zh-CN" altLang="en-US" sz="1900" dirty="0">
                <a:latin typeface="Arial" pitchFamily="34" charset="0"/>
              </a:rPr>
              <a:t>中</a:t>
            </a:r>
            <a:r>
              <a:rPr lang="en-US" altLang="zh-CN" sz="1900" dirty="0">
                <a:latin typeface="Arial" pitchFamily="34" charset="0"/>
              </a:rPr>
              <a:t>MOSFET</a:t>
            </a:r>
            <a:r>
              <a:rPr lang="zh-CN" altLang="en-US" sz="1900" dirty="0">
                <a:latin typeface="Arial" pitchFamily="34" charset="0"/>
              </a:rPr>
              <a:t>单独工作的电压下降过程，该过程</a:t>
            </a:r>
            <a:r>
              <a:rPr lang="en-US" altLang="zh-CN" sz="1900" b="1" dirty="0" err="1">
                <a:solidFill>
                  <a:srgbClr val="0000FF"/>
                </a:solidFill>
              </a:rPr>
              <a:t>u</a:t>
            </a:r>
            <a:r>
              <a:rPr lang="en-US" altLang="zh-CN" sz="1900" b="1" baseline="-25000" dirty="0" err="1">
                <a:solidFill>
                  <a:srgbClr val="0000FF"/>
                </a:solidFill>
              </a:rPr>
              <a:t>GE</a:t>
            </a:r>
            <a:r>
              <a:rPr lang="zh-CN" altLang="en-US" sz="1900" dirty="0">
                <a:latin typeface="Arial" pitchFamily="34" charset="0"/>
              </a:rPr>
              <a:t>保持不变，</a:t>
            </a:r>
            <a:r>
              <a:rPr lang="zh-CN" altLang="en-US" sz="1900" b="1" dirty="0">
                <a:solidFill>
                  <a:srgbClr val="FF0000"/>
                </a:solidFill>
                <a:latin typeface="Arial" pitchFamily="34" charset="0"/>
              </a:rPr>
              <a:t>即处于米勒平台</a:t>
            </a:r>
            <a:r>
              <a:rPr lang="zh-CN" altLang="en-US" sz="1900" dirty="0">
                <a:latin typeface="Arial" pitchFamily="34" charset="0"/>
              </a:rPr>
              <a:t>；</a:t>
            </a:r>
          </a:p>
          <a:p>
            <a:pPr lvl="1" algn="just">
              <a:lnSpc>
                <a:spcPct val="110000"/>
              </a:lnSpc>
              <a:spcBef>
                <a:spcPct val="35000"/>
              </a:spcBef>
              <a:buFontTx/>
              <a:buNone/>
            </a:pPr>
            <a:r>
              <a:rPr lang="zh-CN" altLang="en-US" sz="1900" b="1" i="1" dirty="0">
                <a:latin typeface="Arial" pitchFamily="34" charset="0"/>
              </a:rPr>
              <a:t>   </a:t>
            </a:r>
            <a:r>
              <a:rPr lang="en-US" altLang="zh-CN" sz="1900" b="1" i="1" dirty="0">
                <a:latin typeface="Arial" pitchFamily="34" charset="0"/>
              </a:rPr>
              <a:t>t</a:t>
            </a:r>
            <a:r>
              <a:rPr lang="en-US" altLang="zh-CN" sz="1900" b="1" baseline="-30000" dirty="0">
                <a:latin typeface="Arial" pitchFamily="34" charset="0"/>
              </a:rPr>
              <a:t>fv2</a:t>
            </a:r>
            <a:r>
              <a:rPr lang="en-US" altLang="zh-CN" sz="1900" dirty="0">
                <a:latin typeface="Arial" pitchFamily="34" charset="0"/>
              </a:rPr>
              <a:t>——MOSFET</a:t>
            </a:r>
            <a:r>
              <a:rPr lang="zh-CN" altLang="en-US" sz="1900" dirty="0">
                <a:latin typeface="Arial" pitchFamily="34" charset="0"/>
              </a:rPr>
              <a:t>和</a:t>
            </a:r>
            <a:r>
              <a:rPr lang="en-US" altLang="zh-CN" sz="1900" dirty="0">
                <a:latin typeface="Arial" pitchFamily="34" charset="0"/>
              </a:rPr>
              <a:t>PNP</a:t>
            </a:r>
            <a:r>
              <a:rPr lang="zh-CN" altLang="en-US" sz="1900" dirty="0">
                <a:latin typeface="Arial" pitchFamily="34" charset="0"/>
              </a:rPr>
              <a:t>晶体管同时工作的电压下降过程：</a:t>
            </a:r>
            <a:endParaRPr lang="en-US" altLang="zh-CN" sz="1900" dirty="0">
              <a:latin typeface="Arial" pitchFamily="34" charset="0"/>
            </a:endParaRPr>
          </a:p>
          <a:p>
            <a:pPr lvl="1" algn="just">
              <a:lnSpc>
                <a:spcPct val="110000"/>
              </a:lnSpc>
              <a:spcBef>
                <a:spcPct val="35000"/>
              </a:spcBef>
              <a:buFontTx/>
              <a:buNone/>
            </a:pPr>
            <a:r>
              <a:rPr lang="en-US" altLang="zh-CN" sz="1900" dirty="0">
                <a:latin typeface="Arial" pitchFamily="34" charset="0"/>
              </a:rPr>
              <a:t>	</a:t>
            </a:r>
            <a:r>
              <a:rPr lang="zh-CN" altLang="en-US" sz="1900" dirty="0">
                <a:solidFill>
                  <a:srgbClr val="FF0000"/>
                </a:solidFill>
                <a:latin typeface="Arial" pitchFamily="34" charset="0"/>
              </a:rPr>
              <a:t>由于</a:t>
            </a:r>
            <a:r>
              <a:rPr lang="en-US" altLang="zh-CN" sz="1900" b="1" dirty="0" err="1">
                <a:solidFill>
                  <a:srgbClr val="FF0000"/>
                </a:solidFill>
              </a:rPr>
              <a:t>u</a:t>
            </a:r>
            <a:r>
              <a:rPr lang="en-US" altLang="zh-CN" sz="1900" b="1" baseline="-25000" dirty="0" err="1">
                <a:solidFill>
                  <a:srgbClr val="FF0000"/>
                </a:solidFill>
              </a:rPr>
              <a:t>CE</a:t>
            </a:r>
            <a:r>
              <a:rPr lang="zh-CN" altLang="en-US" sz="1900" dirty="0">
                <a:solidFill>
                  <a:srgbClr val="FF0000"/>
                </a:solidFill>
                <a:latin typeface="Arial" pitchFamily="34" charset="0"/>
              </a:rPr>
              <a:t>下降时</a:t>
            </a:r>
            <a:r>
              <a:rPr lang="en-US" altLang="zh-CN" sz="1900" dirty="0">
                <a:solidFill>
                  <a:srgbClr val="FF0000"/>
                </a:solidFill>
                <a:latin typeface="Arial" pitchFamily="34" charset="0"/>
              </a:rPr>
              <a:t>MOSFET</a:t>
            </a:r>
            <a:r>
              <a:rPr lang="zh-CN" altLang="en-US" sz="1900" b="1" dirty="0">
                <a:solidFill>
                  <a:srgbClr val="0000FF"/>
                </a:solidFill>
                <a:latin typeface="Arial" pitchFamily="34" charset="0"/>
              </a:rPr>
              <a:t>栅漏电容</a:t>
            </a:r>
            <a:r>
              <a:rPr lang="zh-CN" altLang="en-US" sz="1900" dirty="0">
                <a:solidFill>
                  <a:srgbClr val="FF0000"/>
                </a:solidFill>
                <a:latin typeface="Arial" pitchFamily="34" charset="0"/>
              </a:rPr>
              <a:t>增加</a:t>
            </a:r>
            <a:r>
              <a:rPr lang="zh-CN" altLang="en-US" sz="1900" dirty="0">
                <a:solidFill>
                  <a:srgbClr val="0000FF"/>
                </a:solidFill>
                <a:latin typeface="Arial" pitchFamily="34" charset="0"/>
              </a:rPr>
              <a:t>，而且</a:t>
            </a:r>
            <a:r>
              <a:rPr lang="en-US" altLang="zh-CN" sz="1900" dirty="0">
                <a:solidFill>
                  <a:srgbClr val="0000FF"/>
                </a:solidFill>
                <a:latin typeface="Arial" pitchFamily="34" charset="0"/>
              </a:rPr>
              <a:t>PNP</a:t>
            </a:r>
            <a:r>
              <a:rPr lang="zh-CN" altLang="en-US" sz="1900" dirty="0">
                <a:solidFill>
                  <a:srgbClr val="0000FF"/>
                </a:solidFill>
                <a:latin typeface="Arial" pitchFamily="34" charset="0"/>
              </a:rPr>
              <a:t>管由放大到转入饱和需要时间，所以</a:t>
            </a:r>
            <a:r>
              <a:rPr lang="en-US" altLang="zh-CN" sz="1900" b="1" i="1" dirty="0">
                <a:solidFill>
                  <a:srgbClr val="0000FF"/>
                </a:solidFill>
                <a:latin typeface="Arial" pitchFamily="34" charset="0"/>
              </a:rPr>
              <a:t>t</a:t>
            </a:r>
            <a:r>
              <a:rPr lang="en-US" altLang="zh-CN" sz="1900" b="1" baseline="-30000" dirty="0">
                <a:solidFill>
                  <a:srgbClr val="0000FF"/>
                </a:solidFill>
                <a:latin typeface="Arial" pitchFamily="34" charset="0"/>
              </a:rPr>
              <a:t>fv2</a:t>
            </a:r>
            <a:r>
              <a:rPr lang="en-US" altLang="zh-CN" sz="1900" dirty="0">
                <a:solidFill>
                  <a:srgbClr val="0000FF"/>
                </a:solidFill>
                <a:latin typeface="Arial" pitchFamily="34" charset="0"/>
              </a:rPr>
              <a:t> </a:t>
            </a:r>
            <a:r>
              <a:rPr lang="zh-CN" altLang="en-US" sz="1900" dirty="0">
                <a:solidFill>
                  <a:srgbClr val="0000FF"/>
                </a:solidFill>
                <a:latin typeface="Arial" pitchFamily="34" charset="0"/>
              </a:rPr>
              <a:t>过程变缓。（</a:t>
            </a:r>
            <a:r>
              <a:rPr lang="en-US" altLang="zh-CN" sz="1900" dirty="0">
                <a:solidFill>
                  <a:srgbClr val="0000FF"/>
                </a:solidFill>
                <a:latin typeface="Arial" pitchFamily="34" charset="0"/>
              </a:rPr>
              <a:t>GTR</a:t>
            </a:r>
            <a:r>
              <a:rPr lang="zh-CN" altLang="en-US" sz="1900" dirty="0">
                <a:solidFill>
                  <a:srgbClr val="0000FF"/>
                </a:solidFill>
                <a:latin typeface="Arial" pitchFamily="34" charset="0"/>
              </a:rPr>
              <a:t>电导调制效应需要时间）</a:t>
            </a:r>
            <a:endParaRPr lang="en-US" altLang="zh-CN" sz="1900" dirty="0">
              <a:solidFill>
                <a:srgbClr val="0000FF"/>
              </a:solidFill>
              <a:latin typeface="Arial" pitchFamily="34" charset="0"/>
            </a:endParaRPr>
          </a:p>
          <a:p>
            <a:pPr lvl="1" algn="just">
              <a:lnSpc>
                <a:spcPct val="110000"/>
              </a:lnSpc>
              <a:spcBef>
                <a:spcPct val="35000"/>
              </a:spcBef>
              <a:buFontTx/>
              <a:buNone/>
            </a:pPr>
            <a:r>
              <a:rPr lang="en-US" altLang="zh-CN" sz="1900" dirty="0">
                <a:latin typeface="Arial" pitchFamily="34" charset="0"/>
              </a:rPr>
              <a:t>   </a:t>
            </a:r>
            <a:r>
              <a:rPr lang="zh-CN" altLang="en-US" sz="1900" b="1" dirty="0">
                <a:solidFill>
                  <a:srgbClr val="FF0000"/>
                </a:solidFill>
                <a:latin typeface="Arial" pitchFamily="34" charset="0"/>
              </a:rPr>
              <a:t>只有</a:t>
            </a:r>
            <a:r>
              <a:rPr lang="en-US" altLang="zh-CN" sz="1900" b="1" i="1" dirty="0">
                <a:solidFill>
                  <a:srgbClr val="FF0000"/>
                </a:solidFill>
                <a:latin typeface="Arial" pitchFamily="34" charset="0"/>
              </a:rPr>
              <a:t>t</a:t>
            </a:r>
            <a:r>
              <a:rPr lang="en-US" altLang="zh-CN" sz="1900" b="1" baseline="-30000" dirty="0">
                <a:solidFill>
                  <a:srgbClr val="FF0000"/>
                </a:solidFill>
                <a:latin typeface="Arial" pitchFamily="34" charset="0"/>
              </a:rPr>
              <a:t>fv2</a:t>
            </a:r>
            <a:r>
              <a:rPr lang="zh-CN" altLang="en-US" sz="1900" b="1" dirty="0">
                <a:solidFill>
                  <a:srgbClr val="FF0000"/>
                </a:solidFill>
                <a:latin typeface="Arial" pitchFamily="34" charset="0"/>
              </a:rPr>
              <a:t>结束时，</a:t>
            </a:r>
            <a:r>
              <a:rPr lang="en-US" altLang="zh-CN" sz="1900" b="1" dirty="0">
                <a:solidFill>
                  <a:srgbClr val="FF0000"/>
                </a:solidFill>
                <a:latin typeface="Arial" pitchFamily="34" charset="0"/>
              </a:rPr>
              <a:t>IGBT</a:t>
            </a:r>
            <a:r>
              <a:rPr lang="zh-CN" altLang="en-US" sz="1900" b="1" dirty="0">
                <a:solidFill>
                  <a:srgbClr val="FF0000"/>
                </a:solidFill>
                <a:latin typeface="Arial" pitchFamily="34" charset="0"/>
              </a:rPr>
              <a:t>才进入饱和状态。</a:t>
            </a:r>
          </a:p>
        </p:txBody>
      </p:sp>
      <p:pic>
        <p:nvPicPr>
          <p:cNvPr id="406795" name="Picture 26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353953" y="908720"/>
            <a:ext cx="3790047" cy="5112123"/>
          </a:xfrm>
          <a:prstGeom prst="rect">
            <a:avLst/>
          </a:prstGeom>
          <a:noFill/>
          <a:extLst>
            <a:ext uri="{909E8E84-426E-40DD-AFC4-6F175D3DCCD1}">
              <a14:hiddenFill xmlns:a14="http://schemas.microsoft.com/office/drawing/2010/main">
                <a:solidFill>
                  <a:srgbClr val="FFFFFF"/>
                </a:solidFill>
              </a14:hiddenFill>
            </a:ext>
          </a:extLst>
        </p:spPr>
      </p:pic>
      <p:sp>
        <p:nvSpPr>
          <p:cNvPr id="2" name="灯片编号占位符 1"/>
          <p:cNvSpPr>
            <a:spLocks noGrp="1"/>
          </p:cNvSpPr>
          <p:nvPr>
            <p:ph type="sldNum" sz="quarter" idx="12"/>
          </p:nvPr>
        </p:nvSpPr>
        <p:spPr>
          <a:xfrm>
            <a:off x="8343056" y="6481142"/>
            <a:ext cx="981472" cy="260226"/>
          </a:xfrm>
        </p:spPr>
        <p:txBody>
          <a:bodyPr/>
          <a:lstStyle/>
          <a:p>
            <a:fld id="{0C913308-F349-4B6D-A68A-DD1791B4A57B}" type="slidenum">
              <a:rPr lang="zh-CN" altLang="en-US" smtClean="0"/>
              <a:t>14</a:t>
            </a:fld>
            <a:endParaRPr lang="zh-CN" altLang="en-US"/>
          </a:p>
        </p:txBody>
      </p:sp>
      <p:sp>
        <p:nvSpPr>
          <p:cNvPr id="3" name="日期占位符 2"/>
          <p:cNvSpPr>
            <a:spLocks noGrp="1"/>
          </p:cNvSpPr>
          <p:nvPr>
            <p:ph type="dt" sz="half" idx="10"/>
          </p:nvPr>
        </p:nvSpPr>
        <p:spPr/>
        <p:txBody>
          <a:bodyPr/>
          <a:lstStyle/>
          <a:p>
            <a:fld id="{2829EB09-A1B8-4AC0-A2C4-7CA4A04E0BDB}" type="datetime10">
              <a:rPr lang="zh-CN" altLang="en-US" smtClean="0"/>
              <a:t>14:22</a:t>
            </a:fld>
            <a:endParaRPr lang="zh-CN" altLang="en-US"/>
          </a:p>
        </p:txBody>
      </p:sp>
    </p:spTree>
    <p:extLst>
      <p:ext uri="{BB962C8B-B14F-4D97-AF65-F5344CB8AC3E}">
        <p14:creationId xmlns:p14="http://schemas.microsoft.com/office/powerpoint/2010/main" val="21767174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0678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06789">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06789">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406789">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406789">
                                            <p:txEl>
                                              <p:pRg st="4" end="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406789">
                                            <p:txEl>
                                              <p:pRg st="5" end="5"/>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406789">
                                            <p:txEl>
                                              <p:pRg st="6" end="6"/>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406789">
                                            <p:txEl>
                                              <p:pRg st="7" end="7"/>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406789">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10626" name="Rectangle 2"/>
          <p:cNvSpPr>
            <a:spLocks noGrp="1" noChangeArrowheads="1"/>
          </p:cNvSpPr>
          <p:nvPr>
            <p:ph type="title"/>
          </p:nvPr>
        </p:nvSpPr>
        <p:spPr>
          <a:xfrm>
            <a:off x="1043608" y="0"/>
            <a:ext cx="6096000" cy="381000"/>
          </a:xfrm>
        </p:spPr>
        <p:txBody>
          <a:bodyPr/>
          <a:lstStyle/>
          <a:p>
            <a:r>
              <a:rPr lang="en-US" altLang="zh-CN" b="1" dirty="0">
                <a:solidFill>
                  <a:schemeClr val="tx2"/>
                </a:solidFill>
              </a:rPr>
              <a:t>IGBT</a:t>
            </a:r>
            <a:r>
              <a:rPr lang="zh-CN" altLang="en-US" b="1" dirty="0">
                <a:solidFill>
                  <a:schemeClr val="tx2"/>
                </a:solidFill>
              </a:rPr>
              <a:t>的动态特性：关断特性</a:t>
            </a:r>
          </a:p>
        </p:txBody>
      </p:sp>
      <p:sp>
        <p:nvSpPr>
          <p:cNvPr id="410627" name="Rectangle 3"/>
          <p:cNvSpPr>
            <a:spLocks noGrp="1" noChangeArrowheads="1"/>
          </p:cNvSpPr>
          <p:nvPr>
            <p:ph type="body" idx="1"/>
          </p:nvPr>
        </p:nvSpPr>
        <p:spPr>
          <a:xfrm>
            <a:off x="-252536" y="381000"/>
            <a:ext cx="5400600" cy="6324600"/>
          </a:xfrm>
          <a:noFill/>
          <a:ln/>
        </p:spPr>
        <p:txBody>
          <a:bodyPr/>
          <a:lstStyle/>
          <a:p>
            <a:pPr algn="just">
              <a:lnSpc>
                <a:spcPct val="110000"/>
              </a:lnSpc>
              <a:spcBef>
                <a:spcPct val="35000"/>
              </a:spcBef>
              <a:buClr>
                <a:schemeClr val="tx1"/>
              </a:buClr>
              <a:buFont typeface="Wingdings" pitchFamily="2" charset="2"/>
              <a:buBlip>
                <a:blip r:embed="rId3"/>
              </a:buBlip>
            </a:pPr>
            <a:r>
              <a:rPr lang="en-US" altLang="zh-CN" sz="2000" dirty="0">
                <a:latin typeface="Arial" pitchFamily="34" charset="0"/>
              </a:rPr>
              <a:t>IGBT</a:t>
            </a:r>
            <a:r>
              <a:rPr lang="zh-CN" altLang="en-US" sz="2000" dirty="0">
                <a:latin typeface="Arial" pitchFamily="34" charset="0"/>
              </a:rPr>
              <a:t>的关断过程：与</a:t>
            </a:r>
            <a:r>
              <a:rPr lang="en-US" altLang="zh-CN" sz="2000" dirty="0">
                <a:latin typeface="Arial" pitchFamily="34" charset="0"/>
              </a:rPr>
              <a:t>MOSFET</a:t>
            </a:r>
            <a:r>
              <a:rPr lang="zh-CN" altLang="en-US" sz="2000" b="1" dirty="0">
                <a:solidFill>
                  <a:srgbClr val="FF0000"/>
                </a:solidFill>
                <a:latin typeface="Arial" pitchFamily="34" charset="0"/>
              </a:rPr>
              <a:t>（比较不同） </a:t>
            </a:r>
            <a:endParaRPr lang="zh-CN" altLang="en-US" sz="2000" dirty="0">
              <a:latin typeface="Arial" pitchFamily="34" charset="0"/>
            </a:endParaRPr>
          </a:p>
          <a:p>
            <a:pPr lvl="1" algn="just">
              <a:lnSpc>
                <a:spcPct val="110000"/>
              </a:lnSpc>
              <a:spcBef>
                <a:spcPct val="35000"/>
              </a:spcBef>
              <a:buClr>
                <a:schemeClr val="tx1"/>
              </a:buClr>
              <a:buBlip>
                <a:blip r:embed="rId4"/>
              </a:buBlip>
            </a:pPr>
            <a:r>
              <a:rPr lang="zh-CN" altLang="en-US" sz="1900" b="1" dirty="0">
                <a:solidFill>
                  <a:srgbClr val="0000FF"/>
                </a:solidFill>
                <a:latin typeface="Arial" pitchFamily="34" charset="0"/>
              </a:rPr>
              <a:t>电压上升</a:t>
            </a:r>
            <a:r>
              <a:rPr lang="en-US" altLang="zh-CN" sz="1900" b="1" dirty="0">
                <a:solidFill>
                  <a:srgbClr val="0000FF"/>
                </a:solidFill>
                <a:latin typeface="Arial" pitchFamily="34" charset="0"/>
              </a:rPr>
              <a:t>+</a:t>
            </a:r>
            <a:r>
              <a:rPr lang="zh-CN" altLang="en-US" sz="1900" b="1" dirty="0">
                <a:solidFill>
                  <a:srgbClr val="0000FF"/>
                </a:solidFill>
                <a:latin typeface="Arial" pitchFamily="34" charset="0"/>
              </a:rPr>
              <a:t>电流下降的过程</a:t>
            </a:r>
            <a:endParaRPr lang="en-US" altLang="zh-CN" sz="1900" b="1" dirty="0">
              <a:solidFill>
                <a:srgbClr val="0000FF"/>
              </a:solidFill>
              <a:latin typeface="Arial" pitchFamily="34" charset="0"/>
            </a:endParaRPr>
          </a:p>
          <a:p>
            <a:pPr lvl="1" algn="just">
              <a:lnSpc>
                <a:spcPct val="110000"/>
              </a:lnSpc>
              <a:spcBef>
                <a:spcPct val="35000"/>
              </a:spcBef>
              <a:buClr>
                <a:schemeClr val="tx1"/>
              </a:buClr>
              <a:buFont typeface="Wingdings" pitchFamily="2" charset="2"/>
              <a:buBlip>
                <a:blip r:embed="rId4"/>
              </a:buBlip>
            </a:pPr>
            <a:r>
              <a:rPr lang="zh-CN" altLang="en-US" sz="1900" b="1" dirty="0">
                <a:solidFill>
                  <a:srgbClr val="0000FF"/>
                </a:solidFill>
                <a:latin typeface="Arial" pitchFamily="34" charset="0"/>
              </a:rPr>
              <a:t>关断延迟时间</a:t>
            </a:r>
            <a:r>
              <a:rPr lang="en-US" altLang="zh-CN" sz="1900" b="1" i="1" dirty="0">
                <a:solidFill>
                  <a:srgbClr val="0000FF"/>
                </a:solidFill>
                <a:latin typeface="Arial" pitchFamily="34" charset="0"/>
              </a:rPr>
              <a:t>t</a:t>
            </a:r>
            <a:r>
              <a:rPr lang="en-US" altLang="zh-CN" sz="1900" b="1" baseline="-30000" dirty="0">
                <a:solidFill>
                  <a:srgbClr val="0000FF"/>
                </a:solidFill>
                <a:latin typeface="Arial" pitchFamily="34" charset="0"/>
              </a:rPr>
              <a:t>d(off)</a:t>
            </a:r>
            <a:r>
              <a:rPr lang="zh-CN" altLang="en-US" sz="1900" dirty="0">
                <a:solidFill>
                  <a:srgbClr val="0000FF"/>
                </a:solidFill>
                <a:latin typeface="Arial" pitchFamily="34" charset="0"/>
              </a:rPr>
              <a:t>：</a:t>
            </a:r>
            <a:r>
              <a:rPr lang="en-US" altLang="zh-CN" sz="1900" dirty="0">
                <a:solidFill>
                  <a:srgbClr val="0000FF"/>
                </a:solidFill>
                <a:latin typeface="Arial" pitchFamily="34" charset="0"/>
              </a:rPr>
              <a:t>90% </a:t>
            </a:r>
            <a:r>
              <a:rPr lang="en-US" altLang="zh-CN" sz="1900" b="1" dirty="0" err="1">
                <a:solidFill>
                  <a:srgbClr val="0000FF"/>
                </a:solidFill>
              </a:rPr>
              <a:t>u</a:t>
            </a:r>
            <a:r>
              <a:rPr lang="en-US" altLang="zh-CN" sz="1900" b="1" baseline="-25000" dirty="0" err="1">
                <a:solidFill>
                  <a:srgbClr val="0000FF"/>
                </a:solidFill>
              </a:rPr>
              <a:t>GE</a:t>
            </a:r>
            <a:r>
              <a:rPr lang="zh-CN" altLang="en-US" sz="1900" b="1" dirty="0">
                <a:solidFill>
                  <a:srgbClr val="0000FF"/>
                </a:solidFill>
                <a:latin typeface="Arial" pitchFamily="34" charset="0"/>
              </a:rPr>
              <a:t>到</a:t>
            </a:r>
            <a:r>
              <a:rPr lang="en-US" altLang="zh-CN" sz="1900" dirty="0">
                <a:solidFill>
                  <a:srgbClr val="0000FF"/>
                </a:solidFill>
                <a:latin typeface="Arial" pitchFamily="34" charset="0"/>
              </a:rPr>
              <a:t>10% </a:t>
            </a:r>
            <a:r>
              <a:rPr lang="en-US" altLang="zh-CN" sz="1900" b="1" dirty="0" err="1">
                <a:solidFill>
                  <a:srgbClr val="0000FF"/>
                </a:solidFill>
              </a:rPr>
              <a:t>u</a:t>
            </a:r>
            <a:r>
              <a:rPr lang="en-US" altLang="zh-CN" sz="1900" b="1" baseline="-25000" dirty="0" err="1">
                <a:solidFill>
                  <a:srgbClr val="0000FF"/>
                </a:solidFill>
              </a:rPr>
              <a:t>CE</a:t>
            </a:r>
            <a:r>
              <a:rPr lang="zh-CN" altLang="en-US" sz="1900" b="1" dirty="0">
                <a:solidFill>
                  <a:srgbClr val="0000FF"/>
                </a:solidFill>
                <a:latin typeface="Arial" pitchFamily="34" charset="0"/>
              </a:rPr>
              <a:t> 幅值时间。</a:t>
            </a:r>
          </a:p>
          <a:p>
            <a:pPr lvl="1" algn="just">
              <a:lnSpc>
                <a:spcPct val="110000"/>
              </a:lnSpc>
              <a:spcBef>
                <a:spcPct val="35000"/>
              </a:spcBef>
              <a:buClr>
                <a:schemeClr val="tx1"/>
              </a:buClr>
              <a:buFont typeface="Wingdings" pitchFamily="2" charset="2"/>
              <a:buBlip>
                <a:blip r:embed="rId4"/>
              </a:buBlip>
            </a:pPr>
            <a:r>
              <a:rPr lang="zh-CN" altLang="en-US" sz="1900" b="1" dirty="0">
                <a:solidFill>
                  <a:srgbClr val="0000FF"/>
                </a:solidFill>
                <a:latin typeface="Arial" pitchFamily="34" charset="0"/>
              </a:rPr>
              <a:t>集射电压上升时间</a:t>
            </a:r>
            <a:r>
              <a:rPr lang="en-US" altLang="zh-CN" sz="1900" b="1" i="1" dirty="0" err="1">
                <a:latin typeface="Arial" pitchFamily="34" charset="0"/>
              </a:rPr>
              <a:t>t</a:t>
            </a:r>
            <a:r>
              <a:rPr lang="en-US" altLang="zh-CN" sz="1900" b="1" baseline="-30000" dirty="0" err="1">
                <a:latin typeface="Arial" pitchFamily="34" charset="0"/>
              </a:rPr>
              <a:t>rv</a:t>
            </a:r>
            <a:r>
              <a:rPr lang="en-US" altLang="zh-CN" sz="1900" b="1" baseline="-30000" dirty="0">
                <a:latin typeface="Arial" pitchFamily="34" charset="0"/>
              </a:rPr>
              <a:t> </a:t>
            </a:r>
            <a:r>
              <a:rPr lang="zh-CN" altLang="en-US" sz="1900" dirty="0">
                <a:solidFill>
                  <a:srgbClr val="0000FF"/>
                </a:solidFill>
                <a:latin typeface="Arial" pitchFamily="34" charset="0"/>
              </a:rPr>
              <a:t>：</a:t>
            </a:r>
            <a:r>
              <a:rPr lang="zh-CN" altLang="en-US" sz="1900" b="1" baseline="-30000" dirty="0">
                <a:latin typeface="Arial" pitchFamily="34" charset="0"/>
              </a:rPr>
              <a:t> </a:t>
            </a:r>
            <a:r>
              <a:rPr lang="en-US" altLang="zh-CN" sz="1900" b="1" dirty="0" err="1">
                <a:solidFill>
                  <a:srgbClr val="0000FF"/>
                </a:solidFill>
              </a:rPr>
              <a:t>u</a:t>
            </a:r>
            <a:r>
              <a:rPr lang="en-US" altLang="zh-CN" sz="1900" b="1" baseline="-25000" dirty="0" err="1">
                <a:solidFill>
                  <a:srgbClr val="0000FF"/>
                </a:solidFill>
              </a:rPr>
              <a:t>GE</a:t>
            </a:r>
            <a:r>
              <a:rPr lang="zh-CN" altLang="en-US" sz="1900" b="1" dirty="0">
                <a:solidFill>
                  <a:srgbClr val="0000FF"/>
                </a:solidFill>
                <a:latin typeface="Arial" pitchFamily="34" charset="0"/>
              </a:rPr>
              <a:t>电压不变。</a:t>
            </a:r>
          </a:p>
          <a:p>
            <a:pPr lvl="1" algn="just">
              <a:lnSpc>
                <a:spcPct val="110000"/>
              </a:lnSpc>
              <a:spcBef>
                <a:spcPct val="35000"/>
              </a:spcBef>
              <a:buClr>
                <a:schemeClr val="tx1"/>
              </a:buClr>
              <a:buFont typeface="Wingdings" pitchFamily="2" charset="2"/>
              <a:buBlip>
                <a:blip r:embed="rId4"/>
              </a:buBlip>
            </a:pPr>
            <a:r>
              <a:rPr lang="zh-CN" altLang="en-US" sz="1900" b="1" dirty="0">
                <a:solidFill>
                  <a:srgbClr val="0000FF"/>
                </a:solidFill>
                <a:latin typeface="Arial" pitchFamily="34" charset="0"/>
              </a:rPr>
              <a:t>集电极电流下降时间</a:t>
            </a:r>
            <a:r>
              <a:rPr lang="en-US" altLang="zh-CN" sz="1900" b="1" dirty="0" err="1">
                <a:solidFill>
                  <a:srgbClr val="0000FF"/>
                </a:solidFill>
                <a:latin typeface="Arial" pitchFamily="34" charset="0"/>
              </a:rPr>
              <a:t>t</a:t>
            </a:r>
            <a:r>
              <a:rPr lang="en-US" altLang="zh-CN" sz="1900" b="1" baseline="-30000" dirty="0" err="1">
                <a:solidFill>
                  <a:srgbClr val="0000FF"/>
                </a:solidFill>
                <a:latin typeface="Arial" pitchFamily="34" charset="0"/>
              </a:rPr>
              <a:t>fi</a:t>
            </a:r>
            <a:r>
              <a:rPr lang="zh-CN" altLang="en-US" sz="1900" dirty="0">
                <a:solidFill>
                  <a:srgbClr val="0000FF"/>
                </a:solidFill>
                <a:latin typeface="Arial" pitchFamily="34" charset="0"/>
              </a:rPr>
              <a:t>：</a:t>
            </a:r>
            <a:r>
              <a:rPr lang="en-US" altLang="zh-CN" sz="1900" dirty="0">
                <a:solidFill>
                  <a:srgbClr val="0000FF"/>
                </a:solidFill>
                <a:latin typeface="Arial" pitchFamily="34" charset="0"/>
              </a:rPr>
              <a:t>90% </a:t>
            </a:r>
            <a:r>
              <a:rPr lang="en-US" altLang="zh-CN" sz="1900" b="1" dirty="0" err="1">
                <a:solidFill>
                  <a:srgbClr val="0000FF"/>
                </a:solidFill>
              </a:rPr>
              <a:t>i</a:t>
            </a:r>
            <a:r>
              <a:rPr lang="en-US" altLang="zh-CN" sz="1900" b="1" baseline="-25000" dirty="0" err="1">
                <a:solidFill>
                  <a:srgbClr val="0000FF"/>
                </a:solidFill>
              </a:rPr>
              <a:t>CM</a:t>
            </a:r>
            <a:r>
              <a:rPr lang="zh-CN" altLang="en-US" sz="1900" b="1" dirty="0">
                <a:solidFill>
                  <a:srgbClr val="0000FF"/>
                </a:solidFill>
                <a:latin typeface="Arial" pitchFamily="34" charset="0"/>
              </a:rPr>
              <a:t>幅值下降到</a:t>
            </a:r>
            <a:r>
              <a:rPr lang="en-US" altLang="zh-CN" sz="1900" b="1" dirty="0">
                <a:solidFill>
                  <a:srgbClr val="0000FF"/>
                </a:solidFill>
                <a:latin typeface="Arial" pitchFamily="34" charset="0"/>
              </a:rPr>
              <a:t>1</a:t>
            </a:r>
            <a:r>
              <a:rPr lang="en-US" altLang="zh-CN" sz="1900" dirty="0">
                <a:solidFill>
                  <a:srgbClr val="0000FF"/>
                </a:solidFill>
                <a:latin typeface="Arial" pitchFamily="34" charset="0"/>
              </a:rPr>
              <a:t>0% </a:t>
            </a:r>
            <a:r>
              <a:rPr lang="en-US" altLang="zh-CN" sz="1900" b="1" dirty="0" err="1">
                <a:solidFill>
                  <a:srgbClr val="0000FF"/>
                </a:solidFill>
              </a:rPr>
              <a:t>i</a:t>
            </a:r>
            <a:r>
              <a:rPr lang="en-US" altLang="zh-CN" sz="1900" b="1" baseline="-25000" dirty="0" err="1">
                <a:solidFill>
                  <a:srgbClr val="0000FF"/>
                </a:solidFill>
              </a:rPr>
              <a:t>CM</a:t>
            </a:r>
            <a:r>
              <a:rPr lang="zh-CN" altLang="en-US" sz="1900" b="1" dirty="0">
                <a:solidFill>
                  <a:srgbClr val="0000FF"/>
                </a:solidFill>
                <a:latin typeface="Arial" pitchFamily="34" charset="0"/>
              </a:rPr>
              <a:t>幅值时间。</a:t>
            </a:r>
            <a:r>
              <a:rPr lang="zh-CN" altLang="en-US" sz="1900" dirty="0">
                <a:latin typeface="Arial" pitchFamily="34" charset="0"/>
              </a:rPr>
              <a:t>下降过程分为</a:t>
            </a:r>
            <a:r>
              <a:rPr lang="en-US" altLang="zh-CN" sz="1900" b="1" i="1" dirty="0">
                <a:latin typeface="Arial" pitchFamily="34" charset="0"/>
              </a:rPr>
              <a:t>t</a:t>
            </a:r>
            <a:r>
              <a:rPr lang="en-US" altLang="zh-CN" sz="1900" b="1" baseline="-30000" dirty="0">
                <a:latin typeface="Arial" pitchFamily="34" charset="0"/>
              </a:rPr>
              <a:t>fi1</a:t>
            </a:r>
            <a:r>
              <a:rPr lang="zh-CN" altLang="en-US" sz="1900" dirty="0">
                <a:latin typeface="Arial" pitchFamily="34" charset="0"/>
              </a:rPr>
              <a:t>和</a:t>
            </a:r>
            <a:r>
              <a:rPr lang="en-US" altLang="zh-CN" sz="1900" b="1" i="1" dirty="0">
                <a:latin typeface="Arial" pitchFamily="34" charset="0"/>
              </a:rPr>
              <a:t>t</a:t>
            </a:r>
            <a:r>
              <a:rPr lang="en-US" altLang="zh-CN" sz="1900" b="1" baseline="-30000" dirty="0">
                <a:latin typeface="Arial" pitchFamily="34" charset="0"/>
              </a:rPr>
              <a:t>fi2</a:t>
            </a:r>
            <a:r>
              <a:rPr lang="zh-CN" altLang="en-US" sz="1900" dirty="0">
                <a:latin typeface="Arial" pitchFamily="34" charset="0"/>
              </a:rPr>
              <a:t>两段。</a:t>
            </a:r>
          </a:p>
          <a:p>
            <a:pPr lvl="1" algn="just">
              <a:lnSpc>
                <a:spcPct val="110000"/>
              </a:lnSpc>
              <a:spcBef>
                <a:spcPct val="35000"/>
              </a:spcBef>
              <a:buFontTx/>
              <a:buNone/>
            </a:pPr>
            <a:r>
              <a:rPr lang="zh-CN" altLang="en-US" sz="1900" b="1" i="1" dirty="0">
                <a:latin typeface="Arial" pitchFamily="34" charset="0"/>
              </a:rPr>
              <a:t>   </a:t>
            </a:r>
            <a:r>
              <a:rPr lang="en-US" altLang="zh-CN" sz="1900" b="1" i="1" dirty="0">
                <a:latin typeface="Arial" pitchFamily="34" charset="0"/>
              </a:rPr>
              <a:t>t</a:t>
            </a:r>
            <a:r>
              <a:rPr lang="en-US" altLang="zh-CN" sz="1900" b="1" baseline="-30000" dirty="0">
                <a:latin typeface="Arial" pitchFamily="34" charset="0"/>
              </a:rPr>
              <a:t>fi1</a:t>
            </a:r>
            <a:r>
              <a:rPr lang="en-US" altLang="zh-CN" sz="1900" dirty="0">
                <a:latin typeface="Arial" pitchFamily="34" charset="0"/>
              </a:rPr>
              <a:t>——</a:t>
            </a:r>
            <a:r>
              <a:rPr lang="en-US" altLang="zh-CN" sz="1900" dirty="0">
                <a:solidFill>
                  <a:srgbClr val="FF0000"/>
                </a:solidFill>
                <a:latin typeface="Arial" pitchFamily="34" charset="0"/>
              </a:rPr>
              <a:t>IGBT</a:t>
            </a:r>
            <a:r>
              <a:rPr lang="zh-CN" altLang="en-US" sz="1900" dirty="0">
                <a:solidFill>
                  <a:srgbClr val="FF0000"/>
                </a:solidFill>
                <a:latin typeface="Arial" pitchFamily="34" charset="0"/>
              </a:rPr>
              <a:t>中</a:t>
            </a:r>
            <a:r>
              <a:rPr lang="en-US" altLang="zh-CN" sz="1900" dirty="0">
                <a:solidFill>
                  <a:srgbClr val="FF0000"/>
                </a:solidFill>
                <a:latin typeface="Arial" pitchFamily="34" charset="0"/>
              </a:rPr>
              <a:t>MOSFET</a:t>
            </a:r>
            <a:r>
              <a:rPr lang="zh-CN" altLang="en-US" sz="1900" dirty="0">
                <a:solidFill>
                  <a:srgbClr val="FF0000"/>
                </a:solidFill>
                <a:latin typeface="Arial" pitchFamily="34" charset="0"/>
              </a:rPr>
              <a:t>关断过程</a:t>
            </a:r>
            <a:r>
              <a:rPr lang="zh-CN" altLang="en-US" sz="1900" dirty="0">
                <a:latin typeface="Arial" pitchFamily="34" charset="0"/>
              </a:rPr>
              <a:t>，电流下降速度较快。</a:t>
            </a:r>
          </a:p>
          <a:p>
            <a:pPr lvl="1" algn="just">
              <a:lnSpc>
                <a:spcPct val="110000"/>
              </a:lnSpc>
              <a:spcBef>
                <a:spcPct val="35000"/>
              </a:spcBef>
              <a:buFontTx/>
              <a:buNone/>
            </a:pPr>
            <a:r>
              <a:rPr lang="zh-CN" altLang="en-US" sz="1900" b="1" i="1" dirty="0">
                <a:latin typeface="Arial" pitchFamily="34" charset="0"/>
              </a:rPr>
              <a:t>   </a:t>
            </a:r>
            <a:r>
              <a:rPr lang="en-US" altLang="zh-CN" sz="1900" b="1" i="1" dirty="0">
                <a:latin typeface="Arial" pitchFamily="34" charset="0"/>
              </a:rPr>
              <a:t>t</a:t>
            </a:r>
            <a:r>
              <a:rPr lang="en-US" altLang="zh-CN" sz="1900" b="1" baseline="-30000" dirty="0">
                <a:latin typeface="Arial" pitchFamily="34" charset="0"/>
              </a:rPr>
              <a:t>fi2</a:t>
            </a:r>
            <a:r>
              <a:rPr lang="en-US" altLang="zh-CN" sz="1900" dirty="0">
                <a:latin typeface="Arial" pitchFamily="34" charset="0"/>
              </a:rPr>
              <a:t>——</a:t>
            </a:r>
            <a:r>
              <a:rPr lang="en-US" altLang="zh-CN" sz="1900" dirty="0">
                <a:solidFill>
                  <a:srgbClr val="FF0000"/>
                </a:solidFill>
                <a:latin typeface="Arial" pitchFamily="34" charset="0"/>
              </a:rPr>
              <a:t>PNP</a:t>
            </a:r>
            <a:r>
              <a:rPr lang="zh-CN" altLang="en-US" sz="1900" dirty="0">
                <a:solidFill>
                  <a:srgbClr val="FF0000"/>
                </a:solidFill>
                <a:latin typeface="Arial" pitchFamily="34" charset="0"/>
              </a:rPr>
              <a:t>晶体管关断过程</a:t>
            </a:r>
            <a:r>
              <a:rPr lang="zh-CN" altLang="en-US" sz="1900" dirty="0">
                <a:latin typeface="Arial" pitchFamily="34" charset="0"/>
              </a:rPr>
              <a:t>， </a:t>
            </a:r>
            <a:r>
              <a:rPr lang="en-US" altLang="zh-CN" sz="1900" dirty="0">
                <a:latin typeface="Arial" pitchFamily="34" charset="0"/>
              </a:rPr>
              <a:t>MOSFET</a:t>
            </a:r>
            <a:r>
              <a:rPr lang="zh-CN" altLang="en-US" sz="1900" dirty="0">
                <a:latin typeface="Arial" pitchFamily="34" charset="0"/>
              </a:rPr>
              <a:t>已经关断，</a:t>
            </a:r>
            <a:r>
              <a:rPr lang="en-US" altLang="zh-CN" sz="1900" dirty="0">
                <a:latin typeface="Arial" pitchFamily="34" charset="0"/>
              </a:rPr>
              <a:t>IGBT</a:t>
            </a:r>
            <a:r>
              <a:rPr lang="zh-CN" altLang="en-US" sz="1900" dirty="0">
                <a:latin typeface="Arial" pitchFamily="34" charset="0"/>
              </a:rPr>
              <a:t>无反压，</a:t>
            </a:r>
            <a:r>
              <a:rPr lang="en-US" altLang="zh-CN" sz="1900" dirty="0">
                <a:latin typeface="Arial" pitchFamily="34" charset="0"/>
              </a:rPr>
              <a:t>N</a:t>
            </a:r>
            <a:r>
              <a:rPr lang="zh-CN" altLang="en-US" sz="1900" dirty="0">
                <a:latin typeface="Arial" pitchFamily="34" charset="0"/>
              </a:rPr>
              <a:t>基区少子复合缓慢，造成集电极电流下降较慢。</a:t>
            </a:r>
            <a:endParaRPr lang="en-US" altLang="zh-CN" sz="1900" dirty="0">
              <a:latin typeface="Arial" pitchFamily="34" charset="0"/>
            </a:endParaRPr>
          </a:p>
          <a:p>
            <a:pPr lvl="1" algn="just">
              <a:lnSpc>
                <a:spcPct val="110000"/>
              </a:lnSpc>
              <a:spcBef>
                <a:spcPct val="35000"/>
              </a:spcBef>
              <a:buFontTx/>
              <a:buNone/>
            </a:pPr>
            <a:r>
              <a:rPr lang="en-US" altLang="zh-CN" sz="1900" b="1" dirty="0">
                <a:solidFill>
                  <a:srgbClr val="FF0000"/>
                </a:solidFill>
                <a:latin typeface="Arial" pitchFamily="34" charset="0"/>
              </a:rPr>
              <a:t>    </a:t>
            </a:r>
            <a:r>
              <a:rPr lang="zh-CN" altLang="en-US" sz="1900" b="1" dirty="0">
                <a:solidFill>
                  <a:srgbClr val="FF0000"/>
                </a:solidFill>
                <a:latin typeface="Arial" pitchFamily="34" charset="0"/>
              </a:rPr>
              <a:t>该时间段电流成为：拖尾电流</a:t>
            </a:r>
            <a:r>
              <a:rPr lang="zh-CN" altLang="en-US" sz="1900" dirty="0">
                <a:latin typeface="Arial" pitchFamily="34" charset="0"/>
              </a:rPr>
              <a:t>。</a:t>
            </a:r>
            <a:endParaRPr lang="en-US" altLang="zh-CN" sz="1900" dirty="0">
              <a:latin typeface="Arial" pitchFamily="34" charset="0"/>
            </a:endParaRPr>
          </a:p>
          <a:p>
            <a:pPr lvl="1" algn="just">
              <a:lnSpc>
                <a:spcPct val="110000"/>
              </a:lnSpc>
              <a:spcBef>
                <a:spcPct val="35000"/>
              </a:spcBef>
              <a:buFontTx/>
              <a:buNone/>
            </a:pPr>
            <a:r>
              <a:rPr lang="zh-CN" altLang="en-US" sz="1900" dirty="0">
                <a:latin typeface="Arial" pitchFamily="34" charset="0"/>
              </a:rPr>
              <a:t>    此时，集射电压已建立，较长的电流下降时间，会有较大的关断损耗（可以</a:t>
            </a:r>
            <a:r>
              <a:rPr lang="en-US" altLang="zh-CN" sz="1900" dirty="0">
                <a:latin typeface="Arial" pitchFamily="34" charset="0"/>
              </a:rPr>
              <a:t>GTR</a:t>
            </a:r>
            <a:r>
              <a:rPr lang="zh-CN" altLang="en-US" sz="1900" dirty="0">
                <a:latin typeface="Arial" pitchFamily="34" charset="0"/>
              </a:rPr>
              <a:t>降低饱和程度来提高速度，但损耗增加）</a:t>
            </a:r>
          </a:p>
        </p:txBody>
      </p:sp>
      <p:pic>
        <p:nvPicPr>
          <p:cNvPr id="410629" name="Picture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076056" y="668770"/>
            <a:ext cx="4052106" cy="6021387"/>
          </a:xfrm>
          <a:prstGeom prst="rect">
            <a:avLst/>
          </a:prstGeom>
          <a:noFill/>
          <a:extLst>
            <a:ext uri="{909E8E84-426E-40DD-AFC4-6F175D3DCCD1}">
              <a14:hiddenFill xmlns:a14="http://schemas.microsoft.com/office/drawing/2010/main">
                <a:solidFill>
                  <a:srgbClr val="FFFFFF"/>
                </a:solidFill>
              </a14:hiddenFill>
            </a:ext>
          </a:extLst>
        </p:spPr>
      </p:pic>
      <p:sp>
        <p:nvSpPr>
          <p:cNvPr id="2" name="灯片编号占位符 1"/>
          <p:cNvSpPr>
            <a:spLocks noGrp="1"/>
          </p:cNvSpPr>
          <p:nvPr>
            <p:ph type="sldNum" sz="quarter" idx="12"/>
          </p:nvPr>
        </p:nvSpPr>
        <p:spPr>
          <a:xfrm>
            <a:off x="8420100" y="5956771"/>
            <a:ext cx="609600" cy="476250"/>
          </a:xfrm>
        </p:spPr>
        <p:txBody>
          <a:bodyPr/>
          <a:lstStyle/>
          <a:p>
            <a:fld id="{0C913308-F349-4B6D-A68A-DD1791B4A57B}" type="slidenum">
              <a:rPr lang="zh-CN" altLang="en-US" smtClean="0"/>
              <a:t>15</a:t>
            </a:fld>
            <a:endParaRPr lang="zh-CN" altLang="en-US" dirty="0"/>
          </a:p>
        </p:txBody>
      </p:sp>
      <p:sp>
        <p:nvSpPr>
          <p:cNvPr id="3" name="日期占位符 2"/>
          <p:cNvSpPr>
            <a:spLocks noGrp="1"/>
          </p:cNvSpPr>
          <p:nvPr>
            <p:ph type="dt" sz="half" idx="10"/>
          </p:nvPr>
        </p:nvSpPr>
        <p:spPr/>
        <p:txBody>
          <a:bodyPr/>
          <a:lstStyle/>
          <a:p>
            <a:fld id="{10ED657A-AA29-4137-8312-8A364AA5AD2B}" type="datetime10">
              <a:rPr lang="zh-CN" altLang="en-US" smtClean="0"/>
              <a:t>14:22</a:t>
            </a:fld>
            <a:endParaRPr lang="zh-CN" altLang="en-US"/>
          </a:p>
        </p:txBody>
      </p:sp>
    </p:spTree>
    <p:extLst>
      <p:ext uri="{BB962C8B-B14F-4D97-AF65-F5344CB8AC3E}">
        <p14:creationId xmlns:p14="http://schemas.microsoft.com/office/powerpoint/2010/main" val="17077837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1062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10627">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10627">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410627">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410627">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410627">
                                            <p:txEl>
                                              <p:pRg st="5" end="5"/>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410627">
                                            <p:txEl>
                                              <p:pRg st="6" end="6"/>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410627">
                                            <p:txEl>
                                              <p:pRg st="7" end="7"/>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410627">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2"/>
          <p:cNvSpPr>
            <a:spLocks noGrp="1" noChangeArrowheads="1"/>
          </p:cNvSpPr>
          <p:nvPr>
            <p:ph type="title"/>
          </p:nvPr>
        </p:nvSpPr>
        <p:spPr/>
        <p:txBody>
          <a:bodyPr/>
          <a:lstStyle/>
          <a:p>
            <a:r>
              <a:rPr lang="zh-CN" altLang="en-US" sz="4000" b="1" dirty="0">
                <a:solidFill>
                  <a:schemeClr val="tx1"/>
                </a:solidFill>
              </a:rPr>
              <a:t>擎住效应或自锁效应</a:t>
            </a:r>
            <a:r>
              <a:rPr lang="zh-CN" altLang="en-US" sz="4000" dirty="0">
                <a:solidFill>
                  <a:schemeClr val="tx1"/>
                </a:solidFill>
              </a:rPr>
              <a:t>：</a:t>
            </a:r>
          </a:p>
        </p:txBody>
      </p:sp>
      <p:sp>
        <p:nvSpPr>
          <p:cNvPr id="93193" name="Rectangle 9"/>
          <p:cNvSpPr>
            <a:spLocks noChangeArrowheads="1"/>
          </p:cNvSpPr>
          <p:nvPr/>
        </p:nvSpPr>
        <p:spPr bwMode="auto">
          <a:xfrm>
            <a:off x="533400" y="765175"/>
            <a:ext cx="3581400" cy="606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342900" indent="-342900" algn="just">
              <a:lnSpc>
                <a:spcPct val="110000"/>
              </a:lnSpc>
              <a:spcBef>
                <a:spcPct val="40000"/>
              </a:spcBef>
              <a:buFont typeface="Wingdings" pitchFamily="2" charset="2"/>
              <a:buBlip>
                <a:blip r:embed="rId3"/>
              </a:buBlip>
            </a:pPr>
            <a:endParaRPr lang="zh-CN" altLang="zh-CN" sz="2000">
              <a:latin typeface="Times New Roman" pitchFamily="18" charset="0"/>
            </a:endParaRPr>
          </a:p>
        </p:txBody>
      </p:sp>
      <p:sp>
        <p:nvSpPr>
          <p:cNvPr id="93200" name="Rectangle 16"/>
          <p:cNvSpPr>
            <a:spLocks noChangeArrowheads="1"/>
          </p:cNvSpPr>
          <p:nvPr/>
        </p:nvSpPr>
        <p:spPr bwMode="auto">
          <a:xfrm>
            <a:off x="323529" y="652992"/>
            <a:ext cx="8854314" cy="42780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nSpc>
                <a:spcPct val="110000"/>
              </a:lnSpc>
              <a:spcBef>
                <a:spcPct val="40000"/>
              </a:spcBef>
              <a:buFont typeface="Wingdings" pitchFamily="2" charset="2"/>
              <a:buNone/>
            </a:pPr>
            <a:r>
              <a:rPr lang="zh-CN" altLang="en-US" sz="2000" b="1" dirty="0">
                <a:solidFill>
                  <a:srgbClr val="FF0000"/>
                </a:solidFill>
                <a:latin typeface="Arial" pitchFamily="34" charset="0"/>
              </a:rPr>
              <a:t>现象：</a:t>
            </a:r>
            <a:r>
              <a:rPr kumimoji="0" lang="zh-CN" altLang="en-US" sz="2000" dirty="0">
                <a:latin typeface="Arial" pitchFamily="34" charset="0"/>
              </a:rPr>
              <a:t>电流失控现象，像晶闸管被触发后，撤销触发信号晶闸管仍然进入正反馈而维持导通的机理一样，被称为</a:t>
            </a:r>
            <a:r>
              <a:rPr kumimoji="0" lang="zh-CN" altLang="en-US" sz="2000" dirty="0">
                <a:solidFill>
                  <a:srgbClr val="FF0000"/>
                </a:solidFill>
                <a:latin typeface="Arial" pitchFamily="34" charset="0"/>
              </a:rPr>
              <a:t>擎住效应或自锁效应。</a:t>
            </a:r>
            <a:endParaRPr kumimoji="0" lang="en-US" altLang="zh-CN" sz="2000" dirty="0">
              <a:solidFill>
                <a:srgbClr val="FF0000"/>
              </a:solidFill>
              <a:latin typeface="Arial" pitchFamily="34" charset="0"/>
            </a:endParaRPr>
          </a:p>
          <a:p>
            <a:pPr>
              <a:lnSpc>
                <a:spcPct val="110000"/>
              </a:lnSpc>
              <a:spcBef>
                <a:spcPct val="40000"/>
              </a:spcBef>
              <a:buFont typeface="Wingdings" pitchFamily="2" charset="2"/>
              <a:buNone/>
            </a:pPr>
            <a:r>
              <a:rPr lang="en-US" altLang="zh-CN" sz="2400" b="1" dirty="0">
                <a:solidFill>
                  <a:srgbClr val="FF0000"/>
                </a:solidFill>
                <a:latin typeface="Arial" pitchFamily="34" charset="0"/>
              </a:rPr>
              <a:t> </a:t>
            </a:r>
            <a:r>
              <a:rPr lang="zh-CN" altLang="en-US" sz="2000" b="1" dirty="0">
                <a:solidFill>
                  <a:srgbClr val="FF0000"/>
                </a:solidFill>
                <a:latin typeface="Arial" pitchFamily="34" charset="0"/>
              </a:rPr>
              <a:t>产生机理：</a:t>
            </a:r>
            <a:r>
              <a:rPr lang="en-US" altLang="zh-CN" sz="2000" dirty="0">
                <a:latin typeface="Arial" pitchFamily="34" charset="0"/>
              </a:rPr>
              <a:t>IGBT</a:t>
            </a:r>
            <a:r>
              <a:rPr lang="zh-CN" altLang="en-US" sz="2000" dirty="0">
                <a:latin typeface="Arial" pitchFamily="34" charset="0"/>
              </a:rPr>
              <a:t>内部寄生着一个</a:t>
            </a:r>
            <a:r>
              <a:rPr lang="en-US" altLang="zh-CN" sz="2000" dirty="0">
                <a:latin typeface="Arial" pitchFamily="34" charset="0"/>
              </a:rPr>
              <a:t>N</a:t>
            </a:r>
            <a:r>
              <a:rPr lang="en-US" altLang="zh-CN" sz="2000" baseline="30000" dirty="0">
                <a:latin typeface="Arial" pitchFamily="34" charset="0"/>
              </a:rPr>
              <a:t>-</a:t>
            </a:r>
            <a:r>
              <a:rPr lang="en-US" altLang="zh-CN" sz="2000" dirty="0">
                <a:latin typeface="Arial" pitchFamily="34" charset="0"/>
              </a:rPr>
              <a:t>PN</a:t>
            </a:r>
            <a:r>
              <a:rPr lang="en-US" altLang="zh-CN" sz="2000" baseline="30000" dirty="0">
                <a:latin typeface="Arial" pitchFamily="34" charset="0"/>
              </a:rPr>
              <a:t>+</a:t>
            </a:r>
            <a:r>
              <a:rPr lang="zh-CN" altLang="en-US" sz="2000" dirty="0">
                <a:latin typeface="Arial" pitchFamily="34" charset="0"/>
              </a:rPr>
              <a:t>晶体管和作为主开关器件</a:t>
            </a:r>
            <a:r>
              <a:rPr lang="en-US" altLang="zh-CN" sz="2000" dirty="0">
                <a:latin typeface="Arial" pitchFamily="34" charset="0"/>
              </a:rPr>
              <a:t>P</a:t>
            </a:r>
            <a:r>
              <a:rPr lang="en-US" altLang="zh-CN" sz="2000" baseline="30000" dirty="0">
                <a:latin typeface="Arial" pitchFamily="34" charset="0"/>
              </a:rPr>
              <a:t>+</a:t>
            </a:r>
            <a:r>
              <a:rPr lang="en-US" altLang="zh-CN" sz="2000" dirty="0">
                <a:latin typeface="Arial" pitchFamily="34" charset="0"/>
              </a:rPr>
              <a:t>NP</a:t>
            </a:r>
            <a:r>
              <a:rPr lang="en-US" altLang="zh-CN" sz="2000" baseline="30000" dirty="0">
                <a:latin typeface="Arial" pitchFamily="34" charset="0"/>
              </a:rPr>
              <a:t>-</a:t>
            </a:r>
            <a:r>
              <a:rPr lang="zh-CN" altLang="en-US" sz="2000" dirty="0">
                <a:latin typeface="Arial" pitchFamily="34" charset="0"/>
              </a:rPr>
              <a:t>晶体管组成的</a:t>
            </a:r>
            <a:r>
              <a:rPr lang="zh-CN" altLang="en-US" sz="2000" dirty="0">
                <a:solidFill>
                  <a:srgbClr val="FF0000"/>
                </a:solidFill>
                <a:latin typeface="Arial" pitchFamily="34" charset="0"/>
              </a:rPr>
              <a:t>寄生晶闸管。</a:t>
            </a:r>
            <a:r>
              <a:rPr lang="zh-CN" altLang="en-US" sz="2000" dirty="0">
                <a:latin typeface="Arial" pitchFamily="34" charset="0"/>
              </a:rPr>
              <a:t>其中 </a:t>
            </a:r>
            <a:r>
              <a:rPr lang="en-US" altLang="zh-CN" sz="2000" dirty="0">
                <a:latin typeface="Arial" pitchFamily="34" charset="0"/>
              </a:rPr>
              <a:t>NPN</a:t>
            </a:r>
            <a:r>
              <a:rPr lang="zh-CN" altLang="en-US" sz="2000" dirty="0">
                <a:latin typeface="Arial" pitchFamily="34" charset="0"/>
              </a:rPr>
              <a:t>管基射极间存在体短路电阻，</a:t>
            </a:r>
            <a:r>
              <a:rPr lang="en-US" altLang="zh-CN" sz="2000" dirty="0">
                <a:latin typeface="Arial" pitchFamily="34" charset="0"/>
              </a:rPr>
              <a:t>P</a:t>
            </a:r>
            <a:r>
              <a:rPr lang="zh-CN" altLang="en-US" sz="2000" dirty="0">
                <a:latin typeface="Arial" pitchFamily="34" charset="0"/>
              </a:rPr>
              <a:t>形体区电流会在其上产生压降，相当于对</a:t>
            </a:r>
            <a:r>
              <a:rPr lang="en-US" altLang="zh-CN" sz="2000" dirty="0">
                <a:latin typeface="Arial" pitchFamily="34" charset="0"/>
              </a:rPr>
              <a:t>J3</a:t>
            </a:r>
            <a:r>
              <a:rPr lang="zh-CN" altLang="en-US" sz="2000" dirty="0">
                <a:latin typeface="Arial" pitchFamily="34" charset="0"/>
              </a:rPr>
              <a:t>结加正偏，一旦</a:t>
            </a:r>
            <a:r>
              <a:rPr lang="en-US" altLang="zh-CN" sz="2000" dirty="0">
                <a:latin typeface="Arial" pitchFamily="34" charset="0"/>
              </a:rPr>
              <a:t>J3</a:t>
            </a:r>
            <a:r>
              <a:rPr lang="zh-CN" altLang="en-US" sz="2000" dirty="0">
                <a:latin typeface="Arial" pitchFamily="34" charset="0"/>
              </a:rPr>
              <a:t>开通，栅极会失去对集电极电流的控制作用，导致集电极电流增大，造成器件功耗过高损坏。</a:t>
            </a:r>
            <a:r>
              <a:rPr lang="en-US" altLang="zh-CN" sz="2000" dirty="0">
                <a:latin typeface="Arial" pitchFamily="34" charset="0"/>
              </a:rPr>
              <a:t>(</a:t>
            </a:r>
            <a:r>
              <a:rPr lang="zh-CN" altLang="en-US" sz="2000" dirty="0">
                <a:latin typeface="Arial" pitchFamily="34" charset="0"/>
              </a:rPr>
              <a:t>对照晶闸管的</a:t>
            </a:r>
            <a:r>
              <a:rPr lang="en-US" altLang="zh-CN" sz="2000" dirty="0">
                <a:latin typeface="Arial" pitchFamily="34" charset="0"/>
              </a:rPr>
              <a:t>PNPN</a:t>
            </a:r>
            <a:r>
              <a:rPr lang="zh-CN" altLang="en-US" sz="2000" dirty="0">
                <a:latin typeface="Arial" pitchFamily="34" charset="0"/>
              </a:rPr>
              <a:t>四层半导体结构看</a:t>
            </a:r>
            <a:r>
              <a:rPr lang="en-US" altLang="zh-CN" sz="2000" dirty="0">
                <a:latin typeface="Arial" pitchFamily="34" charset="0"/>
              </a:rPr>
              <a:t>)</a:t>
            </a:r>
            <a:endParaRPr kumimoji="0" lang="zh-CN" altLang="en-US" sz="2000" dirty="0">
              <a:latin typeface="Arial" pitchFamily="34" charset="0"/>
            </a:endParaRPr>
          </a:p>
          <a:p>
            <a:pPr>
              <a:lnSpc>
                <a:spcPct val="110000"/>
              </a:lnSpc>
              <a:spcBef>
                <a:spcPct val="40000"/>
              </a:spcBef>
              <a:buFont typeface="Wingdings" pitchFamily="2" charset="2"/>
              <a:buNone/>
            </a:pPr>
            <a:r>
              <a:rPr kumimoji="0" lang="zh-CN" altLang="en-US" sz="2000" dirty="0">
                <a:latin typeface="Arial" pitchFamily="34" charset="0"/>
              </a:rPr>
              <a:t>       </a:t>
            </a:r>
            <a:r>
              <a:rPr kumimoji="0" lang="zh-CN" altLang="en-US" sz="2000" b="1" dirty="0">
                <a:solidFill>
                  <a:srgbClr val="FF0000"/>
                </a:solidFill>
                <a:latin typeface="Arial" pitchFamily="34" charset="0"/>
              </a:rPr>
              <a:t>引发原因：集电极电流过大</a:t>
            </a:r>
            <a:r>
              <a:rPr kumimoji="0" lang="en-US" altLang="zh-CN" sz="2000" b="1" dirty="0">
                <a:solidFill>
                  <a:srgbClr val="FF0000"/>
                </a:solidFill>
                <a:latin typeface="Arial" pitchFamily="34" charset="0"/>
              </a:rPr>
              <a:t>(</a:t>
            </a:r>
            <a:r>
              <a:rPr kumimoji="0" lang="zh-CN" altLang="en-US" sz="2000" b="1" dirty="0">
                <a:solidFill>
                  <a:srgbClr val="FF0000"/>
                </a:solidFill>
                <a:latin typeface="Arial" pitchFamily="34" charset="0"/>
              </a:rPr>
              <a:t>静态擎住效应</a:t>
            </a:r>
            <a:r>
              <a:rPr kumimoji="0" lang="en-US" altLang="zh-CN" sz="2000" b="1" dirty="0">
                <a:solidFill>
                  <a:srgbClr val="FF0000"/>
                </a:solidFill>
                <a:latin typeface="Arial" pitchFamily="34" charset="0"/>
              </a:rPr>
              <a:t>)</a:t>
            </a:r>
            <a:r>
              <a:rPr kumimoji="0" lang="zh-CN" altLang="en-US" sz="2000" b="1" dirty="0">
                <a:solidFill>
                  <a:srgbClr val="FF0000"/>
                </a:solidFill>
                <a:latin typeface="Arial" pitchFamily="34" charset="0"/>
              </a:rPr>
              <a:t>，</a:t>
            </a:r>
            <a:r>
              <a:rPr kumimoji="0" lang="en-US" altLang="zh-CN" sz="2000" b="1" dirty="0">
                <a:solidFill>
                  <a:srgbClr val="FF0000"/>
                </a:solidFill>
                <a:latin typeface="Arial" pitchFamily="34" charset="0"/>
              </a:rPr>
              <a:t>du</a:t>
            </a:r>
            <a:r>
              <a:rPr kumimoji="0" lang="en-US" altLang="zh-CN" sz="2000" b="1" baseline="-25000" dirty="0">
                <a:solidFill>
                  <a:srgbClr val="FF0000"/>
                </a:solidFill>
                <a:latin typeface="Arial" pitchFamily="34" charset="0"/>
              </a:rPr>
              <a:t>ce</a:t>
            </a:r>
            <a:r>
              <a:rPr kumimoji="0" lang="en-US" altLang="zh-CN" sz="2000" b="1" dirty="0">
                <a:solidFill>
                  <a:srgbClr val="FF0000"/>
                </a:solidFill>
                <a:latin typeface="Arial" pitchFamily="34" charset="0"/>
              </a:rPr>
              <a:t>/</a:t>
            </a:r>
            <a:r>
              <a:rPr kumimoji="0" lang="en-US" altLang="zh-CN" sz="2000" b="1" dirty="0" err="1">
                <a:solidFill>
                  <a:srgbClr val="FF0000"/>
                </a:solidFill>
                <a:latin typeface="Arial" pitchFamily="34" charset="0"/>
              </a:rPr>
              <a:t>d</a:t>
            </a:r>
            <a:r>
              <a:rPr kumimoji="0" lang="en-US" altLang="zh-CN" sz="2000" b="1" baseline="-25000" dirty="0" err="1">
                <a:solidFill>
                  <a:srgbClr val="FF0000"/>
                </a:solidFill>
                <a:latin typeface="Arial" pitchFamily="34" charset="0"/>
              </a:rPr>
              <a:t>t</a:t>
            </a:r>
            <a:r>
              <a:rPr kumimoji="0" lang="zh-CN" altLang="en-US" sz="2000" b="1" dirty="0">
                <a:solidFill>
                  <a:srgbClr val="FF0000"/>
                </a:solidFill>
                <a:latin typeface="Arial" pitchFamily="34" charset="0"/>
              </a:rPr>
              <a:t>过大（动态擎住效应），</a:t>
            </a:r>
            <a:r>
              <a:rPr kumimoji="0" lang="zh-CN" altLang="en-US" sz="2000" dirty="0">
                <a:latin typeface="Arial" pitchFamily="34" charset="0"/>
              </a:rPr>
              <a:t>温升过高也会加剧擎住效应产生危险。动态擎住效应比静态擎住效应所允许的集电极电流小。</a:t>
            </a:r>
          </a:p>
          <a:p>
            <a:pPr>
              <a:lnSpc>
                <a:spcPct val="110000"/>
              </a:lnSpc>
              <a:spcBef>
                <a:spcPct val="40000"/>
              </a:spcBef>
              <a:buFont typeface="Wingdings" pitchFamily="2" charset="2"/>
              <a:buNone/>
            </a:pPr>
            <a:r>
              <a:rPr kumimoji="0" lang="zh-CN" altLang="en-US" sz="2000" dirty="0">
                <a:latin typeface="Arial" pitchFamily="34" charset="0"/>
              </a:rPr>
              <a:t>       擎住效应曾限制</a:t>
            </a:r>
            <a:r>
              <a:rPr kumimoji="0" lang="en-US" altLang="zh-CN" sz="2000" dirty="0">
                <a:latin typeface="Arial" pitchFamily="34" charset="0"/>
              </a:rPr>
              <a:t>IGBT</a:t>
            </a:r>
            <a:r>
              <a:rPr kumimoji="0" lang="zh-CN" altLang="en-US" sz="2000" dirty="0">
                <a:latin typeface="Arial" pitchFamily="34" charset="0"/>
              </a:rPr>
              <a:t>电流容量提高，</a:t>
            </a:r>
            <a:r>
              <a:rPr kumimoji="0" lang="en-US" altLang="zh-CN" sz="2000" dirty="0">
                <a:latin typeface="Arial" pitchFamily="34" charset="0"/>
              </a:rPr>
              <a:t>20</a:t>
            </a:r>
            <a:r>
              <a:rPr kumimoji="0" lang="zh-CN" altLang="en-US" sz="2000" dirty="0">
                <a:latin typeface="Arial" pitchFamily="34" charset="0"/>
              </a:rPr>
              <a:t>世纪</a:t>
            </a:r>
            <a:r>
              <a:rPr kumimoji="0" lang="en-US" altLang="zh-CN" sz="2000" dirty="0">
                <a:latin typeface="Arial" pitchFamily="34" charset="0"/>
              </a:rPr>
              <a:t>90</a:t>
            </a:r>
            <a:r>
              <a:rPr kumimoji="0" lang="zh-CN" altLang="en-US" sz="2000" dirty="0">
                <a:latin typeface="Arial" pitchFamily="34" charset="0"/>
              </a:rPr>
              <a:t>年代中后期开始逐渐解决。</a:t>
            </a:r>
          </a:p>
        </p:txBody>
      </p:sp>
      <p:pic>
        <p:nvPicPr>
          <p:cNvPr id="93202" name="Picture 1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54729" y="4998820"/>
            <a:ext cx="2016224" cy="1722655"/>
          </a:xfrm>
          <a:prstGeom prst="rect">
            <a:avLst/>
          </a:prstGeom>
          <a:noFill/>
          <a:extLst>
            <a:ext uri="{909E8E84-426E-40DD-AFC4-6F175D3DCCD1}">
              <a14:hiddenFill xmlns:a14="http://schemas.microsoft.com/office/drawing/2010/main">
                <a:solidFill>
                  <a:srgbClr val="FFFFFF"/>
                </a:solidFill>
              </a14:hiddenFill>
            </a:ext>
          </a:extLst>
        </p:spPr>
      </p:pic>
      <p:sp>
        <p:nvSpPr>
          <p:cNvPr id="2" name="灯片编号占位符 1"/>
          <p:cNvSpPr>
            <a:spLocks noGrp="1"/>
          </p:cNvSpPr>
          <p:nvPr>
            <p:ph type="sldNum" sz="quarter" idx="12"/>
          </p:nvPr>
        </p:nvSpPr>
        <p:spPr/>
        <p:txBody>
          <a:bodyPr/>
          <a:lstStyle/>
          <a:p>
            <a:fld id="{0C913308-F349-4B6D-A68A-DD1791B4A57B}" type="slidenum">
              <a:rPr lang="zh-CN" altLang="en-US" smtClean="0"/>
              <a:t>16</a:t>
            </a:fld>
            <a:endParaRPr lang="zh-CN" altLang="en-US"/>
          </a:p>
        </p:txBody>
      </p:sp>
      <p:pic>
        <p:nvPicPr>
          <p:cNvPr id="7" name="图片 6"/>
          <p:cNvPicPr>
            <a:picLocks noChangeAspect="1"/>
          </p:cNvPicPr>
          <p:nvPr/>
        </p:nvPicPr>
        <p:blipFill>
          <a:blip r:embed="rId5"/>
          <a:stretch>
            <a:fillRect/>
          </a:stretch>
        </p:blipFill>
        <p:spPr>
          <a:xfrm>
            <a:off x="899592" y="4836363"/>
            <a:ext cx="2376264" cy="2000318"/>
          </a:xfrm>
          <a:prstGeom prst="rect">
            <a:avLst/>
          </a:prstGeom>
        </p:spPr>
      </p:pic>
      <p:sp>
        <p:nvSpPr>
          <p:cNvPr id="3" name="日期占位符 2"/>
          <p:cNvSpPr>
            <a:spLocks noGrp="1"/>
          </p:cNvSpPr>
          <p:nvPr>
            <p:ph type="dt" sz="half" idx="10"/>
          </p:nvPr>
        </p:nvSpPr>
        <p:spPr/>
        <p:txBody>
          <a:bodyPr/>
          <a:lstStyle/>
          <a:p>
            <a:fld id="{0A142FD0-BCAA-4468-AAFC-0EA565964FF0}" type="datetime10">
              <a:rPr lang="zh-CN" altLang="en-US" smtClean="0"/>
              <a:t>14:22</a:t>
            </a:fld>
            <a:endParaRPr lang="zh-CN" altLang="en-US"/>
          </a:p>
        </p:txBody>
      </p:sp>
    </p:spTree>
    <p:extLst>
      <p:ext uri="{BB962C8B-B14F-4D97-AF65-F5344CB8AC3E}">
        <p14:creationId xmlns:p14="http://schemas.microsoft.com/office/powerpoint/2010/main" val="422352506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93200"/>
                                        </p:tgtEl>
                                        <p:attrNameLst>
                                          <p:attrName>style.visibility</p:attrName>
                                        </p:attrNameLst>
                                      </p:cBhvr>
                                      <p:to>
                                        <p:strVal val="visible"/>
                                      </p:to>
                                    </p:set>
                                    <p:animEffect transition="in" filter="blinds(horizontal)">
                                      <p:cBhvr>
                                        <p:cTn id="7" dur="500"/>
                                        <p:tgtEl>
                                          <p:spTgt spid="93200"/>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93202"/>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nodeType="clickEffect">
                                  <p:stCondLst>
                                    <p:cond delay="0"/>
                                  </p:stCondLst>
                                  <p:childTnLst>
                                    <p:set>
                                      <p:cBhvr>
                                        <p:cTn id="15" dur="1" fill="hold">
                                          <p:stCondLst>
                                            <p:cond delay="0"/>
                                          </p:stCondLst>
                                        </p:cTn>
                                        <p:tgtEl>
                                          <p:spTgt spid="93200">
                                            <p:txEl>
                                              <p:pRg st="1" end="1"/>
                                            </p:txEl>
                                          </p:spTgt>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nodeType="clickEffect">
                                  <p:stCondLst>
                                    <p:cond delay="0"/>
                                  </p:stCondLst>
                                  <p:childTnLst>
                                    <p:set>
                                      <p:cBhvr>
                                        <p:cTn id="19" dur="1" fill="hold">
                                          <p:stCondLst>
                                            <p:cond delay="0"/>
                                          </p:stCondLst>
                                        </p:cTn>
                                        <p:tgtEl>
                                          <p:spTgt spid="93200">
                                            <p:txEl>
                                              <p:pRg st="2" end="2"/>
                                            </p:txEl>
                                          </p:spTgt>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clickEffect">
                                  <p:stCondLst>
                                    <p:cond delay="0"/>
                                  </p:stCondLst>
                                  <p:childTnLst>
                                    <p:set>
                                      <p:cBhvr>
                                        <p:cTn id="23" dur="1" fill="hold">
                                          <p:stCondLst>
                                            <p:cond delay="0"/>
                                          </p:stCondLst>
                                        </p:cTn>
                                        <p:tgtEl>
                                          <p:spTgt spid="93200">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3200" grpId="0" autoUpdateAnimBg="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2" name="Rectangle 2"/>
          <p:cNvSpPr>
            <a:spLocks noGrp="1" noChangeArrowheads="1"/>
          </p:cNvSpPr>
          <p:nvPr>
            <p:ph type="title"/>
          </p:nvPr>
        </p:nvSpPr>
        <p:spPr>
          <a:xfrm>
            <a:off x="827088" y="261938"/>
            <a:ext cx="7848600" cy="428625"/>
          </a:xfrm>
        </p:spPr>
        <p:txBody>
          <a:bodyPr/>
          <a:lstStyle/>
          <a:p>
            <a:pPr algn="l"/>
            <a:r>
              <a:rPr lang="en-US" altLang="zh-CN" sz="3600" b="1">
                <a:solidFill>
                  <a:schemeClr val="tx1"/>
                </a:solidFill>
              </a:rPr>
              <a:t>2.4.4 </a:t>
            </a:r>
            <a:r>
              <a:rPr lang="zh-CN" altLang="en-US" sz="3600" b="1">
                <a:solidFill>
                  <a:schemeClr val="tx1"/>
                </a:solidFill>
              </a:rPr>
              <a:t>绝缘栅双极晶体管</a:t>
            </a:r>
          </a:p>
        </p:txBody>
      </p:sp>
      <p:sp>
        <p:nvSpPr>
          <p:cNvPr id="133123" name="Rectangle 3"/>
          <p:cNvSpPr>
            <a:spLocks noGrp="1" noChangeArrowheads="1"/>
          </p:cNvSpPr>
          <p:nvPr>
            <p:ph idx="1"/>
          </p:nvPr>
        </p:nvSpPr>
        <p:spPr/>
        <p:txBody>
          <a:bodyPr/>
          <a:lstStyle/>
          <a:p>
            <a:pPr>
              <a:buFontTx/>
              <a:buNone/>
            </a:pPr>
            <a:r>
              <a:rPr lang="en-US" altLang="zh-CN" sz="2800" b="1">
                <a:solidFill>
                  <a:srgbClr val="E35449"/>
                </a:solidFill>
              </a:rPr>
              <a:t>■</a:t>
            </a:r>
            <a:r>
              <a:rPr lang="en-US" altLang="zh-CN" sz="2800" b="1"/>
              <a:t>IGBT</a:t>
            </a:r>
            <a:r>
              <a:rPr lang="zh-CN" altLang="en-US" sz="2800" b="1"/>
              <a:t>的主要参数</a:t>
            </a:r>
          </a:p>
          <a:p>
            <a:pPr>
              <a:buFontTx/>
              <a:buNone/>
            </a:pPr>
            <a:r>
              <a:rPr lang="zh-CN" altLang="en-US" sz="2800" b="1">
                <a:solidFill>
                  <a:srgbClr val="0000FF"/>
                </a:solidFill>
              </a:rPr>
              <a:t>   ◆</a:t>
            </a:r>
            <a:r>
              <a:rPr lang="zh-CN" altLang="en-US" sz="2800" b="1"/>
              <a:t>前面提到的各参数。</a:t>
            </a:r>
          </a:p>
          <a:p>
            <a:pPr>
              <a:buFontTx/>
              <a:buNone/>
            </a:pPr>
            <a:r>
              <a:rPr lang="zh-CN" altLang="en-US" sz="2800" b="1">
                <a:solidFill>
                  <a:srgbClr val="0000FF"/>
                </a:solidFill>
              </a:rPr>
              <a:t>   ◆</a:t>
            </a:r>
            <a:r>
              <a:rPr lang="zh-CN" altLang="en-US" sz="2800" b="1"/>
              <a:t>最大集射极间电压</a:t>
            </a:r>
            <a:r>
              <a:rPr lang="en-US" altLang="zh-CN" sz="2800" b="1" i="1">
                <a:solidFill>
                  <a:srgbClr val="E35449"/>
                </a:solidFill>
              </a:rPr>
              <a:t>U</a:t>
            </a:r>
            <a:r>
              <a:rPr lang="en-US" altLang="zh-CN" sz="2800" b="1" i="1" baseline="-25000">
                <a:solidFill>
                  <a:srgbClr val="E35449"/>
                </a:solidFill>
              </a:rPr>
              <a:t>CES</a:t>
            </a:r>
          </a:p>
          <a:p>
            <a:pPr>
              <a:buFontTx/>
              <a:buNone/>
            </a:pPr>
            <a:r>
              <a:rPr lang="en-US" altLang="zh-CN" sz="2800" b="1"/>
              <a:t>       </a:t>
            </a:r>
            <a:r>
              <a:rPr lang="en-US" altLang="zh-CN" sz="2800" b="1">
                <a:solidFill>
                  <a:srgbClr val="009900"/>
                </a:solidFill>
              </a:rPr>
              <a:t>☞</a:t>
            </a:r>
            <a:r>
              <a:rPr lang="zh-CN" altLang="en-US" sz="2800" b="1"/>
              <a:t>由器件内部的</a:t>
            </a:r>
            <a:r>
              <a:rPr lang="en-US" altLang="zh-CN" sz="2800" b="1"/>
              <a:t>PNP</a:t>
            </a:r>
            <a:r>
              <a:rPr lang="zh-CN" altLang="en-US" sz="2800" b="1"/>
              <a:t>晶体管所能承受的击穿电压所确定的。 </a:t>
            </a:r>
          </a:p>
          <a:p>
            <a:pPr>
              <a:buFontTx/>
              <a:buNone/>
            </a:pPr>
            <a:r>
              <a:rPr lang="zh-CN" altLang="en-US" sz="2800" b="1"/>
              <a:t>   </a:t>
            </a:r>
            <a:r>
              <a:rPr lang="zh-CN" altLang="en-US" sz="2800" b="1">
                <a:solidFill>
                  <a:srgbClr val="0000FF"/>
                </a:solidFill>
              </a:rPr>
              <a:t>◆</a:t>
            </a:r>
            <a:r>
              <a:rPr lang="zh-CN" altLang="en-US" sz="2800" b="1"/>
              <a:t>最大集电极电流</a:t>
            </a:r>
          </a:p>
          <a:p>
            <a:pPr>
              <a:buFontTx/>
              <a:buNone/>
            </a:pPr>
            <a:r>
              <a:rPr lang="zh-CN" altLang="en-US" sz="2800" b="1"/>
              <a:t>       </a:t>
            </a:r>
            <a:r>
              <a:rPr lang="zh-CN" altLang="en-US" sz="2800" b="1">
                <a:solidFill>
                  <a:srgbClr val="009900"/>
                </a:solidFill>
              </a:rPr>
              <a:t>☞</a:t>
            </a:r>
            <a:r>
              <a:rPr lang="zh-CN" altLang="en-US" sz="2800" b="1"/>
              <a:t>包括额定直流电流</a:t>
            </a:r>
            <a:r>
              <a:rPr lang="en-US" altLang="zh-CN" sz="2800" b="1" i="1">
                <a:solidFill>
                  <a:srgbClr val="E35449"/>
                </a:solidFill>
              </a:rPr>
              <a:t>I</a:t>
            </a:r>
            <a:r>
              <a:rPr lang="en-US" altLang="zh-CN" sz="2800" b="1" i="1" baseline="-25000">
                <a:solidFill>
                  <a:srgbClr val="E35449"/>
                </a:solidFill>
              </a:rPr>
              <a:t>C</a:t>
            </a:r>
            <a:r>
              <a:rPr lang="zh-CN" altLang="en-US" sz="2800" b="1"/>
              <a:t>和</a:t>
            </a:r>
            <a:r>
              <a:rPr lang="en-US" altLang="zh-CN" sz="2800" b="1"/>
              <a:t>1ms</a:t>
            </a:r>
            <a:r>
              <a:rPr lang="zh-CN" altLang="en-US" sz="2800" b="1"/>
              <a:t>脉宽最大电流</a:t>
            </a:r>
            <a:r>
              <a:rPr lang="en-US" altLang="zh-CN" sz="2800" b="1" i="1">
                <a:solidFill>
                  <a:srgbClr val="E35449"/>
                </a:solidFill>
              </a:rPr>
              <a:t>I</a:t>
            </a:r>
            <a:r>
              <a:rPr lang="en-US" altLang="zh-CN" sz="2800" b="1" i="1" baseline="-25000">
                <a:solidFill>
                  <a:srgbClr val="E35449"/>
                </a:solidFill>
              </a:rPr>
              <a:t>CP</a:t>
            </a:r>
            <a:r>
              <a:rPr lang="zh-CN" altLang="en-US" sz="2800" b="1"/>
              <a:t>。 </a:t>
            </a:r>
          </a:p>
          <a:p>
            <a:pPr>
              <a:buFontTx/>
              <a:buNone/>
            </a:pPr>
            <a:r>
              <a:rPr lang="zh-CN" altLang="en-US" sz="2800" b="1"/>
              <a:t>   </a:t>
            </a:r>
            <a:r>
              <a:rPr lang="zh-CN" altLang="en-US" sz="2800" b="1">
                <a:solidFill>
                  <a:srgbClr val="0000FF"/>
                </a:solidFill>
              </a:rPr>
              <a:t>◆</a:t>
            </a:r>
            <a:r>
              <a:rPr lang="zh-CN" altLang="en-US" sz="2800" b="1"/>
              <a:t>最大集电极功耗</a:t>
            </a:r>
            <a:r>
              <a:rPr lang="en-US" altLang="zh-CN" sz="2800" b="1" i="1">
                <a:solidFill>
                  <a:srgbClr val="E35449"/>
                </a:solidFill>
              </a:rPr>
              <a:t>P</a:t>
            </a:r>
            <a:r>
              <a:rPr lang="en-US" altLang="zh-CN" sz="2800" b="1" i="1" baseline="-25000">
                <a:solidFill>
                  <a:srgbClr val="E35449"/>
                </a:solidFill>
              </a:rPr>
              <a:t>CM</a:t>
            </a:r>
            <a:r>
              <a:rPr lang="en-US" altLang="zh-CN" sz="2800" b="1"/>
              <a:t> </a:t>
            </a:r>
          </a:p>
          <a:p>
            <a:pPr>
              <a:buFontTx/>
              <a:buNone/>
            </a:pPr>
            <a:r>
              <a:rPr lang="en-US" altLang="zh-CN" sz="2800" b="1"/>
              <a:t>       </a:t>
            </a:r>
            <a:r>
              <a:rPr lang="en-US" altLang="zh-CN" sz="2800" b="1">
                <a:solidFill>
                  <a:srgbClr val="009900"/>
                </a:solidFill>
              </a:rPr>
              <a:t>☞</a:t>
            </a:r>
            <a:r>
              <a:rPr lang="zh-CN" altLang="en-US" sz="2800" b="1"/>
              <a:t>在正常工作温度下允许的最大耗散功率。</a:t>
            </a:r>
            <a:r>
              <a:rPr lang="zh-CN" altLang="en-US" sz="2800"/>
              <a:t>  </a:t>
            </a:r>
          </a:p>
        </p:txBody>
      </p:sp>
      <p:sp>
        <p:nvSpPr>
          <p:cNvPr id="2" name="灯片编号占位符 1"/>
          <p:cNvSpPr>
            <a:spLocks noGrp="1"/>
          </p:cNvSpPr>
          <p:nvPr>
            <p:ph type="sldNum" sz="quarter" idx="12"/>
          </p:nvPr>
        </p:nvSpPr>
        <p:spPr/>
        <p:txBody>
          <a:bodyPr/>
          <a:lstStyle/>
          <a:p>
            <a:fld id="{0C913308-F349-4B6D-A68A-DD1791B4A57B}" type="slidenum">
              <a:rPr lang="zh-CN" altLang="en-US" smtClean="0"/>
              <a:t>17</a:t>
            </a:fld>
            <a:endParaRPr lang="zh-CN" altLang="en-US"/>
          </a:p>
        </p:txBody>
      </p:sp>
      <p:sp>
        <p:nvSpPr>
          <p:cNvPr id="3" name="日期占位符 2"/>
          <p:cNvSpPr>
            <a:spLocks noGrp="1"/>
          </p:cNvSpPr>
          <p:nvPr>
            <p:ph type="dt" sz="half" idx="10"/>
          </p:nvPr>
        </p:nvSpPr>
        <p:spPr/>
        <p:txBody>
          <a:bodyPr/>
          <a:lstStyle/>
          <a:p>
            <a:fld id="{0FFA08CF-66AE-4110-9050-214C6C5BC449}" type="datetime10">
              <a:rPr lang="zh-CN" altLang="en-US" smtClean="0"/>
              <a:t>14:22</a:t>
            </a:fld>
            <a:endParaRPr lang="zh-CN" altLang="en-US"/>
          </a:p>
        </p:txBody>
      </p:sp>
    </p:spTree>
    <p:extLst>
      <p:ext uri="{BB962C8B-B14F-4D97-AF65-F5344CB8AC3E}">
        <p14:creationId xmlns:p14="http://schemas.microsoft.com/office/powerpoint/2010/main" val="293066643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6" name="Rectangle 2"/>
          <p:cNvSpPr>
            <a:spLocks noGrp="1" noChangeArrowheads="1"/>
          </p:cNvSpPr>
          <p:nvPr>
            <p:ph type="title"/>
          </p:nvPr>
        </p:nvSpPr>
        <p:spPr>
          <a:xfrm>
            <a:off x="827088" y="261938"/>
            <a:ext cx="7848600" cy="428625"/>
          </a:xfrm>
        </p:spPr>
        <p:txBody>
          <a:bodyPr/>
          <a:lstStyle/>
          <a:p>
            <a:pPr algn="l"/>
            <a:r>
              <a:rPr lang="en-US" altLang="zh-CN" sz="3600" b="1">
                <a:solidFill>
                  <a:schemeClr val="tx1"/>
                </a:solidFill>
              </a:rPr>
              <a:t>2.4.4 </a:t>
            </a:r>
            <a:r>
              <a:rPr lang="zh-CN" altLang="en-US" sz="3600" b="1">
                <a:solidFill>
                  <a:schemeClr val="tx1"/>
                </a:solidFill>
              </a:rPr>
              <a:t>绝缘栅双极晶体管</a:t>
            </a:r>
          </a:p>
        </p:txBody>
      </p:sp>
      <p:sp>
        <p:nvSpPr>
          <p:cNvPr id="134147" name="Rectangle 3"/>
          <p:cNvSpPr>
            <a:spLocks noGrp="1" noChangeArrowheads="1"/>
          </p:cNvSpPr>
          <p:nvPr>
            <p:ph idx="1"/>
          </p:nvPr>
        </p:nvSpPr>
        <p:spPr>
          <a:xfrm>
            <a:off x="817856" y="658286"/>
            <a:ext cx="8074623" cy="6048672"/>
          </a:xfrm>
        </p:spPr>
        <p:txBody>
          <a:bodyPr/>
          <a:lstStyle/>
          <a:p>
            <a:pPr marL="609600" indent="-609600">
              <a:lnSpc>
                <a:spcPct val="125000"/>
              </a:lnSpc>
              <a:buFontTx/>
              <a:buNone/>
            </a:pPr>
            <a:r>
              <a:rPr lang="en-US" altLang="zh-CN" sz="2400" b="1" dirty="0">
                <a:solidFill>
                  <a:srgbClr val="0000FF"/>
                </a:solidFill>
              </a:rPr>
              <a:t>◆</a:t>
            </a:r>
            <a:r>
              <a:rPr lang="en-US" altLang="zh-CN" sz="2400" b="1" dirty="0"/>
              <a:t>IGBT</a:t>
            </a:r>
            <a:r>
              <a:rPr lang="zh-CN" altLang="en-US" sz="2400" b="1" dirty="0"/>
              <a:t>的特性和参数特点可以总结如下：</a:t>
            </a:r>
          </a:p>
          <a:p>
            <a:pPr marL="609600" indent="-609600">
              <a:lnSpc>
                <a:spcPct val="125000"/>
              </a:lnSpc>
              <a:buFontTx/>
              <a:buNone/>
            </a:pPr>
            <a:r>
              <a:rPr lang="zh-CN" altLang="en-US" sz="2400" b="1" dirty="0"/>
              <a:t>    </a:t>
            </a:r>
            <a:r>
              <a:rPr lang="zh-CN" altLang="en-US" sz="2400" b="1" dirty="0">
                <a:solidFill>
                  <a:srgbClr val="009900"/>
                </a:solidFill>
              </a:rPr>
              <a:t>☞</a:t>
            </a:r>
            <a:r>
              <a:rPr lang="zh-CN" altLang="en-US" sz="2400" b="1" dirty="0">
                <a:solidFill>
                  <a:srgbClr val="E35449"/>
                </a:solidFill>
              </a:rPr>
              <a:t>开关速度</a:t>
            </a:r>
            <a:r>
              <a:rPr lang="zh-CN" altLang="en-US" sz="2400" b="1" dirty="0"/>
              <a:t>高，</a:t>
            </a:r>
            <a:r>
              <a:rPr lang="zh-CN" altLang="en-US" sz="2400" b="1" dirty="0">
                <a:solidFill>
                  <a:srgbClr val="E35449"/>
                </a:solidFill>
              </a:rPr>
              <a:t>开关损耗</a:t>
            </a:r>
            <a:r>
              <a:rPr lang="zh-CN" altLang="en-US" sz="2400" b="1" dirty="0"/>
              <a:t>小。 </a:t>
            </a:r>
          </a:p>
          <a:p>
            <a:pPr marL="609600" indent="-609600">
              <a:lnSpc>
                <a:spcPct val="125000"/>
              </a:lnSpc>
              <a:buFontTx/>
              <a:buNone/>
            </a:pPr>
            <a:r>
              <a:rPr lang="zh-CN" altLang="en-US" sz="2400" b="1" dirty="0"/>
              <a:t>    </a:t>
            </a:r>
            <a:r>
              <a:rPr lang="zh-CN" altLang="en-US" sz="2400" b="1" dirty="0">
                <a:solidFill>
                  <a:srgbClr val="009900"/>
                </a:solidFill>
              </a:rPr>
              <a:t>☞</a:t>
            </a:r>
            <a:r>
              <a:rPr lang="zh-CN" altLang="en-US" sz="2400" b="1" dirty="0"/>
              <a:t>在相同电压和电流定额的情况下，</a:t>
            </a:r>
            <a:r>
              <a:rPr lang="en-US" altLang="zh-CN" sz="2400" b="1" dirty="0"/>
              <a:t>IGBT</a:t>
            </a:r>
            <a:r>
              <a:rPr lang="zh-CN" altLang="en-US" sz="2400" b="1" dirty="0"/>
              <a:t>的</a:t>
            </a:r>
            <a:r>
              <a:rPr lang="zh-CN" altLang="en-US" sz="2400" b="1" dirty="0">
                <a:solidFill>
                  <a:srgbClr val="E35449"/>
                </a:solidFill>
              </a:rPr>
              <a:t>安全工作区</a:t>
            </a:r>
            <a:r>
              <a:rPr lang="zh-CN" altLang="en-US" sz="2400" b="1" dirty="0"/>
              <a:t>比</a:t>
            </a:r>
            <a:r>
              <a:rPr lang="en-US" altLang="zh-CN" sz="2400" b="1" dirty="0"/>
              <a:t>GTR</a:t>
            </a:r>
            <a:r>
              <a:rPr lang="zh-CN" altLang="en-US" sz="2400" b="1" dirty="0"/>
              <a:t>大，而且具有耐脉冲电流冲击的能力。</a:t>
            </a:r>
          </a:p>
          <a:p>
            <a:pPr marL="609600" indent="-609600">
              <a:lnSpc>
                <a:spcPct val="125000"/>
              </a:lnSpc>
              <a:buFontTx/>
              <a:buNone/>
            </a:pPr>
            <a:r>
              <a:rPr lang="zh-CN" altLang="en-US" sz="2400" b="1" dirty="0"/>
              <a:t>    </a:t>
            </a:r>
            <a:r>
              <a:rPr lang="zh-CN" altLang="en-US" sz="2400" b="1" dirty="0">
                <a:solidFill>
                  <a:srgbClr val="009900"/>
                </a:solidFill>
              </a:rPr>
              <a:t>☞</a:t>
            </a:r>
            <a:r>
              <a:rPr lang="zh-CN" altLang="en-US" sz="2400" b="1" dirty="0">
                <a:solidFill>
                  <a:srgbClr val="E35449"/>
                </a:solidFill>
              </a:rPr>
              <a:t>通态压降</a:t>
            </a:r>
            <a:r>
              <a:rPr lang="zh-CN" altLang="en-US" sz="2400" b="1" dirty="0"/>
              <a:t>比</a:t>
            </a:r>
            <a:r>
              <a:rPr lang="en-US" altLang="zh-CN" sz="2400" b="1" dirty="0"/>
              <a:t>VDMOSFET</a:t>
            </a:r>
            <a:r>
              <a:rPr lang="zh-CN" altLang="en-US" sz="2400" b="1" dirty="0"/>
              <a:t>低，特别是在电流较大的区域。 </a:t>
            </a:r>
          </a:p>
          <a:p>
            <a:pPr marL="609600" indent="-609600">
              <a:lnSpc>
                <a:spcPct val="125000"/>
              </a:lnSpc>
              <a:buFontTx/>
              <a:buNone/>
            </a:pPr>
            <a:r>
              <a:rPr lang="zh-CN" altLang="en-US" sz="2400" b="1" dirty="0"/>
              <a:t>    </a:t>
            </a:r>
            <a:r>
              <a:rPr lang="zh-CN" altLang="en-US" sz="2400" b="1" dirty="0">
                <a:solidFill>
                  <a:srgbClr val="009900"/>
                </a:solidFill>
              </a:rPr>
              <a:t>☞</a:t>
            </a:r>
            <a:r>
              <a:rPr lang="zh-CN" altLang="en-US" sz="2400" b="1" dirty="0">
                <a:solidFill>
                  <a:srgbClr val="E35449"/>
                </a:solidFill>
              </a:rPr>
              <a:t>输入阻抗</a:t>
            </a:r>
            <a:r>
              <a:rPr lang="zh-CN" altLang="en-US" sz="2400" b="1" dirty="0"/>
              <a:t>高，其输入特性与电力</a:t>
            </a:r>
            <a:r>
              <a:rPr lang="en-US" altLang="zh-CN" sz="2400" b="1" dirty="0"/>
              <a:t>MOSFET</a:t>
            </a:r>
            <a:r>
              <a:rPr lang="zh-CN" altLang="en-US" sz="2400" b="1" dirty="0"/>
              <a:t>类似。 </a:t>
            </a:r>
          </a:p>
          <a:p>
            <a:pPr marL="609600" indent="-609600">
              <a:lnSpc>
                <a:spcPct val="125000"/>
              </a:lnSpc>
              <a:buFontTx/>
              <a:buNone/>
            </a:pPr>
            <a:r>
              <a:rPr lang="zh-CN" altLang="en-US" sz="2400" b="1" dirty="0">
                <a:solidFill>
                  <a:srgbClr val="009900"/>
                </a:solidFill>
              </a:rPr>
              <a:t>    ☞</a:t>
            </a:r>
            <a:r>
              <a:rPr lang="zh-CN" altLang="en-US" sz="2400" b="1" dirty="0"/>
              <a:t>与电力</a:t>
            </a:r>
            <a:r>
              <a:rPr lang="en-US" altLang="zh-CN" sz="2400" b="1" dirty="0"/>
              <a:t>MOSFET</a:t>
            </a:r>
            <a:r>
              <a:rPr lang="zh-CN" altLang="en-US" sz="2400" b="1" dirty="0"/>
              <a:t>和</a:t>
            </a:r>
            <a:r>
              <a:rPr lang="en-US" altLang="zh-CN" sz="2400" b="1" dirty="0"/>
              <a:t>GTR</a:t>
            </a:r>
            <a:r>
              <a:rPr lang="zh-CN" altLang="en-US" sz="2400" b="1" dirty="0"/>
              <a:t>相比，</a:t>
            </a:r>
            <a:r>
              <a:rPr lang="en-US" altLang="zh-CN" sz="2400" b="1" dirty="0"/>
              <a:t>IGBT</a:t>
            </a:r>
            <a:r>
              <a:rPr lang="zh-CN" altLang="en-US" sz="2400" b="1" dirty="0"/>
              <a:t>的</a:t>
            </a:r>
            <a:r>
              <a:rPr lang="zh-CN" altLang="en-US" sz="2400" b="1" dirty="0">
                <a:solidFill>
                  <a:srgbClr val="E35449"/>
                </a:solidFill>
              </a:rPr>
              <a:t>耐压</a:t>
            </a:r>
            <a:r>
              <a:rPr lang="zh-CN" altLang="en-US" sz="2400" b="1" dirty="0"/>
              <a:t>和</a:t>
            </a:r>
            <a:r>
              <a:rPr lang="zh-CN" altLang="en-US" sz="2400" b="1" dirty="0">
                <a:solidFill>
                  <a:srgbClr val="E35449"/>
                </a:solidFill>
              </a:rPr>
              <a:t>通流能力</a:t>
            </a:r>
            <a:r>
              <a:rPr lang="zh-CN" altLang="en-US" sz="2400" b="1" dirty="0"/>
              <a:t>还可以进一步提高，同时保持</a:t>
            </a:r>
            <a:r>
              <a:rPr lang="zh-CN" altLang="en-US" sz="2400" b="1" dirty="0">
                <a:solidFill>
                  <a:srgbClr val="E35449"/>
                </a:solidFill>
              </a:rPr>
              <a:t>开关频率</a:t>
            </a:r>
            <a:r>
              <a:rPr lang="zh-CN" altLang="en-US" sz="2400" b="1" dirty="0"/>
              <a:t>高的特点。</a:t>
            </a:r>
            <a:endParaRPr lang="en-US" altLang="zh-CN" sz="2400" b="1" dirty="0"/>
          </a:p>
          <a:p>
            <a:pPr marL="609600" indent="-609600">
              <a:lnSpc>
                <a:spcPct val="125000"/>
              </a:lnSpc>
              <a:buFontTx/>
              <a:buNone/>
            </a:pPr>
            <a:r>
              <a:rPr lang="zh-CN" altLang="en-US" sz="2400" b="1" dirty="0">
                <a:solidFill>
                  <a:srgbClr val="009900"/>
                </a:solidFill>
              </a:rPr>
              <a:t>    ☞</a:t>
            </a:r>
            <a:r>
              <a:rPr lang="zh-CN" altLang="en-US" sz="2400" b="1" dirty="0"/>
              <a:t>为了满足实际电路的要求，</a:t>
            </a:r>
            <a:r>
              <a:rPr lang="en-US" altLang="zh-CN" sz="2400" b="1" dirty="0">
                <a:solidFill>
                  <a:srgbClr val="0000FF"/>
                </a:solidFill>
              </a:rPr>
              <a:t>IGBT</a:t>
            </a:r>
            <a:r>
              <a:rPr lang="zh-CN" altLang="en-US" sz="2400" b="1" dirty="0">
                <a:solidFill>
                  <a:srgbClr val="0000FF"/>
                </a:solidFill>
              </a:rPr>
              <a:t>往往与反并联的快速二极管封装在一起</a:t>
            </a:r>
            <a:r>
              <a:rPr lang="zh-CN" altLang="en-US" sz="2400" b="1" dirty="0">
                <a:solidFill>
                  <a:srgbClr val="FF0000"/>
                </a:solidFill>
              </a:rPr>
              <a:t>。</a:t>
            </a:r>
            <a:r>
              <a:rPr lang="zh-CN" altLang="en-US" sz="2400" dirty="0">
                <a:solidFill>
                  <a:srgbClr val="FF0000"/>
                </a:solidFill>
              </a:rPr>
              <a:t> </a:t>
            </a:r>
            <a:endParaRPr lang="en-US" altLang="zh-CN" sz="2400" dirty="0">
              <a:solidFill>
                <a:srgbClr val="FF0000"/>
              </a:solidFill>
            </a:endParaRPr>
          </a:p>
          <a:p>
            <a:pPr marL="609600" indent="-609600">
              <a:lnSpc>
                <a:spcPct val="125000"/>
              </a:lnSpc>
              <a:buFontTx/>
              <a:buNone/>
            </a:pPr>
            <a:endParaRPr lang="zh-CN" altLang="en-US" sz="2400" dirty="0"/>
          </a:p>
        </p:txBody>
      </p:sp>
      <p:sp>
        <p:nvSpPr>
          <p:cNvPr id="2" name="灯片编号占位符 1"/>
          <p:cNvSpPr>
            <a:spLocks noGrp="1"/>
          </p:cNvSpPr>
          <p:nvPr>
            <p:ph type="sldNum" sz="quarter" idx="12"/>
          </p:nvPr>
        </p:nvSpPr>
        <p:spPr/>
        <p:txBody>
          <a:bodyPr/>
          <a:lstStyle/>
          <a:p>
            <a:fld id="{0C913308-F349-4B6D-A68A-DD1791B4A57B}" type="slidenum">
              <a:rPr lang="zh-CN" altLang="en-US" smtClean="0"/>
              <a:t>18</a:t>
            </a:fld>
            <a:endParaRPr lang="zh-CN" altLang="en-US"/>
          </a:p>
        </p:txBody>
      </p:sp>
      <p:sp>
        <p:nvSpPr>
          <p:cNvPr id="3" name="日期占位符 2"/>
          <p:cNvSpPr>
            <a:spLocks noGrp="1"/>
          </p:cNvSpPr>
          <p:nvPr>
            <p:ph type="dt" sz="half" idx="10"/>
          </p:nvPr>
        </p:nvSpPr>
        <p:spPr/>
        <p:txBody>
          <a:bodyPr/>
          <a:lstStyle/>
          <a:p>
            <a:fld id="{D0BDA28A-CE6E-4982-890D-852AE2601F5D}" type="datetime10">
              <a:rPr lang="zh-CN" altLang="en-US" smtClean="0"/>
              <a:t>14:22</a:t>
            </a:fld>
            <a:endParaRPr lang="zh-CN" altLang="en-US"/>
          </a:p>
        </p:txBody>
      </p:sp>
    </p:spTree>
    <p:extLst>
      <p:ext uri="{BB962C8B-B14F-4D97-AF65-F5344CB8AC3E}">
        <p14:creationId xmlns:p14="http://schemas.microsoft.com/office/powerpoint/2010/main" val="45083317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4" name="Rectangle 2"/>
          <p:cNvSpPr>
            <a:spLocks noGrp="1" noChangeArrowheads="1"/>
          </p:cNvSpPr>
          <p:nvPr>
            <p:ph type="title"/>
          </p:nvPr>
        </p:nvSpPr>
        <p:spPr>
          <a:xfrm>
            <a:off x="827088" y="261938"/>
            <a:ext cx="7848600" cy="428625"/>
          </a:xfrm>
        </p:spPr>
        <p:txBody>
          <a:bodyPr/>
          <a:lstStyle/>
          <a:p>
            <a:pPr algn="l"/>
            <a:r>
              <a:rPr lang="en-US" altLang="zh-CN" sz="3600" b="1">
                <a:solidFill>
                  <a:schemeClr val="tx1"/>
                </a:solidFill>
              </a:rPr>
              <a:t>2.4.4 </a:t>
            </a:r>
            <a:r>
              <a:rPr lang="zh-CN" altLang="en-US" sz="3600" b="1">
                <a:solidFill>
                  <a:schemeClr val="tx1"/>
                </a:solidFill>
              </a:rPr>
              <a:t>绝缘栅双极晶体管</a:t>
            </a:r>
          </a:p>
        </p:txBody>
      </p:sp>
      <p:sp>
        <p:nvSpPr>
          <p:cNvPr id="136195" name="Rectangle 3"/>
          <p:cNvSpPr>
            <a:spLocks noGrp="1" noChangeArrowheads="1"/>
          </p:cNvSpPr>
          <p:nvPr>
            <p:ph idx="1"/>
          </p:nvPr>
        </p:nvSpPr>
        <p:spPr>
          <a:xfrm>
            <a:off x="684213" y="1268413"/>
            <a:ext cx="8064500" cy="5113337"/>
          </a:xfrm>
        </p:spPr>
        <p:txBody>
          <a:bodyPr/>
          <a:lstStyle/>
          <a:p>
            <a:pPr>
              <a:lnSpc>
                <a:spcPct val="80000"/>
              </a:lnSpc>
              <a:buFontTx/>
              <a:buNone/>
            </a:pPr>
            <a:r>
              <a:rPr lang="en-US" altLang="zh-CN" sz="2800" b="1" dirty="0">
                <a:solidFill>
                  <a:srgbClr val="0000FF"/>
                </a:solidFill>
              </a:rPr>
              <a:t>◆ </a:t>
            </a:r>
            <a:r>
              <a:rPr lang="en-US" altLang="zh-CN" sz="2800" b="1" dirty="0"/>
              <a:t>IGBT</a:t>
            </a:r>
            <a:r>
              <a:rPr lang="zh-CN" altLang="en-US" sz="2800" b="1" dirty="0"/>
              <a:t>的安全工作区 </a:t>
            </a:r>
            <a:endParaRPr lang="zh-CN" altLang="en-US" sz="2800" b="1" dirty="0">
              <a:solidFill>
                <a:srgbClr val="0000FF"/>
              </a:solidFill>
            </a:endParaRPr>
          </a:p>
          <a:p>
            <a:pPr>
              <a:lnSpc>
                <a:spcPct val="80000"/>
              </a:lnSpc>
              <a:buFontTx/>
              <a:buNone/>
            </a:pPr>
            <a:r>
              <a:rPr lang="zh-CN" altLang="en-US" sz="2800" b="1" dirty="0">
                <a:solidFill>
                  <a:srgbClr val="0000FF"/>
                </a:solidFill>
              </a:rPr>
              <a:t>   </a:t>
            </a:r>
            <a:r>
              <a:rPr lang="zh-CN" altLang="en-US" sz="2800" b="1" dirty="0"/>
              <a:t>  </a:t>
            </a:r>
            <a:r>
              <a:rPr lang="zh-CN" altLang="en-US" sz="2800" b="1" dirty="0">
                <a:solidFill>
                  <a:srgbClr val="009900"/>
                </a:solidFill>
              </a:rPr>
              <a:t>☞</a:t>
            </a:r>
            <a:r>
              <a:rPr lang="zh-CN" altLang="en-US" sz="2800" b="1" dirty="0">
                <a:solidFill>
                  <a:srgbClr val="E35449"/>
                </a:solidFill>
              </a:rPr>
              <a:t>正向偏置</a:t>
            </a:r>
            <a:r>
              <a:rPr lang="zh-CN" altLang="en-US" sz="2800" b="1" dirty="0"/>
              <a:t>安全工作区（</a:t>
            </a:r>
            <a:r>
              <a:rPr lang="en-US" altLang="zh-CN" sz="2800" b="1" dirty="0"/>
              <a:t>Forward Biased Safe</a:t>
            </a:r>
          </a:p>
          <a:p>
            <a:pPr>
              <a:lnSpc>
                <a:spcPct val="80000"/>
              </a:lnSpc>
              <a:buFontTx/>
              <a:buNone/>
            </a:pPr>
            <a:r>
              <a:rPr lang="en-US" altLang="zh-CN" sz="2800" b="1" dirty="0"/>
              <a:t> Operating Area——FBSOA</a:t>
            </a:r>
            <a:r>
              <a:rPr lang="zh-CN" altLang="en-US" sz="2800" b="1" dirty="0"/>
              <a:t>） </a:t>
            </a:r>
          </a:p>
          <a:p>
            <a:pPr>
              <a:lnSpc>
                <a:spcPct val="80000"/>
              </a:lnSpc>
              <a:buFontTx/>
              <a:buNone/>
            </a:pPr>
            <a:r>
              <a:rPr lang="zh-CN" altLang="en-US" sz="2800" b="1" dirty="0"/>
              <a:t>         </a:t>
            </a:r>
            <a:r>
              <a:rPr lang="zh-CN" altLang="en-US" sz="2800" b="1" dirty="0">
                <a:solidFill>
                  <a:srgbClr val="FF00FF"/>
                </a:solidFill>
              </a:rPr>
              <a:t>√</a:t>
            </a:r>
            <a:r>
              <a:rPr lang="zh-CN" altLang="en-US" sz="2800" b="1" dirty="0"/>
              <a:t>根据最大集电极电流、最大集射极间电压和最大集电极功耗确定。</a:t>
            </a:r>
          </a:p>
          <a:p>
            <a:pPr>
              <a:lnSpc>
                <a:spcPct val="80000"/>
              </a:lnSpc>
              <a:buFontTx/>
              <a:buNone/>
            </a:pPr>
            <a:r>
              <a:rPr lang="zh-CN" altLang="en-US" sz="2800" b="1" dirty="0">
                <a:solidFill>
                  <a:srgbClr val="0000FF"/>
                </a:solidFill>
              </a:rPr>
              <a:t>     </a:t>
            </a:r>
          </a:p>
          <a:p>
            <a:pPr>
              <a:lnSpc>
                <a:spcPct val="80000"/>
              </a:lnSpc>
              <a:buFontTx/>
              <a:buNone/>
            </a:pPr>
            <a:r>
              <a:rPr lang="zh-CN" altLang="en-US" sz="2800" b="1" dirty="0">
                <a:solidFill>
                  <a:srgbClr val="0000FF"/>
                </a:solidFill>
              </a:rPr>
              <a:t>     </a:t>
            </a:r>
            <a:r>
              <a:rPr lang="zh-CN" altLang="en-US" sz="2800" b="1" dirty="0">
                <a:solidFill>
                  <a:srgbClr val="009900"/>
                </a:solidFill>
              </a:rPr>
              <a:t>☞</a:t>
            </a:r>
            <a:r>
              <a:rPr lang="zh-CN" altLang="en-US" sz="2800" b="1" dirty="0">
                <a:solidFill>
                  <a:srgbClr val="E35449"/>
                </a:solidFill>
              </a:rPr>
              <a:t>反向偏置</a:t>
            </a:r>
            <a:r>
              <a:rPr lang="zh-CN" altLang="en-US" sz="2800" b="1" dirty="0"/>
              <a:t>安全工作区（</a:t>
            </a:r>
            <a:r>
              <a:rPr lang="en-US" altLang="zh-CN" sz="2800" b="1" dirty="0"/>
              <a:t>Reverse Biased Safe </a:t>
            </a:r>
          </a:p>
          <a:p>
            <a:pPr>
              <a:lnSpc>
                <a:spcPct val="80000"/>
              </a:lnSpc>
              <a:buFontTx/>
              <a:buNone/>
            </a:pPr>
            <a:r>
              <a:rPr lang="en-US" altLang="zh-CN" sz="2800" b="1" dirty="0"/>
              <a:t>Operating Area——RBSOA</a:t>
            </a:r>
            <a:r>
              <a:rPr lang="zh-CN" altLang="en-US" sz="2800" b="1" dirty="0"/>
              <a:t>）</a:t>
            </a:r>
          </a:p>
          <a:p>
            <a:pPr>
              <a:lnSpc>
                <a:spcPct val="80000"/>
              </a:lnSpc>
              <a:buFontTx/>
              <a:buNone/>
            </a:pPr>
            <a:r>
              <a:rPr lang="zh-CN" altLang="en-US" sz="2800" b="1" dirty="0"/>
              <a:t>         </a:t>
            </a:r>
            <a:r>
              <a:rPr lang="zh-CN" altLang="en-US" sz="2800" b="1" dirty="0">
                <a:solidFill>
                  <a:srgbClr val="FF00FF"/>
                </a:solidFill>
              </a:rPr>
              <a:t>√</a:t>
            </a:r>
            <a:r>
              <a:rPr lang="zh-CN" altLang="en-US" sz="2800" b="1" dirty="0"/>
              <a:t>根据最大集电极电流、最大集射极间电压和最大允许电压上升率</a:t>
            </a:r>
            <a:r>
              <a:rPr lang="en-US" altLang="zh-CN" sz="2800" b="1" dirty="0" err="1"/>
              <a:t>d</a:t>
            </a:r>
            <a:r>
              <a:rPr lang="en-US" altLang="zh-CN" sz="2800" b="1" i="1" dirty="0" err="1"/>
              <a:t>U</a:t>
            </a:r>
            <a:r>
              <a:rPr lang="en-US" altLang="zh-CN" sz="2800" b="1" i="1" baseline="-25000" dirty="0" err="1"/>
              <a:t>CE</a:t>
            </a:r>
            <a:r>
              <a:rPr lang="en-US" altLang="zh-CN" sz="2800" b="1" dirty="0"/>
              <a:t>/</a:t>
            </a:r>
            <a:r>
              <a:rPr lang="en-US" altLang="zh-CN" sz="2800" b="1" dirty="0" err="1"/>
              <a:t>dt</a:t>
            </a:r>
            <a:r>
              <a:rPr lang="zh-CN" altLang="en-US" sz="2800" b="1" dirty="0"/>
              <a:t>。</a:t>
            </a:r>
            <a:r>
              <a:rPr lang="zh-CN" altLang="en-US" sz="2000" dirty="0"/>
              <a:t> </a:t>
            </a:r>
          </a:p>
        </p:txBody>
      </p:sp>
      <p:sp>
        <p:nvSpPr>
          <p:cNvPr id="2" name="灯片编号占位符 1"/>
          <p:cNvSpPr>
            <a:spLocks noGrp="1"/>
          </p:cNvSpPr>
          <p:nvPr>
            <p:ph type="sldNum" sz="quarter" idx="12"/>
          </p:nvPr>
        </p:nvSpPr>
        <p:spPr/>
        <p:txBody>
          <a:bodyPr/>
          <a:lstStyle/>
          <a:p>
            <a:fld id="{0C913308-F349-4B6D-A68A-DD1791B4A57B}" type="slidenum">
              <a:rPr lang="zh-CN" altLang="en-US" smtClean="0"/>
              <a:t>19</a:t>
            </a:fld>
            <a:endParaRPr lang="zh-CN" altLang="en-US"/>
          </a:p>
        </p:txBody>
      </p:sp>
      <p:sp>
        <p:nvSpPr>
          <p:cNvPr id="3" name="日期占位符 2"/>
          <p:cNvSpPr>
            <a:spLocks noGrp="1"/>
          </p:cNvSpPr>
          <p:nvPr>
            <p:ph type="dt" sz="half" idx="10"/>
          </p:nvPr>
        </p:nvSpPr>
        <p:spPr/>
        <p:txBody>
          <a:bodyPr/>
          <a:lstStyle/>
          <a:p>
            <a:fld id="{5A5F2D91-D6E9-4A63-909A-4103A6C2714D}" type="datetime10">
              <a:rPr lang="zh-CN" altLang="en-US" smtClean="0"/>
              <a:t>14:22</a:t>
            </a:fld>
            <a:endParaRPr lang="zh-CN" altLang="en-US"/>
          </a:p>
        </p:txBody>
      </p:sp>
    </p:spTree>
    <p:extLst>
      <p:ext uri="{BB962C8B-B14F-4D97-AF65-F5344CB8AC3E}">
        <p14:creationId xmlns:p14="http://schemas.microsoft.com/office/powerpoint/2010/main" val="126632212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4371" name="Rectangle 3"/>
          <p:cNvSpPr>
            <a:spLocks noGrp="1" noChangeArrowheads="1"/>
          </p:cNvSpPr>
          <p:nvPr>
            <p:ph type="title"/>
          </p:nvPr>
        </p:nvSpPr>
        <p:spPr/>
        <p:txBody>
          <a:bodyPr/>
          <a:lstStyle/>
          <a:p>
            <a:r>
              <a:rPr lang="en-US" altLang="zh-CN" sz="3600" b="1">
                <a:solidFill>
                  <a:schemeClr val="hlink"/>
                </a:solidFill>
              </a:rPr>
              <a:t>IGBT</a:t>
            </a:r>
            <a:r>
              <a:rPr lang="zh-CN" altLang="en-US" sz="3600" b="1">
                <a:solidFill>
                  <a:schemeClr val="hlink"/>
                </a:solidFill>
              </a:rPr>
              <a:t>功耗的计算</a:t>
            </a:r>
          </a:p>
        </p:txBody>
      </p:sp>
      <p:graphicFrame>
        <p:nvGraphicFramePr>
          <p:cNvPr id="314374" name="Object 6"/>
          <p:cNvGraphicFramePr>
            <a:graphicFrameLocks noGrp="1" noChangeAspect="1"/>
          </p:cNvGraphicFramePr>
          <p:nvPr>
            <p:ph type="clipArt" sz="half" idx="2"/>
          </p:nvPr>
        </p:nvGraphicFramePr>
        <p:xfrm>
          <a:off x="381000" y="838200"/>
          <a:ext cx="3810000" cy="2576513"/>
        </p:xfrm>
        <a:graphic>
          <a:graphicData uri="http://schemas.openxmlformats.org/presentationml/2006/ole">
            <mc:AlternateContent xmlns:mc="http://schemas.openxmlformats.org/markup-compatibility/2006">
              <mc:Choice xmlns:v="urn:schemas-microsoft-com:vml" Requires="v">
                <p:oleObj spid="_x0000_s30178" r:id="rId3" imgW="1852613" imgH="1252538" progId="MSDraw">
                  <p:embed/>
                </p:oleObj>
              </mc:Choice>
              <mc:Fallback>
                <p:oleObj r:id="rId3" imgW="1852613" imgH="1252538" progId="MSDraw">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1000" y="838200"/>
                        <a:ext cx="3810000" cy="25765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314389" name="Group 21"/>
          <p:cNvGrpSpPr>
            <a:grpSpLocks/>
          </p:cNvGrpSpPr>
          <p:nvPr/>
        </p:nvGrpSpPr>
        <p:grpSpPr bwMode="auto">
          <a:xfrm>
            <a:off x="4391025" y="908050"/>
            <a:ext cx="4752975" cy="858838"/>
            <a:chOff x="2766" y="572"/>
            <a:chExt cx="2994" cy="541"/>
          </a:xfrm>
        </p:grpSpPr>
        <p:grpSp>
          <p:nvGrpSpPr>
            <p:cNvPr id="314387" name="Group 19"/>
            <p:cNvGrpSpPr>
              <a:grpSpLocks/>
            </p:cNvGrpSpPr>
            <p:nvPr/>
          </p:nvGrpSpPr>
          <p:grpSpPr bwMode="auto">
            <a:xfrm>
              <a:off x="2766" y="572"/>
              <a:ext cx="2994" cy="539"/>
              <a:chOff x="2766" y="572"/>
              <a:chExt cx="2994" cy="539"/>
            </a:xfrm>
          </p:grpSpPr>
          <p:graphicFrame>
            <p:nvGraphicFramePr>
              <p:cNvPr id="314375" name="Object 7"/>
              <p:cNvGraphicFramePr>
                <a:graphicFrameLocks noChangeAspect="1"/>
              </p:cNvGraphicFramePr>
              <p:nvPr/>
            </p:nvGraphicFramePr>
            <p:xfrm>
              <a:off x="2766" y="572"/>
              <a:ext cx="2994" cy="261"/>
            </p:xfrm>
            <a:graphic>
              <a:graphicData uri="http://schemas.openxmlformats.org/presentationml/2006/ole">
                <mc:AlternateContent xmlns:mc="http://schemas.openxmlformats.org/markup-compatibility/2006">
                  <mc:Choice xmlns:v="urn:schemas-microsoft-com:vml" Requires="v">
                    <p:oleObj spid="_x0000_s30179" name="Equation" r:id="rId5" imgW="2616200" imgH="228600" progId="Equation.DSMT4">
                      <p:embed/>
                    </p:oleObj>
                  </mc:Choice>
                  <mc:Fallback>
                    <p:oleObj name="Equation" r:id="rId5" imgW="2616200" imgH="228600" progId="Equation.DSMT4">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766" y="572"/>
                            <a:ext cx="2994" cy="261"/>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14376" name="Object 8"/>
              <p:cNvGraphicFramePr>
                <a:graphicFrameLocks noChangeAspect="1"/>
              </p:cNvGraphicFramePr>
              <p:nvPr/>
            </p:nvGraphicFramePr>
            <p:xfrm>
              <a:off x="2789" y="853"/>
              <a:ext cx="953" cy="258"/>
            </p:xfrm>
            <a:graphic>
              <a:graphicData uri="http://schemas.openxmlformats.org/presentationml/2006/ole">
                <mc:AlternateContent xmlns:mc="http://schemas.openxmlformats.org/markup-compatibility/2006">
                  <mc:Choice xmlns:v="urn:schemas-microsoft-com:vml" Requires="v">
                    <p:oleObj spid="_x0000_s30180" r:id="rId7" imgW="812447" imgH="215806" progId="Equation.3">
                      <p:embed/>
                    </p:oleObj>
                  </mc:Choice>
                  <mc:Fallback>
                    <p:oleObj r:id="rId7" imgW="812447" imgH="215806" progId="Equation.3">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789" y="853"/>
                            <a:ext cx="953" cy="25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aphicFrame>
          <p:nvGraphicFramePr>
            <p:cNvPr id="314377" name="Object 9"/>
            <p:cNvGraphicFramePr>
              <a:graphicFrameLocks noChangeAspect="1"/>
            </p:cNvGraphicFramePr>
            <p:nvPr/>
          </p:nvGraphicFramePr>
          <p:xfrm>
            <a:off x="3878" y="845"/>
            <a:ext cx="907" cy="268"/>
          </p:xfrm>
          <a:graphic>
            <a:graphicData uri="http://schemas.openxmlformats.org/presentationml/2006/ole">
              <mc:AlternateContent xmlns:mc="http://schemas.openxmlformats.org/markup-compatibility/2006">
                <mc:Choice xmlns:v="urn:schemas-microsoft-com:vml" Requires="v">
                  <p:oleObj spid="_x0000_s30181" r:id="rId9" imgW="774364" imgH="228501" progId="Equation.3">
                    <p:embed/>
                  </p:oleObj>
                </mc:Choice>
                <mc:Fallback>
                  <p:oleObj r:id="rId9" imgW="774364" imgH="228501" progId="Equation.3">
                    <p:embed/>
                    <p:pic>
                      <p:nvPicPr>
                        <p:cNvPr id="0" name=""/>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878" y="845"/>
                          <a:ext cx="907" cy="26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pSp>
        <p:nvGrpSpPr>
          <p:cNvPr id="314390" name="Group 22"/>
          <p:cNvGrpSpPr>
            <a:grpSpLocks/>
          </p:cNvGrpSpPr>
          <p:nvPr/>
        </p:nvGrpSpPr>
        <p:grpSpPr bwMode="auto">
          <a:xfrm>
            <a:off x="4356100" y="1773238"/>
            <a:ext cx="3529013" cy="1427162"/>
            <a:chOff x="2744" y="1117"/>
            <a:chExt cx="2223" cy="899"/>
          </a:xfrm>
        </p:grpSpPr>
        <p:graphicFrame>
          <p:nvGraphicFramePr>
            <p:cNvPr id="314379" name="Object 11"/>
            <p:cNvGraphicFramePr>
              <a:graphicFrameLocks noChangeAspect="1"/>
            </p:cNvGraphicFramePr>
            <p:nvPr/>
          </p:nvGraphicFramePr>
          <p:xfrm>
            <a:off x="2744" y="1434"/>
            <a:ext cx="2223" cy="331"/>
          </p:xfrm>
          <a:graphic>
            <a:graphicData uri="http://schemas.openxmlformats.org/presentationml/2006/ole">
              <mc:AlternateContent xmlns:mc="http://schemas.openxmlformats.org/markup-compatibility/2006">
                <mc:Choice xmlns:v="urn:schemas-microsoft-com:vml" Requires="v">
                  <p:oleObj spid="_x0000_s30182" r:id="rId11" imgW="1600200" imgH="241300" progId="Equation.3">
                    <p:embed/>
                  </p:oleObj>
                </mc:Choice>
                <mc:Fallback>
                  <p:oleObj r:id="rId11" imgW="1600200" imgH="241300" progId="Equation.3">
                    <p:embed/>
                    <p:pic>
                      <p:nvPicPr>
                        <p:cNvPr id="0" name=""/>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744" y="1434"/>
                          <a:ext cx="2223" cy="331"/>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314388" name="Group 20"/>
            <p:cNvGrpSpPr>
              <a:grpSpLocks/>
            </p:cNvGrpSpPr>
            <p:nvPr/>
          </p:nvGrpSpPr>
          <p:grpSpPr bwMode="auto">
            <a:xfrm>
              <a:off x="2744" y="1117"/>
              <a:ext cx="2136" cy="899"/>
              <a:chOff x="2471" y="1138"/>
              <a:chExt cx="2136" cy="899"/>
            </a:xfrm>
          </p:grpSpPr>
          <p:graphicFrame>
            <p:nvGraphicFramePr>
              <p:cNvPr id="314378" name="Object 10"/>
              <p:cNvGraphicFramePr>
                <a:graphicFrameLocks noChangeAspect="1"/>
              </p:cNvGraphicFramePr>
              <p:nvPr/>
            </p:nvGraphicFramePr>
            <p:xfrm>
              <a:off x="2471" y="1138"/>
              <a:ext cx="2136" cy="313"/>
            </p:xfrm>
            <a:graphic>
              <a:graphicData uri="http://schemas.openxmlformats.org/presentationml/2006/ole">
                <mc:AlternateContent xmlns:mc="http://schemas.openxmlformats.org/markup-compatibility/2006">
                  <mc:Choice xmlns:v="urn:schemas-microsoft-com:vml" Requires="v">
                    <p:oleObj spid="_x0000_s30183" name="Equation" r:id="rId13" imgW="1612800" imgH="241200" progId="Equation.DSMT4">
                      <p:embed/>
                    </p:oleObj>
                  </mc:Choice>
                  <mc:Fallback>
                    <p:oleObj name="Equation" r:id="rId13" imgW="1612800" imgH="241200" progId="Equation.DSMT4">
                      <p:embed/>
                      <p:pic>
                        <p:nvPicPr>
                          <p:cNvPr id="0" name=""/>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471" y="1138"/>
                            <a:ext cx="2136" cy="3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14380" name="Object 12"/>
              <p:cNvGraphicFramePr>
                <a:graphicFrameLocks noChangeAspect="1"/>
              </p:cNvGraphicFramePr>
              <p:nvPr/>
            </p:nvGraphicFramePr>
            <p:xfrm>
              <a:off x="2744" y="1752"/>
              <a:ext cx="1678" cy="285"/>
            </p:xfrm>
            <a:graphic>
              <a:graphicData uri="http://schemas.openxmlformats.org/presentationml/2006/ole">
                <mc:AlternateContent xmlns:mc="http://schemas.openxmlformats.org/markup-compatibility/2006">
                  <mc:Choice xmlns:v="urn:schemas-microsoft-com:vml" Requires="v">
                    <p:oleObj spid="_x0000_s30184" r:id="rId15" imgW="1346200" imgH="228600" progId="Equation.3">
                      <p:embed/>
                    </p:oleObj>
                  </mc:Choice>
                  <mc:Fallback>
                    <p:oleObj r:id="rId15" imgW="1346200" imgH="228600" progId="Equation.3">
                      <p:embed/>
                      <p:pic>
                        <p:nvPicPr>
                          <p:cNvPr id="0" name=""/>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2744" y="1752"/>
                            <a:ext cx="1678" cy="28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pSp>
      <p:graphicFrame>
        <p:nvGraphicFramePr>
          <p:cNvPr id="314381" name="Object 13"/>
          <p:cNvGraphicFramePr>
            <a:graphicFrameLocks noChangeAspect="1"/>
          </p:cNvGraphicFramePr>
          <p:nvPr/>
        </p:nvGraphicFramePr>
        <p:xfrm>
          <a:off x="4427538" y="3213100"/>
          <a:ext cx="3816350" cy="1289050"/>
        </p:xfrm>
        <a:graphic>
          <a:graphicData uri="http://schemas.openxmlformats.org/presentationml/2006/ole">
            <mc:AlternateContent xmlns:mc="http://schemas.openxmlformats.org/markup-compatibility/2006">
              <mc:Choice xmlns:v="urn:schemas-microsoft-com:vml" Requires="v">
                <p:oleObj spid="_x0000_s30185" name="Equation" r:id="rId17" imgW="2032000" imgH="685800" progId="Equation.DSMT4">
                  <p:embed/>
                </p:oleObj>
              </mc:Choice>
              <mc:Fallback>
                <p:oleObj name="Equation" r:id="rId17" imgW="2032000" imgH="685800" progId="Equation.DSMT4">
                  <p:embed/>
                  <p:pic>
                    <p:nvPicPr>
                      <p:cNvPr id="0" name=""/>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4427538" y="3213100"/>
                        <a:ext cx="3816350" cy="12890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14382" name="Object 14"/>
          <p:cNvGraphicFramePr>
            <a:graphicFrameLocks noChangeAspect="1"/>
          </p:cNvGraphicFramePr>
          <p:nvPr/>
        </p:nvGraphicFramePr>
        <p:xfrm>
          <a:off x="533400" y="3733800"/>
          <a:ext cx="3276600" cy="444500"/>
        </p:xfrm>
        <a:graphic>
          <a:graphicData uri="http://schemas.openxmlformats.org/presentationml/2006/ole">
            <mc:AlternateContent xmlns:mc="http://schemas.openxmlformats.org/markup-compatibility/2006">
              <mc:Choice xmlns:v="urn:schemas-microsoft-com:vml" Requires="v">
                <p:oleObj spid="_x0000_s30186" name="Equation" r:id="rId19" imgW="1689100" imgH="228600" progId="Equation.DSMT4">
                  <p:embed/>
                </p:oleObj>
              </mc:Choice>
              <mc:Fallback>
                <p:oleObj name="Equation" r:id="rId19" imgW="1689100" imgH="228600" progId="Equation.DSMT4">
                  <p:embed/>
                  <p:pic>
                    <p:nvPicPr>
                      <p:cNvPr id="0" name=""/>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533400" y="3733800"/>
                        <a:ext cx="3276600" cy="4445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14383" name="Object 15"/>
          <p:cNvGraphicFramePr>
            <a:graphicFrameLocks noChangeAspect="1"/>
          </p:cNvGraphicFramePr>
          <p:nvPr/>
        </p:nvGraphicFramePr>
        <p:xfrm>
          <a:off x="533400" y="4343400"/>
          <a:ext cx="7278688" cy="792163"/>
        </p:xfrm>
        <a:graphic>
          <a:graphicData uri="http://schemas.openxmlformats.org/presentationml/2006/ole">
            <mc:AlternateContent xmlns:mc="http://schemas.openxmlformats.org/markup-compatibility/2006">
              <mc:Choice xmlns:v="urn:schemas-microsoft-com:vml" Requires="v">
                <p:oleObj spid="_x0000_s30187" name="Equation" r:id="rId21" imgW="3759200" imgH="406400" progId="Equation.DSMT4">
                  <p:embed/>
                </p:oleObj>
              </mc:Choice>
              <mc:Fallback>
                <p:oleObj name="Equation" r:id="rId21" imgW="3759200" imgH="406400" progId="Equation.DSMT4">
                  <p:embed/>
                  <p:pic>
                    <p:nvPicPr>
                      <p:cNvPr id="0" name=""/>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533400" y="4343400"/>
                        <a:ext cx="7278688" cy="7921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14384" name="Object 16"/>
          <p:cNvGraphicFramePr>
            <a:graphicFrameLocks noChangeAspect="1"/>
          </p:cNvGraphicFramePr>
          <p:nvPr/>
        </p:nvGraphicFramePr>
        <p:xfrm>
          <a:off x="539750" y="5084763"/>
          <a:ext cx="7543800" cy="795337"/>
        </p:xfrm>
        <a:graphic>
          <a:graphicData uri="http://schemas.openxmlformats.org/presentationml/2006/ole">
            <mc:AlternateContent xmlns:mc="http://schemas.openxmlformats.org/markup-compatibility/2006">
              <mc:Choice xmlns:v="urn:schemas-microsoft-com:vml" Requires="v">
                <p:oleObj spid="_x0000_s30188" r:id="rId23" imgW="3886200" imgH="406400" progId="Equation.3">
                  <p:embed/>
                </p:oleObj>
              </mc:Choice>
              <mc:Fallback>
                <p:oleObj r:id="rId23" imgW="3886200" imgH="406400" progId="Equation.3">
                  <p:embed/>
                  <p:pic>
                    <p:nvPicPr>
                      <p:cNvPr id="0" name=""/>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539750" y="5084763"/>
                        <a:ext cx="7543800" cy="7953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14385" name="Object 17"/>
          <p:cNvGraphicFramePr>
            <a:graphicFrameLocks noChangeAspect="1"/>
          </p:cNvGraphicFramePr>
          <p:nvPr/>
        </p:nvGraphicFramePr>
        <p:xfrm>
          <a:off x="539750" y="6092825"/>
          <a:ext cx="4343400" cy="469900"/>
        </p:xfrm>
        <a:graphic>
          <a:graphicData uri="http://schemas.openxmlformats.org/presentationml/2006/ole">
            <mc:AlternateContent xmlns:mc="http://schemas.openxmlformats.org/markup-compatibility/2006">
              <mc:Choice xmlns:v="urn:schemas-microsoft-com:vml" Requires="v">
                <p:oleObj spid="_x0000_s30189" r:id="rId25" imgW="2197100" imgH="241300" progId="Equation.3">
                  <p:embed/>
                </p:oleObj>
              </mc:Choice>
              <mc:Fallback>
                <p:oleObj r:id="rId25" imgW="2197100" imgH="241300" progId="Equation.3">
                  <p:embed/>
                  <p:pic>
                    <p:nvPicPr>
                      <p:cNvPr id="0" name=""/>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539750" y="6092825"/>
                        <a:ext cx="4343400" cy="4699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14386" name="Object 18"/>
          <p:cNvGraphicFramePr>
            <a:graphicFrameLocks noChangeAspect="1"/>
          </p:cNvGraphicFramePr>
          <p:nvPr/>
        </p:nvGraphicFramePr>
        <p:xfrm>
          <a:off x="5795963" y="6092825"/>
          <a:ext cx="2286000" cy="396875"/>
        </p:xfrm>
        <a:graphic>
          <a:graphicData uri="http://schemas.openxmlformats.org/presentationml/2006/ole">
            <mc:AlternateContent xmlns:mc="http://schemas.openxmlformats.org/markup-compatibility/2006">
              <mc:Choice xmlns:v="urn:schemas-microsoft-com:vml" Requires="v">
                <p:oleObj spid="_x0000_s30190" r:id="rId27" imgW="1155700" imgH="203200" progId="Equation.3">
                  <p:embed/>
                </p:oleObj>
              </mc:Choice>
              <mc:Fallback>
                <p:oleObj r:id="rId27" imgW="1155700" imgH="203200" progId="Equation.3">
                  <p:embed/>
                  <p:pic>
                    <p:nvPicPr>
                      <p:cNvPr id="0" name=""/>
                      <p:cNvPicPr>
                        <a:picLocks noChangeAspect="1" noChangeArrowheads="1"/>
                      </p:cNvPicPr>
                      <p:nvPr/>
                    </p:nvPicPr>
                    <p:blipFill>
                      <a:blip r:embed="rId28">
                        <a:extLst>
                          <a:ext uri="{28A0092B-C50C-407E-A947-70E740481C1C}">
                            <a14:useLocalDpi xmlns:a14="http://schemas.microsoft.com/office/drawing/2010/main" val="0"/>
                          </a:ext>
                        </a:extLst>
                      </a:blip>
                      <a:srcRect/>
                      <a:stretch>
                        <a:fillRect/>
                      </a:stretch>
                    </p:blipFill>
                    <p:spPr bwMode="auto">
                      <a:xfrm>
                        <a:off x="5795963" y="6092825"/>
                        <a:ext cx="2286000" cy="3968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灯片编号占位符 1"/>
          <p:cNvSpPr>
            <a:spLocks noGrp="1"/>
          </p:cNvSpPr>
          <p:nvPr>
            <p:ph type="sldNum" sz="quarter" idx="12"/>
          </p:nvPr>
        </p:nvSpPr>
        <p:spPr/>
        <p:txBody>
          <a:bodyPr/>
          <a:lstStyle/>
          <a:p>
            <a:r>
              <a:rPr lang="en-US" altLang="zh-CN"/>
              <a:t>1-</a:t>
            </a:r>
            <a:fld id="{DB44362A-9B67-48FD-BE4A-A97B7D837A07}" type="slidenum">
              <a:rPr lang="en-US" altLang="zh-CN" smtClean="0"/>
              <a:pPr/>
              <a:t>20</a:t>
            </a:fld>
            <a:endParaRPr lang="en-US" altLang="zh-CN"/>
          </a:p>
        </p:txBody>
      </p:sp>
      <p:sp>
        <p:nvSpPr>
          <p:cNvPr id="3" name="日期占位符 2"/>
          <p:cNvSpPr>
            <a:spLocks noGrp="1"/>
          </p:cNvSpPr>
          <p:nvPr>
            <p:ph type="dt" sz="half" idx="10"/>
          </p:nvPr>
        </p:nvSpPr>
        <p:spPr/>
        <p:txBody>
          <a:bodyPr/>
          <a:lstStyle/>
          <a:p>
            <a:fld id="{2CE21BE1-47E7-4CE0-87F0-5C3EBB0150D1}" type="datetime10">
              <a:rPr lang="zh-CN" altLang="en-US" smtClean="0"/>
              <a:t>14:22</a:t>
            </a:fld>
            <a:endParaRPr lang="en-US" altLang="zh-CN"/>
          </a:p>
        </p:txBody>
      </p:sp>
    </p:spTree>
    <p:extLst>
      <p:ext uri="{BB962C8B-B14F-4D97-AF65-F5344CB8AC3E}">
        <p14:creationId xmlns:p14="http://schemas.microsoft.com/office/powerpoint/2010/main" val="262733082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314389"/>
                                        </p:tgtEl>
                                        <p:attrNameLst>
                                          <p:attrName>style.visibility</p:attrName>
                                        </p:attrNameLst>
                                      </p:cBhvr>
                                      <p:to>
                                        <p:strVal val="visible"/>
                                      </p:to>
                                    </p:set>
                                    <p:animEffect transition="in" filter="blinds(horizontal)">
                                      <p:cBhvr>
                                        <p:cTn id="7" dur="500"/>
                                        <p:tgtEl>
                                          <p:spTgt spid="314389"/>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314390"/>
                                        </p:tgtEl>
                                        <p:attrNameLst>
                                          <p:attrName>style.visibility</p:attrName>
                                        </p:attrNameLst>
                                      </p:cBhvr>
                                      <p:to>
                                        <p:strVal val="visible"/>
                                      </p:to>
                                    </p:set>
                                    <p:animEffect transition="in" filter="blinds(horizontal)">
                                      <p:cBhvr>
                                        <p:cTn id="12" dur="500"/>
                                        <p:tgtEl>
                                          <p:spTgt spid="314390"/>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314381"/>
                                        </p:tgtEl>
                                        <p:attrNameLst>
                                          <p:attrName>style.visibility</p:attrName>
                                        </p:attrNameLst>
                                      </p:cBhvr>
                                      <p:to>
                                        <p:strVal val="visible"/>
                                      </p:to>
                                    </p:set>
                                    <p:animEffect transition="in" filter="blinds(horizontal)">
                                      <p:cBhvr>
                                        <p:cTn id="17" dur="500"/>
                                        <p:tgtEl>
                                          <p:spTgt spid="314381"/>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nodeType="clickEffect">
                                  <p:stCondLst>
                                    <p:cond delay="0"/>
                                  </p:stCondLst>
                                  <p:childTnLst>
                                    <p:set>
                                      <p:cBhvr>
                                        <p:cTn id="21" dur="1" fill="hold">
                                          <p:stCondLst>
                                            <p:cond delay="0"/>
                                          </p:stCondLst>
                                        </p:cTn>
                                        <p:tgtEl>
                                          <p:spTgt spid="314382"/>
                                        </p:tgtEl>
                                        <p:attrNameLst>
                                          <p:attrName>style.visibility</p:attrName>
                                        </p:attrNameLst>
                                      </p:cBhvr>
                                      <p:to>
                                        <p:strVal val="visible"/>
                                      </p:to>
                                    </p:set>
                                    <p:animEffect transition="in" filter="blinds(horizontal)">
                                      <p:cBhvr>
                                        <p:cTn id="22" dur="500"/>
                                        <p:tgtEl>
                                          <p:spTgt spid="314382"/>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nodeType="clickEffect">
                                  <p:stCondLst>
                                    <p:cond delay="0"/>
                                  </p:stCondLst>
                                  <p:childTnLst>
                                    <p:set>
                                      <p:cBhvr>
                                        <p:cTn id="26" dur="1" fill="hold">
                                          <p:stCondLst>
                                            <p:cond delay="0"/>
                                          </p:stCondLst>
                                        </p:cTn>
                                        <p:tgtEl>
                                          <p:spTgt spid="314383"/>
                                        </p:tgtEl>
                                        <p:attrNameLst>
                                          <p:attrName>style.visibility</p:attrName>
                                        </p:attrNameLst>
                                      </p:cBhvr>
                                      <p:to>
                                        <p:strVal val="visible"/>
                                      </p:to>
                                    </p:set>
                                    <p:animEffect transition="in" filter="blinds(horizontal)">
                                      <p:cBhvr>
                                        <p:cTn id="27" dur="500"/>
                                        <p:tgtEl>
                                          <p:spTgt spid="314383"/>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3" presetClass="entr" presetSubtype="10" fill="hold" nodeType="clickEffect">
                                  <p:stCondLst>
                                    <p:cond delay="0"/>
                                  </p:stCondLst>
                                  <p:childTnLst>
                                    <p:set>
                                      <p:cBhvr>
                                        <p:cTn id="31" dur="1" fill="hold">
                                          <p:stCondLst>
                                            <p:cond delay="0"/>
                                          </p:stCondLst>
                                        </p:cTn>
                                        <p:tgtEl>
                                          <p:spTgt spid="314384"/>
                                        </p:tgtEl>
                                        <p:attrNameLst>
                                          <p:attrName>style.visibility</p:attrName>
                                        </p:attrNameLst>
                                      </p:cBhvr>
                                      <p:to>
                                        <p:strVal val="visible"/>
                                      </p:to>
                                    </p:set>
                                    <p:animEffect transition="in" filter="blinds(horizontal)">
                                      <p:cBhvr>
                                        <p:cTn id="32" dur="500"/>
                                        <p:tgtEl>
                                          <p:spTgt spid="314384"/>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3" presetClass="entr" presetSubtype="10" fill="hold" nodeType="clickEffect">
                                  <p:stCondLst>
                                    <p:cond delay="0"/>
                                  </p:stCondLst>
                                  <p:childTnLst>
                                    <p:set>
                                      <p:cBhvr>
                                        <p:cTn id="36" dur="1" fill="hold">
                                          <p:stCondLst>
                                            <p:cond delay="0"/>
                                          </p:stCondLst>
                                        </p:cTn>
                                        <p:tgtEl>
                                          <p:spTgt spid="314385"/>
                                        </p:tgtEl>
                                        <p:attrNameLst>
                                          <p:attrName>style.visibility</p:attrName>
                                        </p:attrNameLst>
                                      </p:cBhvr>
                                      <p:to>
                                        <p:strVal val="visible"/>
                                      </p:to>
                                    </p:set>
                                    <p:animEffect transition="in" filter="blinds(horizontal)">
                                      <p:cBhvr>
                                        <p:cTn id="37" dur="500"/>
                                        <p:tgtEl>
                                          <p:spTgt spid="314385"/>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3" presetClass="entr" presetSubtype="10" fill="hold" nodeType="clickEffect">
                                  <p:stCondLst>
                                    <p:cond delay="0"/>
                                  </p:stCondLst>
                                  <p:childTnLst>
                                    <p:set>
                                      <p:cBhvr>
                                        <p:cTn id="41" dur="1" fill="hold">
                                          <p:stCondLst>
                                            <p:cond delay="0"/>
                                          </p:stCondLst>
                                        </p:cTn>
                                        <p:tgtEl>
                                          <p:spTgt spid="314386"/>
                                        </p:tgtEl>
                                        <p:attrNameLst>
                                          <p:attrName>style.visibility</p:attrName>
                                        </p:attrNameLst>
                                      </p:cBhvr>
                                      <p:to>
                                        <p:strVal val="visible"/>
                                      </p:to>
                                    </p:set>
                                    <p:animEffect transition="in" filter="blinds(horizontal)">
                                      <p:cBhvr>
                                        <p:cTn id="42" dur="500"/>
                                        <p:tgtEl>
                                          <p:spTgt spid="31438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02" name="Rectangle 2"/>
          <p:cNvSpPr>
            <a:spLocks noGrp="1" noChangeArrowheads="1"/>
          </p:cNvSpPr>
          <p:nvPr>
            <p:ph type="title"/>
          </p:nvPr>
        </p:nvSpPr>
        <p:spPr/>
        <p:txBody>
          <a:bodyPr/>
          <a:lstStyle/>
          <a:p>
            <a:r>
              <a:rPr lang="en-US" altLang="zh-CN" sz="4000"/>
              <a:t>IGBT</a:t>
            </a:r>
            <a:r>
              <a:rPr lang="zh-CN" altLang="en-US" sz="4000"/>
              <a:t>的技术发展</a:t>
            </a:r>
          </a:p>
        </p:txBody>
      </p:sp>
      <p:pic>
        <p:nvPicPr>
          <p:cNvPr id="358404" name="Picture 4" descr="ca800_com000000339169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16238" y="2492375"/>
            <a:ext cx="5976937" cy="3819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58405" name="AutoShape 5"/>
          <p:cNvSpPr>
            <a:spLocks noChangeArrowheads="1"/>
          </p:cNvSpPr>
          <p:nvPr/>
        </p:nvSpPr>
        <p:spPr bwMode="auto">
          <a:xfrm>
            <a:off x="468313" y="2997200"/>
            <a:ext cx="1943100" cy="863600"/>
          </a:xfrm>
          <a:prstGeom prst="wedgeRoundRectCallout">
            <a:avLst>
              <a:gd name="adj1" fmla="val 128838"/>
              <a:gd name="adj2" fmla="val 106435"/>
              <a:gd name="adj3" fmla="val 16667"/>
            </a:avLst>
          </a:prstGeom>
          <a:noFill/>
          <a:ln w="9525">
            <a:solidFill>
              <a:schemeClr val="accent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342900" indent="-342900"/>
            <a:r>
              <a:rPr lang="zh-CN" altLang="en-US" sz="2400" dirty="0"/>
              <a:t>主要解决挚住效应</a:t>
            </a:r>
          </a:p>
        </p:txBody>
      </p:sp>
      <p:sp>
        <p:nvSpPr>
          <p:cNvPr id="358406" name="AutoShape 6"/>
          <p:cNvSpPr>
            <a:spLocks noChangeArrowheads="1"/>
          </p:cNvSpPr>
          <p:nvPr/>
        </p:nvSpPr>
        <p:spPr bwMode="auto">
          <a:xfrm>
            <a:off x="179388" y="3716338"/>
            <a:ext cx="2663825" cy="2735262"/>
          </a:xfrm>
          <a:prstGeom prst="wedgeRoundRectCallout">
            <a:avLst>
              <a:gd name="adj1" fmla="val 114718"/>
              <a:gd name="adj2" fmla="val -1190"/>
              <a:gd name="adj3" fmla="val 16667"/>
            </a:avLst>
          </a:prstGeom>
          <a:solidFill>
            <a:srgbClr val="00FFFF"/>
          </a:solidFill>
          <a:ln w="9525">
            <a:solidFill>
              <a:schemeClr val="accent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342900" indent="-342900" algn="ctr"/>
            <a:r>
              <a:rPr lang="zh-CN" altLang="en-US" sz="2000" dirty="0"/>
              <a:t>改善饱和压降和开关特性：</a:t>
            </a:r>
            <a:r>
              <a:rPr lang="en-US" altLang="zh-CN" sz="2000" dirty="0"/>
              <a:t>N+</a:t>
            </a:r>
            <a:r>
              <a:rPr lang="zh-CN" altLang="en-US" sz="2000" dirty="0"/>
              <a:t>缓冲层、</a:t>
            </a:r>
            <a:r>
              <a:rPr lang="en-US" altLang="zh-CN" sz="2000" dirty="0"/>
              <a:t>P+</a:t>
            </a:r>
            <a:r>
              <a:rPr lang="zh-CN" altLang="en-US" sz="2000" dirty="0"/>
              <a:t>层浓度、厚度最佳化、新寿命控制，饱和压降、下降时间均降低了</a:t>
            </a:r>
            <a:r>
              <a:rPr lang="en-US" altLang="zh-CN" sz="2000" dirty="0"/>
              <a:t>30%</a:t>
            </a:r>
            <a:r>
              <a:rPr lang="zh-CN" altLang="en-US" sz="2000" dirty="0"/>
              <a:t>以上。</a:t>
            </a:r>
          </a:p>
        </p:txBody>
      </p:sp>
      <p:sp>
        <p:nvSpPr>
          <p:cNvPr id="358407" name="AutoShape 7"/>
          <p:cNvSpPr>
            <a:spLocks noChangeArrowheads="1"/>
          </p:cNvSpPr>
          <p:nvPr/>
        </p:nvSpPr>
        <p:spPr bwMode="auto">
          <a:xfrm>
            <a:off x="1908175" y="5445125"/>
            <a:ext cx="2138363" cy="538163"/>
          </a:xfrm>
          <a:prstGeom prst="wedgeRoundRectCallout">
            <a:avLst>
              <a:gd name="adj1" fmla="val 128843"/>
              <a:gd name="adj2" fmla="val -38792"/>
              <a:gd name="adj3" fmla="val 16667"/>
            </a:avLst>
          </a:prstGeom>
          <a:solidFill>
            <a:srgbClr val="FF99CC"/>
          </a:solidFill>
          <a:ln w="9525">
            <a:solidFill>
              <a:schemeClr val="accent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342900" indent="-342900" algn="ctr"/>
            <a:r>
              <a:rPr lang="zh-CN" altLang="en-US" sz="2400"/>
              <a:t>微细化工艺</a:t>
            </a:r>
          </a:p>
        </p:txBody>
      </p:sp>
      <p:sp>
        <p:nvSpPr>
          <p:cNvPr id="358408" name="AutoShape 8"/>
          <p:cNvSpPr>
            <a:spLocks noChangeArrowheads="1"/>
          </p:cNvSpPr>
          <p:nvPr/>
        </p:nvSpPr>
        <p:spPr bwMode="auto">
          <a:xfrm>
            <a:off x="6553200" y="3733800"/>
            <a:ext cx="1727200" cy="504825"/>
          </a:xfrm>
          <a:prstGeom prst="wedgeRoundRectCallout">
            <a:avLst>
              <a:gd name="adj1" fmla="val -32903"/>
              <a:gd name="adj2" fmla="val 287421"/>
              <a:gd name="adj3" fmla="val 16667"/>
            </a:avLst>
          </a:prstGeom>
          <a:solidFill>
            <a:srgbClr val="FFFF99"/>
          </a:solidFill>
          <a:ln w="9525">
            <a:solidFill>
              <a:schemeClr val="accent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342900" indent="-342900" algn="ctr"/>
            <a:r>
              <a:rPr lang="zh-CN" altLang="en-US" sz="2400"/>
              <a:t>沟槽技术</a:t>
            </a:r>
          </a:p>
        </p:txBody>
      </p:sp>
      <p:sp>
        <p:nvSpPr>
          <p:cNvPr id="358409" name="AutoShape 9"/>
          <p:cNvSpPr>
            <a:spLocks noChangeArrowheads="1"/>
          </p:cNvSpPr>
          <p:nvPr/>
        </p:nvSpPr>
        <p:spPr bwMode="auto">
          <a:xfrm>
            <a:off x="4500563" y="2997200"/>
            <a:ext cx="2951162" cy="1439863"/>
          </a:xfrm>
          <a:prstGeom prst="wedgeRoundRectCallout">
            <a:avLst>
              <a:gd name="adj1" fmla="val 44514"/>
              <a:gd name="adj2" fmla="val 117477"/>
              <a:gd name="adj3" fmla="val 16667"/>
            </a:avLst>
          </a:prstGeom>
          <a:solidFill>
            <a:srgbClr val="FFCC00"/>
          </a:solidFill>
          <a:ln w="9525">
            <a:solidFill>
              <a:schemeClr val="accent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342900" indent="-342900" algn="ctr"/>
            <a:r>
              <a:rPr lang="zh-CN" altLang="en-US" sz="2000" dirty="0"/>
              <a:t>有选择的寿命控制，饱和压降和关断时间下降到</a:t>
            </a:r>
            <a:r>
              <a:rPr lang="en-US" altLang="zh-CN" sz="2000" dirty="0"/>
              <a:t>1.5V/0.1ms</a:t>
            </a:r>
            <a:r>
              <a:rPr lang="zh-CN" altLang="en-US" sz="2000" dirty="0"/>
              <a:t>。</a:t>
            </a:r>
          </a:p>
        </p:txBody>
      </p:sp>
      <p:sp>
        <p:nvSpPr>
          <p:cNvPr id="2" name="灯片编号占位符 1"/>
          <p:cNvSpPr>
            <a:spLocks noGrp="1"/>
          </p:cNvSpPr>
          <p:nvPr>
            <p:ph type="sldNum" sz="quarter" idx="12"/>
          </p:nvPr>
        </p:nvSpPr>
        <p:spPr/>
        <p:txBody>
          <a:bodyPr/>
          <a:lstStyle/>
          <a:p>
            <a:fld id="{0C913308-F349-4B6D-A68A-DD1791B4A57B}" type="slidenum">
              <a:rPr lang="zh-CN" altLang="en-US" smtClean="0"/>
              <a:t>21</a:t>
            </a:fld>
            <a:endParaRPr lang="zh-CN" altLang="en-US"/>
          </a:p>
        </p:txBody>
      </p:sp>
      <p:sp>
        <p:nvSpPr>
          <p:cNvPr id="16" name="AutoShape 9"/>
          <p:cNvSpPr>
            <a:spLocks noChangeArrowheads="1"/>
          </p:cNvSpPr>
          <p:nvPr/>
        </p:nvSpPr>
        <p:spPr bwMode="auto">
          <a:xfrm>
            <a:off x="1068035" y="908720"/>
            <a:ext cx="7811194" cy="1439863"/>
          </a:xfrm>
          <a:prstGeom prst="wedgeRoundRectCallout">
            <a:avLst>
              <a:gd name="adj1" fmla="val 37253"/>
              <a:gd name="adj2" fmla="val 275036"/>
              <a:gd name="adj3" fmla="val 16667"/>
            </a:avLst>
          </a:prstGeom>
          <a:solidFill>
            <a:srgbClr val="FFCC00"/>
          </a:solidFill>
          <a:ln w="9525">
            <a:solidFill>
              <a:schemeClr val="accent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lang="zh-CN" altLang="en-US" sz="2000" dirty="0"/>
              <a:t>第</a:t>
            </a:r>
            <a:r>
              <a:rPr lang="en-US" altLang="zh-CN" sz="2000" dirty="0"/>
              <a:t>6</a:t>
            </a:r>
            <a:r>
              <a:rPr lang="zh-CN" altLang="en-US" sz="2000" dirty="0"/>
              <a:t>代</a:t>
            </a:r>
            <a:r>
              <a:rPr lang="en-US" altLang="zh-CN" sz="2000" dirty="0"/>
              <a:t>IGBT</a:t>
            </a:r>
            <a:r>
              <a:rPr lang="zh-CN" altLang="en-US" sz="2000" dirty="0"/>
              <a:t>模块通过改进</a:t>
            </a:r>
            <a:r>
              <a:rPr lang="en-US" altLang="zh-CN" sz="2000" dirty="0"/>
              <a:t>CSTBT TM </a:t>
            </a:r>
            <a:r>
              <a:rPr lang="zh-CN" altLang="en-US" sz="2000" dirty="0"/>
              <a:t>的元胞结构</a:t>
            </a:r>
            <a:r>
              <a:rPr lang="en-US" altLang="zh-CN" sz="2000" dirty="0"/>
              <a:t>,</a:t>
            </a:r>
            <a:r>
              <a:rPr lang="zh-CN" altLang="en-US" sz="2000" dirty="0"/>
              <a:t>在确保安全工作区的前提下降低了通态电阻。同时</a:t>
            </a:r>
            <a:r>
              <a:rPr lang="en-US" altLang="zh-CN" sz="2000" dirty="0"/>
              <a:t>,</a:t>
            </a:r>
            <a:r>
              <a:rPr lang="zh-CN" altLang="en-US" sz="2000" dirty="0"/>
              <a:t>模块里搭载了新开发的具有较低的通态压降的续流二极管。通过这些措施</a:t>
            </a:r>
            <a:r>
              <a:rPr lang="en-US" altLang="zh-CN" sz="2000" dirty="0"/>
              <a:t>,</a:t>
            </a:r>
            <a:r>
              <a:rPr lang="zh-CN" altLang="en-US" sz="2000" dirty="0"/>
              <a:t>在变频运行时新产品的功耗比传统产品 降低约</a:t>
            </a:r>
            <a:r>
              <a:rPr lang="en-US" altLang="zh-CN" sz="2000" dirty="0"/>
              <a:t>20</a:t>
            </a:r>
            <a:r>
              <a:rPr lang="zh-CN" altLang="en-US" sz="2000" dirty="0"/>
              <a:t>％。 </a:t>
            </a:r>
          </a:p>
        </p:txBody>
      </p:sp>
      <p:sp>
        <p:nvSpPr>
          <p:cNvPr id="6" name="内容占位符 5"/>
          <p:cNvSpPr>
            <a:spLocks noGrp="1"/>
          </p:cNvSpPr>
          <p:nvPr>
            <p:ph idx="1"/>
          </p:nvPr>
        </p:nvSpPr>
        <p:spPr/>
        <p:txBody>
          <a:bodyPr/>
          <a:lstStyle/>
          <a:p>
            <a:endParaRPr lang="zh-CN" altLang="en-US"/>
          </a:p>
        </p:txBody>
      </p:sp>
      <p:sp>
        <p:nvSpPr>
          <p:cNvPr id="3" name="日期占位符 2"/>
          <p:cNvSpPr>
            <a:spLocks noGrp="1"/>
          </p:cNvSpPr>
          <p:nvPr>
            <p:ph type="dt" sz="half" idx="10"/>
          </p:nvPr>
        </p:nvSpPr>
        <p:spPr/>
        <p:txBody>
          <a:bodyPr/>
          <a:lstStyle/>
          <a:p>
            <a:fld id="{2E2C8AAA-9873-427A-B107-170A89A3E67A}" type="datetime10">
              <a:rPr lang="zh-CN" altLang="en-US" smtClean="0"/>
              <a:t>14:22</a:t>
            </a:fld>
            <a:endParaRPr lang="zh-CN" altLang="en-US"/>
          </a:p>
        </p:txBody>
      </p:sp>
    </p:spTree>
    <p:extLst>
      <p:ext uri="{BB962C8B-B14F-4D97-AF65-F5344CB8AC3E}">
        <p14:creationId xmlns:p14="http://schemas.microsoft.com/office/powerpoint/2010/main" val="378497924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58405"/>
                                        </p:tgtEl>
                                        <p:attrNameLst>
                                          <p:attrName>style.visibility</p:attrName>
                                        </p:attrNameLst>
                                      </p:cBhvr>
                                      <p:to>
                                        <p:strVal val="visible"/>
                                      </p:to>
                                    </p:set>
                                    <p:animEffect transition="in" filter="blinds(horizontal)">
                                      <p:cBhvr>
                                        <p:cTn id="7" dur="500"/>
                                        <p:tgtEl>
                                          <p:spTgt spid="358405"/>
                                        </p:tgtEl>
                                      </p:cBhvr>
                                    </p:animEffect>
                                  </p:childTnLst>
                                  <p:subTnLst>
                                    <p:set>
                                      <p:cBhvr override="childStyle">
                                        <p:cTn dur="1" fill="hold" display="0" masterRel="nextClick" afterEffect="1"/>
                                        <p:tgtEl>
                                          <p:spTgt spid="358405"/>
                                        </p:tgtEl>
                                        <p:attrNameLst>
                                          <p:attrName>style.visibility</p:attrName>
                                        </p:attrNameLst>
                                      </p:cBhvr>
                                      <p:to>
                                        <p:strVal val="hidden"/>
                                      </p:to>
                                    </p:set>
                                  </p:sub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58406"/>
                                        </p:tgtEl>
                                        <p:attrNameLst>
                                          <p:attrName>style.visibility</p:attrName>
                                        </p:attrNameLst>
                                      </p:cBhvr>
                                      <p:to>
                                        <p:strVal val="visible"/>
                                      </p:to>
                                    </p:set>
                                    <p:animEffect transition="in" filter="blinds(horizontal)">
                                      <p:cBhvr>
                                        <p:cTn id="12" dur="500"/>
                                        <p:tgtEl>
                                          <p:spTgt spid="358406"/>
                                        </p:tgtEl>
                                      </p:cBhvr>
                                    </p:animEffect>
                                  </p:childTnLst>
                                  <p:subTnLst>
                                    <p:set>
                                      <p:cBhvr override="childStyle">
                                        <p:cTn dur="1" fill="hold" display="0" masterRel="nextClick" afterEffect="1"/>
                                        <p:tgtEl>
                                          <p:spTgt spid="358406"/>
                                        </p:tgtEl>
                                        <p:attrNameLst>
                                          <p:attrName>style.visibility</p:attrName>
                                        </p:attrNameLst>
                                      </p:cBhvr>
                                      <p:to>
                                        <p:strVal val="hidden"/>
                                      </p:to>
                                    </p:set>
                                  </p:sub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58407"/>
                                        </p:tgtEl>
                                        <p:attrNameLst>
                                          <p:attrName>style.visibility</p:attrName>
                                        </p:attrNameLst>
                                      </p:cBhvr>
                                      <p:to>
                                        <p:strVal val="visible"/>
                                      </p:to>
                                    </p:set>
                                    <p:animEffect transition="in" filter="blinds(horizontal)">
                                      <p:cBhvr>
                                        <p:cTn id="17" dur="500"/>
                                        <p:tgtEl>
                                          <p:spTgt spid="358407"/>
                                        </p:tgtEl>
                                      </p:cBhvr>
                                    </p:animEffect>
                                  </p:childTnLst>
                                  <p:subTnLst>
                                    <p:set>
                                      <p:cBhvr override="childStyle">
                                        <p:cTn dur="1" fill="hold" display="0" masterRel="nextClick" afterEffect="1"/>
                                        <p:tgtEl>
                                          <p:spTgt spid="358407"/>
                                        </p:tgtEl>
                                        <p:attrNameLst>
                                          <p:attrName>style.visibility</p:attrName>
                                        </p:attrNameLst>
                                      </p:cBhvr>
                                      <p:to>
                                        <p:strVal val="hidden"/>
                                      </p:to>
                                    </p:set>
                                  </p:sub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358408"/>
                                        </p:tgtEl>
                                        <p:attrNameLst>
                                          <p:attrName>style.visibility</p:attrName>
                                        </p:attrNameLst>
                                      </p:cBhvr>
                                      <p:to>
                                        <p:strVal val="visible"/>
                                      </p:to>
                                    </p:set>
                                    <p:animEffect transition="in" filter="blinds(horizontal)">
                                      <p:cBhvr>
                                        <p:cTn id="22" dur="500"/>
                                        <p:tgtEl>
                                          <p:spTgt spid="358408"/>
                                        </p:tgtEl>
                                      </p:cBhvr>
                                    </p:animEffect>
                                  </p:childTnLst>
                                  <p:subTnLst>
                                    <p:set>
                                      <p:cBhvr override="childStyle">
                                        <p:cTn dur="1" fill="hold" display="0" masterRel="nextClick" afterEffect="1"/>
                                        <p:tgtEl>
                                          <p:spTgt spid="358408"/>
                                        </p:tgtEl>
                                        <p:attrNameLst>
                                          <p:attrName>style.visibility</p:attrName>
                                        </p:attrNameLst>
                                      </p:cBhvr>
                                      <p:to>
                                        <p:strVal val="hidden"/>
                                      </p:to>
                                    </p:set>
                                  </p:sub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358409"/>
                                        </p:tgtEl>
                                        <p:attrNameLst>
                                          <p:attrName>style.visibility</p:attrName>
                                        </p:attrNameLst>
                                      </p:cBhvr>
                                      <p:to>
                                        <p:strVal val="visible"/>
                                      </p:to>
                                    </p:set>
                                    <p:animEffect transition="in" filter="blinds(horizontal)">
                                      <p:cBhvr>
                                        <p:cTn id="27" dur="500"/>
                                        <p:tgtEl>
                                          <p:spTgt spid="358409"/>
                                        </p:tgtEl>
                                      </p:cBhvr>
                                    </p:animEffect>
                                  </p:childTnLst>
                                  <p:subTnLst>
                                    <p:set>
                                      <p:cBhvr override="childStyle">
                                        <p:cTn dur="1" fill="hold" display="0" masterRel="nextClick" afterEffect="1"/>
                                        <p:tgtEl>
                                          <p:spTgt spid="358409"/>
                                        </p:tgtEl>
                                        <p:attrNameLst>
                                          <p:attrName>style.visibility</p:attrName>
                                        </p:attrNameLst>
                                      </p:cBhvr>
                                      <p:to>
                                        <p:strVal val="hidden"/>
                                      </p:to>
                                    </p:set>
                                  </p:sub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16"/>
                                        </p:tgtEl>
                                        <p:attrNameLst>
                                          <p:attrName>style.visibility</p:attrName>
                                        </p:attrNameLst>
                                      </p:cBhvr>
                                      <p:to>
                                        <p:strVal val="visible"/>
                                      </p:to>
                                    </p:set>
                                    <p:animEffect transition="in" filter="blinds(horizontal)">
                                      <p:cBhvr>
                                        <p:cTn id="32" dur="500"/>
                                        <p:tgtEl>
                                          <p:spTgt spid="16"/>
                                        </p:tgtEl>
                                      </p:cBhvr>
                                    </p:animEffect>
                                  </p:childTnLst>
                                  <p:subTnLst>
                                    <p:set>
                                      <p:cBhvr override="childStyle">
                                        <p:cTn dur="1" fill="hold" display="0" masterRel="nextClick" afterEffect="1"/>
                                        <p:tgtEl>
                                          <p:spTgt spid="16"/>
                                        </p:tgtEl>
                                        <p:attrNameLst>
                                          <p:attrName>style.visibility</p:attrName>
                                        </p:attrNameLst>
                                      </p:cBhvr>
                                      <p:to>
                                        <p:strVal val="hidden"/>
                                      </p:to>
                                    </p:set>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8405" grpId="0" animBg="1" autoUpdateAnimBg="0"/>
      <p:bldP spid="358406" grpId="0" animBg="1" autoUpdateAnimBg="0"/>
      <p:bldP spid="358407" grpId="0" animBg="1" autoUpdateAnimBg="0"/>
      <p:bldP spid="358408" grpId="0" animBg="1" autoUpdateAnimBg="0"/>
      <p:bldP spid="358409" grpId="0" animBg="1" autoUpdateAnimBg="0"/>
      <p:bldP spid="16" grpId="0" animBg="1" autoUpdateAnimBg="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3698" name="Rectangle 2"/>
          <p:cNvSpPr>
            <a:spLocks noChangeArrowheads="1"/>
          </p:cNvSpPr>
          <p:nvPr/>
        </p:nvSpPr>
        <p:spPr bwMode="auto">
          <a:xfrm>
            <a:off x="1219200" y="146050"/>
            <a:ext cx="7467600" cy="685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nSpc>
                <a:spcPct val="100000"/>
              </a:lnSpc>
            </a:pPr>
            <a:r>
              <a:rPr lang="en-US" altLang="zh-CN" sz="2800" b="1" dirty="0">
                <a:solidFill>
                  <a:srgbClr val="0033CC"/>
                </a:solidFill>
              </a:rPr>
              <a:t>IGBT</a:t>
            </a:r>
            <a:r>
              <a:rPr lang="zh-CN" altLang="en-US" sz="2800" b="1" dirty="0">
                <a:latin typeface="Times New Roman" pitchFamily="18" charset="0"/>
              </a:rPr>
              <a:t>学习要点</a:t>
            </a:r>
            <a:r>
              <a:rPr lang="zh-CN" altLang="en-US" sz="2800" dirty="0">
                <a:latin typeface="Times New Roman" pitchFamily="18" charset="0"/>
              </a:rPr>
              <a:t> </a:t>
            </a:r>
          </a:p>
        </p:txBody>
      </p:sp>
      <p:sp>
        <p:nvSpPr>
          <p:cNvPr id="413706" name="Rectangle 10"/>
          <p:cNvSpPr>
            <a:spLocks noChangeArrowheads="1"/>
          </p:cNvSpPr>
          <p:nvPr/>
        </p:nvSpPr>
        <p:spPr bwMode="auto">
          <a:xfrm>
            <a:off x="395536" y="980728"/>
            <a:ext cx="864096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742950" lvl="1" indent="-285750">
              <a:lnSpc>
                <a:spcPct val="130000"/>
              </a:lnSpc>
              <a:spcBef>
                <a:spcPct val="20000"/>
              </a:spcBef>
              <a:buFont typeface="Wingdings" pitchFamily="2" charset="2"/>
              <a:buNone/>
            </a:pPr>
            <a:r>
              <a:rPr lang="en-US" altLang="zh-CN" sz="2800" b="1" dirty="0">
                <a:latin typeface="Times New Roman" pitchFamily="18" charset="0"/>
              </a:rPr>
              <a:t>1</a:t>
            </a:r>
            <a:r>
              <a:rPr lang="zh-CN" altLang="en-US" sz="2800" b="1" dirty="0">
                <a:latin typeface="Times New Roman" pitchFamily="18" charset="0"/>
              </a:rPr>
              <a:t>、</a:t>
            </a:r>
            <a:r>
              <a:rPr lang="en-US" altLang="zh-CN" sz="2800" b="1" dirty="0">
                <a:solidFill>
                  <a:srgbClr val="0033CC"/>
                </a:solidFill>
              </a:rPr>
              <a:t>IGBT</a:t>
            </a:r>
            <a:r>
              <a:rPr lang="zh-CN" altLang="en-US" sz="2800" b="1" dirty="0">
                <a:solidFill>
                  <a:srgbClr val="0000FF"/>
                </a:solidFill>
                <a:latin typeface="Arial" charset="0"/>
              </a:rPr>
              <a:t>的结构特点</a:t>
            </a:r>
            <a:r>
              <a:rPr lang="en-US" altLang="zh-CN" sz="2800" b="1" dirty="0">
                <a:solidFill>
                  <a:srgbClr val="0000FF"/>
                </a:solidFill>
                <a:latin typeface="Arial" charset="0"/>
              </a:rPr>
              <a:t>(</a:t>
            </a:r>
            <a:r>
              <a:rPr lang="zh-CN" altLang="en-US" sz="2800" dirty="0"/>
              <a:t>复合管：</a:t>
            </a:r>
            <a:r>
              <a:rPr lang="en-US" altLang="zh-CN" sz="2800" dirty="0">
                <a:latin typeface="Arial" pitchFamily="34" charset="0"/>
              </a:rPr>
              <a:t> MOSFET </a:t>
            </a:r>
            <a:r>
              <a:rPr lang="zh-CN" altLang="en-US" sz="2800" dirty="0">
                <a:latin typeface="Arial" pitchFamily="34" charset="0"/>
              </a:rPr>
              <a:t>结构加</a:t>
            </a:r>
            <a:r>
              <a:rPr lang="zh-CN" altLang="en-US" sz="2800" b="1" dirty="0">
                <a:solidFill>
                  <a:srgbClr val="FF0000"/>
                </a:solidFill>
                <a:latin typeface="Arial" pitchFamily="34" charset="0"/>
              </a:rPr>
              <a:t>一层</a:t>
            </a:r>
            <a:r>
              <a:rPr lang="en-US" altLang="zh-CN" sz="2800" b="1" dirty="0">
                <a:solidFill>
                  <a:srgbClr val="FF0000"/>
                </a:solidFill>
                <a:latin typeface="Arial" pitchFamily="34" charset="0"/>
              </a:rPr>
              <a:t>P</a:t>
            </a:r>
            <a:r>
              <a:rPr lang="en-US" altLang="zh-CN" sz="2800" b="1" baseline="30000" dirty="0">
                <a:solidFill>
                  <a:srgbClr val="FF0000"/>
                </a:solidFill>
                <a:latin typeface="Arial" pitchFamily="34" charset="0"/>
              </a:rPr>
              <a:t>+</a:t>
            </a:r>
            <a:r>
              <a:rPr lang="zh-CN" altLang="en-US" sz="2800" b="1" dirty="0">
                <a:solidFill>
                  <a:srgbClr val="FF0000"/>
                </a:solidFill>
                <a:latin typeface="Arial" pitchFamily="34" charset="0"/>
              </a:rPr>
              <a:t>注入区</a:t>
            </a:r>
            <a:r>
              <a:rPr lang="zh-CN" altLang="en-US" sz="2800" dirty="0">
                <a:latin typeface="Arial" pitchFamily="34" charset="0"/>
              </a:rPr>
              <a:t>，</a:t>
            </a:r>
            <a:r>
              <a:rPr lang="en-US" altLang="zh-CN" sz="2800" dirty="0">
                <a:latin typeface="Arial" pitchFamily="34" charset="0"/>
              </a:rPr>
              <a:t>MOSFET</a:t>
            </a:r>
            <a:r>
              <a:rPr lang="zh-CN" altLang="en-US" sz="2800" dirty="0">
                <a:latin typeface="Arial" pitchFamily="34" charset="0"/>
              </a:rPr>
              <a:t>驱动</a:t>
            </a:r>
            <a:r>
              <a:rPr lang="en-US" altLang="zh-CN" sz="2800" dirty="0">
                <a:latin typeface="Arial" pitchFamily="34" charset="0"/>
              </a:rPr>
              <a:t>GTR</a:t>
            </a:r>
            <a:r>
              <a:rPr lang="zh-CN" altLang="en-US" sz="2800" dirty="0">
                <a:latin typeface="Arial" pitchFamily="34" charset="0"/>
              </a:rPr>
              <a:t>的达林顿结构</a:t>
            </a:r>
            <a:r>
              <a:rPr lang="en-US" altLang="zh-CN" sz="2800" dirty="0">
                <a:latin typeface="Arial" pitchFamily="34" charset="0"/>
              </a:rPr>
              <a:t>,</a:t>
            </a:r>
            <a:r>
              <a:rPr lang="zh-CN" altLang="en-US" sz="2800" dirty="0">
                <a:latin typeface="Arial" pitchFamily="34" charset="0"/>
              </a:rPr>
              <a:t>中间有调制电阻</a:t>
            </a:r>
            <a:r>
              <a:rPr lang="en-US" altLang="zh-CN" sz="2800" b="1" dirty="0">
                <a:solidFill>
                  <a:srgbClr val="0000FF"/>
                </a:solidFill>
                <a:latin typeface="Arial" charset="0"/>
              </a:rPr>
              <a:t>)</a:t>
            </a:r>
          </a:p>
          <a:p>
            <a:pPr marL="742950" lvl="1" indent="-285750">
              <a:lnSpc>
                <a:spcPct val="130000"/>
              </a:lnSpc>
              <a:spcBef>
                <a:spcPct val="20000"/>
              </a:spcBef>
              <a:buFont typeface="Wingdings" pitchFamily="2" charset="2"/>
              <a:buNone/>
            </a:pPr>
            <a:r>
              <a:rPr lang="en-US" altLang="zh-CN" sz="2800" b="1" dirty="0">
                <a:solidFill>
                  <a:srgbClr val="0000FF"/>
                </a:solidFill>
                <a:latin typeface="Arial" charset="0"/>
              </a:rPr>
              <a:t>2</a:t>
            </a:r>
            <a:r>
              <a:rPr lang="zh-CN" altLang="en-US" sz="2800" b="1" dirty="0">
                <a:solidFill>
                  <a:srgbClr val="0000FF"/>
                </a:solidFill>
                <a:latin typeface="Arial" charset="0"/>
              </a:rPr>
              <a:t>、</a:t>
            </a:r>
            <a:r>
              <a:rPr lang="en-US" altLang="zh-CN" sz="2800" b="1" dirty="0">
                <a:solidFill>
                  <a:srgbClr val="0033CC"/>
                </a:solidFill>
              </a:rPr>
              <a:t>IGBT</a:t>
            </a:r>
            <a:r>
              <a:rPr lang="zh-CN" altLang="en-US" sz="2800" b="1" dirty="0">
                <a:solidFill>
                  <a:srgbClr val="0000FF"/>
                </a:solidFill>
                <a:latin typeface="Arial" charset="0"/>
              </a:rPr>
              <a:t>的</a:t>
            </a:r>
            <a:r>
              <a:rPr lang="zh-CN" altLang="en-US" sz="2800" b="1" dirty="0">
                <a:solidFill>
                  <a:srgbClr val="FF0000"/>
                </a:solidFill>
                <a:latin typeface="Times New Roman" pitchFamily="18" charset="0"/>
              </a:rPr>
              <a:t>导电机理（</a:t>
            </a:r>
            <a:r>
              <a:rPr lang="en-US" altLang="zh-CN" sz="2800" dirty="0">
                <a:latin typeface="Arial" pitchFamily="34" charset="0"/>
              </a:rPr>
              <a:t> MOSFET</a:t>
            </a:r>
            <a:r>
              <a:rPr lang="zh-CN" altLang="en-US" sz="2800" dirty="0">
                <a:latin typeface="Arial" pitchFamily="34" charset="0"/>
              </a:rPr>
              <a:t>驱动</a:t>
            </a:r>
            <a:r>
              <a:rPr lang="en-US" altLang="zh-CN" sz="2800" dirty="0">
                <a:latin typeface="Arial" pitchFamily="34" charset="0"/>
              </a:rPr>
              <a:t>GTR</a:t>
            </a:r>
            <a:r>
              <a:rPr lang="zh-CN" altLang="en-US" sz="2800" dirty="0">
                <a:latin typeface="Arial" pitchFamily="34" charset="0"/>
              </a:rPr>
              <a:t>的过程</a:t>
            </a:r>
            <a:r>
              <a:rPr lang="en-US" altLang="zh-CN" sz="2800" dirty="0">
                <a:latin typeface="Arial" pitchFamily="34" charset="0"/>
              </a:rPr>
              <a:t> </a:t>
            </a:r>
            <a:r>
              <a:rPr lang="zh-CN" altLang="en-US" sz="2800" b="1" dirty="0">
                <a:solidFill>
                  <a:srgbClr val="FF0000"/>
                </a:solidFill>
                <a:latin typeface="Times New Roman" pitchFamily="18" charset="0"/>
              </a:rPr>
              <a:t>）</a:t>
            </a:r>
            <a:endParaRPr lang="en-US" altLang="zh-CN" sz="2800" b="1" dirty="0">
              <a:solidFill>
                <a:srgbClr val="0000FF"/>
              </a:solidFill>
              <a:latin typeface="Arial" charset="0"/>
            </a:endParaRPr>
          </a:p>
          <a:p>
            <a:pPr marL="742950" lvl="1" indent="-285750">
              <a:lnSpc>
                <a:spcPct val="130000"/>
              </a:lnSpc>
              <a:spcBef>
                <a:spcPct val="20000"/>
              </a:spcBef>
              <a:buFont typeface="Wingdings" pitchFamily="2" charset="2"/>
              <a:buNone/>
            </a:pPr>
            <a:r>
              <a:rPr lang="en-US" altLang="zh-CN" sz="2800" b="1" dirty="0">
                <a:solidFill>
                  <a:srgbClr val="0000FF"/>
                </a:solidFill>
                <a:latin typeface="Arial" charset="0"/>
              </a:rPr>
              <a:t>3</a:t>
            </a:r>
            <a:r>
              <a:rPr lang="zh-CN" altLang="en-US" sz="2800" b="1" dirty="0">
                <a:solidFill>
                  <a:srgbClr val="0000FF"/>
                </a:solidFill>
                <a:latin typeface="Arial" charset="0"/>
              </a:rPr>
              <a:t>、</a:t>
            </a:r>
            <a:r>
              <a:rPr lang="en-US" altLang="zh-CN" sz="2800" b="1" dirty="0">
                <a:solidFill>
                  <a:srgbClr val="0033CC"/>
                </a:solidFill>
              </a:rPr>
              <a:t>IGBT</a:t>
            </a:r>
            <a:r>
              <a:rPr lang="zh-CN" altLang="en-US" sz="2800" b="1" dirty="0">
                <a:solidFill>
                  <a:srgbClr val="0000FF"/>
                </a:solidFill>
                <a:latin typeface="Arial" charset="0"/>
              </a:rPr>
              <a:t>的静态特性</a:t>
            </a:r>
            <a:endParaRPr lang="en-US" altLang="zh-CN" sz="2800" b="1" dirty="0">
              <a:solidFill>
                <a:srgbClr val="0000FF"/>
              </a:solidFill>
              <a:latin typeface="Arial" charset="0"/>
            </a:endParaRPr>
          </a:p>
          <a:p>
            <a:pPr marL="742950" lvl="1" indent="-285750">
              <a:lnSpc>
                <a:spcPct val="130000"/>
              </a:lnSpc>
              <a:spcBef>
                <a:spcPct val="20000"/>
              </a:spcBef>
              <a:buFont typeface="Wingdings" pitchFamily="2" charset="2"/>
              <a:buNone/>
            </a:pPr>
            <a:r>
              <a:rPr lang="en-US" altLang="zh-CN" sz="2800" b="1" dirty="0">
                <a:solidFill>
                  <a:srgbClr val="0000FF"/>
                </a:solidFill>
                <a:latin typeface="Arial" charset="0"/>
              </a:rPr>
              <a:t>4</a:t>
            </a:r>
            <a:r>
              <a:rPr lang="zh-CN" altLang="en-US" sz="2800" b="1" dirty="0">
                <a:solidFill>
                  <a:srgbClr val="0000FF"/>
                </a:solidFill>
                <a:latin typeface="Arial" charset="0"/>
              </a:rPr>
              <a:t>、</a:t>
            </a:r>
            <a:r>
              <a:rPr lang="en-US" altLang="zh-CN" sz="2800" b="1" dirty="0">
                <a:solidFill>
                  <a:srgbClr val="0033CC"/>
                </a:solidFill>
              </a:rPr>
              <a:t>IGBT</a:t>
            </a:r>
            <a:r>
              <a:rPr lang="zh-CN" altLang="en-US" sz="2800" b="1" dirty="0">
                <a:solidFill>
                  <a:srgbClr val="0000FF"/>
                </a:solidFill>
                <a:latin typeface="Arial" charset="0"/>
              </a:rPr>
              <a:t>的动态特性（</a:t>
            </a:r>
            <a:r>
              <a:rPr lang="zh-CN" altLang="en-US" sz="2800" b="1" dirty="0">
                <a:solidFill>
                  <a:srgbClr val="FF0000"/>
                </a:solidFill>
                <a:latin typeface="Times New Roman" pitchFamily="18" charset="0"/>
              </a:rPr>
              <a:t>开通特性曲线：电流上升、电压下降两段</a:t>
            </a:r>
            <a:r>
              <a:rPr lang="zh-CN" altLang="en-US" sz="2800" dirty="0">
                <a:latin typeface="Arial" pitchFamily="34" charset="0"/>
              </a:rPr>
              <a:t>；</a:t>
            </a:r>
            <a:r>
              <a:rPr lang="zh-CN" altLang="en-US" sz="2800" b="1" dirty="0">
                <a:solidFill>
                  <a:srgbClr val="FF0000"/>
                </a:solidFill>
                <a:latin typeface="Times New Roman" pitchFamily="18" charset="0"/>
              </a:rPr>
              <a:t>关断特性曲线：电压上升、电流下降两段</a:t>
            </a:r>
            <a:r>
              <a:rPr lang="en-US" altLang="zh-CN" sz="2800" b="1" dirty="0">
                <a:solidFill>
                  <a:srgbClr val="FF0000"/>
                </a:solidFill>
                <a:latin typeface="Times New Roman" pitchFamily="18" charset="0"/>
              </a:rPr>
              <a:t>;</a:t>
            </a:r>
            <a:r>
              <a:rPr lang="zh-CN" altLang="en-US" sz="2800" b="1" dirty="0">
                <a:solidFill>
                  <a:srgbClr val="FF0000"/>
                </a:solidFill>
                <a:latin typeface="Times New Roman" pitchFamily="18" charset="0"/>
              </a:rPr>
              <a:t>开关速度特点及影响因素</a:t>
            </a:r>
            <a:r>
              <a:rPr lang="zh-CN" altLang="en-US" sz="2800" b="1" dirty="0">
                <a:solidFill>
                  <a:srgbClr val="0000FF"/>
                </a:solidFill>
                <a:latin typeface="Arial" charset="0"/>
              </a:rPr>
              <a:t>）</a:t>
            </a:r>
            <a:endParaRPr lang="en-US" altLang="zh-CN" sz="2800" b="1" dirty="0">
              <a:solidFill>
                <a:srgbClr val="0000FF"/>
              </a:solidFill>
              <a:latin typeface="Arial" charset="0"/>
            </a:endParaRPr>
          </a:p>
          <a:p>
            <a:pPr marL="742950" lvl="1" indent="-285750">
              <a:lnSpc>
                <a:spcPct val="130000"/>
              </a:lnSpc>
              <a:spcBef>
                <a:spcPct val="20000"/>
              </a:spcBef>
              <a:buFont typeface="Wingdings" pitchFamily="2" charset="2"/>
              <a:buNone/>
            </a:pPr>
            <a:r>
              <a:rPr lang="en-US" altLang="zh-CN" sz="2800" b="1" dirty="0">
                <a:solidFill>
                  <a:srgbClr val="0000FF"/>
                </a:solidFill>
                <a:latin typeface="Arial" charset="0"/>
              </a:rPr>
              <a:t>5</a:t>
            </a:r>
            <a:r>
              <a:rPr lang="zh-CN" altLang="en-US" sz="2800" b="1" dirty="0">
                <a:solidFill>
                  <a:srgbClr val="0000FF"/>
                </a:solidFill>
                <a:latin typeface="Arial" charset="0"/>
              </a:rPr>
              <a:t>、</a:t>
            </a:r>
            <a:r>
              <a:rPr lang="en-US" altLang="zh-CN" sz="2800" b="1" dirty="0">
                <a:solidFill>
                  <a:srgbClr val="0033CC"/>
                </a:solidFill>
              </a:rPr>
              <a:t> IGBT</a:t>
            </a:r>
            <a:r>
              <a:rPr lang="zh-CN" altLang="en-US" sz="2800" b="1" dirty="0">
                <a:solidFill>
                  <a:srgbClr val="FF0000"/>
                </a:solidFill>
              </a:rPr>
              <a:t>擎住效应</a:t>
            </a:r>
            <a:r>
              <a:rPr lang="zh-CN" altLang="en-US" sz="2800" b="1" dirty="0">
                <a:solidFill>
                  <a:srgbClr val="0033CC"/>
                </a:solidFill>
              </a:rPr>
              <a:t>产生的机理及造成的原因</a:t>
            </a:r>
            <a:endParaRPr lang="en-US" altLang="zh-CN" sz="2800" b="1" dirty="0">
              <a:solidFill>
                <a:srgbClr val="0000FF"/>
              </a:solidFill>
              <a:latin typeface="Arial" charset="0"/>
            </a:endParaRPr>
          </a:p>
          <a:p>
            <a:pPr marL="742950" lvl="1" indent="-285750">
              <a:lnSpc>
                <a:spcPct val="100000"/>
              </a:lnSpc>
              <a:spcBef>
                <a:spcPct val="20000"/>
              </a:spcBef>
              <a:buFont typeface="Wingdings" pitchFamily="2" charset="2"/>
              <a:buNone/>
            </a:pPr>
            <a:endParaRPr lang="zh-CN" altLang="en-US" sz="2400" b="1" dirty="0">
              <a:solidFill>
                <a:srgbClr val="0000FF"/>
              </a:solidFill>
              <a:latin typeface="Times New Roman" pitchFamily="18" charset="0"/>
            </a:endParaRPr>
          </a:p>
        </p:txBody>
      </p:sp>
      <p:sp>
        <p:nvSpPr>
          <p:cNvPr id="2" name="灯片编号占位符 1"/>
          <p:cNvSpPr>
            <a:spLocks noGrp="1"/>
          </p:cNvSpPr>
          <p:nvPr>
            <p:ph type="sldNum" sz="quarter" idx="12"/>
          </p:nvPr>
        </p:nvSpPr>
        <p:spPr/>
        <p:txBody>
          <a:bodyPr/>
          <a:lstStyle/>
          <a:p>
            <a:fld id="{0C913308-F349-4B6D-A68A-DD1791B4A57B}" type="slidenum">
              <a:rPr lang="zh-CN" altLang="en-US" smtClean="0"/>
              <a:t>22</a:t>
            </a:fld>
            <a:endParaRPr lang="zh-CN" altLang="en-US"/>
          </a:p>
        </p:txBody>
      </p:sp>
      <p:sp>
        <p:nvSpPr>
          <p:cNvPr id="3" name="日期占位符 2"/>
          <p:cNvSpPr>
            <a:spLocks noGrp="1"/>
          </p:cNvSpPr>
          <p:nvPr>
            <p:ph type="dt" sz="half" idx="10"/>
          </p:nvPr>
        </p:nvSpPr>
        <p:spPr/>
        <p:txBody>
          <a:bodyPr/>
          <a:lstStyle/>
          <a:p>
            <a:fld id="{A4D26126-6D67-4866-98C9-523F73B64BC2}" type="datetime10">
              <a:rPr lang="zh-CN" altLang="en-US" smtClean="0"/>
              <a:t>14:22</a:t>
            </a:fld>
            <a:endParaRPr lang="zh-CN" altLang="en-US"/>
          </a:p>
        </p:txBody>
      </p:sp>
    </p:spTree>
    <p:extLst>
      <p:ext uri="{BB962C8B-B14F-4D97-AF65-F5344CB8AC3E}">
        <p14:creationId xmlns:p14="http://schemas.microsoft.com/office/powerpoint/2010/main" val="209463082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 presetClass="entr" presetSubtype="10" fill="hold" grpId="0" nodeType="afterEffect">
                                  <p:stCondLst>
                                    <p:cond delay="0"/>
                                  </p:stCondLst>
                                  <p:childTnLst>
                                    <p:set>
                                      <p:cBhvr>
                                        <p:cTn id="6" dur="1" fill="hold">
                                          <p:stCondLst>
                                            <p:cond delay="0"/>
                                          </p:stCondLst>
                                        </p:cTn>
                                        <p:tgtEl>
                                          <p:spTgt spid="413706"/>
                                        </p:tgtEl>
                                        <p:attrNameLst>
                                          <p:attrName>style.visibility</p:attrName>
                                        </p:attrNameLst>
                                      </p:cBhvr>
                                      <p:to>
                                        <p:strVal val="visible"/>
                                      </p:to>
                                    </p:set>
                                    <p:animEffect transition="in" filter="blinds(horizontal)">
                                      <p:cBhvr>
                                        <p:cTn id="7" dur="500"/>
                                        <p:tgtEl>
                                          <p:spTgt spid="413706"/>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413706">
                                            <p:txEl>
                                              <p:pRg st="0" end="0"/>
                                            </p:txEl>
                                          </p:spTgt>
                                        </p:tgtEl>
                                        <p:attrNameLst>
                                          <p:attrName>style.visibility</p:attrName>
                                        </p:attrNameLst>
                                      </p:cBhvr>
                                      <p:to>
                                        <p:strVal val="visible"/>
                                      </p:to>
                                    </p:set>
                                    <p:anim calcmode="lin" valueType="num">
                                      <p:cBhvr additive="base">
                                        <p:cTn id="12" dur="500" fill="hold"/>
                                        <p:tgtEl>
                                          <p:spTgt spid="413706">
                                            <p:txEl>
                                              <p:pRg st="0" end="0"/>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413706">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nodeType="clickEffect">
                                  <p:stCondLst>
                                    <p:cond delay="0"/>
                                  </p:stCondLst>
                                  <p:childTnLst>
                                    <p:set>
                                      <p:cBhvr>
                                        <p:cTn id="17" dur="1" fill="hold">
                                          <p:stCondLst>
                                            <p:cond delay="0"/>
                                          </p:stCondLst>
                                        </p:cTn>
                                        <p:tgtEl>
                                          <p:spTgt spid="413706">
                                            <p:txEl>
                                              <p:pRg st="1" end="1"/>
                                            </p:txEl>
                                          </p:spTgt>
                                        </p:tgtEl>
                                        <p:attrNameLst>
                                          <p:attrName>style.visibility</p:attrName>
                                        </p:attrNameLst>
                                      </p:cBhvr>
                                      <p:to>
                                        <p:strVal val="visible"/>
                                      </p:to>
                                    </p:set>
                                    <p:anim calcmode="lin" valueType="num">
                                      <p:cBhvr additive="base">
                                        <p:cTn id="18" dur="500" fill="hold"/>
                                        <p:tgtEl>
                                          <p:spTgt spid="413706">
                                            <p:txEl>
                                              <p:pRg st="1" end="1"/>
                                            </p:txEl>
                                          </p:spTgt>
                                        </p:tgtEl>
                                        <p:attrNameLst>
                                          <p:attrName>ppt_x</p:attrName>
                                        </p:attrNameLst>
                                      </p:cBhvr>
                                      <p:tavLst>
                                        <p:tav tm="0">
                                          <p:val>
                                            <p:strVal val="#ppt_x"/>
                                          </p:val>
                                        </p:tav>
                                        <p:tav tm="100000">
                                          <p:val>
                                            <p:strVal val="#ppt_x"/>
                                          </p:val>
                                        </p:tav>
                                      </p:tavLst>
                                    </p:anim>
                                    <p:anim calcmode="lin" valueType="num">
                                      <p:cBhvr additive="base">
                                        <p:cTn id="19" dur="500" fill="hold"/>
                                        <p:tgtEl>
                                          <p:spTgt spid="413706">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 presetClass="entr" presetSubtype="4" fill="hold" nodeType="clickEffect">
                                  <p:stCondLst>
                                    <p:cond delay="0"/>
                                  </p:stCondLst>
                                  <p:childTnLst>
                                    <p:set>
                                      <p:cBhvr>
                                        <p:cTn id="23" dur="1" fill="hold">
                                          <p:stCondLst>
                                            <p:cond delay="0"/>
                                          </p:stCondLst>
                                        </p:cTn>
                                        <p:tgtEl>
                                          <p:spTgt spid="413706">
                                            <p:txEl>
                                              <p:pRg st="2" end="2"/>
                                            </p:txEl>
                                          </p:spTgt>
                                        </p:tgtEl>
                                        <p:attrNameLst>
                                          <p:attrName>style.visibility</p:attrName>
                                        </p:attrNameLst>
                                      </p:cBhvr>
                                      <p:to>
                                        <p:strVal val="visible"/>
                                      </p:to>
                                    </p:set>
                                    <p:anim calcmode="lin" valueType="num">
                                      <p:cBhvr additive="base">
                                        <p:cTn id="24" dur="500" fill="hold"/>
                                        <p:tgtEl>
                                          <p:spTgt spid="413706">
                                            <p:txEl>
                                              <p:pRg st="2" end="2"/>
                                            </p:txEl>
                                          </p:spTgt>
                                        </p:tgtEl>
                                        <p:attrNameLst>
                                          <p:attrName>ppt_x</p:attrName>
                                        </p:attrNameLst>
                                      </p:cBhvr>
                                      <p:tavLst>
                                        <p:tav tm="0">
                                          <p:val>
                                            <p:strVal val="#ppt_x"/>
                                          </p:val>
                                        </p:tav>
                                        <p:tav tm="100000">
                                          <p:val>
                                            <p:strVal val="#ppt_x"/>
                                          </p:val>
                                        </p:tav>
                                      </p:tavLst>
                                    </p:anim>
                                    <p:anim calcmode="lin" valueType="num">
                                      <p:cBhvr additive="base">
                                        <p:cTn id="25" dur="500" fill="hold"/>
                                        <p:tgtEl>
                                          <p:spTgt spid="413706">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2" presetClass="entr" presetSubtype="4" fill="hold" nodeType="clickEffect">
                                  <p:stCondLst>
                                    <p:cond delay="0"/>
                                  </p:stCondLst>
                                  <p:childTnLst>
                                    <p:set>
                                      <p:cBhvr>
                                        <p:cTn id="29" dur="1" fill="hold">
                                          <p:stCondLst>
                                            <p:cond delay="0"/>
                                          </p:stCondLst>
                                        </p:cTn>
                                        <p:tgtEl>
                                          <p:spTgt spid="413706">
                                            <p:txEl>
                                              <p:pRg st="3" end="3"/>
                                            </p:txEl>
                                          </p:spTgt>
                                        </p:tgtEl>
                                        <p:attrNameLst>
                                          <p:attrName>style.visibility</p:attrName>
                                        </p:attrNameLst>
                                      </p:cBhvr>
                                      <p:to>
                                        <p:strVal val="visible"/>
                                      </p:to>
                                    </p:set>
                                    <p:anim calcmode="lin" valueType="num">
                                      <p:cBhvr additive="base">
                                        <p:cTn id="30" dur="500" fill="hold"/>
                                        <p:tgtEl>
                                          <p:spTgt spid="413706">
                                            <p:txEl>
                                              <p:pRg st="3" end="3"/>
                                            </p:txEl>
                                          </p:spTgt>
                                        </p:tgtEl>
                                        <p:attrNameLst>
                                          <p:attrName>ppt_x</p:attrName>
                                        </p:attrNameLst>
                                      </p:cBhvr>
                                      <p:tavLst>
                                        <p:tav tm="0">
                                          <p:val>
                                            <p:strVal val="#ppt_x"/>
                                          </p:val>
                                        </p:tav>
                                        <p:tav tm="100000">
                                          <p:val>
                                            <p:strVal val="#ppt_x"/>
                                          </p:val>
                                        </p:tav>
                                      </p:tavLst>
                                    </p:anim>
                                    <p:anim calcmode="lin" valueType="num">
                                      <p:cBhvr additive="base">
                                        <p:cTn id="31" dur="500" fill="hold"/>
                                        <p:tgtEl>
                                          <p:spTgt spid="413706">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2" presetClass="entr" presetSubtype="4" fill="hold" nodeType="clickEffect">
                                  <p:stCondLst>
                                    <p:cond delay="0"/>
                                  </p:stCondLst>
                                  <p:childTnLst>
                                    <p:set>
                                      <p:cBhvr>
                                        <p:cTn id="35" dur="1" fill="hold">
                                          <p:stCondLst>
                                            <p:cond delay="0"/>
                                          </p:stCondLst>
                                        </p:cTn>
                                        <p:tgtEl>
                                          <p:spTgt spid="413706">
                                            <p:txEl>
                                              <p:pRg st="4" end="4"/>
                                            </p:txEl>
                                          </p:spTgt>
                                        </p:tgtEl>
                                        <p:attrNameLst>
                                          <p:attrName>style.visibility</p:attrName>
                                        </p:attrNameLst>
                                      </p:cBhvr>
                                      <p:to>
                                        <p:strVal val="visible"/>
                                      </p:to>
                                    </p:set>
                                    <p:anim calcmode="lin" valueType="num">
                                      <p:cBhvr additive="base">
                                        <p:cTn id="36" dur="500" fill="hold"/>
                                        <p:tgtEl>
                                          <p:spTgt spid="413706">
                                            <p:txEl>
                                              <p:pRg st="4" end="4"/>
                                            </p:txEl>
                                          </p:spTgt>
                                        </p:tgtEl>
                                        <p:attrNameLst>
                                          <p:attrName>ppt_x</p:attrName>
                                        </p:attrNameLst>
                                      </p:cBhvr>
                                      <p:tavLst>
                                        <p:tav tm="0">
                                          <p:val>
                                            <p:strVal val="#ppt_x"/>
                                          </p:val>
                                        </p:tav>
                                        <p:tav tm="100000">
                                          <p:val>
                                            <p:strVal val="#ppt_x"/>
                                          </p:val>
                                        </p:tav>
                                      </p:tavLst>
                                    </p:anim>
                                    <p:anim calcmode="lin" valueType="num">
                                      <p:cBhvr additive="base">
                                        <p:cTn id="37" dur="500" fill="hold"/>
                                        <p:tgtEl>
                                          <p:spTgt spid="413706">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3706" grpId="0" autoUpdateAnimBg="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0C913308-F349-4B6D-A68A-DD1791B4A57B}" type="slidenum">
              <a:rPr lang="zh-CN" altLang="en-US" smtClean="0"/>
              <a:t>23</a:t>
            </a:fld>
            <a:endParaRPr lang="zh-CN" altLang="en-US"/>
          </a:p>
        </p:txBody>
      </p:sp>
      <p:sp>
        <p:nvSpPr>
          <p:cNvPr id="3" name="矩形 2"/>
          <p:cNvSpPr/>
          <p:nvPr/>
        </p:nvSpPr>
        <p:spPr>
          <a:xfrm>
            <a:off x="755576" y="685800"/>
            <a:ext cx="8316416" cy="3785652"/>
          </a:xfrm>
          <a:prstGeom prst="rect">
            <a:avLst/>
          </a:prstGeom>
        </p:spPr>
        <p:txBody>
          <a:bodyPr wrap="square">
            <a:spAutoFit/>
          </a:bodyPr>
          <a:lstStyle/>
          <a:p>
            <a:pPr marL="342900" lvl="0" indent="-342900" fontAlgn="base">
              <a:spcBef>
                <a:spcPct val="20000"/>
              </a:spcBef>
              <a:spcAft>
                <a:spcPct val="0"/>
              </a:spcAft>
              <a:buChar char="•"/>
            </a:pPr>
            <a:r>
              <a:rPr lang="en-US" altLang="zh-CN" sz="1600" dirty="0"/>
              <a:t>1</a:t>
            </a:r>
            <a:r>
              <a:rPr lang="zh-CN" altLang="en-US" sz="1600" dirty="0"/>
              <a:t>、</a:t>
            </a:r>
            <a:r>
              <a:rPr lang="zh-CN" altLang="zh-CN" sz="1600" dirty="0"/>
              <a:t>对于</a:t>
            </a:r>
            <a:r>
              <a:rPr lang="en-US" altLang="zh-CN" sz="1600" dirty="0"/>
              <a:t>IGBT</a:t>
            </a:r>
            <a:r>
              <a:rPr lang="zh-CN" altLang="zh-CN" sz="1600" dirty="0"/>
              <a:t>，下列说法正确的是（</a:t>
            </a:r>
            <a:r>
              <a:rPr lang="en-US" altLang="zh-CN" sz="1600" dirty="0"/>
              <a:t>      </a:t>
            </a:r>
            <a:r>
              <a:rPr lang="zh-CN" altLang="zh-CN" sz="1600" dirty="0"/>
              <a:t>）。</a:t>
            </a:r>
          </a:p>
          <a:p>
            <a:pPr marL="342900" lvl="0" indent="-342900" fontAlgn="base">
              <a:spcBef>
                <a:spcPct val="20000"/>
              </a:spcBef>
              <a:spcAft>
                <a:spcPct val="0"/>
              </a:spcAft>
              <a:buChar char="•"/>
            </a:pPr>
            <a:r>
              <a:rPr lang="en-US" altLang="zh-CN" sz="1600" dirty="0"/>
              <a:t>A</a:t>
            </a:r>
            <a:r>
              <a:rPr lang="zh-CN" altLang="en-US" sz="1600" dirty="0"/>
              <a:t>、</a:t>
            </a:r>
            <a:r>
              <a:rPr lang="en-US" altLang="zh-CN" sz="1600" dirty="0"/>
              <a:t>IGBT</a:t>
            </a:r>
            <a:r>
              <a:rPr lang="zh-CN" altLang="zh-CN" sz="1600" dirty="0"/>
              <a:t>是复合型器件，结合</a:t>
            </a:r>
            <a:r>
              <a:rPr lang="en-US" altLang="zh-CN" sz="1600" dirty="0"/>
              <a:t>GTR</a:t>
            </a:r>
            <a:r>
              <a:rPr lang="zh-CN" altLang="zh-CN" sz="1600" dirty="0"/>
              <a:t>和</a:t>
            </a:r>
            <a:r>
              <a:rPr lang="en-US" altLang="zh-CN" sz="1600" dirty="0"/>
              <a:t>MOSFET</a:t>
            </a:r>
            <a:r>
              <a:rPr lang="zh-CN" altLang="zh-CN" sz="1600" dirty="0"/>
              <a:t>二者的优点。</a:t>
            </a:r>
          </a:p>
          <a:p>
            <a:pPr marL="342900" lvl="0" indent="-342900" fontAlgn="base">
              <a:spcBef>
                <a:spcPct val="20000"/>
              </a:spcBef>
              <a:spcAft>
                <a:spcPct val="0"/>
              </a:spcAft>
              <a:buChar char="•"/>
            </a:pPr>
            <a:r>
              <a:rPr lang="en-US" altLang="zh-CN" sz="1600" dirty="0"/>
              <a:t>B</a:t>
            </a:r>
            <a:r>
              <a:rPr lang="zh-CN" altLang="en-US" sz="1600" dirty="0"/>
              <a:t>、</a:t>
            </a:r>
            <a:r>
              <a:rPr lang="zh-CN" altLang="zh-CN" sz="1600" dirty="0"/>
              <a:t>输入阻抗高，其输入特性与电力</a:t>
            </a:r>
            <a:r>
              <a:rPr lang="en-US" altLang="zh-CN" sz="1600" dirty="0"/>
              <a:t>MOSFET</a:t>
            </a:r>
            <a:r>
              <a:rPr lang="zh-CN" altLang="zh-CN" sz="1600" dirty="0"/>
              <a:t>类似。</a:t>
            </a:r>
          </a:p>
          <a:p>
            <a:pPr marL="342900" lvl="0" indent="-342900" fontAlgn="base">
              <a:spcBef>
                <a:spcPct val="20000"/>
              </a:spcBef>
              <a:spcAft>
                <a:spcPct val="0"/>
              </a:spcAft>
              <a:buChar char="•"/>
            </a:pPr>
            <a:r>
              <a:rPr lang="en-US" altLang="zh-CN" sz="1600" dirty="0"/>
              <a:t>C</a:t>
            </a:r>
            <a:r>
              <a:rPr lang="zh-CN" altLang="en-US" sz="1600" dirty="0"/>
              <a:t>、</a:t>
            </a:r>
            <a:r>
              <a:rPr lang="en-US" altLang="zh-CN" sz="1600" dirty="0"/>
              <a:t>IGBT</a:t>
            </a:r>
            <a:r>
              <a:rPr lang="zh-CN" altLang="zh-CN" sz="1600" dirty="0"/>
              <a:t>比</a:t>
            </a:r>
            <a:r>
              <a:rPr lang="en-US" altLang="zh-CN" sz="1600" dirty="0"/>
              <a:t>VDMOSFET</a:t>
            </a:r>
            <a:r>
              <a:rPr lang="zh-CN" altLang="zh-CN" sz="1600" dirty="0"/>
              <a:t>多一层</a:t>
            </a:r>
            <a:r>
              <a:rPr lang="en-US" altLang="zh-CN" sz="1600" dirty="0"/>
              <a:t>P+</a:t>
            </a:r>
            <a:r>
              <a:rPr lang="zh-CN" altLang="zh-CN" sz="1600" dirty="0"/>
              <a:t>注入区，</a:t>
            </a:r>
            <a:r>
              <a:rPr lang="en-US" altLang="zh-CN" sz="1600" dirty="0"/>
              <a:t>IGBT</a:t>
            </a:r>
            <a:r>
              <a:rPr lang="zh-CN" altLang="zh-CN" sz="1600" dirty="0"/>
              <a:t>导通时</a:t>
            </a:r>
            <a:r>
              <a:rPr lang="en-US" altLang="zh-CN" sz="1600" dirty="0"/>
              <a:t>P+ </a:t>
            </a:r>
            <a:r>
              <a:rPr lang="zh-CN" altLang="zh-CN" sz="1600" dirty="0"/>
              <a:t>往</a:t>
            </a:r>
            <a:r>
              <a:rPr lang="en-US" altLang="zh-CN" sz="1600" dirty="0"/>
              <a:t>N-</a:t>
            </a:r>
            <a:r>
              <a:rPr lang="zh-CN" altLang="zh-CN" sz="1600" dirty="0"/>
              <a:t>漂移区发射电子，对漂移区电阻率进行调制，使</a:t>
            </a:r>
            <a:r>
              <a:rPr lang="en-US" altLang="zh-CN" sz="1600" dirty="0"/>
              <a:t>IGBT </a:t>
            </a:r>
            <a:r>
              <a:rPr lang="zh-CN" altLang="zh-CN" sz="1600" dirty="0"/>
              <a:t>具备较大的通流能力，解决电力</a:t>
            </a:r>
            <a:r>
              <a:rPr lang="en-US" altLang="zh-CN" sz="1600" dirty="0"/>
              <a:t>MOSFTE</a:t>
            </a:r>
            <a:r>
              <a:rPr lang="zh-CN" altLang="zh-CN" sz="1600" dirty="0"/>
              <a:t>中追求高耐压与低通态电阻之间的矛盾。</a:t>
            </a:r>
          </a:p>
          <a:p>
            <a:pPr marL="342900" lvl="0" indent="-342900" fontAlgn="base">
              <a:spcBef>
                <a:spcPct val="20000"/>
              </a:spcBef>
              <a:spcAft>
                <a:spcPct val="0"/>
              </a:spcAft>
              <a:buChar char="•"/>
            </a:pPr>
            <a:r>
              <a:rPr lang="en-US" altLang="zh-CN" sz="1600" dirty="0"/>
              <a:t>D</a:t>
            </a:r>
            <a:r>
              <a:rPr lang="zh-CN" altLang="en-US" sz="1600" dirty="0"/>
              <a:t>、</a:t>
            </a:r>
            <a:r>
              <a:rPr lang="en-US" altLang="zh-CN" sz="1600" dirty="0"/>
              <a:t>IGBT</a:t>
            </a:r>
            <a:r>
              <a:rPr lang="zh-CN" altLang="zh-CN" sz="1600" dirty="0"/>
              <a:t>是半控型器件。</a:t>
            </a:r>
            <a:endParaRPr lang="en-US" altLang="zh-CN" sz="1600" dirty="0"/>
          </a:p>
          <a:p>
            <a:pPr marL="342900" indent="-342900" fontAlgn="base">
              <a:spcBef>
                <a:spcPct val="20000"/>
              </a:spcBef>
              <a:spcAft>
                <a:spcPct val="0"/>
              </a:spcAft>
              <a:buFontTx/>
              <a:buChar char="•"/>
            </a:pPr>
            <a:r>
              <a:rPr lang="en-US" altLang="zh-CN" sz="1600" dirty="0"/>
              <a:t>E</a:t>
            </a:r>
            <a:r>
              <a:rPr lang="zh-CN" altLang="en-US" sz="1600" dirty="0"/>
              <a:t>、</a:t>
            </a:r>
            <a:r>
              <a:rPr lang="en-US" altLang="zh-CN" sz="1600" dirty="0"/>
              <a:t>IGBT</a:t>
            </a:r>
            <a:r>
              <a:rPr lang="zh-CN" altLang="zh-CN" sz="1600" dirty="0"/>
              <a:t>是全控型器件。</a:t>
            </a:r>
          </a:p>
          <a:p>
            <a:pPr marL="342900" lvl="0" indent="-342900" fontAlgn="base">
              <a:spcBef>
                <a:spcPct val="20000"/>
              </a:spcBef>
              <a:spcAft>
                <a:spcPct val="0"/>
              </a:spcAft>
              <a:buChar char="•"/>
            </a:pPr>
            <a:endParaRPr lang="zh-CN" altLang="zh-CN" sz="1600" dirty="0"/>
          </a:p>
          <a:p>
            <a:pPr marL="342900" lvl="0" indent="-342900" fontAlgn="base">
              <a:spcBef>
                <a:spcPct val="20000"/>
              </a:spcBef>
              <a:spcAft>
                <a:spcPct val="0"/>
              </a:spcAft>
              <a:buChar char="•"/>
            </a:pPr>
            <a:r>
              <a:rPr lang="en-US" altLang="zh-CN" sz="1600" dirty="0"/>
              <a:t>2</a:t>
            </a:r>
            <a:r>
              <a:rPr lang="zh-CN" altLang="en-US" sz="1600" dirty="0"/>
              <a:t>、画出</a:t>
            </a:r>
            <a:r>
              <a:rPr lang="en-US" altLang="zh-CN" sz="1600" dirty="0"/>
              <a:t>IGBT</a:t>
            </a:r>
            <a:r>
              <a:rPr lang="zh-CN" altLang="en-US" sz="1600" dirty="0"/>
              <a:t>的动态特性曲线。</a:t>
            </a:r>
            <a:endParaRPr lang="en-US" altLang="zh-CN" sz="1600" dirty="0"/>
          </a:p>
          <a:p>
            <a:pPr marL="342900" lvl="0" indent="-342900" fontAlgn="base">
              <a:spcBef>
                <a:spcPct val="20000"/>
              </a:spcBef>
              <a:spcAft>
                <a:spcPct val="0"/>
              </a:spcAft>
              <a:buChar char="•"/>
            </a:pPr>
            <a:endParaRPr lang="en-US" altLang="zh-CN" sz="1600" dirty="0"/>
          </a:p>
          <a:p>
            <a:pPr marL="342900" lvl="0" indent="-342900" fontAlgn="base">
              <a:spcBef>
                <a:spcPct val="20000"/>
              </a:spcBef>
              <a:spcAft>
                <a:spcPct val="0"/>
              </a:spcAft>
              <a:buChar char="•"/>
            </a:pPr>
            <a:endParaRPr lang="en-US" altLang="zh-CN" sz="1600" dirty="0"/>
          </a:p>
          <a:p>
            <a:pPr marL="342900" lvl="0" indent="-342900" fontAlgn="base">
              <a:spcBef>
                <a:spcPct val="20000"/>
              </a:spcBef>
              <a:spcAft>
                <a:spcPct val="0"/>
              </a:spcAft>
              <a:buChar char="•"/>
            </a:pPr>
            <a:endParaRPr lang="zh-CN" altLang="zh-CN" sz="1600" dirty="0"/>
          </a:p>
        </p:txBody>
      </p:sp>
      <p:sp>
        <p:nvSpPr>
          <p:cNvPr id="4" name="Rectangle 2"/>
          <p:cNvSpPr>
            <a:spLocks noChangeArrowheads="1"/>
          </p:cNvSpPr>
          <p:nvPr/>
        </p:nvSpPr>
        <p:spPr bwMode="auto">
          <a:xfrm>
            <a:off x="755576" y="0"/>
            <a:ext cx="7467600" cy="685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nSpc>
                <a:spcPct val="100000"/>
              </a:lnSpc>
            </a:pPr>
            <a:r>
              <a:rPr lang="en-US" altLang="zh-CN" sz="2800" b="1" dirty="0">
                <a:solidFill>
                  <a:srgbClr val="0033CC"/>
                </a:solidFill>
              </a:rPr>
              <a:t>IGBT</a:t>
            </a:r>
            <a:r>
              <a:rPr lang="zh-CN" altLang="en-US" sz="2800" b="1" dirty="0">
                <a:latin typeface="Times New Roman" pitchFamily="18" charset="0"/>
              </a:rPr>
              <a:t>复习题</a:t>
            </a:r>
            <a:endParaRPr lang="zh-CN" altLang="en-US" sz="2800" dirty="0">
              <a:latin typeface="Times New Roman" pitchFamily="18" charset="0"/>
            </a:endParaRPr>
          </a:p>
        </p:txBody>
      </p:sp>
      <p:pic>
        <p:nvPicPr>
          <p:cNvPr id="5" name="图片 4"/>
          <p:cNvPicPr/>
          <p:nvPr/>
        </p:nvPicPr>
        <p:blipFill>
          <a:blip r:embed="rId3">
            <a:extLst>
              <a:ext uri="{28A0092B-C50C-407E-A947-70E740481C1C}">
                <a14:useLocalDpi xmlns:a14="http://schemas.microsoft.com/office/drawing/2010/main" val="0"/>
              </a:ext>
            </a:extLst>
          </a:blip>
          <a:srcRect/>
          <a:stretch>
            <a:fillRect/>
          </a:stretch>
        </p:blipFill>
        <p:spPr bwMode="auto">
          <a:xfrm>
            <a:off x="5612130" y="2197655"/>
            <a:ext cx="3531870" cy="4025900"/>
          </a:xfrm>
          <a:prstGeom prst="rect">
            <a:avLst/>
          </a:prstGeom>
          <a:noFill/>
          <a:ln>
            <a:noFill/>
          </a:ln>
        </p:spPr>
      </p:pic>
      <p:sp>
        <p:nvSpPr>
          <p:cNvPr id="6" name="矩形 5"/>
          <p:cNvSpPr/>
          <p:nvPr/>
        </p:nvSpPr>
        <p:spPr>
          <a:xfrm>
            <a:off x="667770" y="3789040"/>
            <a:ext cx="4872351" cy="830997"/>
          </a:xfrm>
          <a:prstGeom prst="rect">
            <a:avLst/>
          </a:prstGeom>
        </p:spPr>
        <p:txBody>
          <a:bodyPr wrap="square">
            <a:spAutoFit/>
          </a:bodyPr>
          <a:lstStyle/>
          <a:p>
            <a:pPr marL="342900" lvl="0" indent="-342900" fontAlgn="base">
              <a:spcBef>
                <a:spcPct val="20000"/>
              </a:spcBef>
              <a:spcAft>
                <a:spcPct val="0"/>
              </a:spcAft>
              <a:buChar char="•"/>
            </a:pPr>
            <a:r>
              <a:rPr lang="en-US" altLang="zh-CN" sz="1600" dirty="0"/>
              <a:t>3</a:t>
            </a:r>
            <a:r>
              <a:rPr lang="zh-CN" altLang="en-US" sz="1600" dirty="0"/>
              <a:t>、</a:t>
            </a:r>
            <a:r>
              <a:rPr lang="zh-CN" altLang="zh-CN" sz="1600" dirty="0"/>
              <a:t>以下是</a:t>
            </a:r>
            <a:r>
              <a:rPr lang="en-US" altLang="zh-CN" sz="1600" dirty="0"/>
              <a:t>IGBT</a:t>
            </a:r>
            <a:r>
              <a:rPr lang="zh-CN" altLang="en-US" sz="1600" dirty="0"/>
              <a:t>内部结构断面示意图，画出其简化等效电路、并介绍其介绍如何解决了电力</a:t>
            </a:r>
            <a:r>
              <a:rPr lang="en-US" altLang="zh-CN" sz="1600" dirty="0"/>
              <a:t>MOSFTE</a:t>
            </a:r>
            <a:r>
              <a:rPr lang="zh-CN" altLang="en-US" sz="1600" dirty="0"/>
              <a:t>中追求高耐压与低通态电阻之间的矛盾。</a:t>
            </a:r>
            <a:endParaRPr lang="en-US" altLang="zh-CN" sz="1600" dirty="0"/>
          </a:p>
        </p:txBody>
      </p:sp>
      <p:graphicFrame>
        <p:nvGraphicFramePr>
          <p:cNvPr id="7" name="对象 6"/>
          <p:cNvGraphicFramePr>
            <a:graphicFrameLocks noChangeAspect="1"/>
          </p:cNvGraphicFramePr>
          <p:nvPr>
            <p:extLst>
              <p:ext uri="{D42A27DB-BD31-4B8C-83A1-F6EECF244321}">
                <p14:modId xmlns:p14="http://schemas.microsoft.com/office/powerpoint/2010/main" val="1682421527"/>
              </p:ext>
            </p:extLst>
          </p:nvPr>
        </p:nvGraphicFramePr>
        <p:xfrm>
          <a:off x="1187624" y="4620037"/>
          <a:ext cx="4181860" cy="2486172"/>
        </p:xfrm>
        <a:graphic>
          <a:graphicData uri="http://schemas.openxmlformats.org/presentationml/2006/ole">
            <mc:AlternateContent xmlns:mc="http://schemas.openxmlformats.org/markup-compatibility/2006">
              <mc:Choice xmlns:v="urn:schemas-microsoft-com:vml" Requires="v">
                <p:oleObj spid="_x0000_s24817" r:id="rId4" imgW="2953750" imgH="1425515" progId="Visio.Drawing.11">
                  <p:embed/>
                </p:oleObj>
              </mc:Choice>
              <mc:Fallback>
                <p:oleObj r:id="rId4" imgW="2953750" imgH="1425515" progId="Visio.Drawing.11">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187624" y="4620037"/>
                        <a:ext cx="4181860" cy="2486172"/>
                      </a:xfrm>
                      <a:prstGeom prst="rect">
                        <a:avLst/>
                      </a:prstGeom>
                      <a:noFill/>
                    </p:spPr>
                  </p:pic>
                </p:oleObj>
              </mc:Fallback>
            </mc:AlternateContent>
          </a:graphicData>
        </a:graphic>
      </p:graphicFrame>
      <p:sp>
        <p:nvSpPr>
          <p:cNvPr id="8" name="日期占位符 7"/>
          <p:cNvSpPr>
            <a:spLocks noGrp="1"/>
          </p:cNvSpPr>
          <p:nvPr>
            <p:ph type="dt" sz="half" idx="10"/>
          </p:nvPr>
        </p:nvSpPr>
        <p:spPr/>
        <p:txBody>
          <a:bodyPr/>
          <a:lstStyle/>
          <a:p>
            <a:fld id="{A5392E96-4C30-451E-BFC8-A359C78CEF41}" type="datetime10">
              <a:rPr lang="zh-CN" altLang="en-US" smtClean="0"/>
              <a:t>14:22</a:t>
            </a:fld>
            <a:endParaRPr lang="zh-CN" altLang="en-US"/>
          </a:p>
        </p:txBody>
      </p:sp>
    </p:spTree>
    <p:extLst>
      <p:ext uri="{BB962C8B-B14F-4D97-AF65-F5344CB8AC3E}">
        <p14:creationId xmlns:p14="http://schemas.microsoft.com/office/powerpoint/2010/main" val="85468060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0C913308-F349-4B6D-A68A-DD1791B4A57B}" type="slidenum">
              <a:rPr lang="zh-CN" altLang="en-US" smtClean="0"/>
              <a:t>24</a:t>
            </a:fld>
            <a:endParaRPr lang="zh-CN" altLang="en-US"/>
          </a:p>
        </p:txBody>
      </p:sp>
      <p:sp>
        <p:nvSpPr>
          <p:cNvPr id="4" name="矩形 3"/>
          <p:cNvSpPr/>
          <p:nvPr/>
        </p:nvSpPr>
        <p:spPr>
          <a:xfrm>
            <a:off x="755576" y="685800"/>
            <a:ext cx="8316416" cy="4278094"/>
          </a:xfrm>
          <a:prstGeom prst="rect">
            <a:avLst/>
          </a:prstGeom>
        </p:spPr>
        <p:txBody>
          <a:bodyPr wrap="square">
            <a:spAutoFit/>
          </a:bodyPr>
          <a:lstStyle/>
          <a:p>
            <a:pPr marL="342900" lvl="0" indent="-342900" fontAlgn="base">
              <a:spcBef>
                <a:spcPct val="20000"/>
              </a:spcBef>
              <a:spcAft>
                <a:spcPct val="0"/>
              </a:spcAft>
              <a:buChar char="•"/>
            </a:pPr>
            <a:r>
              <a:rPr lang="en-US" altLang="zh-CN" sz="1600" dirty="0"/>
              <a:t>4</a:t>
            </a:r>
            <a:r>
              <a:rPr lang="zh-CN" altLang="en-US" sz="1600" dirty="0"/>
              <a:t>、</a:t>
            </a:r>
            <a:r>
              <a:rPr lang="en-US" altLang="zh-CN" sz="1600" dirty="0"/>
              <a:t> </a:t>
            </a:r>
            <a:r>
              <a:rPr lang="zh-CN" altLang="en-US" sz="1600" dirty="0"/>
              <a:t>对于</a:t>
            </a:r>
            <a:r>
              <a:rPr lang="en-US" altLang="zh-CN" sz="1600" dirty="0"/>
              <a:t>IGBT</a:t>
            </a:r>
            <a:r>
              <a:rPr lang="zh-CN" altLang="en-US" sz="1600" dirty="0"/>
              <a:t>的擎住效应下列说法正确的是：</a:t>
            </a:r>
            <a:endParaRPr lang="en-US" altLang="zh-CN" sz="1600" dirty="0"/>
          </a:p>
          <a:p>
            <a:pPr marL="342900" lvl="0" indent="-342900" fontAlgn="base">
              <a:spcBef>
                <a:spcPct val="20000"/>
              </a:spcBef>
              <a:spcAft>
                <a:spcPct val="0"/>
              </a:spcAft>
              <a:buChar char="•"/>
            </a:pPr>
            <a:r>
              <a:rPr lang="en-US" altLang="zh-CN" sz="1600" dirty="0"/>
              <a:t>A</a:t>
            </a:r>
            <a:r>
              <a:rPr lang="zh-CN" altLang="en-US" sz="1600" dirty="0"/>
              <a:t>、</a:t>
            </a:r>
            <a:r>
              <a:rPr lang="en-US" altLang="zh-CN" sz="1600" dirty="0"/>
              <a:t>IGBT</a:t>
            </a:r>
            <a:r>
              <a:rPr lang="zh-CN" altLang="en-US" sz="1600" dirty="0"/>
              <a:t>内部寄生着一个</a:t>
            </a:r>
            <a:r>
              <a:rPr lang="en-US" altLang="zh-CN" sz="1600" dirty="0"/>
              <a:t>N-PN+</a:t>
            </a:r>
            <a:r>
              <a:rPr lang="zh-CN" altLang="en-US" sz="1600" dirty="0"/>
              <a:t>晶体管和作为主开关器件</a:t>
            </a:r>
            <a:r>
              <a:rPr lang="en-US" altLang="zh-CN" sz="1600" dirty="0"/>
              <a:t>P+NP-</a:t>
            </a:r>
            <a:r>
              <a:rPr lang="zh-CN" altLang="en-US" sz="1600" dirty="0"/>
              <a:t>晶体管组成的寄生晶闸管。其中 </a:t>
            </a:r>
            <a:r>
              <a:rPr lang="en-US" altLang="zh-CN" sz="1600" dirty="0"/>
              <a:t>NPN</a:t>
            </a:r>
            <a:r>
              <a:rPr lang="zh-CN" altLang="en-US" sz="1600" dirty="0"/>
              <a:t>管基射极间存在体短路电阻，</a:t>
            </a:r>
            <a:r>
              <a:rPr lang="en-US" altLang="zh-CN" sz="1600" dirty="0"/>
              <a:t>P</a:t>
            </a:r>
            <a:r>
              <a:rPr lang="zh-CN" altLang="en-US" sz="1600" dirty="0"/>
              <a:t>形体区电流会在其上产生压降，相当于对</a:t>
            </a:r>
            <a:r>
              <a:rPr lang="en-US" altLang="zh-CN" sz="1600" dirty="0"/>
              <a:t>J3</a:t>
            </a:r>
            <a:r>
              <a:rPr lang="zh-CN" altLang="en-US" sz="1600" dirty="0"/>
              <a:t>结加正偏，一旦</a:t>
            </a:r>
            <a:r>
              <a:rPr lang="en-US" altLang="zh-CN" sz="1600" dirty="0"/>
              <a:t>J3</a:t>
            </a:r>
            <a:r>
              <a:rPr lang="zh-CN" altLang="en-US" sz="1600" dirty="0"/>
              <a:t>开通，栅极会失去对集电极电流的控制作用，导致集电极电流增大，造成器件功耗过高损坏。</a:t>
            </a:r>
            <a:endParaRPr lang="en-US" altLang="zh-CN" sz="1600" dirty="0"/>
          </a:p>
          <a:p>
            <a:pPr marL="342900" lvl="0" indent="-342900" fontAlgn="base">
              <a:spcBef>
                <a:spcPct val="20000"/>
              </a:spcBef>
              <a:spcAft>
                <a:spcPct val="0"/>
              </a:spcAft>
              <a:buChar char="•"/>
            </a:pPr>
            <a:r>
              <a:rPr lang="en-US" altLang="zh-CN" sz="1600" dirty="0"/>
              <a:t>B</a:t>
            </a:r>
            <a:r>
              <a:rPr lang="zh-CN" altLang="en-US" sz="1600" dirty="0"/>
              <a:t>、一旦该电流失控现象出现，像晶闸管被触发后，撤销触发信号晶闸管仍然进入正反馈而维持导通的机理一样。</a:t>
            </a:r>
            <a:endParaRPr lang="en-US" altLang="zh-CN" sz="1600" dirty="0"/>
          </a:p>
          <a:p>
            <a:pPr marL="342900" lvl="0" indent="-342900" fontAlgn="base">
              <a:spcBef>
                <a:spcPct val="20000"/>
              </a:spcBef>
              <a:spcAft>
                <a:spcPct val="0"/>
              </a:spcAft>
              <a:buChar char="•"/>
            </a:pPr>
            <a:r>
              <a:rPr lang="en-US" altLang="zh-CN" sz="1600" dirty="0"/>
              <a:t>C</a:t>
            </a:r>
            <a:r>
              <a:rPr lang="zh-CN" altLang="en-US" sz="1600" dirty="0"/>
              <a:t>、集电极电流过大可能会导致擎住效应。</a:t>
            </a:r>
            <a:endParaRPr lang="en-US" altLang="zh-CN" sz="1600" dirty="0"/>
          </a:p>
          <a:p>
            <a:pPr marL="342900" lvl="0" indent="-342900" fontAlgn="base">
              <a:spcBef>
                <a:spcPct val="20000"/>
              </a:spcBef>
              <a:spcAft>
                <a:spcPct val="0"/>
              </a:spcAft>
              <a:buChar char="•"/>
            </a:pPr>
            <a:r>
              <a:rPr lang="en-US" altLang="zh-CN" sz="1600" dirty="0"/>
              <a:t>D</a:t>
            </a:r>
            <a:r>
              <a:rPr lang="zh-CN" altLang="en-US" sz="1600" dirty="0"/>
              <a:t>、</a:t>
            </a:r>
            <a:r>
              <a:rPr lang="en-US" altLang="zh-CN" sz="1600" dirty="0"/>
              <a:t>du</a:t>
            </a:r>
            <a:r>
              <a:rPr lang="en-US" altLang="zh-CN" sz="2000" b="1" baseline="-30000" dirty="0">
                <a:solidFill>
                  <a:srgbClr val="0000FF"/>
                </a:solidFill>
                <a:latin typeface="Arial" pitchFamily="34" charset="0"/>
              </a:rPr>
              <a:t>ce</a:t>
            </a:r>
            <a:r>
              <a:rPr lang="en-US" altLang="zh-CN" sz="1600" dirty="0"/>
              <a:t>/</a:t>
            </a:r>
            <a:r>
              <a:rPr lang="en-US" altLang="zh-CN" sz="1600" dirty="0" err="1"/>
              <a:t>dt</a:t>
            </a:r>
            <a:r>
              <a:rPr lang="zh-CN" altLang="en-US" sz="1600" dirty="0"/>
              <a:t>过大可能会导致擎住效应。</a:t>
            </a:r>
            <a:endParaRPr lang="en-US" altLang="zh-CN" sz="1600" dirty="0"/>
          </a:p>
          <a:p>
            <a:pPr marL="342900" lvl="0" indent="-342900" fontAlgn="base">
              <a:spcBef>
                <a:spcPct val="20000"/>
              </a:spcBef>
              <a:spcAft>
                <a:spcPct val="0"/>
              </a:spcAft>
              <a:buChar char="•"/>
            </a:pPr>
            <a:r>
              <a:rPr lang="en-US" altLang="zh-CN" sz="1600" dirty="0"/>
              <a:t>E</a:t>
            </a:r>
            <a:r>
              <a:rPr lang="zh-CN" altLang="en-US" sz="1600" dirty="0"/>
              <a:t>、温升过高会加剧擎住效应产生的危险。</a:t>
            </a:r>
            <a:endParaRPr lang="en-US" altLang="zh-CN" sz="1600" dirty="0"/>
          </a:p>
          <a:p>
            <a:pPr marL="342900" lvl="0" indent="-342900" fontAlgn="base">
              <a:spcBef>
                <a:spcPct val="20000"/>
              </a:spcBef>
              <a:spcAft>
                <a:spcPct val="0"/>
              </a:spcAft>
              <a:buChar char="•"/>
            </a:pPr>
            <a:endParaRPr lang="en-US" altLang="zh-CN" sz="1600" dirty="0"/>
          </a:p>
          <a:p>
            <a:pPr marL="342900" indent="-342900" fontAlgn="base">
              <a:spcBef>
                <a:spcPct val="20000"/>
              </a:spcBef>
              <a:spcAft>
                <a:spcPct val="0"/>
              </a:spcAft>
              <a:buFontTx/>
              <a:buChar char="•"/>
            </a:pPr>
            <a:r>
              <a:rPr lang="en-US" altLang="zh-CN" sz="1600" dirty="0"/>
              <a:t>5</a:t>
            </a:r>
            <a:r>
              <a:rPr lang="zh-CN" altLang="en-US" sz="1600" dirty="0"/>
              <a:t>、</a:t>
            </a:r>
            <a:r>
              <a:rPr lang="en-US" altLang="zh-CN" sz="1600" dirty="0"/>
              <a:t> </a:t>
            </a:r>
            <a:r>
              <a:rPr lang="zh-CN" altLang="en-US" sz="1600" dirty="0"/>
              <a:t>下面电气图形符号表示</a:t>
            </a:r>
            <a:r>
              <a:rPr lang="en-US" altLang="zh-CN" sz="1600" dirty="0"/>
              <a:t>IGBT</a:t>
            </a:r>
            <a:r>
              <a:rPr lang="zh-CN" altLang="en-US" sz="1600" dirty="0"/>
              <a:t>的是（    ）：</a:t>
            </a:r>
            <a:endParaRPr lang="en-US" altLang="zh-CN" sz="1600" dirty="0"/>
          </a:p>
          <a:p>
            <a:pPr marL="342900" lvl="0" indent="-342900" fontAlgn="base">
              <a:spcBef>
                <a:spcPct val="20000"/>
              </a:spcBef>
              <a:spcAft>
                <a:spcPct val="0"/>
              </a:spcAft>
              <a:buChar char="•"/>
            </a:pPr>
            <a:endParaRPr lang="en-US" altLang="zh-CN" sz="1600" dirty="0"/>
          </a:p>
          <a:p>
            <a:pPr marL="342900" lvl="0" indent="-342900" fontAlgn="base">
              <a:spcBef>
                <a:spcPct val="20000"/>
              </a:spcBef>
              <a:spcAft>
                <a:spcPct val="0"/>
              </a:spcAft>
              <a:buChar char="•"/>
            </a:pPr>
            <a:r>
              <a:rPr lang="en-US" altLang="zh-CN" sz="1600" dirty="0"/>
              <a:t>A </a:t>
            </a:r>
            <a:r>
              <a:rPr lang="zh-CN" altLang="en-US" sz="1600" dirty="0"/>
              <a:t>、            </a:t>
            </a:r>
            <a:r>
              <a:rPr lang="en-US" altLang="zh-CN" sz="1600" dirty="0"/>
              <a:t>B</a:t>
            </a:r>
            <a:r>
              <a:rPr lang="zh-CN" altLang="en-US" sz="1600" dirty="0"/>
              <a:t>、             </a:t>
            </a:r>
            <a:r>
              <a:rPr lang="en-US" altLang="zh-CN" sz="1600" dirty="0"/>
              <a:t>C</a:t>
            </a:r>
            <a:r>
              <a:rPr lang="zh-CN" altLang="en-US" sz="1600" dirty="0"/>
              <a:t>、               </a:t>
            </a:r>
            <a:r>
              <a:rPr lang="en-US" altLang="zh-CN" sz="1600" dirty="0"/>
              <a:t>D</a:t>
            </a:r>
            <a:r>
              <a:rPr lang="zh-CN" altLang="en-US" sz="1600" dirty="0"/>
              <a:t>、              </a:t>
            </a:r>
            <a:r>
              <a:rPr lang="en-US" altLang="zh-CN" sz="1600" dirty="0"/>
              <a:t>E</a:t>
            </a:r>
            <a:r>
              <a:rPr lang="zh-CN" altLang="en-US" sz="1600" dirty="0"/>
              <a:t>、            </a:t>
            </a:r>
            <a:r>
              <a:rPr lang="en-US" altLang="zh-CN" sz="1600" dirty="0"/>
              <a:t>F</a:t>
            </a:r>
            <a:r>
              <a:rPr lang="zh-CN" altLang="en-US" sz="1600" dirty="0"/>
              <a:t>、</a:t>
            </a:r>
            <a:endParaRPr lang="en-US" altLang="zh-CN" sz="1600" dirty="0"/>
          </a:p>
          <a:p>
            <a:pPr marL="342900" lvl="0" indent="-342900" fontAlgn="base">
              <a:spcBef>
                <a:spcPct val="20000"/>
              </a:spcBef>
              <a:spcAft>
                <a:spcPct val="0"/>
              </a:spcAft>
              <a:buChar char="•"/>
            </a:pPr>
            <a:endParaRPr lang="zh-CN" altLang="zh-CN" sz="1600" dirty="0"/>
          </a:p>
        </p:txBody>
      </p:sp>
      <p:pic>
        <p:nvPicPr>
          <p:cNvPr id="6" name="图片 5"/>
          <p:cNvPicPr>
            <a:picLocks noChangeAspect="1"/>
          </p:cNvPicPr>
          <p:nvPr/>
        </p:nvPicPr>
        <p:blipFill>
          <a:blip r:embed="rId2"/>
          <a:stretch>
            <a:fillRect/>
          </a:stretch>
        </p:blipFill>
        <p:spPr>
          <a:xfrm>
            <a:off x="3779912" y="4143408"/>
            <a:ext cx="510400" cy="993210"/>
          </a:xfrm>
          <a:prstGeom prst="rect">
            <a:avLst/>
          </a:prstGeom>
        </p:spPr>
      </p:pic>
      <p:pic>
        <p:nvPicPr>
          <p:cNvPr id="7" name="图片 6"/>
          <p:cNvPicPr>
            <a:picLocks noChangeAspect="1"/>
          </p:cNvPicPr>
          <p:nvPr/>
        </p:nvPicPr>
        <p:blipFill>
          <a:blip r:embed="rId3"/>
          <a:stretch>
            <a:fillRect/>
          </a:stretch>
        </p:blipFill>
        <p:spPr>
          <a:xfrm>
            <a:off x="4822713" y="4201894"/>
            <a:ext cx="737870" cy="987611"/>
          </a:xfrm>
          <a:prstGeom prst="rect">
            <a:avLst/>
          </a:prstGeom>
        </p:spPr>
      </p:pic>
      <p:pic>
        <p:nvPicPr>
          <p:cNvPr id="8" name="图片 7"/>
          <p:cNvPicPr>
            <a:picLocks noChangeAspect="1"/>
          </p:cNvPicPr>
          <p:nvPr/>
        </p:nvPicPr>
        <p:blipFill>
          <a:blip r:embed="rId4"/>
          <a:stretch>
            <a:fillRect/>
          </a:stretch>
        </p:blipFill>
        <p:spPr>
          <a:xfrm>
            <a:off x="6099786" y="4231136"/>
            <a:ext cx="504825" cy="929125"/>
          </a:xfrm>
          <a:prstGeom prst="rect">
            <a:avLst/>
          </a:prstGeom>
        </p:spPr>
      </p:pic>
      <p:pic>
        <p:nvPicPr>
          <p:cNvPr id="9" name="图片 8"/>
          <p:cNvPicPr>
            <a:picLocks noChangeAspect="1"/>
          </p:cNvPicPr>
          <p:nvPr/>
        </p:nvPicPr>
        <p:blipFill>
          <a:blip r:embed="rId5"/>
          <a:stretch>
            <a:fillRect/>
          </a:stretch>
        </p:blipFill>
        <p:spPr>
          <a:xfrm>
            <a:off x="2563521" y="4143408"/>
            <a:ext cx="461555" cy="1157800"/>
          </a:xfrm>
          <a:prstGeom prst="rect">
            <a:avLst/>
          </a:prstGeom>
        </p:spPr>
      </p:pic>
      <p:pic>
        <p:nvPicPr>
          <p:cNvPr id="10" name="图片 9"/>
          <p:cNvPicPr>
            <a:picLocks noChangeAspect="1"/>
          </p:cNvPicPr>
          <p:nvPr/>
        </p:nvPicPr>
        <p:blipFill>
          <a:blip r:embed="rId6"/>
          <a:stretch>
            <a:fillRect/>
          </a:stretch>
        </p:blipFill>
        <p:spPr>
          <a:xfrm>
            <a:off x="7210425" y="4231136"/>
            <a:ext cx="819150" cy="952500"/>
          </a:xfrm>
          <a:prstGeom prst="rect">
            <a:avLst/>
          </a:prstGeom>
        </p:spPr>
      </p:pic>
      <p:pic>
        <p:nvPicPr>
          <p:cNvPr id="11" name="图片 10"/>
          <p:cNvPicPr>
            <a:picLocks noChangeAspect="1"/>
          </p:cNvPicPr>
          <p:nvPr/>
        </p:nvPicPr>
        <p:blipFill>
          <a:blip r:embed="rId7"/>
          <a:stretch>
            <a:fillRect/>
          </a:stretch>
        </p:blipFill>
        <p:spPr>
          <a:xfrm>
            <a:off x="1575608" y="4185376"/>
            <a:ext cx="554462" cy="756085"/>
          </a:xfrm>
          <a:prstGeom prst="rect">
            <a:avLst/>
          </a:prstGeom>
        </p:spPr>
      </p:pic>
      <p:sp>
        <p:nvSpPr>
          <p:cNvPr id="3" name="日期占位符 2"/>
          <p:cNvSpPr>
            <a:spLocks noGrp="1"/>
          </p:cNvSpPr>
          <p:nvPr>
            <p:ph type="dt" sz="half" idx="10"/>
          </p:nvPr>
        </p:nvSpPr>
        <p:spPr/>
        <p:txBody>
          <a:bodyPr/>
          <a:lstStyle/>
          <a:p>
            <a:fld id="{4D5EFB88-0CD5-439D-A771-09C31E6E07A9}" type="datetime10">
              <a:rPr lang="zh-CN" altLang="en-US" smtClean="0"/>
              <a:t>14:22</a:t>
            </a:fld>
            <a:endParaRPr lang="zh-CN" altLang="en-US"/>
          </a:p>
        </p:txBody>
      </p:sp>
    </p:spTree>
    <p:extLst>
      <p:ext uri="{BB962C8B-B14F-4D97-AF65-F5344CB8AC3E}">
        <p14:creationId xmlns:p14="http://schemas.microsoft.com/office/powerpoint/2010/main" val="50704571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8" name="Rectangle 2"/>
          <p:cNvSpPr>
            <a:spLocks noGrp="1" noChangeArrowheads="1"/>
          </p:cNvSpPr>
          <p:nvPr>
            <p:ph type="title"/>
          </p:nvPr>
        </p:nvSpPr>
        <p:spPr>
          <a:xfrm>
            <a:off x="827088" y="261938"/>
            <a:ext cx="7848600" cy="428625"/>
          </a:xfrm>
        </p:spPr>
        <p:txBody>
          <a:bodyPr/>
          <a:lstStyle/>
          <a:p>
            <a:pPr algn="l"/>
            <a:r>
              <a:rPr lang="en-US" altLang="zh-CN" sz="3600" b="1">
                <a:solidFill>
                  <a:schemeClr val="tx1"/>
                </a:solidFill>
              </a:rPr>
              <a:t>2.5 </a:t>
            </a:r>
            <a:r>
              <a:rPr lang="zh-CN" altLang="en-US" sz="3600" b="1">
                <a:solidFill>
                  <a:schemeClr val="tx1"/>
                </a:solidFill>
              </a:rPr>
              <a:t>其他新型电力电子器件</a:t>
            </a:r>
          </a:p>
        </p:txBody>
      </p:sp>
      <p:sp>
        <p:nvSpPr>
          <p:cNvPr id="137219" name="Rectangle 3"/>
          <p:cNvSpPr>
            <a:spLocks noGrp="1" noChangeArrowheads="1"/>
          </p:cNvSpPr>
          <p:nvPr>
            <p:ph idx="1"/>
          </p:nvPr>
        </p:nvSpPr>
        <p:spPr/>
        <p:txBody>
          <a:bodyPr/>
          <a:lstStyle/>
          <a:p>
            <a:pPr>
              <a:buFontTx/>
              <a:buNone/>
            </a:pPr>
            <a:endParaRPr lang="en-US" altLang="zh-CN" b="1" dirty="0">
              <a:solidFill>
                <a:srgbClr val="663300"/>
              </a:solidFill>
            </a:endParaRPr>
          </a:p>
          <a:p>
            <a:pPr>
              <a:buFontTx/>
              <a:buNone/>
            </a:pPr>
            <a:r>
              <a:rPr lang="en-US" altLang="zh-CN" b="1" dirty="0">
                <a:solidFill>
                  <a:srgbClr val="663300"/>
                </a:solidFill>
              </a:rPr>
              <a:t>        </a:t>
            </a:r>
            <a:r>
              <a:rPr lang="en-US" altLang="zh-CN" b="1" dirty="0">
                <a:solidFill>
                  <a:srgbClr val="663300"/>
                </a:solidFill>
                <a:hlinkClick r:id="" action="ppaction://noaction"/>
              </a:rPr>
              <a:t>2.5.1 MOS</a:t>
            </a:r>
            <a:r>
              <a:rPr lang="zh-CN" altLang="en-US" b="1" dirty="0">
                <a:solidFill>
                  <a:srgbClr val="663300"/>
                </a:solidFill>
                <a:hlinkClick r:id="" action="ppaction://noaction"/>
              </a:rPr>
              <a:t>控制晶闸管</a:t>
            </a:r>
            <a:r>
              <a:rPr lang="en-US" altLang="zh-CN" b="1" dirty="0">
                <a:solidFill>
                  <a:srgbClr val="663300"/>
                </a:solidFill>
                <a:hlinkClick r:id="" action="ppaction://noaction"/>
              </a:rPr>
              <a:t>MCT </a:t>
            </a:r>
            <a:endParaRPr lang="en-US" altLang="zh-CN" b="1" dirty="0">
              <a:solidFill>
                <a:srgbClr val="663300"/>
              </a:solidFill>
            </a:endParaRPr>
          </a:p>
          <a:p>
            <a:pPr algn="just">
              <a:buFontTx/>
              <a:buNone/>
            </a:pPr>
            <a:r>
              <a:rPr lang="en-US" altLang="zh-CN" b="1" dirty="0">
                <a:solidFill>
                  <a:srgbClr val="663300"/>
                </a:solidFill>
              </a:rPr>
              <a:t>        </a:t>
            </a:r>
            <a:r>
              <a:rPr lang="en-US" altLang="zh-CN" b="1" dirty="0">
                <a:solidFill>
                  <a:srgbClr val="663300"/>
                </a:solidFill>
                <a:hlinkClick r:id="" action="ppaction://noaction"/>
              </a:rPr>
              <a:t>2.5.2 </a:t>
            </a:r>
            <a:r>
              <a:rPr lang="zh-CN" altLang="en-US" b="1" dirty="0">
                <a:solidFill>
                  <a:srgbClr val="663300"/>
                </a:solidFill>
                <a:hlinkClick r:id="" action="ppaction://noaction"/>
              </a:rPr>
              <a:t>静电感应晶体管</a:t>
            </a:r>
            <a:r>
              <a:rPr lang="en-US" altLang="zh-CN" b="1" dirty="0">
                <a:solidFill>
                  <a:srgbClr val="663300"/>
                </a:solidFill>
                <a:hlinkClick r:id="" action="ppaction://noaction"/>
              </a:rPr>
              <a:t>SIT</a:t>
            </a:r>
            <a:endParaRPr lang="en-US" altLang="zh-CN" b="1" dirty="0">
              <a:solidFill>
                <a:srgbClr val="663300"/>
              </a:solidFill>
            </a:endParaRPr>
          </a:p>
          <a:p>
            <a:pPr algn="just">
              <a:buFontTx/>
              <a:buNone/>
            </a:pPr>
            <a:r>
              <a:rPr lang="en-US" altLang="zh-CN" b="1" dirty="0">
                <a:solidFill>
                  <a:srgbClr val="663300"/>
                </a:solidFill>
              </a:rPr>
              <a:t>        </a:t>
            </a:r>
            <a:r>
              <a:rPr lang="en-US" altLang="zh-CN" b="1" dirty="0">
                <a:solidFill>
                  <a:srgbClr val="663300"/>
                </a:solidFill>
                <a:hlinkClick r:id="" action="ppaction://noaction"/>
              </a:rPr>
              <a:t>2.5.3 </a:t>
            </a:r>
            <a:r>
              <a:rPr lang="zh-CN" altLang="en-US" b="1" dirty="0">
                <a:solidFill>
                  <a:srgbClr val="663300"/>
                </a:solidFill>
                <a:hlinkClick r:id="" action="ppaction://noaction"/>
              </a:rPr>
              <a:t>静电感应晶闸管</a:t>
            </a:r>
            <a:r>
              <a:rPr lang="en-US" altLang="zh-CN" b="1" dirty="0">
                <a:solidFill>
                  <a:srgbClr val="663300"/>
                </a:solidFill>
                <a:hlinkClick r:id="" action="ppaction://noaction"/>
              </a:rPr>
              <a:t>SITH </a:t>
            </a:r>
            <a:endParaRPr lang="en-US" altLang="zh-CN" b="1" dirty="0">
              <a:solidFill>
                <a:srgbClr val="663300"/>
              </a:solidFill>
            </a:endParaRPr>
          </a:p>
          <a:p>
            <a:pPr algn="just">
              <a:buFontTx/>
              <a:buNone/>
            </a:pPr>
            <a:r>
              <a:rPr lang="en-US" altLang="zh-CN" b="1" dirty="0">
                <a:solidFill>
                  <a:srgbClr val="663300"/>
                </a:solidFill>
              </a:rPr>
              <a:t>        </a:t>
            </a:r>
            <a:r>
              <a:rPr lang="en-US" altLang="zh-CN" b="1" dirty="0">
                <a:solidFill>
                  <a:srgbClr val="663300"/>
                </a:solidFill>
                <a:hlinkClick r:id="" action="ppaction://noaction"/>
              </a:rPr>
              <a:t>2.5.4 </a:t>
            </a:r>
            <a:r>
              <a:rPr lang="zh-CN" altLang="en-US" b="1" dirty="0">
                <a:solidFill>
                  <a:srgbClr val="663300"/>
                </a:solidFill>
                <a:hlinkClick r:id="" action="ppaction://noaction"/>
              </a:rPr>
              <a:t>集成门极换流晶闸管</a:t>
            </a:r>
            <a:r>
              <a:rPr lang="en-US" altLang="zh-CN" b="1" dirty="0">
                <a:solidFill>
                  <a:srgbClr val="663300"/>
                </a:solidFill>
                <a:hlinkClick r:id="" action="ppaction://noaction"/>
              </a:rPr>
              <a:t>IGCT </a:t>
            </a:r>
            <a:endParaRPr lang="en-US" altLang="zh-CN" b="1" dirty="0">
              <a:solidFill>
                <a:srgbClr val="663300"/>
              </a:solidFill>
            </a:endParaRPr>
          </a:p>
          <a:p>
            <a:pPr>
              <a:buFontTx/>
              <a:buNone/>
            </a:pPr>
            <a:r>
              <a:rPr lang="en-US" altLang="zh-CN" b="1" dirty="0">
                <a:solidFill>
                  <a:srgbClr val="663300"/>
                </a:solidFill>
              </a:rPr>
              <a:t>        </a:t>
            </a:r>
            <a:r>
              <a:rPr lang="en-US" altLang="zh-CN" b="1" dirty="0">
                <a:solidFill>
                  <a:srgbClr val="663300"/>
                </a:solidFill>
                <a:hlinkClick r:id="" action="ppaction://noaction"/>
              </a:rPr>
              <a:t>2.5.5 </a:t>
            </a:r>
            <a:r>
              <a:rPr lang="zh-CN" altLang="en-US" b="1" dirty="0">
                <a:solidFill>
                  <a:srgbClr val="663300"/>
                </a:solidFill>
                <a:hlinkClick r:id="" action="ppaction://noaction"/>
              </a:rPr>
              <a:t>基于宽禁带半导体材料的电力                      </a:t>
            </a:r>
            <a:r>
              <a:rPr lang="zh-CN" altLang="en-US" b="1" dirty="0">
                <a:solidFill>
                  <a:srgbClr val="663300"/>
                </a:solidFill>
              </a:rPr>
              <a:t>		</a:t>
            </a:r>
            <a:r>
              <a:rPr lang="zh-CN" altLang="en-US" b="1" dirty="0">
                <a:solidFill>
                  <a:srgbClr val="663300"/>
                </a:solidFill>
                <a:hlinkClick r:id="" action="ppaction://noaction"/>
              </a:rPr>
              <a:t>电子器件</a:t>
            </a:r>
            <a:endParaRPr lang="zh-CN" altLang="en-US" b="1" dirty="0">
              <a:solidFill>
                <a:srgbClr val="663300"/>
              </a:solidFill>
            </a:endParaRPr>
          </a:p>
          <a:p>
            <a:pPr algn="just">
              <a:buFontTx/>
              <a:buNone/>
            </a:pPr>
            <a:endParaRPr lang="zh-CN" altLang="en-US" b="1" dirty="0"/>
          </a:p>
          <a:p>
            <a:pPr>
              <a:buFontTx/>
              <a:buNone/>
            </a:pPr>
            <a:endParaRPr lang="en-US" altLang="zh-CN" dirty="0"/>
          </a:p>
        </p:txBody>
      </p:sp>
      <p:sp>
        <p:nvSpPr>
          <p:cNvPr id="2" name="灯片编号占位符 1"/>
          <p:cNvSpPr>
            <a:spLocks noGrp="1"/>
          </p:cNvSpPr>
          <p:nvPr>
            <p:ph type="sldNum" sz="quarter" idx="12"/>
          </p:nvPr>
        </p:nvSpPr>
        <p:spPr/>
        <p:txBody>
          <a:bodyPr/>
          <a:lstStyle/>
          <a:p>
            <a:fld id="{0C913308-F349-4B6D-A68A-DD1791B4A57B}" type="slidenum">
              <a:rPr lang="zh-CN" altLang="en-US" smtClean="0"/>
              <a:t>25</a:t>
            </a:fld>
            <a:endParaRPr lang="zh-CN" altLang="en-US"/>
          </a:p>
        </p:txBody>
      </p:sp>
      <p:sp>
        <p:nvSpPr>
          <p:cNvPr id="3" name="日期占位符 2"/>
          <p:cNvSpPr>
            <a:spLocks noGrp="1"/>
          </p:cNvSpPr>
          <p:nvPr>
            <p:ph type="dt" sz="half" idx="10"/>
          </p:nvPr>
        </p:nvSpPr>
        <p:spPr/>
        <p:txBody>
          <a:bodyPr/>
          <a:lstStyle/>
          <a:p>
            <a:fld id="{3525E0C6-66B6-4694-9749-2C8E1257B8DF}" type="datetime10">
              <a:rPr lang="zh-CN" altLang="en-US" smtClean="0"/>
              <a:t>14:22</a:t>
            </a:fld>
            <a:endParaRPr lang="zh-CN" altLang="en-US"/>
          </a:p>
        </p:txBody>
      </p:sp>
    </p:spTree>
    <p:extLst>
      <p:ext uri="{BB962C8B-B14F-4D97-AF65-F5344CB8AC3E}">
        <p14:creationId xmlns:p14="http://schemas.microsoft.com/office/powerpoint/2010/main" val="164573163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314" name="Rectangle 2"/>
          <p:cNvSpPr>
            <a:spLocks noGrp="1" noChangeArrowheads="1"/>
          </p:cNvSpPr>
          <p:nvPr>
            <p:ph type="title"/>
          </p:nvPr>
        </p:nvSpPr>
        <p:spPr>
          <a:xfrm>
            <a:off x="827088" y="261938"/>
            <a:ext cx="7848600" cy="428625"/>
          </a:xfrm>
        </p:spPr>
        <p:txBody>
          <a:bodyPr/>
          <a:lstStyle/>
          <a:p>
            <a:pPr algn="l"/>
            <a:r>
              <a:rPr lang="en-US" altLang="zh-CN" sz="3600" b="1">
                <a:solidFill>
                  <a:schemeClr val="tx1"/>
                </a:solidFill>
              </a:rPr>
              <a:t>2.5.4 </a:t>
            </a:r>
            <a:r>
              <a:rPr lang="zh-CN" altLang="en-US" sz="3600" b="1">
                <a:solidFill>
                  <a:schemeClr val="tx1"/>
                </a:solidFill>
              </a:rPr>
              <a:t>集成门极换流晶闸管</a:t>
            </a:r>
            <a:r>
              <a:rPr lang="en-US" altLang="zh-CN" sz="3600" b="1">
                <a:solidFill>
                  <a:schemeClr val="tx1"/>
                </a:solidFill>
              </a:rPr>
              <a:t>IGCT</a:t>
            </a:r>
          </a:p>
        </p:txBody>
      </p:sp>
      <p:sp>
        <p:nvSpPr>
          <p:cNvPr id="141315" name="Rectangle 3"/>
          <p:cNvSpPr>
            <a:spLocks noGrp="1" noChangeArrowheads="1"/>
          </p:cNvSpPr>
          <p:nvPr>
            <p:ph idx="1"/>
          </p:nvPr>
        </p:nvSpPr>
        <p:spPr/>
        <p:txBody>
          <a:bodyPr/>
          <a:lstStyle/>
          <a:p>
            <a:pPr>
              <a:lnSpc>
                <a:spcPct val="150000"/>
              </a:lnSpc>
              <a:buFontTx/>
              <a:buNone/>
            </a:pPr>
            <a:r>
              <a:rPr lang="en-US" altLang="zh-CN" sz="2800" b="1" dirty="0">
                <a:solidFill>
                  <a:srgbClr val="E35449"/>
                </a:solidFill>
              </a:rPr>
              <a:t>■</a:t>
            </a:r>
            <a:r>
              <a:rPr lang="zh-CN" altLang="en-US" sz="2400" b="1" dirty="0"/>
              <a:t>是将一个平板型的</a:t>
            </a:r>
            <a:r>
              <a:rPr lang="en-US" altLang="zh-CN" sz="2400" b="1" dirty="0">
                <a:solidFill>
                  <a:srgbClr val="E35449"/>
                </a:solidFill>
              </a:rPr>
              <a:t>GTO</a:t>
            </a:r>
            <a:r>
              <a:rPr lang="zh-CN" altLang="en-US" sz="2400" b="1" dirty="0"/>
              <a:t>与由很多个并联的电力</a:t>
            </a:r>
            <a:r>
              <a:rPr lang="en-US" altLang="zh-CN" sz="2400" b="1" dirty="0">
                <a:solidFill>
                  <a:srgbClr val="E35449"/>
                </a:solidFill>
              </a:rPr>
              <a:t>MOSFET</a:t>
            </a:r>
            <a:r>
              <a:rPr lang="zh-CN" altLang="en-US" sz="2400" b="1" dirty="0"/>
              <a:t>器件和其它辅助元件组成的</a:t>
            </a:r>
            <a:r>
              <a:rPr lang="en-US" altLang="zh-CN" sz="2400" b="1" dirty="0"/>
              <a:t>GTO</a:t>
            </a:r>
            <a:r>
              <a:rPr lang="zh-CN" altLang="en-US" sz="2400" b="1" dirty="0"/>
              <a:t>门极驱动电路采用精心设计的互联结构和封装工艺集成在一起。 </a:t>
            </a:r>
          </a:p>
          <a:p>
            <a:pPr>
              <a:lnSpc>
                <a:spcPct val="150000"/>
              </a:lnSpc>
              <a:buFontTx/>
              <a:buNone/>
            </a:pPr>
            <a:r>
              <a:rPr lang="zh-CN" altLang="en-US" sz="2400" b="1" dirty="0">
                <a:solidFill>
                  <a:srgbClr val="E35449"/>
                </a:solidFill>
              </a:rPr>
              <a:t>■容量</a:t>
            </a:r>
            <a:r>
              <a:rPr lang="zh-CN" altLang="en-US" sz="2400" b="1" dirty="0"/>
              <a:t>与普通</a:t>
            </a:r>
            <a:r>
              <a:rPr lang="en-US" altLang="zh-CN" sz="2400" b="1" dirty="0"/>
              <a:t>GTO</a:t>
            </a:r>
            <a:r>
              <a:rPr lang="zh-CN" altLang="en-US" sz="2400" b="1" dirty="0"/>
              <a:t>相当，但</a:t>
            </a:r>
            <a:r>
              <a:rPr lang="zh-CN" altLang="en-US" sz="2400" b="1" dirty="0">
                <a:solidFill>
                  <a:srgbClr val="E35449"/>
                </a:solidFill>
              </a:rPr>
              <a:t>开关速度</a:t>
            </a:r>
            <a:r>
              <a:rPr lang="zh-CN" altLang="en-US" sz="2400" b="1" dirty="0"/>
              <a:t>比普通的</a:t>
            </a:r>
            <a:r>
              <a:rPr lang="en-US" altLang="zh-CN" sz="2400" b="1" dirty="0"/>
              <a:t>GTO</a:t>
            </a:r>
            <a:r>
              <a:rPr lang="zh-CN" altLang="en-US" sz="2400" b="1" dirty="0"/>
              <a:t>快</a:t>
            </a:r>
            <a:r>
              <a:rPr lang="en-US" altLang="zh-CN" sz="2400" b="1" dirty="0"/>
              <a:t>10</a:t>
            </a:r>
            <a:r>
              <a:rPr lang="zh-CN" altLang="en-US" sz="2400" b="1" dirty="0"/>
              <a:t>倍，而且可以简化普通</a:t>
            </a:r>
            <a:r>
              <a:rPr lang="en-US" altLang="zh-CN" sz="2400" b="1" dirty="0"/>
              <a:t>GTO</a:t>
            </a:r>
            <a:r>
              <a:rPr lang="zh-CN" altLang="en-US" sz="2400" b="1" dirty="0"/>
              <a:t>应用时庞大而复杂的</a:t>
            </a:r>
            <a:r>
              <a:rPr lang="zh-CN" altLang="en-US" sz="2400" b="1" dirty="0">
                <a:solidFill>
                  <a:srgbClr val="E35449"/>
                </a:solidFill>
              </a:rPr>
              <a:t>缓冲电路</a:t>
            </a:r>
            <a:r>
              <a:rPr lang="zh-CN" altLang="en-US" sz="2400" b="1" dirty="0"/>
              <a:t>，只不过其所需的</a:t>
            </a:r>
            <a:r>
              <a:rPr lang="zh-CN" altLang="en-US" sz="2400" b="1" dirty="0">
                <a:solidFill>
                  <a:srgbClr val="E35449"/>
                </a:solidFill>
              </a:rPr>
              <a:t>驱动功率</a:t>
            </a:r>
            <a:r>
              <a:rPr lang="zh-CN" altLang="en-US" sz="2400" b="1" dirty="0"/>
              <a:t>仍然很大。 </a:t>
            </a:r>
            <a:endParaRPr lang="zh-CN" altLang="en-US" sz="2400" b="1" dirty="0">
              <a:solidFill>
                <a:srgbClr val="E35449"/>
              </a:solidFill>
            </a:endParaRPr>
          </a:p>
          <a:p>
            <a:pPr>
              <a:lnSpc>
                <a:spcPct val="150000"/>
              </a:lnSpc>
              <a:buFontTx/>
              <a:buNone/>
            </a:pPr>
            <a:r>
              <a:rPr lang="zh-CN" altLang="en-US" sz="2400" b="1" dirty="0">
                <a:solidFill>
                  <a:srgbClr val="E35449"/>
                </a:solidFill>
              </a:rPr>
              <a:t>■</a:t>
            </a:r>
            <a:r>
              <a:rPr lang="zh-CN" altLang="en-US" sz="2400" b="1" dirty="0"/>
              <a:t>目前正在与</a:t>
            </a:r>
            <a:r>
              <a:rPr lang="en-US" altLang="zh-CN" sz="2400" b="1" dirty="0">
                <a:solidFill>
                  <a:srgbClr val="E35449"/>
                </a:solidFill>
              </a:rPr>
              <a:t>IGBT</a:t>
            </a:r>
            <a:r>
              <a:rPr lang="zh-CN" altLang="en-US" sz="2400" b="1" dirty="0"/>
              <a:t>等新型器件激烈竞争。</a:t>
            </a:r>
          </a:p>
        </p:txBody>
      </p:sp>
      <p:sp>
        <p:nvSpPr>
          <p:cNvPr id="2" name="灯片编号占位符 1"/>
          <p:cNvSpPr>
            <a:spLocks noGrp="1"/>
          </p:cNvSpPr>
          <p:nvPr>
            <p:ph type="sldNum" sz="quarter" idx="12"/>
          </p:nvPr>
        </p:nvSpPr>
        <p:spPr/>
        <p:txBody>
          <a:bodyPr/>
          <a:lstStyle/>
          <a:p>
            <a:fld id="{0C913308-F349-4B6D-A68A-DD1791B4A57B}" type="slidenum">
              <a:rPr lang="zh-CN" altLang="en-US" smtClean="0"/>
              <a:t>26</a:t>
            </a:fld>
            <a:endParaRPr lang="zh-CN" altLang="en-US"/>
          </a:p>
        </p:txBody>
      </p:sp>
      <p:sp>
        <p:nvSpPr>
          <p:cNvPr id="3" name="日期占位符 2"/>
          <p:cNvSpPr>
            <a:spLocks noGrp="1"/>
          </p:cNvSpPr>
          <p:nvPr>
            <p:ph type="dt" sz="half" idx="10"/>
          </p:nvPr>
        </p:nvSpPr>
        <p:spPr/>
        <p:txBody>
          <a:bodyPr/>
          <a:lstStyle/>
          <a:p>
            <a:fld id="{663FB697-DEEA-47A3-82F7-9907E383830D}" type="datetime10">
              <a:rPr lang="zh-CN" altLang="en-US" smtClean="0"/>
              <a:t>14:22</a:t>
            </a:fld>
            <a:endParaRPr lang="zh-CN" altLang="en-US"/>
          </a:p>
        </p:txBody>
      </p:sp>
    </p:spTree>
    <p:extLst>
      <p:ext uri="{BB962C8B-B14F-4D97-AF65-F5344CB8AC3E}">
        <p14:creationId xmlns:p14="http://schemas.microsoft.com/office/powerpoint/2010/main" val="316543288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8" name="Rectangle 2"/>
          <p:cNvSpPr>
            <a:spLocks noGrp="1" noChangeArrowheads="1"/>
          </p:cNvSpPr>
          <p:nvPr>
            <p:ph type="title"/>
          </p:nvPr>
        </p:nvSpPr>
        <p:spPr>
          <a:xfrm>
            <a:off x="827088" y="334963"/>
            <a:ext cx="7848600" cy="355600"/>
          </a:xfrm>
        </p:spPr>
        <p:txBody>
          <a:bodyPr/>
          <a:lstStyle/>
          <a:p>
            <a:pPr algn="l"/>
            <a:r>
              <a:rPr lang="en-US" altLang="zh-CN" sz="2800" b="1">
                <a:solidFill>
                  <a:schemeClr val="tx1"/>
                </a:solidFill>
              </a:rPr>
              <a:t>2.5.5 </a:t>
            </a:r>
            <a:r>
              <a:rPr lang="zh-CN" altLang="en-US" sz="2800" b="1">
                <a:solidFill>
                  <a:schemeClr val="tx1"/>
                </a:solidFill>
              </a:rPr>
              <a:t>基于宽禁带半导体材料的电力电子器件</a:t>
            </a:r>
          </a:p>
        </p:txBody>
      </p:sp>
      <p:sp>
        <p:nvSpPr>
          <p:cNvPr id="142339" name="Rectangle 3"/>
          <p:cNvSpPr>
            <a:spLocks noGrp="1" noChangeArrowheads="1"/>
          </p:cNvSpPr>
          <p:nvPr>
            <p:ph idx="1"/>
          </p:nvPr>
        </p:nvSpPr>
        <p:spPr>
          <a:xfrm>
            <a:off x="803928" y="764704"/>
            <a:ext cx="7973888" cy="5181600"/>
          </a:xfrm>
        </p:spPr>
        <p:txBody>
          <a:bodyPr/>
          <a:lstStyle/>
          <a:p>
            <a:pPr>
              <a:lnSpc>
                <a:spcPct val="130000"/>
              </a:lnSpc>
              <a:buNone/>
            </a:pPr>
            <a:r>
              <a:rPr lang="en-US" altLang="zh-CN" sz="2200" b="1" dirty="0">
                <a:solidFill>
                  <a:srgbClr val="E35449"/>
                </a:solidFill>
              </a:rPr>
              <a:t>■</a:t>
            </a:r>
            <a:r>
              <a:rPr lang="zh-CN" altLang="en-US" sz="2200" b="1" dirty="0">
                <a:solidFill>
                  <a:srgbClr val="0000FF"/>
                </a:solidFill>
              </a:rPr>
              <a:t>禁带的宽度</a:t>
            </a:r>
            <a:r>
              <a:rPr lang="zh-CN" altLang="en-US" sz="2200" b="1" dirty="0">
                <a:solidFill>
                  <a:srgbClr val="FF0000"/>
                </a:solidFill>
              </a:rPr>
              <a:t>实际上反映了被束缚的价电子要成为自由电子所必须额外获得的能量</a:t>
            </a:r>
            <a:r>
              <a:rPr lang="zh-CN" altLang="en-US" sz="2200" b="1" dirty="0"/>
              <a:t>。影响器件稳定性的重要因数。</a:t>
            </a:r>
            <a:endParaRPr lang="en-US" altLang="zh-CN" sz="2200" b="1" dirty="0"/>
          </a:p>
          <a:p>
            <a:pPr>
              <a:lnSpc>
                <a:spcPct val="130000"/>
              </a:lnSpc>
              <a:buFontTx/>
              <a:buNone/>
            </a:pPr>
            <a:r>
              <a:rPr lang="en-US" altLang="zh-CN" sz="2200" b="1" dirty="0">
                <a:solidFill>
                  <a:srgbClr val="E35449"/>
                </a:solidFill>
              </a:rPr>
              <a:t>■</a:t>
            </a:r>
            <a:r>
              <a:rPr lang="zh-CN" altLang="en-US" sz="2200" b="1" dirty="0"/>
              <a:t>硅的禁带宽度为</a:t>
            </a:r>
            <a:r>
              <a:rPr lang="en-US" altLang="zh-CN" sz="2200" b="1" dirty="0">
                <a:solidFill>
                  <a:srgbClr val="E35449"/>
                </a:solidFill>
              </a:rPr>
              <a:t>1.12</a:t>
            </a:r>
            <a:r>
              <a:rPr lang="zh-CN" altLang="en-US" sz="2200" b="1" dirty="0">
                <a:solidFill>
                  <a:srgbClr val="E35449"/>
                </a:solidFill>
              </a:rPr>
              <a:t>电子伏特（</a:t>
            </a:r>
            <a:r>
              <a:rPr lang="en-US" altLang="zh-CN" sz="2200" b="1" i="1" dirty="0" err="1">
                <a:solidFill>
                  <a:srgbClr val="E35449"/>
                </a:solidFill>
              </a:rPr>
              <a:t>eV</a:t>
            </a:r>
            <a:r>
              <a:rPr lang="zh-CN" altLang="en-US" sz="2200" b="1" dirty="0">
                <a:solidFill>
                  <a:srgbClr val="E35449"/>
                </a:solidFill>
              </a:rPr>
              <a:t>）</a:t>
            </a:r>
            <a:r>
              <a:rPr lang="zh-CN" altLang="en-US" sz="2200" b="1" dirty="0"/>
              <a:t>，而宽禁带半导体材料是指禁带宽度在</a:t>
            </a:r>
            <a:r>
              <a:rPr lang="en-US" altLang="zh-CN" sz="2200" b="1" dirty="0">
                <a:solidFill>
                  <a:srgbClr val="E35449"/>
                </a:solidFill>
              </a:rPr>
              <a:t>3.0</a:t>
            </a:r>
            <a:r>
              <a:rPr lang="zh-CN" altLang="en-US" sz="2200" b="1" dirty="0">
                <a:solidFill>
                  <a:srgbClr val="E35449"/>
                </a:solidFill>
              </a:rPr>
              <a:t>电子伏特</a:t>
            </a:r>
            <a:r>
              <a:rPr lang="zh-CN" altLang="en-US" sz="2200" b="1" dirty="0"/>
              <a:t>左右及以上的半导体材料，典型的是碳化硅（</a:t>
            </a:r>
            <a:r>
              <a:rPr lang="en-US" altLang="zh-CN" sz="2200" b="1" dirty="0" err="1"/>
              <a:t>SiC</a:t>
            </a:r>
            <a:r>
              <a:rPr lang="zh-CN" altLang="en-US" sz="2200" b="1" dirty="0"/>
              <a:t>）、氮化镓（</a:t>
            </a:r>
            <a:r>
              <a:rPr lang="en-US" altLang="zh-CN" sz="2200" b="1" dirty="0" err="1"/>
              <a:t>GaN</a:t>
            </a:r>
            <a:r>
              <a:rPr lang="zh-CN" altLang="en-US" sz="2200" b="1" dirty="0"/>
              <a:t>）、金刚石等材料。</a:t>
            </a:r>
            <a:endParaRPr lang="en-US" altLang="zh-CN" sz="2200" b="1" dirty="0"/>
          </a:p>
          <a:p>
            <a:pPr>
              <a:lnSpc>
                <a:spcPct val="130000"/>
              </a:lnSpc>
              <a:buFontTx/>
              <a:buNone/>
            </a:pPr>
            <a:r>
              <a:rPr lang="zh-CN" altLang="en-US" sz="2200" b="1" dirty="0">
                <a:solidFill>
                  <a:srgbClr val="E35449"/>
                </a:solidFill>
              </a:rPr>
              <a:t>■</a:t>
            </a:r>
            <a:r>
              <a:rPr lang="zh-CN" altLang="en-US" sz="2200" b="1" dirty="0"/>
              <a:t>基于宽禁带半导体材料（如碳化硅）的电力电子器件将具有比硅器件高得多的</a:t>
            </a:r>
            <a:r>
              <a:rPr lang="zh-CN" altLang="en-US" sz="2200" b="1" dirty="0">
                <a:solidFill>
                  <a:srgbClr val="FF0000"/>
                </a:solidFill>
              </a:rPr>
              <a:t>耐受高电压的能力</a:t>
            </a:r>
            <a:r>
              <a:rPr lang="zh-CN" altLang="en-US" sz="2200" b="1" dirty="0"/>
              <a:t>、</a:t>
            </a:r>
            <a:r>
              <a:rPr lang="zh-CN" altLang="en-US" sz="2200" b="1" dirty="0">
                <a:solidFill>
                  <a:srgbClr val="FF0000"/>
                </a:solidFill>
              </a:rPr>
              <a:t>低得多的通态电阻</a:t>
            </a:r>
            <a:r>
              <a:rPr lang="zh-CN" altLang="en-US" sz="2200" b="1" dirty="0"/>
              <a:t>、</a:t>
            </a:r>
            <a:r>
              <a:rPr lang="zh-CN" altLang="en-US" sz="2200" b="1" dirty="0">
                <a:solidFill>
                  <a:srgbClr val="FF0000"/>
                </a:solidFill>
              </a:rPr>
              <a:t>更好的导热性能和热稳定性</a:t>
            </a:r>
            <a:r>
              <a:rPr lang="zh-CN" altLang="en-US" sz="2200" b="1" dirty="0"/>
              <a:t>以及</a:t>
            </a:r>
            <a:r>
              <a:rPr lang="zh-CN" altLang="en-US" sz="2200" b="1" dirty="0">
                <a:solidFill>
                  <a:srgbClr val="FF0000"/>
                </a:solidFill>
              </a:rPr>
              <a:t>更强的耐受高温和射线辐射的能力</a:t>
            </a:r>
            <a:r>
              <a:rPr lang="zh-CN" altLang="en-US" sz="2200" b="1" dirty="0"/>
              <a:t>，许多方面的性能都是</a:t>
            </a:r>
            <a:r>
              <a:rPr lang="zh-CN" altLang="en-US" sz="2200" b="1" dirty="0">
                <a:solidFill>
                  <a:srgbClr val="FF0000"/>
                </a:solidFill>
              </a:rPr>
              <a:t>成数量级的提高</a:t>
            </a:r>
            <a:r>
              <a:rPr lang="zh-CN" altLang="en-US" sz="2200" b="1" dirty="0"/>
              <a:t>。</a:t>
            </a:r>
            <a:endParaRPr lang="en-US" altLang="zh-CN" sz="2200" b="1" dirty="0"/>
          </a:p>
          <a:p>
            <a:pPr>
              <a:lnSpc>
                <a:spcPct val="130000"/>
              </a:lnSpc>
              <a:buFontTx/>
              <a:buNone/>
            </a:pPr>
            <a:r>
              <a:rPr lang="zh-CN" altLang="en-US" sz="2200" b="1" dirty="0">
                <a:solidFill>
                  <a:srgbClr val="E35449"/>
                </a:solidFill>
              </a:rPr>
              <a:t>■</a:t>
            </a:r>
            <a:r>
              <a:rPr lang="zh-CN" altLang="en-US" sz="2200" b="1" dirty="0"/>
              <a:t>宽禁带半导体器件的发展一直受制于材料的提炼和制造以及随后的半导体制造工艺的困难。</a:t>
            </a:r>
            <a:r>
              <a:rPr lang="zh-CN" altLang="en-US" sz="2200" dirty="0"/>
              <a:t>  </a:t>
            </a:r>
          </a:p>
        </p:txBody>
      </p:sp>
      <p:sp>
        <p:nvSpPr>
          <p:cNvPr id="2" name="灯片编号占位符 1"/>
          <p:cNvSpPr>
            <a:spLocks noGrp="1"/>
          </p:cNvSpPr>
          <p:nvPr>
            <p:ph type="sldNum" sz="quarter" idx="12"/>
          </p:nvPr>
        </p:nvSpPr>
        <p:spPr/>
        <p:txBody>
          <a:bodyPr/>
          <a:lstStyle/>
          <a:p>
            <a:fld id="{0C913308-F349-4B6D-A68A-DD1791B4A57B}" type="slidenum">
              <a:rPr lang="zh-CN" altLang="en-US" smtClean="0"/>
              <a:t>27</a:t>
            </a:fld>
            <a:endParaRPr lang="zh-CN" altLang="en-US"/>
          </a:p>
        </p:txBody>
      </p:sp>
      <p:sp>
        <p:nvSpPr>
          <p:cNvPr id="3" name="日期占位符 2"/>
          <p:cNvSpPr>
            <a:spLocks noGrp="1"/>
          </p:cNvSpPr>
          <p:nvPr>
            <p:ph type="dt" sz="half" idx="10"/>
          </p:nvPr>
        </p:nvSpPr>
        <p:spPr/>
        <p:txBody>
          <a:bodyPr/>
          <a:lstStyle/>
          <a:p>
            <a:fld id="{0E3B84C6-65EC-4E33-ACDE-35863A913B79}" type="datetime10">
              <a:rPr lang="zh-CN" altLang="en-US" smtClean="0"/>
              <a:t>14:22</a:t>
            </a:fld>
            <a:endParaRPr lang="zh-CN" altLang="en-US"/>
          </a:p>
        </p:txBody>
      </p:sp>
    </p:spTree>
    <p:extLst>
      <p:ext uri="{BB962C8B-B14F-4D97-AF65-F5344CB8AC3E}">
        <p14:creationId xmlns:p14="http://schemas.microsoft.com/office/powerpoint/2010/main" val="364236675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pic>
        <p:nvPicPr>
          <p:cNvPr id="8" name="图片 7">
            <a:extLst>
              <a:ext uri="{FF2B5EF4-FFF2-40B4-BE49-F238E27FC236}">
                <a16:creationId xmlns:a16="http://schemas.microsoft.com/office/drawing/2014/main" id="{22B38B22-6743-4925-9F2E-FB2B83156ACF}"/>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022721" y="2466179"/>
            <a:ext cx="4504803" cy="3803772"/>
          </a:xfrm>
          <a:prstGeom prst="rect">
            <a:avLst/>
          </a:prstGeom>
          <a:noFill/>
          <a:ln>
            <a:noFill/>
          </a:ln>
        </p:spPr>
      </p:pic>
      <p:sp>
        <p:nvSpPr>
          <p:cNvPr id="5" name="对话气泡: 矩形 4">
            <a:extLst>
              <a:ext uri="{FF2B5EF4-FFF2-40B4-BE49-F238E27FC236}">
                <a16:creationId xmlns:a16="http://schemas.microsoft.com/office/drawing/2014/main" id="{E6BA2DFA-EA26-40F9-9ACE-6FFC0F7DBA82}"/>
              </a:ext>
            </a:extLst>
          </p:cNvPr>
          <p:cNvSpPr/>
          <p:nvPr/>
        </p:nvSpPr>
        <p:spPr>
          <a:xfrm>
            <a:off x="744488" y="3528545"/>
            <a:ext cx="2028412" cy="976186"/>
          </a:xfrm>
          <a:prstGeom prst="wedgeRectCallout">
            <a:avLst>
              <a:gd name="adj1" fmla="val 121375"/>
              <a:gd name="adj2" fmla="val -2732"/>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7618" name="Rectangle 2"/>
          <p:cNvSpPr>
            <a:spLocks noGrp="1" noChangeArrowheads="1"/>
          </p:cNvSpPr>
          <p:nvPr>
            <p:ph type="title"/>
          </p:nvPr>
        </p:nvSpPr>
        <p:spPr/>
        <p:txBody>
          <a:bodyPr/>
          <a:lstStyle/>
          <a:p>
            <a:pPr algn="ctr"/>
            <a:r>
              <a:rPr lang="en-US" altLang="zh-CN" sz="3600" b="1" dirty="0">
                <a:latin typeface="Arial" charset="0"/>
                <a:ea typeface="华文中宋" pitchFamily="2" charset="-122"/>
              </a:rPr>
              <a:t>SiC</a:t>
            </a:r>
            <a:endParaRPr lang="zh-CN" altLang="en-US" sz="3600" b="1" dirty="0">
              <a:latin typeface="华文中宋" pitchFamily="2" charset="-122"/>
              <a:ea typeface="华文中宋" pitchFamily="2" charset="-122"/>
            </a:endParaRPr>
          </a:p>
        </p:txBody>
      </p:sp>
      <p:sp>
        <p:nvSpPr>
          <p:cNvPr id="367619" name="Rectangle 3"/>
          <p:cNvSpPr>
            <a:spLocks noGrp="1" noChangeArrowheads="1"/>
          </p:cNvSpPr>
          <p:nvPr>
            <p:ph type="body" idx="1"/>
          </p:nvPr>
        </p:nvSpPr>
        <p:spPr>
          <a:xfrm>
            <a:off x="838200" y="812772"/>
            <a:ext cx="7086600" cy="1117104"/>
          </a:xfrm>
          <a:noFill/>
          <a:ln/>
        </p:spPr>
        <p:txBody>
          <a:bodyPr/>
          <a:lstStyle/>
          <a:p>
            <a:pPr algn="just">
              <a:lnSpc>
                <a:spcPct val="110000"/>
              </a:lnSpc>
              <a:buFont typeface="Wingdings" pitchFamily="2" charset="2"/>
              <a:buBlip>
                <a:blip r:embed="rId4"/>
              </a:buBlip>
            </a:pPr>
            <a:r>
              <a:rPr lang="en-US" altLang="zh-CN" sz="2400" dirty="0"/>
              <a:t>SiC</a:t>
            </a:r>
            <a:r>
              <a:rPr lang="zh-CN" altLang="en-US" sz="2400" dirty="0"/>
              <a:t>作为第三代宽禁带功率器件的概念之一，已被热炒数年之久。相比传统的</a:t>
            </a:r>
            <a:r>
              <a:rPr lang="en-US" altLang="zh-CN" sz="2400" dirty="0"/>
              <a:t>Si</a:t>
            </a:r>
            <a:r>
              <a:rPr lang="zh-CN" altLang="en-US" sz="2400" dirty="0"/>
              <a:t>功率器件，</a:t>
            </a:r>
            <a:r>
              <a:rPr lang="en-US" altLang="zh-CN" sz="2400" dirty="0"/>
              <a:t>SiC</a:t>
            </a:r>
            <a:r>
              <a:rPr lang="zh-CN" altLang="en-US" sz="2400" dirty="0"/>
              <a:t>带来的生态变化可用下图简扼说明。</a:t>
            </a:r>
            <a:endParaRPr lang="en-US" altLang="zh-CN" sz="2400" dirty="0"/>
          </a:p>
          <a:p>
            <a:pPr algn="just">
              <a:lnSpc>
                <a:spcPct val="110000"/>
              </a:lnSpc>
              <a:buFont typeface="Wingdings" pitchFamily="2" charset="2"/>
              <a:buBlip>
                <a:blip r:embed="rId4"/>
              </a:buBlip>
            </a:pPr>
            <a:r>
              <a:rPr lang="zh-CN" altLang="en-US" sz="2400" dirty="0">
                <a:solidFill>
                  <a:srgbClr val="0000FF"/>
                </a:solidFill>
              </a:rPr>
              <a:t>耐高压</a:t>
            </a:r>
            <a:endParaRPr lang="en-US" altLang="zh-CN" sz="2400" dirty="0">
              <a:solidFill>
                <a:srgbClr val="0000FF"/>
              </a:solidFill>
            </a:endParaRPr>
          </a:p>
          <a:p>
            <a:pPr algn="just">
              <a:lnSpc>
                <a:spcPct val="110000"/>
              </a:lnSpc>
              <a:buFont typeface="Wingdings" pitchFamily="2" charset="2"/>
              <a:buBlip>
                <a:blip r:embed="rId4"/>
              </a:buBlip>
            </a:pPr>
            <a:r>
              <a:rPr lang="zh-CN" altLang="en-US" sz="2400" dirty="0">
                <a:solidFill>
                  <a:srgbClr val="0000FF"/>
                </a:solidFill>
              </a:rPr>
              <a:t>过大电流</a:t>
            </a:r>
            <a:endParaRPr lang="en-US" altLang="zh-CN" sz="2400" dirty="0">
              <a:solidFill>
                <a:srgbClr val="0000FF"/>
              </a:solidFill>
            </a:endParaRPr>
          </a:p>
          <a:p>
            <a:pPr algn="just">
              <a:lnSpc>
                <a:spcPct val="110000"/>
              </a:lnSpc>
              <a:buFont typeface="Wingdings" pitchFamily="2" charset="2"/>
              <a:buBlip>
                <a:blip r:embed="rId4"/>
              </a:buBlip>
            </a:pPr>
            <a:r>
              <a:rPr lang="zh-CN" altLang="en-US" sz="2400" dirty="0">
                <a:solidFill>
                  <a:srgbClr val="0000FF"/>
                </a:solidFill>
              </a:rPr>
              <a:t>开关特性好</a:t>
            </a:r>
          </a:p>
        </p:txBody>
      </p:sp>
      <p:sp>
        <p:nvSpPr>
          <p:cNvPr id="367620" name="Rectangle 4"/>
          <p:cNvSpPr>
            <a:spLocks noChangeArrowheads="1"/>
          </p:cNvSpPr>
          <p:nvPr/>
        </p:nvSpPr>
        <p:spPr bwMode="auto">
          <a:xfrm>
            <a:off x="1115616" y="5848350"/>
            <a:ext cx="7037784"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lvl="1" algn="just">
              <a:lnSpc>
                <a:spcPct val="100000"/>
              </a:lnSpc>
              <a:spcBef>
                <a:spcPct val="20000"/>
              </a:spcBef>
            </a:pPr>
            <a:endParaRPr kumimoji="0" lang="zh-CN" altLang="en-US" sz="2400" dirty="0">
              <a:latin typeface="Times New Roman" pitchFamily="18" charset="0"/>
            </a:endParaRPr>
          </a:p>
        </p:txBody>
      </p:sp>
      <p:sp>
        <p:nvSpPr>
          <p:cNvPr id="2" name="灯片编号占位符 1"/>
          <p:cNvSpPr>
            <a:spLocks noGrp="1"/>
          </p:cNvSpPr>
          <p:nvPr>
            <p:ph type="sldNum" sz="quarter" idx="12"/>
          </p:nvPr>
        </p:nvSpPr>
        <p:spPr/>
        <p:txBody>
          <a:bodyPr/>
          <a:lstStyle/>
          <a:p>
            <a:fld id="{0C913308-F349-4B6D-A68A-DD1791B4A57B}" type="slidenum">
              <a:rPr lang="zh-CN" altLang="en-US" smtClean="0"/>
              <a:t>28</a:t>
            </a:fld>
            <a:endParaRPr lang="zh-CN" altLang="en-US"/>
          </a:p>
        </p:txBody>
      </p:sp>
      <p:sp>
        <p:nvSpPr>
          <p:cNvPr id="3" name="日期占位符 2"/>
          <p:cNvSpPr>
            <a:spLocks noGrp="1"/>
          </p:cNvSpPr>
          <p:nvPr>
            <p:ph type="dt" sz="half" idx="10"/>
          </p:nvPr>
        </p:nvSpPr>
        <p:spPr/>
        <p:txBody>
          <a:bodyPr/>
          <a:lstStyle/>
          <a:p>
            <a:fld id="{ADB628B8-ECB3-46B5-A4D8-72590FABA3CE}" type="datetime10">
              <a:rPr lang="zh-CN" altLang="en-US" smtClean="0"/>
              <a:t>14:22</a:t>
            </a:fld>
            <a:endParaRPr lang="zh-CN" altLang="en-US"/>
          </a:p>
        </p:txBody>
      </p:sp>
      <p:sp>
        <p:nvSpPr>
          <p:cNvPr id="4" name="矩形 3">
            <a:extLst>
              <a:ext uri="{FF2B5EF4-FFF2-40B4-BE49-F238E27FC236}">
                <a16:creationId xmlns:a16="http://schemas.microsoft.com/office/drawing/2014/main" id="{982DF376-B7D2-4DC3-B140-91FC7159EE99}"/>
              </a:ext>
            </a:extLst>
          </p:cNvPr>
          <p:cNvSpPr/>
          <p:nvPr/>
        </p:nvSpPr>
        <p:spPr>
          <a:xfrm>
            <a:off x="744488" y="3528544"/>
            <a:ext cx="2028412" cy="923330"/>
          </a:xfrm>
          <a:prstGeom prst="rect">
            <a:avLst/>
          </a:prstGeom>
        </p:spPr>
        <p:txBody>
          <a:bodyPr wrap="square">
            <a:spAutoFit/>
          </a:bodyPr>
          <a:lstStyle/>
          <a:p>
            <a:r>
              <a:rPr lang="zh-CN" altLang="en-US" dirty="0">
                <a:solidFill>
                  <a:srgbClr val="333333"/>
                </a:solidFill>
                <a:latin typeface="Arial" panose="020B0604020202020204" pitchFamily="34" charset="0"/>
              </a:rPr>
              <a:t>       本征载流子浓度随着温度的升高呈指数式增大。</a:t>
            </a:r>
            <a:endParaRPr lang="zh-CN" altLang="en-US" dirty="0"/>
          </a:p>
        </p:txBody>
      </p:sp>
    </p:spTree>
    <p:extLst>
      <p:ext uri="{BB962C8B-B14F-4D97-AF65-F5344CB8AC3E}">
        <p14:creationId xmlns:p14="http://schemas.microsoft.com/office/powerpoint/2010/main" val="15761871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 presetClass="entr" presetSubtype="10" fill="hold" grpId="0" nodeType="withEffect">
                                  <p:stCondLst>
                                    <p:cond delay="0"/>
                                  </p:stCondLst>
                                  <p:childTnLst>
                                    <p:set>
                                      <p:cBhvr>
                                        <p:cTn id="6" dur="1" fill="hold">
                                          <p:stCondLst>
                                            <p:cond delay="0"/>
                                          </p:stCondLst>
                                        </p:cTn>
                                        <p:tgtEl>
                                          <p:spTgt spid="367619">
                                            <p:txEl>
                                              <p:pRg st="0" end="0"/>
                                            </p:txEl>
                                          </p:spTgt>
                                        </p:tgtEl>
                                        <p:attrNameLst>
                                          <p:attrName>style.visibility</p:attrName>
                                        </p:attrNameLst>
                                      </p:cBhvr>
                                      <p:to>
                                        <p:strVal val="visible"/>
                                      </p:to>
                                    </p:set>
                                    <p:animEffect transition="in" filter="blinds(horizontal)">
                                      <p:cBhvr>
                                        <p:cTn id="7" dur="500"/>
                                        <p:tgtEl>
                                          <p:spTgt spid="36761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67619">
                                            <p:txEl>
                                              <p:pRg st="1" end="1"/>
                                            </p:txEl>
                                          </p:spTgt>
                                        </p:tgtEl>
                                        <p:attrNameLst>
                                          <p:attrName>style.visibility</p:attrName>
                                        </p:attrNameLst>
                                      </p:cBhvr>
                                      <p:to>
                                        <p:strVal val="visible"/>
                                      </p:to>
                                    </p:set>
                                    <p:animEffect transition="in" filter="blinds(horizontal)">
                                      <p:cBhvr>
                                        <p:cTn id="12" dur="500"/>
                                        <p:tgtEl>
                                          <p:spTgt spid="367619">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67619">
                                            <p:txEl>
                                              <p:pRg st="2" end="2"/>
                                            </p:txEl>
                                          </p:spTgt>
                                        </p:tgtEl>
                                        <p:attrNameLst>
                                          <p:attrName>style.visibility</p:attrName>
                                        </p:attrNameLst>
                                      </p:cBhvr>
                                      <p:to>
                                        <p:strVal val="visible"/>
                                      </p:to>
                                    </p:set>
                                    <p:animEffect transition="in" filter="blinds(horizontal)">
                                      <p:cBhvr>
                                        <p:cTn id="17" dur="500"/>
                                        <p:tgtEl>
                                          <p:spTgt spid="367619">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367619">
                                            <p:txEl>
                                              <p:pRg st="3" end="3"/>
                                            </p:txEl>
                                          </p:spTgt>
                                        </p:tgtEl>
                                        <p:attrNameLst>
                                          <p:attrName>style.visibility</p:attrName>
                                        </p:attrNameLst>
                                      </p:cBhvr>
                                      <p:to>
                                        <p:strVal val="visible"/>
                                      </p:to>
                                    </p:set>
                                    <p:animEffect transition="in" filter="blinds(horizontal)">
                                      <p:cBhvr>
                                        <p:cTn id="22" dur="500"/>
                                        <p:tgtEl>
                                          <p:spTgt spid="367619">
                                            <p:txEl>
                                              <p:pRg st="3" end="3"/>
                                            </p:txEl>
                                          </p:spTgt>
                                        </p:tgtEl>
                                      </p:cBhvr>
                                    </p:animEffect>
                                  </p:childTnLst>
                                </p:cTn>
                              </p:par>
                              <p:par>
                                <p:cTn id="23" presetID="3" presetClass="entr" presetSubtype="10" fill="hold" grpId="0" nodeType="withEffect" nodePh="1">
                                  <p:stCondLst>
                                    <p:cond delay="0"/>
                                  </p:stCondLst>
                                  <p:endCondLst>
                                    <p:cond evt="begin" delay="0">
                                      <p:tn val="23"/>
                                    </p:cond>
                                  </p:endCondLst>
                                  <p:childTnLst>
                                    <p:set>
                                      <p:cBhvr>
                                        <p:cTn id="24" dur="1" fill="hold">
                                          <p:stCondLst>
                                            <p:cond delay="0"/>
                                          </p:stCondLst>
                                        </p:cTn>
                                        <p:tgtEl>
                                          <p:spTgt spid="367620"/>
                                        </p:tgtEl>
                                        <p:attrNameLst>
                                          <p:attrName>style.visibility</p:attrName>
                                        </p:attrNameLst>
                                      </p:cBhvr>
                                      <p:to>
                                        <p:strVal val="visible"/>
                                      </p:to>
                                    </p:set>
                                    <p:animEffect transition="in" filter="blinds(horizontal)">
                                      <p:cBhvr>
                                        <p:cTn id="25" dur="500"/>
                                        <p:tgtEl>
                                          <p:spTgt spid="3676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7619" grpId="0" build="p" bldLvl="2" autoUpdateAnimBg="0"/>
      <p:bldP spid="367620" grpId="0" autoUpdateAnimBg="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1673AC2-BEC8-43A6-AF55-2B5CF6CF2257}"/>
              </a:ext>
            </a:extLst>
          </p:cNvPr>
          <p:cNvSpPr>
            <a:spLocks noGrp="1"/>
          </p:cNvSpPr>
          <p:nvPr>
            <p:ph type="title"/>
          </p:nvPr>
        </p:nvSpPr>
        <p:spPr/>
        <p:txBody>
          <a:bodyPr/>
          <a:lstStyle/>
          <a:p>
            <a:endParaRPr lang="zh-CN" altLang="en-US"/>
          </a:p>
        </p:txBody>
      </p:sp>
      <p:sp>
        <p:nvSpPr>
          <p:cNvPr id="4" name="日期占位符 3">
            <a:extLst>
              <a:ext uri="{FF2B5EF4-FFF2-40B4-BE49-F238E27FC236}">
                <a16:creationId xmlns:a16="http://schemas.microsoft.com/office/drawing/2014/main" id="{949F9D7C-2CBA-413C-AD51-DCBDC8D790AA}"/>
              </a:ext>
            </a:extLst>
          </p:cNvPr>
          <p:cNvSpPr>
            <a:spLocks noGrp="1"/>
          </p:cNvSpPr>
          <p:nvPr>
            <p:ph type="dt" sz="half" idx="10"/>
          </p:nvPr>
        </p:nvSpPr>
        <p:spPr/>
        <p:txBody>
          <a:bodyPr/>
          <a:lstStyle/>
          <a:p>
            <a:fld id="{8109613B-5451-4CF3-AAA5-78B683543C35}" type="datetime10">
              <a:rPr lang="zh-CN" altLang="en-US" smtClean="0"/>
              <a:t>14:22</a:t>
            </a:fld>
            <a:endParaRPr lang="zh-CN" altLang="en-US"/>
          </a:p>
        </p:txBody>
      </p:sp>
      <p:sp>
        <p:nvSpPr>
          <p:cNvPr id="5" name="灯片编号占位符 4">
            <a:extLst>
              <a:ext uri="{FF2B5EF4-FFF2-40B4-BE49-F238E27FC236}">
                <a16:creationId xmlns:a16="http://schemas.microsoft.com/office/drawing/2014/main" id="{EB46CC60-FFE0-4FE2-825B-5ADDDDFA9489}"/>
              </a:ext>
            </a:extLst>
          </p:cNvPr>
          <p:cNvSpPr>
            <a:spLocks noGrp="1"/>
          </p:cNvSpPr>
          <p:nvPr>
            <p:ph type="sldNum" sz="quarter" idx="12"/>
          </p:nvPr>
        </p:nvSpPr>
        <p:spPr/>
        <p:txBody>
          <a:bodyPr/>
          <a:lstStyle/>
          <a:p>
            <a:fld id="{0C913308-F349-4B6D-A68A-DD1791B4A57B}" type="slidenum">
              <a:rPr lang="zh-CN" altLang="en-US" smtClean="0"/>
              <a:t>29</a:t>
            </a:fld>
            <a:endParaRPr lang="zh-CN" altLang="en-US"/>
          </a:p>
        </p:txBody>
      </p:sp>
      <p:pic>
        <p:nvPicPr>
          <p:cNvPr id="29698" name="Picture 2">
            <a:extLst>
              <a:ext uri="{FF2B5EF4-FFF2-40B4-BE49-F238E27FC236}">
                <a16:creationId xmlns:a16="http://schemas.microsoft.com/office/drawing/2014/main" id="{BDE0F20E-E0C6-4CE8-A1CB-57DB94449955}"/>
              </a:ext>
            </a:extLst>
          </p:cNvPr>
          <p:cNvPicPr>
            <a:picLocks noGrp="1" noChangeAspect="1" noChangeArrowheads="1"/>
          </p:cNvPicPr>
          <p:nvPr>
            <p:ph idx="1"/>
          </p:nvPr>
        </p:nvPicPr>
        <p:blipFill>
          <a:blip r:embed="rId2" cstate="print">
            <a:extLst>
              <a:ext uri="{28A0092B-C50C-407E-A947-70E740481C1C}">
                <a14:useLocalDpi xmlns:a14="http://schemas.microsoft.com/office/drawing/2010/main" val="0"/>
              </a:ext>
            </a:extLst>
          </a:blip>
          <a:srcRect/>
          <a:stretch>
            <a:fillRect/>
          </a:stretch>
        </p:blipFill>
        <p:spPr bwMode="auto">
          <a:xfrm>
            <a:off x="2350190" y="2321137"/>
            <a:ext cx="4176464" cy="4509035"/>
          </a:xfrm>
          <a:prstGeom prst="rect">
            <a:avLst/>
          </a:prstGeom>
          <a:noFill/>
          <a:extLst>
            <a:ext uri="{909E8E84-426E-40DD-AFC4-6F175D3DCCD1}">
              <a14:hiddenFill xmlns:a14="http://schemas.microsoft.com/office/drawing/2010/main">
                <a:solidFill>
                  <a:srgbClr val="FFFFFF"/>
                </a:solidFill>
              </a14:hiddenFill>
            </a:ext>
          </a:extLst>
        </p:spPr>
      </p:pic>
      <p:sp>
        <p:nvSpPr>
          <p:cNvPr id="8" name="文本框 7">
            <a:extLst>
              <a:ext uri="{FF2B5EF4-FFF2-40B4-BE49-F238E27FC236}">
                <a16:creationId xmlns:a16="http://schemas.microsoft.com/office/drawing/2014/main" id="{8467925D-EC52-479F-A0FF-0996DE232DD8}"/>
              </a:ext>
            </a:extLst>
          </p:cNvPr>
          <p:cNvSpPr txBox="1"/>
          <p:nvPr/>
        </p:nvSpPr>
        <p:spPr>
          <a:xfrm>
            <a:off x="899592" y="764704"/>
            <a:ext cx="8244407" cy="1477328"/>
          </a:xfrm>
          <a:prstGeom prst="rect">
            <a:avLst/>
          </a:prstGeom>
          <a:noFill/>
        </p:spPr>
        <p:txBody>
          <a:bodyPr wrap="square">
            <a:spAutoFit/>
          </a:bodyPr>
          <a:lstStyle/>
          <a:p>
            <a:r>
              <a:rPr lang="en-US" altLang="zh-CN" b="0" i="0" dirty="0">
                <a:solidFill>
                  <a:srgbClr val="222222"/>
                </a:solidFill>
                <a:effectLst/>
                <a:latin typeface="PingFang SC"/>
              </a:rPr>
              <a:t>         2025</a:t>
            </a:r>
            <a:r>
              <a:rPr lang="zh-CN" altLang="en-US" b="0" i="0" dirty="0">
                <a:solidFill>
                  <a:srgbClr val="222222"/>
                </a:solidFill>
                <a:effectLst/>
                <a:latin typeface="PingFang SC"/>
              </a:rPr>
              <a:t>年</a:t>
            </a:r>
            <a:r>
              <a:rPr lang="en-US" altLang="zh-CN" b="0" i="0" dirty="0">
                <a:solidFill>
                  <a:srgbClr val="222222"/>
                </a:solidFill>
                <a:effectLst/>
                <a:latin typeface="PingFang SC"/>
              </a:rPr>
              <a:t>2</a:t>
            </a:r>
            <a:r>
              <a:rPr lang="zh-CN" altLang="en-US" b="0" i="0" dirty="0">
                <a:solidFill>
                  <a:srgbClr val="222222"/>
                </a:solidFill>
                <a:effectLst/>
                <a:latin typeface="PingFang SC"/>
              </a:rPr>
              <a:t>月</a:t>
            </a:r>
            <a:r>
              <a:rPr lang="en-US" altLang="zh-CN" b="0" i="0" dirty="0">
                <a:solidFill>
                  <a:srgbClr val="222222"/>
                </a:solidFill>
                <a:effectLst/>
                <a:latin typeface="PingFang SC"/>
              </a:rPr>
              <a:t>12</a:t>
            </a:r>
            <a:r>
              <a:rPr lang="zh-CN" altLang="en-US" b="0" i="0" dirty="0">
                <a:solidFill>
                  <a:srgbClr val="222222"/>
                </a:solidFill>
                <a:effectLst/>
                <a:latin typeface="PingFang SC"/>
              </a:rPr>
              <a:t>日，中国科学家在</a:t>
            </a:r>
            <a:r>
              <a:rPr lang="en-US" altLang="zh-CN" b="0" i="0" dirty="0">
                <a:solidFill>
                  <a:srgbClr val="222222"/>
                </a:solidFill>
                <a:effectLst/>
                <a:latin typeface="PingFang SC"/>
              </a:rPr>
              <a:t>《</a:t>
            </a:r>
            <a:r>
              <a:rPr lang="zh-CN" altLang="en-US" b="0" i="0" dirty="0">
                <a:solidFill>
                  <a:srgbClr val="222222"/>
                </a:solidFill>
                <a:effectLst/>
                <a:latin typeface="PingFang SC"/>
              </a:rPr>
              <a:t>自然</a:t>
            </a:r>
            <a:r>
              <a:rPr lang="en-US" altLang="zh-CN" b="0" i="0" dirty="0">
                <a:solidFill>
                  <a:srgbClr val="222222"/>
                </a:solidFill>
                <a:effectLst/>
                <a:latin typeface="PingFang SC"/>
              </a:rPr>
              <a:t>·</a:t>
            </a:r>
            <a:r>
              <a:rPr lang="zh-CN" altLang="en-US" b="0" i="0" dirty="0">
                <a:solidFill>
                  <a:srgbClr val="222222"/>
                </a:solidFill>
                <a:effectLst/>
                <a:latin typeface="PingFang SC"/>
              </a:rPr>
              <a:t>材料</a:t>
            </a:r>
            <a:r>
              <a:rPr lang="en-US" altLang="zh-CN" b="0" i="0" dirty="0">
                <a:solidFill>
                  <a:srgbClr val="222222"/>
                </a:solidFill>
                <a:effectLst/>
                <a:latin typeface="PingFang SC"/>
              </a:rPr>
              <a:t>》</a:t>
            </a:r>
            <a:r>
              <a:rPr lang="zh-CN" altLang="en-US" b="0" i="0" dirty="0">
                <a:solidFill>
                  <a:srgbClr val="222222"/>
                </a:solidFill>
                <a:effectLst/>
                <a:latin typeface="PingFang SC"/>
              </a:rPr>
              <a:t>期刊投下一枚“科技核弹”</a:t>
            </a:r>
            <a:r>
              <a:rPr lang="en-US" altLang="zh-CN" b="0" i="0" dirty="0">
                <a:solidFill>
                  <a:srgbClr val="222222"/>
                </a:solidFill>
                <a:effectLst/>
                <a:latin typeface="PingFang SC"/>
              </a:rPr>
              <a:t>——</a:t>
            </a:r>
            <a:r>
              <a:rPr lang="zh-CN" altLang="en-US" b="0" i="0" dirty="0">
                <a:solidFill>
                  <a:srgbClr val="222222"/>
                </a:solidFill>
                <a:effectLst/>
                <a:latin typeface="PingFang SC"/>
              </a:rPr>
              <a:t>吉林大学刘冰冰、姚明光团队联合中山大学朱升财团队，全球首次合成高纯度六方金刚石半导体材料！这一成果以击穿场强超硅</a:t>
            </a:r>
            <a:r>
              <a:rPr lang="en-US" altLang="zh-CN" b="0" i="0" dirty="0">
                <a:solidFill>
                  <a:srgbClr val="222222"/>
                </a:solidFill>
                <a:effectLst/>
                <a:latin typeface="PingFang SC"/>
              </a:rPr>
              <a:t>33</a:t>
            </a:r>
            <a:r>
              <a:rPr lang="zh-CN" altLang="en-US" b="0" i="0" dirty="0">
                <a:solidFill>
                  <a:srgbClr val="222222"/>
                </a:solidFill>
                <a:effectLst/>
                <a:latin typeface="PingFang SC"/>
              </a:rPr>
              <a:t>倍、带隙达硅</a:t>
            </a:r>
            <a:r>
              <a:rPr lang="en-US" altLang="zh-CN" b="0" i="0" dirty="0">
                <a:solidFill>
                  <a:srgbClr val="222222"/>
                </a:solidFill>
                <a:effectLst/>
                <a:latin typeface="PingFang SC"/>
              </a:rPr>
              <a:t>5.5</a:t>
            </a:r>
            <a:r>
              <a:rPr lang="zh-CN" altLang="en-US" b="0" i="0" dirty="0">
                <a:solidFill>
                  <a:srgbClr val="222222"/>
                </a:solidFill>
                <a:effectLst/>
                <a:latin typeface="PingFang SC"/>
              </a:rPr>
              <a:t>倍的逆天数据，直接刷新半导体材料性能天花板，被</a:t>
            </a:r>
            <a:r>
              <a:rPr lang="en-US" altLang="zh-CN" b="0" i="0" dirty="0">
                <a:solidFill>
                  <a:srgbClr val="222222"/>
                </a:solidFill>
                <a:effectLst/>
                <a:latin typeface="PingFang SC"/>
              </a:rPr>
              <a:t>《</a:t>
            </a:r>
            <a:r>
              <a:rPr lang="zh-CN" altLang="en-US" b="0" i="0" dirty="0">
                <a:solidFill>
                  <a:srgbClr val="222222"/>
                </a:solidFill>
                <a:effectLst/>
                <a:latin typeface="PingFang SC"/>
              </a:rPr>
              <a:t>自然</a:t>
            </a:r>
            <a:r>
              <a:rPr lang="en-US" altLang="zh-CN" b="0" i="0" dirty="0">
                <a:solidFill>
                  <a:srgbClr val="222222"/>
                </a:solidFill>
                <a:effectLst/>
                <a:latin typeface="PingFang SC"/>
              </a:rPr>
              <a:t>》</a:t>
            </a:r>
            <a:r>
              <a:rPr lang="zh-CN" altLang="en-US" b="0" i="0" dirty="0">
                <a:solidFill>
                  <a:srgbClr val="222222"/>
                </a:solidFill>
                <a:effectLst/>
                <a:latin typeface="PingFang SC"/>
              </a:rPr>
              <a:t>期刊评价为“改写功率半导体游戏规则”的里程碑突破。</a:t>
            </a:r>
            <a:endParaRPr lang="zh-CN" altLang="en-US" dirty="0"/>
          </a:p>
        </p:txBody>
      </p:sp>
    </p:spTree>
    <p:extLst>
      <p:ext uri="{BB962C8B-B14F-4D97-AF65-F5344CB8AC3E}">
        <p14:creationId xmlns:p14="http://schemas.microsoft.com/office/powerpoint/2010/main" val="107772286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a:extLst>
              <a:ext uri="{FF2B5EF4-FFF2-40B4-BE49-F238E27FC236}">
                <a16:creationId xmlns:a16="http://schemas.microsoft.com/office/drawing/2014/main" id="{B32F288B-4B20-4822-8B1C-E6FAD18E43C3}"/>
              </a:ext>
            </a:extLst>
          </p:cNvPr>
          <p:cNvSpPr>
            <a:spLocks noGrp="1"/>
          </p:cNvSpPr>
          <p:nvPr>
            <p:ph type="dt" sz="half" idx="10"/>
          </p:nvPr>
        </p:nvSpPr>
        <p:spPr/>
        <p:txBody>
          <a:bodyPr/>
          <a:lstStyle/>
          <a:p>
            <a:fld id="{8109613B-5451-4CF3-AAA5-78B683543C35}" type="datetime10">
              <a:rPr lang="zh-CN" altLang="en-US" smtClean="0"/>
              <a:t>14:22</a:t>
            </a:fld>
            <a:endParaRPr lang="zh-CN" altLang="en-US"/>
          </a:p>
        </p:txBody>
      </p:sp>
      <p:sp>
        <p:nvSpPr>
          <p:cNvPr id="5" name="灯片编号占位符 4">
            <a:extLst>
              <a:ext uri="{FF2B5EF4-FFF2-40B4-BE49-F238E27FC236}">
                <a16:creationId xmlns:a16="http://schemas.microsoft.com/office/drawing/2014/main" id="{A94AAF52-BC88-4EFB-9D1E-F58E2B72E238}"/>
              </a:ext>
            </a:extLst>
          </p:cNvPr>
          <p:cNvSpPr>
            <a:spLocks noGrp="1"/>
          </p:cNvSpPr>
          <p:nvPr>
            <p:ph type="sldNum" sz="quarter" idx="12"/>
          </p:nvPr>
        </p:nvSpPr>
        <p:spPr/>
        <p:txBody>
          <a:bodyPr/>
          <a:lstStyle/>
          <a:p>
            <a:fld id="{0C913308-F349-4B6D-A68A-DD1791B4A57B}" type="slidenum">
              <a:rPr lang="zh-CN" altLang="en-US" smtClean="0"/>
              <a:t>30</a:t>
            </a:fld>
            <a:endParaRPr lang="zh-CN" altLang="en-US"/>
          </a:p>
        </p:txBody>
      </p:sp>
      <p:sp>
        <p:nvSpPr>
          <p:cNvPr id="6" name="Rectangle 1">
            <a:extLst>
              <a:ext uri="{FF2B5EF4-FFF2-40B4-BE49-F238E27FC236}">
                <a16:creationId xmlns:a16="http://schemas.microsoft.com/office/drawing/2014/main" id="{F957B045-216E-478D-8A9D-BE77A7532782}"/>
              </a:ext>
            </a:extLst>
          </p:cNvPr>
          <p:cNvSpPr>
            <a:spLocks noChangeArrowheads="1"/>
          </p:cNvSpPr>
          <p:nvPr/>
        </p:nvSpPr>
        <p:spPr bwMode="auto">
          <a:xfrm>
            <a:off x="899592" y="601999"/>
            <a:ext cx="7787208" cy="6947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Char char="•"/>
              <a:tabLst/>
            </a:pPr>
            <a:r>
              <a:rPr kumimoji="0" lang="zh-CN" altLang="zh-CN" sz="1600" b="1" i="0" u="none" strike="noStrike" cap="none" normalizeH="0" baseline="0" dirty="0">
                <a:ln>
                  <a:noFill/>
                </a:ln>
                <a:solidFill>
                  <a:srgbClr val="000000"/>
                </a:solidFill>
                <a:effectLst/>
                <a:latin typeface="Arial" panose="020B0604020202020204" pitchFamily="34" charset="0"/>
                <a:ea typeface="ui-sans-serif"/>
              </a:rPr>
              <a:t>SiC（碳化硅）</a:t>
            </a:r>
            <a:r>
              <a:rPr kumimoji="0" lang="zh-CN" altLang="zh-CN" sz="1600" b="0" i="0" u="none" strike="noStrike" cap="none" normalizeH="0" baseline="0" dirty="0">
                <a:ln>
                  <a:noFill/>
                </a:ln>
                <a:solidFill>
                  <a:srgbClr val="000000"/>
                </a:solidFill>
                <a:effectLst/>
                <a:latin typeface="Arial" panose="020B0604020202020204" pitchFamily="34" charset="0"/>
                <a:ea typeface="ui-sans-serif"/>
              </a:rPr>
              <a:t>：</a:t>
            </a:r>
            <a:r>
              <a:rPr kumimoji="0" lang="zh-CN" altLang="zh-CN" sz="1600" b="1" i="0" u="none" strike="noStrike" cap="none" normalizeH="0" baseline="0" dirty="0">
                <a:ln>
                  <a:noFill/>
                </a:ln>
                <a:solidFill>
                  <a:srgbClr val="000000"/>
                </a:solidFill>
                <a:effectLst/>
                <a:latin typeface="Arial" panose="020B0604020202020204" pitchFamily="34" charset="0"/>
                <a:ea typeface="ui-sans-serif"/>
              </a:rPr>
              <a:t>高压、大功率、耐高温</a:t>
            </a:r>
            <a:r>
              <a:rPr kumimoji="0" lang="zh-CN" altLang="zh-CN" sz="1600" b="0" i="0" u="none" strike="noStrike" cap="none" normalizeH="0" baseline="0" dirty="0">
                <a:ln>
                  <a:noFill/>
                </a:ln>
                <a:solidFill>
                  <a:srgbClr val="000000"/>
                </a:solidFill>
                <a:effectLst/>
                <a:latin typeface="Arial" panose="020B0604020202020204" pitchFamily="34" charset="0"/>
                <a:ea typeface="ui-sans-serif"/>
              </a:rPr>
              <a:t>，主打</a:t>
            </a:r>
            <a:r>
              <a:rPr kumimoji="0" lang="zh-CN" altLang="zh-CN" sz="1600" b="1" i="0" u="none" strike="noStrike" cap="none" normalizeH="0" baseline="0" dirty="0">
                <a:ln>
                  <a:noFill/>
                </a:ln>
                <a:solidFill>
                  <a:srgbClr val="000000"/>
                </a:solidFill>
                <a:effectLst/>
                <a:latin typeface="Arial" panose="020B0604020202020204" pitchFamily="34" charset="0"/>
                <a:ea typeface="ui-sans-serif"/>
              </a:rPr>
              <a:t>车、光伏、储能、电网</a:t>
            </a:r>
            <a:r>
              <a:rPr kumimoji="0" lang="zh-CN" altLang="zh-CN" sz="1600" b="0" i="0" u="none" strike="noStrike" cap="none" normalizeH="0" baseline="0" dirty="0">
                <a:ln>
                  <a:noFill/>
                </a:ln>
                <a:solidFill>
                  <a:srgbClr val="000000"/>
                </a:solidFill>
                <a:effectLst/>
                <a:latin typeface="Arial" panose="020B0604020202020204" pitchFamily="34" charset="0"/>
                <a:ea typeface="ui-sans-serif"/>
              </a:rPr>
              <a:t>。</a:t>
            </a:r>
            <a:r>
              <a:rPr kumimoji="0" lang="zh-CN" altLang="zh-CN" sz="1600" b="0" i="0" u="none" strike="noStrike" cap="none" normalizeH="0" baseline="0" dirty="0">
                <a:ln>
                  <a:noFill/>
                </a:ln>
                <a:solidFill>
                  <a:schemeClr val="tx1"/>
                </a:solidFill>
                <a:effectLst/>
                <a:latin typeface="Arial" panose="020B0604020202020204" pitchFamily="34" charset="0"/>
              </a:rPr>
              <a:t> </a:t>
            </a:r>
            <a:endParaRPr kumimoji="0" lang="zh-CN" altLang="zh-CN" sz="1600" b="0" i="0" u="none" strike="noStrike" cap="none" normalizeH="0" baseline="0" dirty="0">
              <a:ln>
                <a:noFill/>
              </a:ln>
              <a:solidFill>
                <a:srgbClr val="000000"/>
              </a:solidFill>
              <a:effectLst/>
              <a:latin typeface="Arial" panose="020B0604020202020204" pitchFamily="34" charset="0"/>
              <a:ea typeface="ui-sans-serif"/>
            </a:endParaRPr>
          </a:p>
          <a:p>
            <a:pPr marL="0" marR="0" lvl="0" indent="0" algn="l" defTabSz="914400" rtl="0" eaLnBrk="0" fontAlgn="base" latinLnBrk="0" hangingPunct="0">
              <a:lnSpc>
                <a:spcPct val="150000"/>
              </a:lnSpc>
              <a:spcBef>
                <a:spcPct val="0"/>
              </a:spcBef>
              <a:spcAft>
                <a:spcPct val="0"/>
              </a:spcAft>
              <a:buClrTx/>
              <a:buSzTx/>
              <a:buFontTx/>
              <a:buChar char="•"/>
              <a:tabLst/>
            </a:pPr>
            <a:r>
              <a:rPr kumimoji="0" lang="zh-CN" altLang="zh-CN" sz="1600" b="1" i="0" u="none" strike="noStrike" cap="none" normalizeH="0" baseline="0" dirty="0">
                <a:ln>
                  <a:noFill/>
                </a:ln>
                <a:solidFill>
                  <a:srgbClr val="FF0000"/>
                </a:solidFill>
                <a:effectLst/>
                <a:latin typeface="Arial" panose="020B0604020202020204" pitchFamily="34" charset="0"/>
                <a:ea typeface="ui-sans-serif"/>
              </a:rPr>
              <a:t>GaN（氮化镓）</a:t>
            </a:r>
            <a:r>
              <a:rPr kumimoji="0" lang="zh-CN" altLang="zh-CN" sz="1600" b="0" i="0" u="none" strike="noStrike" cap="none" normalizeH="0" baseline="0" dirty="0">
                <a:ln>
                  <a:noFill/>
                </a:ln>
                <a:solidFill>
                  <a:srgbClr val="FF0000"/>
                </a:solidFill>
                <a:effectLst/>
                <a:latin typeface="Arial" panose="020B0604020202020204" pitchFamily="34" charset="0"/>
                <a:ea typeface="ui-sans-serif"/>
              </a:rPr>
              <a:t>：</a:t>
            </a:r>
            <a:r>
              <a:rPr kumimoji="0" lang="zh-CN" altLang="zh-CN" sz="1600" b="1" i="0" u="none" strike="noStrike" cap="none" normalizeH="0" baseline="0" dirty="0">
                <a:ln>
                  <a:noFill/>
                </a:ln>
                <a:solidFill>
                  <a:srgbClr val="FF0000"/>
                </a:solidFill>
                <a:effectLst/>
                <a:latin typeface="Arial" panose="020B0604020202020204" pitchFamily="34" charset="0"/>
                <a:ea typeface="ui-sans-serif"/>
              </a:rPr>
              <a:t>超高频、小体积、高效率</a:t>
            </a:r>
            <a:r>
              <a:rPr kumimoji="0" lang="zh-CN" altLang="zh-CN" sz="1600" b="0" i="0" u="none" strike="noStrike" cap="none" normalizeH="0" baseline="0" dirty="0">
                <a:ln>
                  <a:noFill/>
                </a:ln>
                <a:solidFill>
                  <a:srgbClr val="FF0000"/>
                </a:solidFill>
                <a:effectLst/>
                <a:latin typeface="Arial" panose="020B0604020202020204" pitchFamily="34" charset="0"/>
                <a:ea typeface="ui-sans-serif"/>
              </a:rPr>
              <a:t>，主打</a:t>
            </a:r>
            <a:r>
              <a:rPr kumimoji="0" lang="zh-CN" altLang="zh-CN" sz="1600" b="1" i="0" u="none" strike="noStrike" cap="none" normalizeH="0" baseline="0" dirty="0">
                <a:ln>
                  <a:noFill/>
                </a:ln>
                <a:solidFill>
                  <a:srgbClr val="FF0000"/>
                </a:solidFill>
                <a:effectLst/>
                <a:latin typeface="Arial" panose="020B0604020202020204" pitchFamily="34" charset="0"/>
                <a:ea typeface="ui-sans-serif"/>
              </a:rPr>
              <a:t>快充、电源、小功率高频</a:t>
            </a:r>
            <a:r>
              <a:rPr kumimoji="0" lang="zh-CN" altLang="zh-CN" sz="1600" b="0" i="0" u="none" strike="noStrike" cap="none" normalizeH="0" baseline="0" dirty="0">
                <a:ln>
                  <a:noFill/>
                </a:ln>
                <a:solidFill>
                  <a:srgbClr val="FF0000"/>
                </a:solidFill>
                <a:effectLst/>
                <a:latin typeface="Arial" panose="020B0604020202020204" pitchFamily="34" charset="0"/>
              </a:rPr>
              <a:t> </a:t>
            </a:r>
          </a:p>
        </p:txBody>
      </p:sp>
      <p:sp>
        <p:nvSpPr>
          <p:cNvPr id="8" name="文本框 7">
            <a:extLst>
              <a:ext uri="{FF2B5EF4-FFF2-40B4-BE49-F238E27FC236}">
                <a16:creationId xmlns:a16="http://schemas.microsoft.com/office/drawing/2014/main" id="{5E447F6D-5793-451B-810F-9CAE3664BCD7}"/>
              </a:ext>
            </a:extLst>
          </p:cNvPr>
          <p:cNvSpPr txBox="1"/>
          <p:nvPr/>
        </p:nvSpPr>
        <p:spPr>
          <a:xfrm>
            <a:off x="899592" y="188640"/>
            <a:ext cx="4584612" cy="369332"/>
          </a:xfrm>
          <a:prstGeom prst="rect">
            <a:avLst/>
          </a:prstGeom>
          <a:noFill/>
        </p:spPr>
        <p:txBody>
          <a:bodyPr wrap="square">
            <a:spAutoFit/>
          </a:bodyPr>
          <a:lstStyle/>
          <a:p>
            <a:r>
              <a:rPr lang="zh-CN" altLang="en-US" b="1" dirty="0">
                <a:solidFill>
                  <a:srgbClr val="FF0000"/>
                </a:solidFill>
              </a:rPr>
              <a:t>最新电力电子器件对比</a:t>
            </a:r>
          </a:p>
        </p:txBody>
      </p:sp>
      <p:graphicFrame>
        <p:nvGraphicFramePr>
          <p:cNvPr id="9" name="表格 8">
            <a:extLst>
              <a:ext uri="{FF2B5EF4-FFF2-40B4-BE49-F238E27FC236}">
                <a16:creationId xmlns:a16="http://schemas.microsoft.com/office/drawing/2014/main" id="{3A050F8E-5F4B-4DD3-8F0E-D6A9F78356A7}"/>
              </a:ext>
            </a:extLst>
          </p:cNvPr>
          <p:cNvGraphicFramePr>
            <a:graphicFrameLocks noGrp="1"/>
          </p:cNvGraphicFramePr>
          <p:nvPr>
            <p:extLst>
              <p:ext uri="{D42A27DB-BD31-4B8C-83A1-F6EECF244321}">
                <p14:modId xmlns:p14="http://schemas.microsoft.com/office/powerpoint/2010/main" val="3667557171"/>
              </p:ext>
            </p:extLst>
          </p:nvPr>
        </p:nvGraphicFramePr>
        <p:xfrm>
          <a:off x="899592" y="1796103"/>
          <a:ext cx="8001000" cy="3931920"/>
        </p:xfrm>
        <a:graphic>
          <a:graphicData uri="http://schemas.openxmlformats.org/drawingml/2006/table">
            <a:tbl>
              <a:tblPr/>
              <a:tblGrid>
                <a:gridCol w="2088232">
                  <a:extLst>
                    <a:ext uri="{9D8B030D-6E8A-4147-A177-3AD203B41FA5}">
                      <a16:colId xmlns:a16="http://schemas.microsoft.com/office/drawing/2014/main" val="1654279536"/>
                    </a:ext>
                  </a:extLst>
                </a:gridCol>
                <a:gridCol w="2664296">
                  <a:extLst>
                    <a:ext uri="{9D8B030D-6E8A-4147-A177-3AD203B41FA5}">
                      <a16:colId xmlns:a16="http://schemas.microsoft.com/office/drawing/2014/main" val="1137766998"/>
                    </a:ext>
                  </a:extLst>
                </a:gridCol>
                <a:gridCol w="3248472">
                  <a:extLst>
                    <a:ext uri="{9D8B030D-6E8A-4147-A177-3AD203B41FA5}">
                      <a16:colId xmlns:a16="http://schemas.microsoft.com/office/drawing/2014/main" val="3053344056"/>
                    </a:ext>
                  </a:extLst>
                </a:gridCol>
              </a:tblGrid>
              <a:tr h="0">
                <a:tc>
                  <a:txBody>
                    <a:bodyPr/>
                    <a:lstStyle/>
                    <a:p>
                      <a:pPr algn="l"/>
                      <a:endParaRPr lang="zh-CN" altLang="en-US" b="1" dirty="0">
                        <a:solidFill>
                          <a:srgbClr val="000000"/>
                        </a:solidFill>
                        <a:effectLst/>
                        <a:latin typeface="ui-sans-serif"/>
                      </a:endParaRPr>
                    </a:p>
                  </a:txBody>
                  <a:tcPr anchor="ctr">
                    <a:lnL>
                      <a:noFill/>
                    </a:lnL>
                    <a:lnR>
                      <a:noFill/>
                    </a:lnR>
                    <a:lnT>
                      <a:noFill/>
                    </a:lnT>
                    <a:lnB>
                      <a:noFill/>
                    </a:lnB>
                  </a:tcPr>
                </a:tc>
                <a:tc>
                  <a:txBody>
                    <a:bodyPr/>
                    <a:lstStyle/>
                    <a:p>
                      <a:pPr algn="l"/>
                      <a:r>
                        <a:rPr lang="en-US" b="1" dirty="0" err="1">
                          <a:solidFill>
                            <a:srgbClr val="9900FF"/>
                          </a:solidFill>
                          <a:effectLst/>
                          <a:latin typeface="ui-sans-serif"/>
                        </a:rPr>
                        <a:t>SiC</a:t>
                      </a:r>
                      <a:r>
                        <a:rPr lang="en-US" b="1" dirty="0">
                          <a:solidFill>
                            <a:srgbClr val="9900FF"/>
                          </a:solidFill>
                          <a:effectLst/>
                          <a:latin typeface="ui-sans-serif"/>
                        </a:rPr>
                        <a:t> </a:t>
                      </a:r>
                      <a:r>
                        <a:rPr lang="zh-CN" altLang="en-US" b="1" dirty="0">
                          <a:solidFill>
                            <a:srgbClr val="9900FF"/>
                          </a:solidFill>
                          <a:effectLst/>
                          <a:latin typeface="ui-sans-serif"/>
                        </a:rPr>
                        <a:t>碳化硅</a:t>
                      </a:r>
                    </a:p>
                  </a:txBody>
                  <a:tcPr anchor="ctr">
                    <a:lnL>
                      <a:noFill/>
                    </a:lnL>
                    <a:lnR>
                      <a:noFill/>
                    </a:lnR>
                    <a:lnT>
                      <a:noFill/>
                    </a:lnT>
                    <a:lnB>
                      <a:noFill/>
                    </a:lnB>
                  </a:tcPr>
                </a:tc>
                <a:tc>
                  <a:txBody>
                    <a:bodyPr/>
                    <a:lstStyle/>
                    <a:p>
                      <a:pPr algn="l"/>
                      <a:r>
                        <a:rPr lang="en-US" b="1" dirty="0" err="1">
                          <a:solidFill>
                            <a:srgbClr val="9900FF"/>
                          </a:solidFill>
                          <a:effectLst/>
                          <a:latin typeface="ui-sans-serif"/>
                        </a:rPr>
                        <a:t>GaN</a:t>
                      </a:r>
                      <a:r>
                        <a:rPr lang="en-US" b="1" dirty="0">
                          <a:solidFill>
                            <a:srgbClr val="9900FF"/>
                          </a:solidFill>
                          <a:effectLst/>
                          <a:latin typeface="ui-sans-serif"/>
                        </a:rPr>
                        <a:t> </a:t>
                      </a:r>
                      <a:r>
                        <a:rPr lang="zh-CN" altLang="en-US" b="1" dirty="0">
                          <a:solidFill>
                            <a:srgbClr val="9900FF"/>
                          </a:solidFill>
                          <a:effectLst/>
                          <a:latin typeface="ui-sans-serif"/>
                        </a:rPr>
                        <a:t>氮化镓</a:t>
                      </a:r>
                    </a:p>
                  </a:txBody>
                  <a:tcPr anchor="ctr">
                    <a:lnL>
                      <a:noFill/>
                    </a:lnL>
                    <a:lnR>
                      <a:noFill/>
                    </a:lnR>
                    <a:lnT>
                      <a:noFill/>
                    </a:lnT>
                    <a:lnB>
                      <a:noFill/>
                    </a:lnB>
                  </a:tcPr>
                </a:tc>
                <a:extLst>
                  <a:ext uri="{0D108BD9-81ED-4DB2-BD59-A6C34878D82A}">
                    <a16:rowId xmlns:a16="http://schemas.microsoft.com/office/drawing/2014/main" val="883474132"/>
                  </a:ext>
                </a:extLst>
              </a:tr>
              <a:tr h="0">
                <a:tc>
                  <a:txBody>
                    <a:bodyPr/>
                    <a:lstStyle/>
                    <a:p>
                      <a:pPr algn="l"/>
                      <a:r>
                        <a:rPr lang="zh-CN" altLang="en-US" b="1" dirty="0">
                          <a:solidFill>
                            <a:srgbClr val="00B0F0"/>
                          </a:solidFill>
                          <a:effectLst/>
                          <a:latin typeface="ui-sans-serif"/>
                        </a:rPr>
                        <a:t>常用电压</a:t>
                      </a:r>
                    </a:p>
                  </a:txBody>
                  <a:tcPr anchor="ctr">
                    <a:lnL>
                      <a:noFill/>
                    </a:lnL>
                    <a:lnR>
                      <a:noFill/>
                    </a:lnR>
                    <a:lnT>
                      <a:noFill/>
                    </a:lnT>
                    <a:lnB>
                      <a:noFill/>
                    </a:lnB>
                  </a:tcPr>
                </a:tc>
                <a:tc>
                  <a:txBody>
                    <a:bodyPr/>
                    <a:lstStyle/>
                    <a:p>
                      <a:pPr algn="l"/>
                      <a:r>
                        <a:rPr lang="en-US" b="1">
                          <a:solidFill>
                            <a:srgbClr val="00B0F0"/>
                          </a:solidFill>
                          <a:effectLst/>
                          <a:latin typeface="ui-sans-serif"/>
                        </a:rPr>
                        <a:t>650V～10kV</a:t>
                      </a:r>
                    </a:p>
                  </a:txBody>
                  <a:tcPr anchor="ctr">
                    <a:lnL>
                      <a:noFill/>
                    </a:lnL>
                    <a:lnR>
                      <a:noFill/>
                    </a:lnR>
                    <a:lnT>
                      <a:noFill/>
                    </a:lnT>
                    <a:lnB>
                      <a:noFill/>
                    </a:lnB>
                  </a:tcPr>
                </a:tc>
                <a:tc>
                  <a:txBody>
                    <a:bodyPr/>
                    <a:lstStyle/>
                    <a:p>
                      <a:pPr algn="l"/>
                      <a:r>
                        <a:rPr lang="en-US" b="1">
                          <a:solidFill>
                            <a:srgbClr val="00B0F0"/>
                          </a:solidFill>
                          <a:effectLst/>
                          <a:latin typeface="ui-sans-serif"/>
                        </a:rPr>
                        <a:t>40V～650V（</a:t>
                      </a:r>
                      <a:r>
                        <a:rPr lang="zh-CN" altLang="en-US" b="1">
                          <a:solidFill>
                            <a:srgbClr val="00B0F0"/>
                          </a:solidFill>
                          <a:effectLst/>
                          <a:latin typeface="ui-sans-serif"/>
                        </a:rPr>
                        <a:t>少数 </a:t>
                      </a:r>
                      <a:r>
                        <a:rPr lang="en-US" altLang="zh-CN" b="1">
                          <a:solidFill>
                            <a:srgbClr val="00B0F0"/>
                          </a:solidFill>
                          <a:effectLst/>
                          <a:latin typeface="ui-sans-serif"/>
                        </a:rPr>
                        <a:t>900</a:t>
                      </a:r>
                      <a:r>
                        <a:rPr lang="en-US" b="1">
                          <a:solidFill>
                            <a:srgbClr val="00B0F0"/>
                          </a:solidFill>
                          <a:effectLst/>
                          <a:latin typeface="ui-sans-serif"/>
                        </a:rPr>
                        <a:t>V）</a:t>
                      </a:r>
                    </a:p>
                  </a:txBody>
                  <a:tcPr anchor="ctr">
                    <a:lnL>
                      <a:noFill/>
                    </a:lnL>
                    <a:lnR>
                      <a:noFill/>
                    </a:lnR>
                    <a:lnT>
                      <a:noFill/>
                    </a:lnT>
                    <a:lnB>
                      <a:noFill/>
                    </a:lnB>
                  </a:tcPr>
                </a:tc>
                <a:extLst>
                  <a:ext uri="{0D108BD9-81ED-4DB2-BD59-A6C34878D82A}">
                    <a16:rowId xmlns:a16="http://schemas.microsoft.com/office/drawing/2014/main" val="2811144703"/>
                  </a:ext>
                </a:extLst>
              </a:tr>
              <a:tr h="0">
                <a:tc>
                  <a:txBody>
                    <a:bodyPr/>
                    <a:lstStyle/>
                    <a:p>
                      <a:pPr algn="l"/>
                      <a:r>
                        <a:rPr lang="zh-CN" altLang="en-US" b="1">
                          <a:solidFill>
                            <a:srgbClr val="00B0F0"/>
                          </a:solidFill>
                          <a:effectLst/>
                          <a:latin typeface="ui-sans-serif"/>
                        </a:rPr>
                        <a:t>耐受温度</a:t>
                      </a:r>
                    </a:p>
                  </a:txBody>
                  <a:tcPr anchor="ctr">
                    <a:lnL>
                      <a:noFill/>
                    </a:lnL>
                    <a:lnR>
                      <a:noFill/>
                    </a:lnR>
                    <a:lnT>
                      <a:noFill/>
                    </a:lnT>
                    <a:lnB>
                      <a:noFill/>
                    </a:lnB>
                  </a:tcPr>
                </a:tc>
                <a:tc>
                  <a:txBody>
                    <a:bodyPr/>
                    <a:lstStyle/>
                    <a:p>
                      <a:pPr algn="l"/>
                      <a:r>
                        <a:rPr lang="zh-CN" altLang="en-US" b="1" dirty="0">
                          <a:solidFill>
                            <a:srgbClr val="00B0F0"/>
                          </a:solidFill>
                          <a:effectLst/>
                          <a:latin typeface="ui-sans-serif"/>
                        </a:rPr>
                        <a:t>最高 </a:t>
                      </a:r>
                      <a:r>
                        <a:rPr lang="en-US" altLang="zh-CN" b="1" dirty="0">
                          <a:solidFill>
                            <a:srgbClr val="00B0F0"/>
                          </a:solidFill>
                          <a:effectLst/>
                          <a:latin typeface="ui-sans-serif"/>
                        </a:rPr>
                        <a:t>200℃</a:t>
                      </a:r>
                    </a:p>
                  </a:txBody>
                  <a:tcPr anchor="ctr">
                    <a:lnL>
                      <a:noFill/>
                    </a:lnL>
                    <a:lnR>
                      <a:noFill/>
                    </a:lnR>
                    <a:lnT>
                      <a:noFill/>
                    </a:lnT>
                    <a:lnB>
                      <a:noFill/>
                    </a:lnB>
                  </a:tcPr>
                </a:tc>
                <a:tc>
                  <a:txBody>
                    <a:bodyPr/>
                    <a:lstStyle/>
                    <a:p>
                      <a:pPr algn="l"/>
                      <a:r>
                        <a:rPr lang="zh-CN" altLang="en-US" b="1">
                          <a:solidFill>
                            <a:srgbClr val="00B0F0"/>
                          </a:solidFill>
                          <a:effectLst/>
                          <a:latin typeface="ui-sans-serif"/>
                        </a:rPr>
                        <a:t>最高 </a:t>
                      </a:r>
                      <a:r>
                        <a:rPr lang="en-US" altLang="zh-CN" b="1">
                          <a:solidFill>
                            <a:srgbClr val="00B0F0"/>
                          </a:solidFill>
                          <a:effectLst/>
                          <a:latin typeface="ui-sans-serif"/>
                        </a:rPr>
                        <a:t>150℃</a:t>
                      </a:r>
                    </a:p>
                  </a:txBody>
                  <a:tcPr anchor="ctr">
                    <a:lnL>
                      <a:noFill/>
                    </a:lnL>
                    <a:lnR>
                      <a:noFill/>
                    </a:lnR>
                    <a:lnT>
                      <a:noFill/>
                    </a:lnT>
                    <a:lnB>
                      <a:noFill/>
                    </a:lnB>
                  </a:tcPr>
                </a:tc>
                <a:extLst>
                  <a:ext uri="{0D108BD9-81ED-4DB2-BD59-A6C34878D82A}">
                    <a16:rowId xmlns:a16="http://schemas.microsoft.com/office/drawing/2014/main" val="2214448264"/>
                  </a:ext>
                </a:extLst>
              </a:tr>
              <a:tr h="0">
                <a:tc>
                  <a:txBody>
                    <a:bodyPr/>
                    <a:lstStyle/>
                    <a:p>
                      <a:pPr algn="l"/>
                      <a:r>
                        <a:rPr lang="zh-CN" altLang="en-US" b="1">
                          <a:solidFill>
                            <a:srgbClr val="00B0F0"/>
                          </a:solidFill>
                          <a:effectLst/>
                          <a:latin typeface="ui-sans-serif"/>
                        </a:rPr>
                        <a:t>开关频率</a:t>
                      </a:r>
                    </a:p>
                  </a:txBody>
                  <a:tcPr anchor="ctr">
                    <a:lnL>
                      <a:noFill/>
                    </a:lnL>
                    <a:lnR>
                      <a:noFill/>
                    </a:lnR>
                    <a:lnT>
                      <a:noFill/>
                    </a:lnT>
                    <a:lnB>
                      <a:noFill/>
                    </a:lnB>
                  </a:tcPr>
                </a:tc>
                <a:tc>
                  <a:txBody>
                    <a:bodyPr/>
                    <a:lstStyle/>
                    <a:p>
                      <a:pPr algn="l"/>
                      <a:r>
                        <a:rPr lang="zh-CN" altLang="en-US" b="1" dirty="0">
                          <a:solidFill>
                            <a:srgbClr val="00B0F0"/>
                          </a:solidFill>
                          <a:effectLst/>
                          <a:latin typeface="ui-sans-serif"/>
                        </a:rPr>
                        <a:t>几十 </a:t>
                      </a:r>
                      <a:r>
                        <a:rPr lang="en-US" b="1" dirty="0">
                          <a:solidFill>
                            <a:srgbClr val="00B0F0"/>
                          </a:solidFill>
                          <a:effectLst/>
                          <a:latin typeface="ui-sans-serif"/>
                        </a:rPr>
                        <a:t>kHz～1MHz</a:t>
                      </a:r>
                    </a:p>
                    <a:p>
                      <a:pPr algn="l"/>
                      <a:r>
                        <a:rPr lang="zh-CN" altLang="en-US" b="1" dirty="0">
                          <a:solidFill>
                            <a:srgbClr val="9900FF"/>
                          </a:solidFill>
                          <a:effectLst/>
                          <a:latin typeface="ui-sans-serif"/>
                        </a:rPr>
                        <a:t>比</a:t>
                      </a:r>
                      <a:r>
                        <a:rPr lang="en-US" altLang="zh-CN" b="1" dirty="0">
                          <a:solidFill>
                            <a:srgbClr val="9900FF"/>
                          </a:solidFill>
                          <a:effectLst/>
                          <a:latin typeface="ui-sans-serif"/>
                        </a:rPr>
                        <a:t>IGBT</a:t>
                      </a:r>
                      <a:r>
                        <a:rPr lang="zh-CN" altLang="en-US" b="1" dirty="0">
                          <a:solidFill>
                            <a:srgbClr val="9900FF"/>
                          </a:solidFill>
                          <a:effectLst/>
                          <a:latin typeface="ui-sans-serif"/>
                        </a:rPr>
                        <a:t>快</a:t>
                      </a:r>
                      <a:r>
                        <a:rPr lang="en-US" altLang="zh-CN" b="1" dirty="0">
                          <a:solidFill>
                            <a:srgbClr val="9900FF"/>
                          </a:solidFill>
                          <a:effectLst/>
                          <a:latin typeface="ui-sans-serif"/>
                        </a:rPr>
                        <a:t>10</a:t>
                      </a:r>
                      <a:r>
                        <a:rPr lang="zh-CN" altLang="en-US" b="1" dirty="0">
                          <a:solidFill>
                            <a:srgbClr val="9900FF"/>
                          </a:solidFill>
                          <a:effectLst/>
                          <a:latin typeface="ui-sans-serif"/>
                        </a:rPr>
                        <a:t>倍</a:t>
                      </a:r>
                      <a:endParaRPr lang="en-US" b="1" dirty="0">
                        <a:solidFill>
                          <a:srgbClr val="9900FF"/>
                        </a:solidFill>
                        <a:effectLst/>
                        <a:latin typeface="ui-sans-serif"/>
                      </a:endParaRPr>
                    </a:p>
                  </a:txBody>
                  <a:tcPr anchor="ctr">
                    <a:lnL>
                      <a:noFill/>
                    </a:lnL>
                    <a:lnR>
                      <a:noFill/>
                    </a:lnR>
                    <a:lnT>
                      <a:noFill/>
                    </a:lnT>
                    <a:lnB>
                      <a:noFill/>
                    </a:lnB>
                  </a:tcPr>
                </a:tc>
                <a:tc>
                  <a:txBody>
                    <a:bodyPr/>
                    <a:lstStyle/>
                    <a:p>
                      <a:pPr algn="l"/>
                      <a:r>
                        <a:rPr lang="en-US" b="1" dirty="0">
                          <a:solidFill>
                            <a:srgbClr val="00B0F0"/>
                          </a:solidFill>
                          <a:effectLst/>
                          <a:latin typeface="ui-sans-serif"/>
                        </a:rPr>
                        <a:t>1MHz～10MHz </a:t>
                      </a:r>
                      <a:r>
                        <a:rPr lang="zh-CN" altLang="en-US" b="1" dirty="0">
                          <a:solidFill>
                            <a:srgbClr val="00B0F0"/>
                          </a:solidFill>
                          <a:effectLst/>
                          <a:latin typeface="ui-sans-serif"/>
                        </a:rPr>
                        <a:t>甚至更高</a:t>
                      </a:r>
                      <a:endParaRPr lang="en-US" altLang="zh-CN" b="1" dirty="0">
                        <a:solidFill>
                          <a:srgbClr val="00B0F0"/>
                        </a:solidFill>
                        <a:effectLst/>
                        <a:latin typeface="ui-sans-serif"/>
                      </a:endParaRPr>
                    </a:p>
                    <a:p>
                      <a:pPr algn="l"/>
                      <a:r>
                        <a:rPr lang="zh-CN" altLang="en-US" b="1" dirty="0">
                          <a:solidFill>
                            <a:srgbClr val="9900FF"/>
                          </a:solidFill>
                          <a:effectLst/>
                          <a:latin typeface="ui-sans-serif"/>
                        </a:rPr>
                        <a:t>比</a:t>
                      </a:r>
                      <a:r>
                        <a:rPr lang="en-US" altLang="zh-CN" b="1" dirty="0" err="1">
                          <a:solidFill>
                            <a:srgbClr val="9900FF"/>
                          </a:solidFill>
                          <a:effectLst/>
                          <a:latin typeface="ui-sans-serif"/>
                        </a:rPr>
                        <a:t>SiC</a:t>
                      </a:r>
                      <a:r>
                        <a:rPr lang="zh-CN" altLang="en-US" b="1" dirty="0">
                          <a:solidFill>
                            <a:srgbClr val="9900FF"/>
                          </a:solidFill>
                          <a:effectLst/>
                          <a:latin typeface="ui-sans-serif"/>
                        </a:rPr>
                        <a:t>快</a:t>
                      </a:r>
                      <a:r>
                        <a:rPr lang="en-US" altLang="zh-CN" b="1" dirty="0">
                          <a:solidFill>
                            <a:srgbClr val="9900FF"/>
                          </a:solidFill>
                          <a:effectLst/>
                          <a:latin typeface="ui-sans-serif"/>
                        </a:rPr>
                        <a:t>10</a:t>
                      </a:r>
                      <a:r>
                        <a:rPr lang="zh-CN" altLang="en-US" b="1" dirty="0">
                          <a:solidFill>
                            <a:srgbClr val="9900FF"/>
                          </a:solidFill>
                          <a:effectLst/>
                          <a:latin typeface="ui-sans-serif"/>
                        </a:rPr>
                        <a:t>倍</a:t>
                      </a:r>
                    </a:p>
                  </a:txBody>
                  <a:tcPr anchor="ctr">
                    <a:lnL>
                      <a:noFill/>
                    </a:lnL>
                    <a:lnR>
                      <a:noFill/>
                    </a:lnR>
                    <a:lnT>
                      <a:noFill/>
                    </a:lnT>
                    <a:lnB>
                      <a:noFill/>
                    </a:lnB>
                  </a:tcPr>
                </a:tc>
                <a:extLst>
                  <a:ext uri="{0D108BD9-81ED-4DB2-BD59-A6C34878D82A}">
                    <a16:rowId xmlns:a16="http://schemas.microsoft.com/office/drawing/2014/main" val="1672632675"/>
                  </a:ext>
                </a:extLst>
              </a:tr>
              <a:tr h="0">
                <a:tc>
                  <a:txBody>
                    <a:bodyPr/>
                    <a:lstStyle/>
                    <a:p>
                      <a:pPr algn="l"/>
                      <a:r>
                        <a:rPr lang="zh-CN" altLang="en-US" b="1">
                          <a:solidFill>
                            <a:srgbClr val="00B0F0"/>
                          </a:solidFill>
                          <a:effectLst/>
                          <a:latin typeface="ui-sans-serif"/>
                        </a:rPr>
                        <a:t>导通损耗</a:t>
                      </a:r>
                    </a:p>
                  </a:txBody>
                  <a:tcPr anchor="ctr">
                    <a:lnL>
                      <a:noFill/>
                    </a:lnL>
                    <a:lnR>
                      <a:noFill/>
                    </a:lnR>
                    <a:lnT>
                      <a:noFill/>
                    </a:lnT>
                    <a:lnB>
                      <a:noFill/>
                    </a:lnB>
                  </a:tcPr>
                </a:tc>
                <a:tc>
                  <a:txBody>
                    <a:bodyPr/>
                    <a:lstStyle/>
                    <a:p>
                      <a:pPr algn="l"/>
                      <a:r>
                        <a:rPr lang="zh-CN" altLang="en-US" b="1">
                          <a:solidFill>
                            <a:srgbClr val="00B0F0"/>
                          </a:solidFill>
                          <a:effectLst/>
                          <a:latin typeface="ui-sans-serif"/>
                        </a:rPr>
                        <a:t>很低</a:t>
                      </a:r>
                    </a:p>
                  </a:txBody>
                  <a:tcPr anchor="ctr">
                    <a:lnL>
                      <a:noFill/>
                    </a:lnL>
                    <a:lnR>
                      <a:noFill/>
                    </a:lnR>
                    <a:lnT>
                      <a:noFill/>
                    </a:lnT>
                    <a:lnB>
                      <a:noFill/>
                    </a:lnB>
                  </a:tcPr>
                </a:tc>
                <a:tc>
                  <a:txBody>
                    <a:bodyPr/>
                    <a:lstStyle/>
                    <a:p>
                      <a:pPr algn="l"/>
                      <a:r>
                        <a:rPr lang="zh-CN" altLang="en-US" b="1">
                          <a:solidFill>
                            <a:srgbClr val="00B0F0"/>
                          </a:solidFill>
                          <a:effectLst/>
                          <a:latin typeface="ui-sans-serif"/>
                        </a:rPr>
                        <a:t>极低</a:t>
                      </a:r>
                    </a:p>
                  </a:txBody>
                  <a:tcPr anchor="ctr">
                    <a:lnL>
                      <a:noFill/>
                    </a:lnL>
                    <a:lnR>
                      <a:noFill/>
                    </a:lnR>
                    <a:lnT>
                      <a:noFill/>
                    </a:lnT>
                    <a:lnB>
                      <a:noFill/>
                    </a:lnB>
                  </a:tcPr>
                </a:tc>
                <a:extLst>
                  <a:ext uri="{0D108BD9-81ED-4DB2-BD59-A6C34878D82A}">
                    <a16:rowId xmlns:a16="http://schemas.microsoft.com/office/drawing/2014/main" val="3298840968"/>
                  </a:ext>
                </a:extLst>
              </a:tr>
              <a:tr h="0">
                <a:tc>
                  <a:txBody>
                    <a:bodyPr/>
                    <a:lstStyle/>
                    <a:p>
                      <a:pPr algn="l"/>
                      <a:r>
                        <a:rPr lang="zh-CN" altLang="en-US" b="1">
                          <a:solidFill>
                            <a:srgbClr val="00B0F0"/>
                          </a:solidFill>
                          <a:effectLst/>
                          <a:latin typeface="ui-sans-serif"/>
                        </a:rPr>
                        <a:t>开关损耗</a:t>
                      </a:r>
                    </a:p>
                  </a:txBody>
                  <a:tcPr anchor="ctr">
                    <a:lnL>
                      <a:noFill/>
                    </a:lnL>
                    <a:lnR>
                      <a:noFill/>
                    </a:lnR>
                    <a:lnT>
                      <a:noFill/>
                    </a:lnT>
                    <a:lnB>
                      <a:noFill/>
                    </a:lnB>
                  </a:tcPr>
                </a:tc>
                <a:tc>
                  <a:txBody>
                    <a:bodyPr/>
                    <a:lstStyle/>
                    <a:p>
                      <a:pPr algn="l"/>
                      <a:r>
                        <a:rPr lang="zh-CN" altLang="en-US" b="1" dirty="0">
                          <a:solidFill>
                            <a:srgbClr val="00B0F0"/>
                          </a:solidFill>
                          <a:effectLst/>
                          <a:latin typeface="ui-sans-serif"/>
                        </a:rPr>
                        <a:t>远低于硅 </a:t>
                      </a:r>
                      <a:r>
                        <a:rPr lang="en-US" b="1" dirty="0">
                          <a:solidFill>
                            <a:srgbClr val="00B0F0"/>
                          </a:solidFill>
                          <a:effectLst/>
                          <a:latin typeface="ui-sans-serif"/>
                        </a:rPr>
                        <a:t>IGBT</a:t>
                      </a:r>
                    </a:p>
                  </a:txBody>
                  <a:tcPr anchor="ctr">
                    <a:lnL>
                      <a:noFill/>
                    </a:lnL>
                    <a:lnR>
                      <a:noFill/>
                    </a:lnR>
                    <a:lnT>
                      <a:noFill/>
                    </a:lnT>
                    <a:lnB>
                      <a:noFill/>
                    </a:lnB>
                  </a:tcPr>
                </a:tc>
                <a:tc>
                  <a:txBody>
                    <a:bodyPr/>
                    <a:lstStyle/>
                    <a:p>
                      <a:pPr algn="l"/>
                      <a:r>
                        <a:rPr lang="zh-CN" altLang="en-US" b="1">
                          <a:solidFill>
                            <a:srgbClr val="00B0F0"/>
                          </a:solidFill>
                          <a:effectLst/>
                          <a:latin typeface="ui-sans-serif"/>
                        </a:rPr>
                        <a:t>比 </a:t>
                      </a:r>
                      <a:r>
                        <a:rPr lang="en-US" b="1">
                          <a:solidFill>
                            <a:srgbClr val="00B0F0"/>
                          </a:solidFill>
                          <a:effectLst/>
                          <a:latin typeface="ui-sans-serif"/>
                        </a:rPr>
                        <a:t>SiC </a:t>
                      </a:r>
                      <a:r>
                        <a:rPr lang="zh-CN" altLang="en-US" b="1">
                          <a:solidFill>
                            <a:srgbClr val="00B0F0"/>
                          </a:solidFill>
                          <a:effectLst/>
                          <a:latin typeface="ui-sans-serif"/>
                        </a:rPr>
                        <a:t>还低</a:t>
                      </a:r>
                    </a:p>
                  </a:txBody>
                  <a:tcPr anchor="ctr">
                    <a:lnL>
                      <a:noFill/>
                    </a:lnL>
                    <a:lnR>
                      <a:noFill/>
                    </a:lnR>
                    <a:lnT>
                      <a:noFill/>
                    </a:lnT>
                    <a:lnB>
                      <a:noFill/>
                    </a:lnB>
                  </a:tcPr>
                </a:tc>
                <a:extLst>
                  <a:ext uri="{0D108BD9-81ED-4DB2-BD59-A6C34878D82A}">
                    <a16:rowId xmlns:a16="http://schemas.microsoft.com/office/drawing/2014/main" val="3535283431"/>
                  </a:ext>
                </a:extLst>
              </a:tr>
              <a:tr h="0">
                <a:tc>
                  <a:txBody>
                    <a:bodyPr/>
                    <a:lstStyle/>
                    <a:p>
                      <a:pPr algn="l"/>
                      <a:r>
                        <a:rPr lang="zh-CN" altLang="en-US" b="1">
                          <a:solidFill>
                            <a:srgbClr val="00B0F0"/>
                          </a:solidFill>
                          <a:effectLst/>
                          <a:latin typeface="ui-sans-serif"/>
                        </a:rPr>
                        <a:t>高压大功率能力</a:t>
                      </a:r>
                    </a:p>
                  </a:txBody>
                  <a:tcPr anchor="ctr">
                    <a:lnL>
                      <a:noFill/>
                    </a:lnL>
                    <a:lnR>
                      <a:noFill/>
                    </a:lnR>
                    <a:lnT>
                      <a:noFill/>
                    </a:lnT>
                    <a:lnB>
                      <a:noFill/>
                    </a:lnB>
                  </a:tcPr>
                </a:tc>
                <a:tc>
                  <a:txBody>
                    <a:bodyPr/>
                    <a:lstStyle/>
                    <a:p>
                      <a:pPr algn="l"/>
                      <a:r>
                        <a:rPr lang="zh-CN" altLang="en-US" b="1">
                          <a:solidFill>
                            <a:srgbClr val="00B0F0"/>
                          </a:solidFill>
                          <a:effectLst/>
                          <a:latin typeface="ui-sans-serif"/>
                        </a:rPr>
                        <a:t>极强</a:t>
                      </a:r>
                    </a:p>
                  </a:txBody>
                  <a:tcPr anchor="ctr">
                    <a:lnL>
                      <a:noFill/>
                    </a:lnL>
                    <a:lnR>
                      <a:noFill/>
                    </a:lnR>
                    <a:lnT>
                      <a:noFill/>
                    </a:lnT>
                    <a:lnB>
                      <a:noFill/>
                    </a:lnB>
                  </a:tcPr>
                </a:tc>
                <a:tc>
                  <a:txBody>
                    <a:bodyPr/>
                    <a:lstStyle/>
                    <a:p>
                      <a:pPr algn="l"/>
                      <a:r>
                        <a:rPr lang="zh-CN" altLang="en-US" b="1">
                          <a:solidFill>
                            <a:srgbClr val="00B0F0"/>
                          </a:solidFill>
                          <a:effectLst/>
                          <a:latin typeface="ui-sans-serif"/>
                        </a:rPr>
                        <a:t>较弱</a:t>
                      </a:r>
                    </a:p>
                  </a:txBody>
                  <a:tcPr anchor="ctr">
                    <a:lnL>
                      <a:noFill/>
                    </a:lnL>
                    <a:lnR>
                      <a:noFill/>
                    </a:lnR>
                    <a:lnT>
                      <a:noFill/>
                    </a:lnT>
                    <a:lnB>
                      <a:noFill/>
                    </a:lnB>
                  </a:tcPr>
                </a:tc>
                <a:extLst>
                  <a:ext uri="{0D108BD9-81ED-4DB2-BD59-A6C34878D82A}">
                    <a16:rowId xmlns:a16="http://schemas.microsoft.com/office/drawing/2014/main" val="4199521563"/>
                  </a:ext>
                </a:extLst>
              </a:tr>
              <a:tr h="0">
                <a:tc>
                  <a:txBody>
                    <a:bodyPr/>
                    <a:lstStyle/>
                    <a:p>
                      <a:pPr algn="l"/>
                      <a:r>
                        <a:rPr lang="zh-CN" altLang="en-US" b="1">
                          <a:solidFill>
                            <a:srgbClr val="00B0F0"/>
                          </a:solidFill>
                          <a:effectLst/>
                          <a:latin typeface="ui-sans-serif"/>
                        </a:rPr>
                        <a:t>高频小体积</a:t>
                      </a:r>
                    </a:p>
                  </a:txBody>
                  <a:tcPr anchor="ctr">
                    <a:lnL>
                      <a:noFill/>
                    </a:lnL>
                    <a:lnR>
                      <a:noFill/>
                    </a:lnR>
                    <a:lnT>
                      <a:noFill/>
                    </a:lnT>
                    <a:lnB>
                      <a:noFill/>
                    </a:lnB>
                  </a:tcPr>
                </a:tc>
                <a:tc>
                  <a:txBody>
                    <a:bodyPr/>
                    <a:lstStyle/>
                    <a:p>
                      <a:pPr algn="l"/>
                      <a:r>
                        <a:rPr lang="zh-CN" altLang="en-US" b="1">
                          <a:solidFill>
                            <a:srgbClr val="00B0F0"/>
                          </a:solidFill>
                          <a:effectLst/>
                          <a:latin typeface="ui-sans-serif"/>
                        </a:rPr>
                        <a:t>好</a:t>
                      </a:r>
                    </a:p>
                  </a:txBody>
                  <a:tcPr anchor="ctr">
                    <a:lnL>
                      <a:noFill/>
                    </a:lnL>
                    <a:lnR>
                      <a:noFill/>
                    </a:lnR>
                    <a:lnT>
                      <a:noFill/>
                    </a:lnT>
                    <a:lnB>
                      <a:noFill/>
                    </a:lnB>
                  </a:tcPr>
                </a:tc>
                <a:tc>
                  <a:txBody>
                    <a:bodyPr/>
                    <a:lstStyle/>
                    <a:p>
                      <a:pPr algn="l"/>
                      <a:r>
                        <a:rPr lang="zh-CN" altLang="en-US" b="1">
                          <a:solidFill>
                            <a:srgbClr val="00B0F0"/>
                          </a:solidFill>
                          <a:effectLst/>
                          <a:latin typeface="ui-sans-serif"/>
                        </a:rPr>
                        <a:t>顶级</a:t>
                      </a:r>
                    </a:p>
                  </a:txBody>
                  <a:tcPr anchor="ctr">
                    <a:lnL>
                      <a:noFill/>
                    </a:lnL>
                    <a:lnR>
                      <a:noFill/>
                    </a:lnR>
                    <a:lnT>
                      <a:noFill/>
                    </a:lnT>
                    <a:lnB>
                      <a:noFill/>
                    </a:lnB>
                  </a:tcPr>
                </a:tc>
                <a:extLst>
                  <a:ext uri="{0D108BD9-81ED-4DB2-BD59-A6C34878D82A}">
                    <a16:rowId xmlns:a16="http://schemas.microsoft.com/office/drawing/2014/main" val="2193370417"/>
                  </a:ext>
                </a:extLst>
              </a:tr>
              <a:tr h="0">
                <a:tc>
                  <a:txBody>
                    <a:bodyPr/>
                    <a:lstStyle/>
                    <a:p>
                      <a:pPr algn="l"/>
                      <a:r>
                        <a:rPr lang="zh-CN" altLang="en-US" b="1">
                          <a:solidFill>
                            <a:srgbClr val="00B0F0"/>
                          </a:solidFill>
                          <a:effectLst/>
                          <a:latin typeface="ui-sans-serif"/>
                        </a:rPr>
                        <a:t>成本（同功率）</a:t>
                      </a:r>
                    </a:p>
                  </a:txBody>
                  <a:tcPr anchor="ctr">
                    <a:lnL>
                      <a:noFill/>
                    </a:lnL>
                    <a:lnR>
                      <a:noFill/>
                    </a:lnR>
                    <a:lnT>
                      <a:noFill/>
                    </a:lnT>
                    <a:lnB>
                      <a:noFill/>
                    </a:lnB>
                  </a:tcPr>
                </a:tc>
                <a:tc>
                  <a:txBody>
                    <a:bodyPr/>
                    <a:lstStyle/>
                    <a:p>
                      <a:pPr algn="l"/>
                      <a:r>
                        <a:rPr lang="zh-CN" altLang="en-US" b="1">
                          <a:solidFill>
                            <a:srgbClr val="00B0F0"/>
                          </a:solidFill>
                          <a:effectLst/>
                          <a:latin typeface="ui-sans-serif"/>
                        </a:rPr>
                        <a:t>偏高</a:t>
                      </a:r>
                    </a:p>
                  </a:txBody>
                  <a:tcPr anchor="ctr">
                    <a:lnL>
                      <a:noFill/>
                    </a:lnL>
                    <a:lnR>
                      <a:noFill/>
                    </a:lnR>
                    <a:lnT>
                      <a:noFill/>
                    </a:lnT>
                    <a:lnB>
                      <a:noFill/>
                    </a:lnB>
                  </a:tcPr>
                </a:tc>
                <a:tc>
                  <a:txBody>
                    <a:bodyPr/>
                    <a:lstStyle/>
                    <a:p>
                      <a:pPr algn="l"/>
                      <a:r>
                        <a:rPr lang="zh-CN" altLang="en-US" b="1">
                          <a:solidFill>
                            <a:srgbClr val="00B0F0"/>
                          </a:solidFill>
                          <a:effectLst/>
                          <a:latin typeface="ui-sans-serif"/>
                        </a:rPr>
                        <a:t>中低（低压 </a:t>
                      </a:r>
                      <a:r>
                        <a:rPr lang="en-US" b="1">
                          <a:solidFill>
                            <a:srgbClr val="00B0F0"/>
                          </a:solidFill>
                          <a:effectLst/>
                          <a:latin typeface="ui-sans-serif"/>
                        </a:rPr>
                        <a:t>GaN </a:t>
                      </a:r>
                      <a:r>
                        <a:rPr lang="zh-CN" altLang="en-US" b="1">
                          <a:solidFill>
                            <a:srgbClr val="00B0F0"/>
                          </a:solidFill>
                          <a:effectLst/>
                          <a:latin typeface="ui-sans-serif"/>
                        </a:rPr>
                        <a:t>更便宜）</a:t>
                      </a:r>
                    </a:p>
                  </a:txBody>
                  <a:tcPr anchor="ctr">
                    <a:lnL>
                      <a:noFill/>
                    </a:lnL>
                    <a:lnR>
                      <a:noFill/>
                    </a:lnR>
                    <a:lnT>
                      <a:noFill/>
                    </a:lnT>
                    <a:lnB>
                      <a:noFill/>
                    </a:lnB>
                  </a:tcPr>
                </a:tc>
                <a:extLst>
                  <a:ext uri="{0D108BD9-81ED-4DB2-BD59-A6C34878D82A}">
                    <a16:rowId xmlns:a16="http://schemas.microsoft.com/office/drawing/2014/main" val="3234391561"/>
                  </a:ext>
                </a:extLst>
              </a:tr>
              <a:tr h="0">
                <a:tc>
                  <a:txBody>
                    <a:bodyPr/>
                    <a:lstStyle/>
                    <a:p>
                      <a:pPr algn="l"/>
                      <a:r>
                        <a:rPr lang="zh-CN" altLang="en-US" b="1">
                          <a:solidFill>
                            <a:srgbClr val="00B0F0"/>
                          </a:solidFill>
                          <a:effectLst/>
                          <a:latin typeface="ui-sans-serif"/>
                        </a:rPr>
                        <a:t>可靠性</a:t>
                      </a:r>
                    </a:p>
                  </a:txBody>
                  <a:tcPr anchor="ctr">
                    <a:lnL>
                      <a:noFill/>
                    </a:lnL>
                    <a:lnR>
                      <a:noFill/>
                    </a:lnR>
                    <a:lnT>
                      <a:noFill/>
                    </a:lnT>
                    <a:lnB>
                      <a:noFill/>
                    </a:lnB>
                  </a:tcPr>
                </a:tc>
                <a:tc>
                  <a:txBody>
                    <a:bodyPr/>
                    <a:lstStyle/>
                    <a:p>
                      <a:pPr algn="l"/>
                      <a:r>
                        <a:rPr lang="zh-CN" altLang="en-US" b="1">
                          <a:solidFill>
                            <a:srgbClr val="00B0F0"/>
                          </a:solidFill>
                          <a:effectLst/>
                          <a:latin typeface="ui-sans-serif"/>
                        </a:rPr>
                        <a:t>高，适合工业 </a:t>
                      </a:r>
                      <a:r>
                        <a:rPr lang="en-US" altLang="zh-CN" b="1">
                          <a:solidFill>
                            <a:srgbClr val="00B0F0"/>
                          </a:solidFill>
                          <a:effectLst/>
                          <a:latin typeface="ui-sans-serif"/>
                        </a:rPr>
                        <a:t>/ </a:t>
                      </a:r>
                      <a:r>
                        <a:rPr lang="zh-CN" altLang="en-US" b="1">
                          <a:solidFill>
                            <a:srgbClr val="00B0F0"/>
                          </a:solidFill>
                          <a:effectLst/>
                          <a:latin typeface="ui-sans-serif"/>
                        </a:rPr>
                        <a:t>车规</a:t>
                      </a:r>
                    </a:p>
                  </a:txBody>
                  <a:tcPr anchor="ctr">
                    <a:lnL>
                      <a:noFill/>
                    </a:lnL>
                    <a:lnR>
                      <a:noFill/>
                    </a:lnR>
                    <a:lnT>
                      <a:noFill/>
                    </a:lnT>
                    <a:lnB>
                      <a:noFill/>
                    </a:lnB>
                  </a:tcPr>
                </a:tc>
                <a:tc>
                  <a:txBody>
                    <a:bodyPr/>
                    <a:lstStyle/>
                    <a:p>
                      <a:pPr algn="l"/>
                      <a:r>
                        <a:rPr lang="zh-CN" altLang="en-US" b="1" dirty="0">
                          <a:solidFill>
                            <a:srgbClr val="00B0F0"/>
                          </a:solidFill>
                          <a:effectLst/>
                          <a:latin typeface="ui-sans-serif"/>
                        </a:rPr>
                        <a:t>高，但高压可靠性不如 </a:t>
                      </a:r>
                      <a:r>
                        <a:rPr lang="en-US" b="1" dirty="0" err="1">
                          <a:solidFill>
                            <a:srgbClr val="00B0F0"/>
                          </a:solidFill>
                          <a:effectLst/>
                          <a:latin typeface="ui-sans-serif"/>
                        </a:rPr>
                        <a:t>SiC</a:t>
                      </a:r>
                      <a:endParaRPr lang="en-US" b="1" dirty="0">
                        <a:solidFill>
                          <a:srgbClr val="00B0F0"/>
                        </a:solidFill>
                        <a:effectLst/>
                        <a:latin typeface="ui-sans-serif"/>
                      </a:endParaRPr>
                    </a:p>
                  </a:txBody>
                  <a:tcPr anchor="ctr">
                    <a:lnL>
                      <a:noFill/>
                    </a:lnL>
                    <a:lnR>
                      <a:noFill/>
                    </a:lnR>
                    <a:lnT>
                      <a:noFill/>
                    </a:lnT>
                    <a:lnB>
                      <a:noFill/>
                    </a:lnB>
                  </a:tcPr>
                </a:tc>
                <a:extLst>
                  <a:ext uri="{0D108BD9-81ED-4DB2-BD59-A6C34878D82A}">
                    <a16:rowId xmlns:a16="http://schemas.microsoft.com/office/drawing/2014/main" val="2663355498"/>
                  </a:ext>
                </a:extLst>
              </a:tr>
            </a:tbl>
          </a:graphicData>
        </a:graphic>
      </p:graphicFrame>
    </p:spTree>
    <p:extLst>
      <p:ext uri="{BB962C8B-B14F-4D97-AF65-F5344CB8AC3E}">
        <p14:creationId xmlns:p14="http://schemas.microsoft.com/office/powerpoint/2010/main" val="222322171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62" name="Rectangle 2"/>
          <p:cNvSpPr>
            <a:spLocks noGrp="1" noChangeArrowheads="1"/>
          </p:cNvSpPr>
          <p:nvPr>
            <p:ph type="title"/>
          </p:nvPr>
        </p:nvSpPr>
        <p:spPr>
          <a:xfrm>
            <a:off x="827088" y="261938"/>
            <a:ext cx="7848600" cy="428625"/>
          </a:xfrm>
        </p:spPr>
        <p:txBody>
          <a:bodyPr/>
          <a:lstStyle/>
          <a:p>
            <a:r>
              <a:rPr lang="en-US" altLang="zh-CN" sz="3600" b="1"/>
              <a:t>2.6 </a:t>
            </a:r>
            <a:r>
              <a:rPr lang="zh-CN" altLang="en-US" sz="3600" b="1"/>
              <a:t>功率集成电路与集成电力电子模块</a:t>
            </a:r>
          </a:p>
        </p:txBody>
      </p:sp>
      <p:sp>
        <p:nvSpPr>
          <p:cNvPr id="143363" name="Rectangle 3"/>
          <p:cNvSpPr>
            <a:spLocks noGrp="1" noChangeArrowheads="1"/>
          </p:cNvSpPr>
          <p:nvPr>
            <p:ph idx="1"/>
          </p:nvPr>
        </p:nvSpPr>
        <p:spPr>
          <a:xfrm>
            <a:off x="990600" y="838200"/>
            <a:ext cx="7696200" cy="5181600"/>
          </a:xfrm>
        </p:spPr>
        <p:txBody>
          <a:bodyPr/>
          <a:lstStyle/>
          <a:p>
            <a:pPr>
              <a:lnSpc>
                <a:spcPct val="125000"/>
              </a:lnSpc>
              <a:buFontTx/>
              <a:buNone/>
            </a:pPr>
            <a:r>
              <a:rPr lang="en-US" altLang="zh-CN" sz="2800" b="1" dirty="0">
                <a:solidFill>
                  <a:srgbClr val="E35449"/>
                </a:solidFill>
              </a:rPr>
              <a:t>■</a:t>
            </a:r>
            <a:r>
              <a:rPr kumimoji="1" lang="zh-CN" altLang="en-US" sz="2400" b="1" dirty="0"/>
              <a:t>基本概念</a:t>
            </a:r>
          </a:p>
          <a:p>
            <a:pPr>
              <a:lnSpc>
                <a:spcPct val="125000"/>
              </a:lnSpc>
              <a:buFontTx/>
              <a:buNone/>
            </a:pPr>
            <a:r>
              <a:rPr lang="zh-CN" altLang="en-US" sz="2400" b="1" dirty="0">
                <a:solidFill>
                  <a:srgbClr val="0000FF"/>
                </a:solidFill>
              </a:rPr>
              <a:t>   ◆ </a:t>
            </a:r>
            <a:r>
              <a:rPr lang="en-US" altLang="zh-CN" sz="2400" b="1" dirty="0"/>
              <a:t>20</a:t>
            </a:r>
            <a:r>
              <a:rPr lang="zh-CN" altLang="en-US" sz="2400" b="1" dirty="0"/>
              <a:t>世纪</a:t>
            </a:r>
            <a:r>
              <a:rPr lang="en-US" altLang="zh-CN" sz="2400" b="1" dirty="0"/>
              <a:t>80</a:t>
            </a:r>
            <a:r>
              <a:rPr lang="zh-CN" altLang="en-US" sz="2400" b="1" dirty="0"/>
              <a:t>年代中后期开始，模块化趋势，将多个器件封装在一个模块中，称为</a:t>
            </a:r>
            <a:r>
              <a:rPr lang="zh-CN" altLang="en-US" sz="2400" b="1" dirty="0">
                <a:solidFill>
                  <a:srgbClr val="E35449"/>
                </a:solidFill>
              </a:rPr>
              <a:t>功率模块</a:t>
            </a:r>
            <a:r>
              <a:rPr lang="zh-CN" altLang="en-US" sz="2400" b="1" dirty="0"/>
              <a:t>。</a:t>
            </a:r>
          </a:p>
          <a:p>
            <a:pPr>
              <a:lnSpc>
                <a:spcPct val="125000"/>
              </a:lnSpc>
              <a:buFontTx/>
              <a:buNone/>
            </a:pPr>
            <a:r>
              <a:rPr lang="zh-CN" altLang="en-US" sz="2400" b="1" dirty="0"/>
              <a:t>   </a:t>
            </a:r>
            <a:r>
              <a:rPr lang="zh-CN" altLang="en-US" sz="2400" b="1" dirty="0">
                <a:solidFill>
                  <a:srgbClr val="0000FF"/>
                </a:solidFill>
              </a:rPr>
              <a:t>◆</a:t>
            </a:r>
            <a:r>
              <a:rPr lang="zh-CN" altLang="en-US" sz="2400" b="1" dirty="0"/>
              <a:t>可缩小装置体积，降低成本，提高可靠性。</a:t>
            </a:r>
          </a:p>
          <a:p>
            <a:pPr>
              <a:lnSpc>
                <a:spcPct val="125000"/>
              </a:lnSpc>
              <a:buFontTx/>
              <a:buNone/>
            </a:pPr>
            <a:r>
              <a:rPr lang="zh-CN" altLang="en-US" sz="2400" b="1" dirty="0">
                <a:solidFill>
                  <a:srgbClr val="0000FF"/>
                </a:solidFill>
              </a:rPr>
              <a:t>   ◆</a:t>
            </a:r>
            <a:r>
              <a:rPr lang="zh-CN" altLang="en-US" sz="2400" b="1" dirty="0"/>
              <a:t>对工作频率高的电路，可大大减小线路电感，从而简化对保护和缓冲电路的要求。</a:t>
            </a:r>
          </a:p>
          <a:p>
            <a:pPr>
              <a:lnSpc>
                <a:spcPct val="125000"/>
              </a:lnSpc>
              <a:buFontTx/>
              <a:buNone/>
            </a:pPr>
            <a:r>
              <a:rPr lang="zh-CN" altLang="en-US" sz="2400" b="1" dirty="0">
                <a:solidFill>
                  <a:srgbClr val="0000FF"/>
                </a:solidFill>
              </a:rPr>
              <a:t>   ◆</a:t>
            </a:r>
            <a:r>
              <a:rPr lang="zh-CN" altLang="en-US" sz="2400" b="1" dirty="0"/>
              <a:t>将器件与逻辑、控制、保护、传感、检测、自诊断等信息电子电路制作在同一芯片上，称为</a:t>
            </a:r>
            <a:r>
              <a:rPr lang="zh-CN" altLang="en-US" sz="2400" b="1" dirty="0">
                <a:solidFill>
                  <a:srgbClr val="E35449"/>
                </a:solidFill>
              </a:rPr>
              <a:t>功率集成电路（</a:t>
            </a:r>
            <a:r>
              <a:rPr lang="en-US" altLang="zh-CN" sz="2400" b="1" dirty="0">
                <a:solidFill>
                  <a:srgbClr val="E35449"/>
                </a:solidFill>
              </a:rPr>
              <a:t>Power Integrated Circuit——PIC</a:t>
            </a:r>
            <a:r>
              <a:rPr lang="zh-CN" altLang="en-US" sz="2400" b="1" dirty="0">
                <a:solidFill>
                  <a:srgbClr val="E35449"/>
                </a:solidFill>
              </a:rPr>
              <a:t>）</a:t>
            </a:r>
            <a:r>
              <a:rPr lang="zh-CN" altLang="en-US" sz="2400" b="1" dirty="0"/>
              <a:t>。</a:t>
            </a:r>
          </a:p>
        </p:txBody>
      </p:sp>
      <p:sp>
        <p:nvSpPr>
          <p:cNvPr id="2" name="灯片编号占位符 1"/>
          <p:cNvSpPr>
            <a:spLocks noGrp="1"/>
          </p:cNvSpPr>
          <p:nvPr>
            <p:ph type="sldNum" sz="quarter" idx="12"/>
          </p:nvPr>
        </p:nvSpPr>
        <p:spPr/>
        <p:txBody>
          <a:bodyPr/>
          <a:lstStyle/>
          <a:p>
            <a:fld id="{0C913308-F349-4B6D-A68A-DD1791B4A57B}" type="slidenum">
              <a:rPr lang="zh-CN" altLang="en-US" smtClean="0"/>
              <a:t>31</a:t>
            </a:fld>
            <a:endParaRPr lang="zh-CN" altLang="en-US"/>
          </a:p>
        </p:txBody>
      </p:sp>
      <p:sp>
        <p:nvSpPr>
          <p:cNvPr id="3" name="日期占位符 2"/>
          <p:cNvSpPr>
            <a:spLocks noGrp="1"/>
          </p:cNvSpPr>
          <p:nvPr>
            <p:ph type="dt" sz="half" idx="10"/>
          </p:nvPr>
        </p:nvSpPr>
        <p:spPr/>
        <p:txBody>
          <a:bodyPr/>
          <a:lstStyle/>
          <a:p>
            <a:fld id="{C1202FC5-9B36-48EF-A580-95DA6885E5DC}" type="datetime10">
              <a:rPr lang="zh-CN" altLang="en-US" smtClean="0"/>
              <a:t>14:22</a:t>
            </a:fld>
            <a:endParaRPr lang="zh-CN" altLang="en-US"/>
          </a:p>
        </p:txBody>
      </p:sp>
    </p:spTree>
    <p:extLst>
      <p:ext uri="{BB962C8B-B14F-4D97-AF65-F5344CB8AC3E}">
        <p14:creationId xmlns:p14="http://schemas.microsoft.com/office/powerpoint/2010/main" val="45567295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434" name="Rectangle 2"/>
          <p:cNvSpPr>
            <a:spLocks noGrp="1" noChangeArrowheads="1"/>
          </p:cNvSpPr>
          <p:nvPr>
            <p:ph type="title"/>
          </p:nvPr>
        </p:nvSpPr>
        <p:spPr>
          <a:xfrm>
            <a:off x="827088" y="261938"/>
            <a:ext cx="7848600" cy="428625"/>
          </a:xfrm>
        </p:spPr>
        <p:txBody>
          <a:bodyPr/>
          <a:lstStyle/>
          <a:p>
            <a:pPr algn="l"/>
            <a:r>
              <a:rPr lang="zh-CN" altLang="en-US" sz="3600" b="1"/>
              <a:t>本章小结</a:t>
            </a:r>
          </a:p>
        </p:txBody>
      </p:sp>
      <p:sp>
        <p:nvSpPr>
          <p:cNvPr id="146435" name="Rectangle 3"/>
          <p:cNvSpPr>
            <a:spLocks noGrp="1" noChangeArrowheads="1"/>
          </p:cNvSpPr>
          <p:nvPr>
            <p:ph idx="1"/>
          </p:nvPr>
        </p:nvSpPr>
        <p:spPr/>
        <p:txBody>
          <a:bodyPr/>
          <a:lstStyle/>
          <a:p>
            <a:pPr>
              <a:lnSpc>
                <a:spcPct val="114000"/>
              </a:lnSpc>
              <a:buFontTx/>
              <a:buNone/>
            </a:pPr>
            <a:r>
              <a:rPr lang="en-US" altLang="zh-CN" sz="2400" b="1" dirty="0">
                <a:solidFill>
                  <a:srgbClr val="E35449"/>
                </a:solidFill>
              </a:rPr>
              <a:t>■</a:t>
            </a:r>
            <a:r>
              <a:rPr lang="zh-CN" altLang="en-US" sz="2400" b="1" dirty="0"/>
              <a:t>将各种主要电力电子器件的基本结构、工作原理、基本</a:t>
            </a:r>
          </a:p>
          <a:p>
            <a:pPr>
              <a:lnSpc>
                <a:spcPct val="114000"/>
              </a:lnSpc>
              <a:buFontTx/>
              <a:buNone/>
            </a:pPr>
            <a:r>
              <a:rPr lang="zh-CN" altLang="en-US" sz="2400" b="1" dirty="0"/>
              <a:t>特性和主要参数等问题作了全面的介绍。</a:t>
            </a:r>
          </a:p>
          <a:p>
            <a:pPr>
              <a:lnSpc>
                <a:spcPct val="114000"/>
              </a:lnSpc>
              <a:buFontTx/>
              <a:buNone/>
            </a:pPr>
            <a:r>
              <a:rPr lang="zh-CN" altLang="en-US" sz="2400" b="1" dirty="0">
                <a:solidFill>
                  <a:srgbClr val="E35449"/>
                </a:solidFill>
              </a:rPr>
              <a:t>■</a:t>
            </a:r>
            <a:r>
              <a:rPr lang="zh-CN" altLang="en-US" sz="2400" b="1" dirty="0"/>
              <a:t>电力电子器件归类</a:t>
            </a:r>
          </a:p>
          <a:p>
            <a:pPr>
              <a:lnSpc>
                <a:spcPct val="114000"/>
              </a:lnSpc>
              <a:buFontTx/>
              <a:buNone/>
            </a:pPr>
            <a:r>
              <a:rPr lang="zh-CN" altLang="en-US" sz="2400" b="1" dirty="0">
                <a:solidFill>
                  <a:srgbClr val="0000FF"/>
                </a:solidFill>
              </a:rPr>
              <a:t>    ◆</a:t>
            </a:r>
            <a:r>
              <a:rPr lang="zh-CN" altLang="en-US" sz="2400" b="1" dirty="0"/>
              <a:t>按照器件内部</a:t>
            </a:r>
            <a:r>
              <a:rPr lang="zh-CN" altLang="en-US" sz="2400" b="1" dirty="0">
                <a:solidFill>
                  <a:srgbClr val="E35449"/>
                </a:solidFill>
              </a:rPr>
              <a:t>电子</a:t>
            </a:r>
            <a:r>
              <a:rPr lang="zh-CN" altLang="en-US" sz="2400" b="1" dirty="0"/>
              <a:t>和</a:t>
            </a:r>
            <a:r>
              <a:rPr lang="zh-CN" altLang="en-US" sz="2400" b="1" dirty="0">
                <a:solidFill>
                  <a:srgbClr val="E35449"/>
                </a:solidFill>
              </a:rPr>
              <a:t>空穴</a:t>
            </a:r>
          </a:p>
          <a:p>
            <a:pPr>
              <a:lnSpc>
                <a:spcPct val="114000"/>
              </a:lnSpc>
              <a:buFontTx/>
              <a:buNone/>
            </a:pPr>
            <a:r>
              <a:rPr lang="zh-CN" altLang="en-US" sz="2400" b="1" dirty="0"/>
              <a:t>两种载流子参与导电的情况</a:t>
            </a:r>
          </a:p>
          <a:p>
            <a:pPr>
              <a:lnSpc>
                <a:spcPct val="114000"/>
              </a:lnSpc>
              <a:buFontTx/>
              <a:buNone/>
            </a:pPr>
            <a:r>
              <a:rPr lang="zh-CN" altLang="en-US" sz="2400" b="1" dirty="0">
                <a:solidFill>
                  <a:srgbClr val="009900"/>
                </a:solidFill>
              </a:rPr>
              <a:t>       ☞</a:t>
            </a:r>
            <a:r>
              <a:rPr lang="zh-CN" altLang="en-US" sz="2400" b="1" dirty="0">
                <a:solidFill>
                  <a:srgbClr val="E35449"/>
                </a:solidFill>
              </a:rPr>
              <a:t>单极型</a:t>
            </a:r>
            <a:r>
              <a:rPr lang="zh-CN" altLang="en-US" sz="2400" b="1" dirty="0"/>
              <a:t>：肖特基二极管、</a:t>
            </a:r>
          </a:p>
          <a:p>
            <a:pPr>
              <a:lnSpc>
                <a:spcPct val="114000"/>
              </a:lnSpc>
              <a:buFontTx/>
              <a:buNone/>
            </a:pPr>
            <a:r>
              <a:rPr lang="zh-CN" altLang="en-US" sz="2400" b="1" dirty="0"/>
              <a:t>    </a:t>
            </a:r>
            <a:r>
              <a:rPr lang="zh-CN" altLang="en-US" sz="2400" b="1" dirty="0">
                <a:solidFill>
                  <a:srgbClr val="FF0000"/>
                </a:solidFill>
              </a:rPr>
              <a:t>电力</a:t>
            </a:r>
            <a:r>
              <a:rPr lang="en-US" altLang="zh-CN" sz="2400" b="1" dirty="0">
                <a:solidFill>
                  <a:srgbClr val="FF0000"/>
                </a:solidFill>
              </a:rPr>
              <a:t>MOSFET</a:t>
            </a:r>
            <a:r>
              <a:rPr lang="zh-CN" altLang="en-US" sz="2400" b="1" dirty="0"/>
              <a:t>和</a:t>
            </a:r>
            <a:r>
              <a:rPr lang="en-US" altLang="zh-CN" sz="2400" b="1" dirty="0"/>
              <a:t>SIT</a:t>
            </a:r>
            <a:r>
              <a:rPr lang="zh-CN" altLang="en-US" sz="2400" b="1" dirty="0"/>
              <a:t>等。</a:t>
            </a:r>
            <a:r>
              <a:rPr lang="zh-CN" altLang="en-US" sz="2400" dirty="0"/>
              <a:t> </a:t>
            </a:r>
          </a:p>
          <a:p>
            <a:pPr>
              <a:lnSpc>
                <a:spcPct val="114000"/>
              </a:lnSpc>
              <a:buFontTx/>
              <a:buNone/>
            </a:pPr>
            <a:r>
              <a:rPr lang="zh-CN" altLang="en-US" sz="2400" dirty="0"/>
              <a:t>        </a:t>
            </a:r>
            <a:r>
              <a:rPr lang="zh-CN" altLang="en-US" sz="2400" b="1" dirty="0">
                <a:solidFill>
                  <a:srgbClr val="009900"/>
                </a:solidFill>
              </a:rPr>
              <a:t>☞</a:t>
            </a:r>
            <a:r>
              <a:rPr lang="zh-CN" altLang="en-US" sz="2400" b="1" dirty="0">
                <a:solidFill>
                  <a:srgbClr val="E35449"/>
                </a:solidFill>
              </a:rPr>
              <a:t>双极型</a:t>
            </a:r>
            <a:r>
              <a:rPr lang="zh-CN" altLang="en-US" sz="2400" b="1" dirty="0"/>
              <a:t>：</a:t>
            </a:r>
            <a:r>
              <a:rPr lang="zh-CN" altLang="en-US" sz="2400" b="1" dirty="0">
                <a:solidFill>
                  <a:srgbClr val="FF0000"/>
                </a:solidFill>
              </a:rPr>
              <a:t>基于</a:t>
            </a:r>
            <a:r>
              <a:rPr lang="en-US" altLang="zh-CN" sz="2400" b="1" dirty="0">
                <a:solidFill>
                  <a:srgbClr val="FF0000"/>
                </a:solidFill>
              </a:rPr>
              <a:t>PN</a:t>
            </a:r>
            <a:r>
              <a:rPr lang="zh-CN" altLang="en-US" sz="2400" b="1" dirty="0">
                <a:solidFill>
                  <a:srgbClr val="FF0000"/>
                </a:solidFill>
              </a:rPr>
              <a:t>结的电</a:t>
            </a:r>
          </a:p>
          <a:p>
            <a:pPr>
              <a:lnSpc>
                <a:spcPct val="114000"/>
              </a:lnSpc>
              <a:buFontTx/>
              <a:buNone/>
            </a:pPr>
            <a:r>
              <a:rPr lang="zh-CN" altLang="en-US" sz="2400" b="1" dirty="0">
                <a:solidFill>
                  <a:srgbClr val="FF0000"/>
                </a:solidFill>
              </a:rPr>
              <a:t>    力二极管、晶闸管、</a:t>
            </a:r>
            <a:r>
              <a:rPr lang="en-US" altLang="zh-CN" sz="2400" b="1" dirty="0">
                <a:solidFill>
                  <a:srgbClr val="FF0000"/>
                </a:solidFill>
              </a:rPr>
              <a:t>GTO</a:t>
            </a:r>
            <a:r>
              <a:rPr lang="zh-CN" altLang="en-US" sz="2400" b="1" dirty="0">
                <a:solidFill>
                  <a:srgbClr val="FF0000"/>
                </a:solidFill>
              </a:rPr>
              <a:t>和</a:t>
            </a:r>
          </a:p>
          <a:p>
            <a:pPr>
              <a:lnSpc>
                <a:spcPct val="114000"/>
              </a:lnSpc>
              <a:buFontTx/>
              <a:buNone/>
            </a:pPr>
            <a:r>
              <a:rPr lang="zh-CN" altLang="en-US" sz="2400" b="1" dirty="0">
                <a:solidFill>
                  <a:srgbClr val="FF0000"/>
                </a:solidFill>
              </a:rPr>
              <a:t>    </a:t>
            </a:r>
            <a:r>
              <a:rPr lang="en-US" altLang="zh-CN" sz="2400" b="1" dirty="0">
                <a:solidFill>
                  <a:srgbClr val="FF0000"/>
                </a:solidFill>
              </a:rPr>
              <a:t>GTR</a:t>
            </a:r>
            <a:r>
              <a:rPr lang="zh-CN" altLang="en-US" sz="2400" b="1" dirty="0">
                <a:solidFill>
                  <a:srgbClr val="FF0000"/>
                </a:solidFill>
              </a:rPr>
              <a:t>等</a:t>
            </a:r>
            <a:r>
              <a:rPr lang="zh-CN" altLang="en-US" sz="2400" b="1" dirty="0"/>
              <a:t>。</a:t>
            </a:r>
          </a:p>
          <a:p>
            <a:pPr>
              <a:lnSpc>
                <a:spcPct val="114000"/>
              </a:lnSpc>
              <a:buFontTx/>
              <a:buNone/>
            </a:pPr>
            <a:r>
              <a:rPr lang="zh-CN" altLang="en-US" sz="2400" dirty="0"/>
              <a:t>        </a:t>
            </a:r>
            <a:r>
              <a:rPr lang="zh-CN" altLang="en-US" sz="2400" b="1" dirty="0">
                <a:solidFill>
                  <a:srgbClr val="009900"/>
                </a:solidFill>
              </a:rPr>
              <a:t>☞</a:t>
            </a:r>
            <a:r>
              <a:rPr lang="zh-CN" altLang="en-US" sz="2400" b="1" dirty="0">
                <a:solidFill>
                  <a:srgbClr val="E35449"/>
                </a:solidFill>
              </a:rPr>
              <a:t>复合型</a:t>
            </a:r>
            <a:r>
              <a:rPr lang="zh-CN" altLang="en-US" sz="2400" dirty="0"/>
              <a:t> ：</a:t>
            </a:r>
            <a:r>
              <a:rPr lang="en-US" altLang="zh-CN" sz="2400" b="1" dirty="0">
                <a:solidFill>
                  <a:srgbClr val="FF0000"/>
                </a:solidFill>
              </a:rPr>
              <a:t>IGBT</a:t>
            </a:r>
            <a:r>
              <a:rPr lang="zh-CN" altLang="en-US" sz="2400" b="1" dirty="0"/>
              <a:t>、</a:t>
            </a:r>
            <a:r>
              <a:rPr lang="en-US" altLang="zh-CN" sz="2400" b="1" dirty="0"/>
              <a:t>SITH</a:t>
            </a:r>
          </a:p>
          <a:p>
            <a:pPr>
              <a:lnSpc>
                <a:spcPct val="114000"/>
              </a:lnSpc>
              <a:buFontTx/>
              <a:buNone/>
            </a:pPr>
            <a:r>
              <a:rPr lang="en-US" altLang="zh-CN" sz="2400" b="1" dirty="0"/>
              <a:t>    </a:t>
            </a:r>
            <a:r>
              <a:rPr lang="zh-CN" altLang="en-US" sz="2400" b="1" dirty="0"/>
              <a:t>和</a:t>
            </a:r>
            <a:r>
              <a:rPr lang="en-US" altLang="zh-CN" sz="2400" b="1" dirty="0"/>
              <a:t>MCT</a:t>
            </a:r>
            <a:r>
              <a:rPr lang="zh-CN" altLang="en-US" sz="2400" b="1" dirty="0"/>
              <a:t>等。</a:t>
            </a:r>
            <a:r>
              <a:rPr lang="zh-CN" altLang="en-US" sz="2800" b="1" dirty="0"/>
              <a:t>        </a:t>
            </a:r>
            <a:r>
              <a:rPr lang="zh-CN" altLang="en-US" sz="2800" dirty="0"/>
              <a:t>  </a:t>
            </a:r>
          </a:p>
        </p:txBody>
      </p:sp>
      <p:pic>
        <p:nvPicPr>
          <p:cNvPr id="146436" name="Picture 4" descr="4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36096" y="2492375"/>
            <a:ext cx="3600450" cy="2771775"/>
          </a:xfrm>
          <a:prstGeom prst="rect">
            <a:avLst/>
          </a:prstGeom>
          <a:noFill/>
          <a:extLst>
            <a:ext uri="{909E8E84-426E-40DD-AFC4-6F175D3DCCD1}">
              <a14:hiddenFill xmlns:a14="http://schemas.microsoft.com/office/drawing/2010/main">
                <a:solidFill>
                  <a:srgbClr val="FFFFFF"/>
                </a:solidFill>
              </a14:hiddenFill>
            </a:ext>
          </a:extLst>
        </p:spPr>
      </p:pic>
      <p:sp>
        <p:nvSpPr>
          <p:cNvPr id="146437" name="Text Box 5"/>
          <p:cNvSpPr txBox="1">
            <a:spLocks noChangeArrowheads="1"/>
          </p:cNvSpPr>
          <p:nvPr/>
        </p:nvSpPr>
        <p:spPr bwMode="auto">
          <a:xfrm>
            <a:off x="5651500" y="5445125"/>
            <a:ext cx="2900363"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zh-CN" altLang="en-US" sz="1400" b="1">
                <a:solidFill>
                  <a:srgbClr val="6600CC"/>
                </a:solidFill>
                <a:latin typeface="Times New Roman" pitchFamily="18" charset="0"/>
              </a:rPr>
              <a:t>图</a:t>
            </a:r>
            <a:r>
              <a:rPr lang="en-US" altLang="zh-CN" sz="1400" b="1">
                <a:solidFill>
                  <a:srgbClr val="6600CC"/>
                </a:solidFill>
                <a:latin typeface="Times New Roman" pitchFamily="18" charset="0"/>
              </a:rPr>
              <a:t>2-26 </a:t>
            </a:r>
            <a:r>
              <a:rPr lang="zh-CN" altLang="en-US" sz="1400" b="1">
                <a:solidFill>
                  <a:srgbClr val="6600CC"/>
                </a:solidFill>
                <a:latin typeface="Times New Roman" pitchFamily="18" charset="0"/>
              </a:rPr>
              <a:t>电力电子器件分类“树”</a:t>
            </a:r>
          </a:p>
        </p:txBody>
      </p:sp>
      <p:sp>
        <p:nvSpPr>
          <p:cNvPr id="2" name="灯片编号占位符 1"/>
          <p:cNvSpPr>
            <a:spLocks noGrp="1"/>
          </p:cNvSpPr>
          <p:nvPr>
            <p:ph type="sldNum" sz="quarter" idx="12"/>
          </p:nvPr>
        </p:nvSpPr>
        <p:spPr/>
        <p:txBody>
          <a:bodyPr/>
          <a:lstStyle/>
          <a:p>
            <a:fld id="{0C913308-F349-4B6D-A68A-DD1791B4A57B}" type="slidenum">
              <a:rPr lang="zh-CN" altLang="en-US" smtClean="0"/>
              <a:t>32</a:t>
            </a:fld>
            <a:endParaRPr lang="zh-CN" altLang="en-US"/>
          </a:p>
        </p:txBody>
      </p:sp>
      <p:sp>
        <p:nvSpPr>
          <p:cNvPr id="3" name="日期占位符 2"/>
          <p:cNvSpPr>
            <a:spLocks noGrp="1"/>
          </p:cNvSpPr>
          <p:nvPr>
            <p:ph type="dt" sz="half" idx="10"/>
          </p:nvPr>
        </p:nvSpPr>
        <p:spPr/>
        <p:txBody>
          <a:bodyPr/>
          <a:lstStyle/>
          <a:p>
            <a:fld id="{624B0261-3AE1-4BA3-A8A9-1ECE0159CFC3}" type="datetime10">
              <a:rPr lang="zh-CN" altLang="en-US" smtClean="0"/>
              <a:t>14:22</a:t>
            </a:fld>
            <a:endParaRPr lang="zh-CN" altLang="en-US"/>
          </a:p>
        </p:txBody>
      </p:sp>
    </p:spTree>
    <p:extLst>
      <p:ext uri="{BB962C8B-B14F-4D97-AF65-F5344CB8AC3E}">
        <p14:creationId xmlns:p14="http://schemas.microsoft.com/office/powerpoint/2010/main" val="398318994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458" name="Rectangle 2"/>
          <p:cNvSpPr>
            <a:spLocks noGrp="1" noChangeArrowheads="1"/>
          </p:cNvSpPr>
          <p:nvPr>
            <p:ph type="title"/>
          </p:nvPr>
        </p:nvSpPr>
        <p:spPr>
          <a:xfrm>
            <a:off x="3347864" y="44624"/>
            <a:ext cx="3960936" cy="428625"/>
          </a:xfrm>
        </p:spPr>
        <p:txBody>
          <a:bodyPr/>
          <a:lstStyle/>
          <a:p>
            <a:pPr algn="l"/>
            <a:r>
              <a:rPr lang="zh-CN" altLang="en-US" sz="3600" b="1" dirty="0"/>
              <a:t>本章小结</a:t>
            </a:r>
          </a:p>
        </p:txBody>
      </p:sp>
      <p:sp>
        <p:nvSpPr>
          <p:cNvPr id="147459" name="Rectangle 3"/>
          <p:cNvSpPr>
            <a:spLocks noGrp="1" noChangeArrowheads="1"/>
          </p:cNvSpPr>
          <p:nvPr>
            <p:ph idx="1"/>
          </p:nvPr>
        </p:nvSpPr>
        <p:spPr>
          <a:xfrm>
            <a:off x="539552" y="623664"/>
            <a:ext cx="8604448" cy="5181600"/>
          </a:xfrm>
        </p:spPr>
        <p:txBody>
          <a:bodyPr/>
          <a:lstStyle/>
          <a:p>
            <a:pPr>
              <a:lnSpc>
                <a:spcPct val="114000"/>
              </a:lnSpc>
              <a:buFontTx/>
              <a:buNone/>
            </a:pPr>
            <a:r>
              <a:rPr lang="en-US" altLang="zh-CN" sz="2400" b="1" dirty="0">
                <a:solidFill>
                  <a:srgbClr val="0000FF"/>
                </a:solidFill>
              </a:rPr>
              <a:t>◆</a:t>
            </a:r>
            <a:r>
              <a:rPr lang="zh-CN" altLang="en-US" sz="2400" b="1" dirty="0"/>
              <a:t>按驱动类型</a:t>
            </a:r>
          </a:p>
          <a:p>
            <a:pPr>
              <a:lnSpc>
                <a:spcPct val="114000"/>
              </a:lnSpc>
              <a:buFontTx/>
              <a:buNone/>
            </a:pPr>
            <a:r>
              <a:rPr lang="zh-CN" altLang="en-US" sz="2400" b="1" dirty="0"/>
              <a:t>     </a:t>
            </a:r>
            <a:r>
              <a:rPr lang="zh-CN" altLang="en-US" sz="2400" b="1" dirty="0">
                <a:solidFill>
                  <a:srgbClr val="009900"/>
                </a:solidFill>
              </a:rPr>
              <a:t>☞</a:t>
            </a:r>
            <a:r>
              <a:rPr lang="zh-CN" altLang="en-US" sz="2400" b="1" dirty="0">
                <a:solidFill>
                  <a:srgbClr val="E35449"/>
                </a:solidFill>
              </a:rPr>
              <a:t>电压</a:t>
            </a:r>
            <a:r>
              <a:rPr lang="zh-CN" altLang="en-US" sz="2400" b="1" dirty="0"/>
              <a:t>驱动型器件 ：</a:t>
            </a:r>
            <a:r>
              <a:rPr kumimoji="1" lang="zh-CN" altLang="en-US" sz="2400" b="1" dirty="0"/>
              <a:t>单极型器件</a:t>
            </a:r>
            <a:r>
              <a:rPr kumimoji="1" lang="en-US" altLang="zh-CN" sz="2400" b="1" dirty="0"/>
              <a:t>(</a:t>
            </a:r>
            <a:r>
              <a:rPr kumimoji="1" lang="zh-CN" altLang="en-US" sz="2400" b="1" dirty="0"/>
              <a:t>电力</a:t>
            </a:r>
            <a:r>
              <a:rPr kumimoji="1" lang="en-US" altLang="zh-CN" sz="2400" b="1" dirty="0"/>
              <a:t>MOSFET)</a:t>
            </a:r>
            <a:r>
              <a:rPr kumimoji="1" lang="zh-CN" altLang="en-US" sz="2400" b="1" dirty="0"/>
              <a:t>和复合型器件（</a:t>
            </a:r>
            <a:r>
              <a:rPr kumimoji="1" lang="en-US" altLang="zh-CN" sz="2400" b="1" dirty="0"/>
              <a:t>IGBT</a:t>
            </a:r>
            <a:r>
              <a:rPr kumimoji="1" lang="zh-CN" altLang="en-US" sz="2400" b="1" dirty="0"/>
              <a:t>）。</a:t>
            </a:r>
          </a:p>
          <a:p>
            <a:pPr>
              <a:lnSpc>
                <a:spcPct val="114000"/>
              </a:lnSpc>
              <a:buFontTx/>
              <a:buNone/>
            </a:pPr>
            <a:r>
              <a:rPr lang="zh-CN" altLang="en-US" sz="2400" b="1" dirty="0">
                <a:solidFill>
                  <a:srgbClr val="FF00FF"/>
                </a:solidFill>
              </a:rPr>
              <a:t>      </a:t>
            </a:r>
            <a:r>
              <a:rPr lang="zh-CN" altLang="en-US" sz="2400" b="1" dirty="0">
                <a:solidFill>
                  <a:srgbClr val="FF0000"/>
                </a:solidFill>
              </a:rPr>
              <a:t> √共同特点是：输入阻抗高，所需驱动功率小，驱动电路简单，工作频率高。 </a:t>
            </a:r>
            <a:r>
              <a:rPr kumimoji="1" lang="en-US" altLang="zh-CN" sz="2400" b="1" dirty="0"/>
              <a:t>IGBT</a:t>
            </a:r>
            <a:r>
              <a:rPr kumimoji="1" lang="zh-CN" altLang="en-US" sz="2400" b="1" dirty="0"/>
              <a:t>虽然是电压驱动，但是</a:t>
            </a:r>
            <a:r>
              <a:rPr lang="zh-CN" altLang="en-US" sz="2400" b="1" dirty="0">
                <a:solidFill>
                  <a:srgbClr val="0000FF"/>
                </a:solidFill>
              </a:rPr>
              <a:t>具有电导调制效应。</a:t>
            </a:r>
            <a:r>
              <a:rPr kumimoji="1" lang="zh-CN" altLang="en-US" sz="2400" b="1" dirty="0"/>
              <a:t>电力</a:t>
            </a:r>
            <a:r>
              <a:rPr kumimoji="1" lang="en-US" altLang="zh-CN" sz="2400" b="1" dirty="0"/>
              <a:t>MOSFET</a:t>
            </a:r>
            <a:r>
              <a:rPr kumimoji="1" lang="zh-CN" altLang="en-US" sz="2400" b="1" dirty="0"/>
              <a:t>没有</a:t>
            </a:r>
            <a:r>
              <a:rPr lang="zh-CN" altLang="en-US" sz="2400" b="1" dirty="0">
                <a:solidFill>
                  <a:srgbClr val="0000FF"/>
                </a:solidFill>
              </a:rPr>
              <a:t>电导调制效应。</a:t>
            </a:r>
            <a:endParaRPr lang="zh-CN" altLang="en-US" sz="2400" b="1" dirty="0">
              <a:solidFill>
                <a:srgbClr val="FF0000"/>
              </a:solidFill>
            </a:endParaRPr>
          </a:p>
          <a:p>
            <a:pPr>
              <a:lnSpc>
                <a:spcPct val="114000"/>
              </a:lnSpc>
              <a:buFontTx/>
              <a:buNone/>
            </a:pPr>
            <a:r>
              <a:rPr lang="zh-CN" altLang="en-US" sz="2400" b="1" dirty="0"/>
              <a:t>     </a:t>
            </a:r>
            <a:r>
              <a:rPr lang="zh-CN" altLang="en-US" sz="2400" b="1" dirty="0">
                <a:solidFill>
                  <a:srgbClr val="009900"/>
                </a:solidFill>
              </a:rPr>
              <a:t>☞</a:t>
            </a:r>
            <a:r>
              <a:rPr lang="zh-CN" altLang="en-US" sz="2400" b="1" dirty="0">
                <a:solidFill>
                  <a:srgbClr val="0000FF"/>
                </a:solidFill>
              </a:rPr>
              <a:t>电流驱动型器件 </a:t>
            </a:r>
            <a:r>
              <a:rPr lang="zh-CN" altLang="en-US" sz="2400" b="1" dirty="0"/>
              <a:t>：双极型器件。（晶闸管、</a:t>
            </a:r>
            <a:r>
              <a:rPr lang="en-US" altLang="zh-CN" sz="2400" b="1" dirty="0"/>
              <a:t>GTO</a:t>
            </a:r>
            <a:r>
              <a:rPr lang="zh-CN" altLang="en-US" sz="2400" b="1" dirty="0"/>
              <a:t>、</a:t>
            </a:r>
            <a:r>
              <a:rPr lang="en-US" altLang="zh-CN" sz="2400" b="1" dirty="0"/>
              <a:t>GTR</a:t>
            </a:r>
            <a:r>
              <a:rPr lang="zh-CN" altLang="en-US" sz="2400" b="1" dirty="0"/>
              <a:t>）</a:t>
            </a:r>
          </a:p>
          <a:p>
            <a:pPr>
              <a:lnSpc>
                <a:spcPct val="114000"/>
              </a:lnSpc>
              <a:buFontTx/>
              <a:buNone/>
            </a:pPr>
            <a:r>
              <a:rPr lang="zh-CN" altLang="en-US" sz="2400" b="1" dirty="0"/>
              <a:t>       </a:t>
            </a:r>
            <a:r>
              <a:rPr lang="zh-CN" altLang="en-US" sz="2400" b="1" dirty="0">
                <a:solidFill>
                  <a:srgbClr val="FF00FF"/>
                </a:solidFill>
              </a:rPr>
              <a:t>√</a:t>
            </a:r>
            <a:r>
              <a:rPr lang="zh-CN" altLang="en-US" sz="2400" b="1" dirty="0">
                <a:solidFill>
                  <a:srgbClr val="FF0000"/>
                </a:solidFill>
              </a:rPr>
              <a:t>共同特点是：</a:t>
            </a:r>
            <a:r>
              <a:rPr lang="zh-CN" altLang="en-US" sz="2400" b="1" dirty="0">
                <a:solidFill>
                  <a:srgbClr val="0000FF"/>
                </a:solidFill>
              </a:rPr>
              <a:t>具有电导调制效应</a:t>
            </a:r>
            <a:r>
              <a:rPr lang="zh-CN" altLang="en-US" sz="2400" b="1" dirty="0">
                <a:solidFill>
                  <a:srgbClr val="FF0000"/>
                </a:solidFill>
              </a:rPr>
              <a:t>，通态压降低，导通损耗小，但工作频率较低，驱动功率大，驱动电路比较复杂。</a:t>
            </a:r>
          </a:p>
          <a:p>
            <a:pPr>
              <a:lnSpc>
                <a:spcPct val="114000"/>
              </a:lnSpc>
              <a:buFontTx/>
              <a:buNone/>
            </a:pPr>
            <a:r>
              <a:rPr lang="zh-CN" altLang="en-US" sz="2400" b="1" dirty="0">
                <a:solidFill>
                  <a:srgbClr val="0000FF"/>
                </a:solidFill>
              </a:rPr>
              <a:t>◆</a:t>
            </a:r>
            <a:r>
              <a:rPr lang="zh-CN" altLang="en-US" sz="2400" b="1" dirty="0"/>
              <a:t>按控制信号的波形</a:t>
            </a:r>
          </a:p>
          <a:p>
            <a:pPr>
              <a:lnSpc>
                <a:spcPct val="114000"/>
              </a:lnSpc>
              <a:buFontTx/>
              <a:buNone/>
            </a:pPr>
            <a:r>
              <a:rPr lang="zh-CN" altLang="en-US" sz="2400" b="1" dirty="0"/>
              <a:t>     </a:t>
            </a:r>
            <a:r>
              <a:rPr lang="zh-CN" altLang="en-US" sz="2400" b="1" dirty="0">
                <a:solidFill>
                  <a:srgbClr val="009900"/>
                </a:solidFill>
              </a:rPr>
              <a:t>☞</a:t>
            </a:r>
            <a:r>
              <a:rPr lang="zh-CN" altLang="en-US" sz="2400" b="1" dirty="0">
                <a:solidFill>
                  <a:srgbClr val="E35449"/>
                </a:solidFill>
              </a:rPr>
              <a:t>电平</a:t>
            </a:r>
            <a:r>
              <a:rPr lang="zh-CN" altLang="en-US" sz="2400" b="1" dirty="0"/>
              <a:t>控制型 ：电压驱动型器件和部分电流驱动型器件（如</a:t>
            </a:r>
            <a:r>
              <a:rPr lang="en-US" altLang="zh-CN" sz="2400" b="1" dirty="0"/>
              <a:t>GTR</a:t>
            </a:r>
            <a:r>
              <a:rPr lang="zh-CN" altLang="en-US" sz="2400" b="1" dirty="0"/>
              <a:t>） 。</a:t>
            </a:r>
          </a:p>
          <a:p>
            <a:pPr>
              <a:lnSpc>
                <a:spcPct val="114000"/>
              </a:lnSpc>
              <a:buFontTx/>
              <a:buNone/>
            </a:pPr>
            <a:r>
              <a:rPr lang="zh-CN" altLang="en-US" sz="2400" b="1" dirty="0"/>
              <a:t>     </a:t>
            </a:r>
            <a:r>
              <a:rPr lang="zh-CN" altLang="en-US" sz="2400" b="1" dirty="0">
                <a:solidFill>
                  <a:srgbClr val="009900"/>
                </a:solidFill>
              </a:rPr>
              <a:t>☞</a:t>
            </a:r>
            <a:r>
              <a:rPr lang="zh-CN" altLang="en-US" sz="2400" b="1" dirty="0">
                <a:solidFill>
                  <a:srgbClr val="E35449"/>
                </a:solidFill>
              </a:rPr>
              <a:t>脉冲</a:t>
            </a:r>
            <a:r>
              <a:rPr lang="zh-CN" altLang="en-US" sz="2400" b="1" dirty="0"/>
              <a:t>触发型：部分电流驱动型器件（如晶闸管和</a:t>
            </a:r>
            <a:r>
              <a:rPr lang="en-US" altLang="zh-CN" sz="2400" b="1" dirty="0"/>
              <a:t>GTO</a:t>
            </a:r>
            <a:r>
              <a:rPr lang="zh-CN" altLang="en-US" sz="2400" b="1" dirty="0"/>
              <a:t>）</a:t>
            </a:r>
            <a:r>
              <a:rPr lang="zh-CN" altLang="en-US" sz="2400" dirty="0"/>
              <a:t> 。</a:t>
            </a:r>
          </a:p>
        </p:txBody>
      </p:sp>
      <p:sp>
        <p:nvSpPr>
          <p:cNvPr id="2" name="灯片编号占位符 1"/>
          <p:cNvSpPr>
            <a:spLocks noGrp="1"/>
          </p:cNvSpPr>
          <p:nvPr>
            <p:ph type="sldNum" sz="quarter" idx="12"/>
          </p:nvPr>
        </p:nvSpPr>
        <p:spPr/>
        <p:txBody>
          <a:bodyPr/>
          <a:lstStyle/>
          <a:p>
            <a:fld id="{0C913308-F349-4B6D-A68A-DD1791B4A57B}" type="slidenum">
              <a:rPr lang="zh-CN" altLang="en-US" smtClean="0"/>
              <a:t>33</a:t>
            </a:fld>
            <a:endParaRPr lang="zh-CN" altLang="en-US"/>
          </a:p>
        </p:txBody>
      </p:sp>
      <p:sp>
        <p:nvSpPr>
          <p:cNvPr id="3" name="日期占位符 2"/>
          <p:cNvSpPr>
            <a:spLocks noGrp="1"/>
          </p:cNvSpPr>
          <p:nvPr>
            <p:ph type="dt" sz="half" idx="10"/>
          </p:nvPr>
        </p:nvSpPr>
        <p:spPr/>
        <p:txBody>
          <a:bodyPr/>
          <a:lstStyle/>
          <a:p>
            <a:fld id="{4376178D-0D10-4358-B795-40988C39247D}" type="datetime10">
              <a:rPr lang="zh-CN" altLang="en-US" smtClean="0"/>
              <a:t>14:22</a:t>
            </a:fld>
            <a:endParaRPr lang="zh-CN" altLang="en-US"/>
          </a:p>
        </p:txBody>
      </p:sp>
    </p:spTree>
    <p:extLst>
      <p:ext uri="{BB962C8B-B14F-4D97-AF65-F5344CB8AC3E}">
        <p14:creationId xmlns:p14="http://schemas.microsoft.com/office/powerpoint/2010/main" val="2501959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482" name="Rectangle 2"/>
          <p:cNvSpPr>
            <a:spLocks noGrp="1" noChangeArrowheads="1"/>
          </p:cNvSpPr>
          <p:nvPr>
            <p:ph type="title"/>
          </p:nvPr>
        </p:nvSpPr>
        <p:spPr>
          <a:xfrm>
            <a:off x="827088" y="261938"/>
            <a:ext cx="7848600" cy="428625"/>
          </a:xfrm>
        </p:spPr>
        <p:txBody>
          <a:bodyPr/>
          <a:lstStyle/>
          <a:p>
            <a:pPr algn="l"/>
            <a:r>
              <a:rPr lang="zh-CN" altLang="en-US" sz="3600" b="1"/>
              <a:t>本章小结</a:t>
            </a:r>
          </a:p>
        </p:txBody>
      </p:sp>
      <p:sp>
        <p:nvSpPr>
          <p:cNvPr id="148483" name="Rectangle 3"/>
          <p:cNvSpPr>
            <a:spLocks noGrp="1" noChangeArrowheads="1"/>
          </p:cNvSpPr>
          <p:nvPr>
            <p:ph idx="1"/>
          </p:nvPr>
        </p:nvSpPr>
        <p:spPr>
          <a:xfrm>
            <a:off x="611188" y="1196975"/>
            <a:ext cx="8281292" cy="5400675"/>
          </a:xfrm>
        </p:spPr>
        <p:txBody>
          <a:bodyPr/>
          <a:lstStyle/>
          <a:p>
            <a:pPr>
              <a:lnSpc>
                <a:spcPct val="80000"/>
              </a:lnSpc>
              <a:buFontTx/>
              <a:buNone/>
            </a:pPr>
            <a:r>
              <a:rPr lang="en-US" altLang="zh-CN" b="1" dirty="0">
                <a:solidFill>
                  <a:srgbClr val="E35449"/>
                </a:solidFill>
              </a:rPr>
              <a:t>■</a:t>
            </a:r>
            <a:r>
              <a:rPr lang="zh-CN" altLang="en-US" b="1" dirty="0"/>
              <a:t>电力电子器件的现状和发展趋势</a:t>
            </a:r>
          </a:p>
          <a:p>
            <a:pPr>
              <a:lnSpc>
                <a:spcPct val="125000"/>
              </a:lnSpc>
              <a:buFontTx/>
              <a:buNone/>
            </a:pPr>
            <a:r>
              <a:rPr lang="zh-CN" altLang="en-US" b="1" dirty="0"/>
              <a:t>    </a:t>
            </a:r>
            <a:r>
              <a:rPr lang="zh-CN" altLang="en-US" sz="2400" b="1" dirty="0">
                <a:solidFill>
                  <a:srgbClr val="0000FF"/>
                </a:solidFill>
              </a:rPr>
              <a:t>◆</a:t>
            </a:r>
            <a:r>
              <a:rPr lang="en-US" altLang="zh-CN" sz="2400" b="1" dirty="0"/>
              <a:t>20</a:t>
            </a:r>
            <a:r>
              <a:rPr lang="zh-CN" altLang="en-US" sz="2400" b="1" dirty="0"/>
              <a:t>世纪</a:t>
            </a:r>
            <a:r>
              <a:rPr lang="en-US" altLang="zh-CN" sz="2400" b="1" dirty="0"/>
              <a:t>90</a:t>
            </a:r>
            <a:r>
              <a:rPr lang="zh-CN" altLang="en-US" sz="2400" b="1" dirty="0"/>
              <a:t>年代中期以来，逐渐形成了</a:t>
            </a:r>
            <a:r>
              <a:rPr lang="zh-CN" altLang="en-US" sz="2400" b="1" dirty="0">
                <a:solidFill>
                  <a:srgbClr val="E35449"/>
                </a:solidFill>
              </a:rPr>
              <a:t>小功率（</a:t>
            </a:r>
            <a:r>
              <a:rPr lang="en-US" altLang="zh-CN" sz="2400" b="1" dirty="0">
                <a:solidFill>
                  <a:srgbClr val="E35449"/>
                </a:solidFill>
              </a:rPr>
              <a:t>10kW</a:t>
            </a:r>
            <a:r>
              <a:rPr lang="zh-CN" altLang="en-US" sz="2400" b="1" dirty="0">
                <a:solidFill>
                  <a:srgbClr val="E35449"/>
                </a:solidFill>
              </a:rPr>
              <a:t>以下）</a:t>
            </a:r>
            <a:r>
              <a:rPr lang="zh-CN" altLang="en-US" sz="2400" b="1" dirty="0"/>
              <a:t>场合以</a:t>
            </a:r>
            <a:r>
              <a:rPr lang="zh-CN" altLang="en-US" sz="2400" b="1" dirty="0">
                <a:solidFill>
                  <a:srgbClr val="E35449"/>
                </a:solidFill>
              </a:rPr>
              <a:t>电力</a:t>
            </a:r>
            <a:r>
              <a:rPr lang="en-US" altLang="zh-CN" sz="2400" b="1" dirty="0">
                <a:solidFill>
                  <a:srgbClr val="E35449"/>
                </a:solidFill>
              </a:rPr>
              <a:t>MOSFET</a:t>
            </a:r>
            <a:r>
              <a:rPr lang="zh-CN" altLang="en-US" sz="2400" b="1" dirty="0"/>
              <a:t>为主，</a:t>
            </a:r>
            <a:r>
              <a:rPr lang="zh-CN" altLang="en-US" sz="2400" b="1" dirty="0">
                <a:solidFill>
                  <a:srgbClr val="E35449"/>
                </a:solidFill>
              </a:rPr>
              <a:t>中、大功率</a:t>
            </a:r>
            <a:r>
              <a:rPr lang="zh-CN" altLang="en-US" sz="2400" b="1" dirty="0"/>
              <a:t>场合以</a:t>
            </a:r>
            <a:r>
              <a:rPr lang="en-US" altLang="zh-CN" sz="2400" b="1" dirty="0">
                <a:solidFill>
                  <a:srgbClr val="E35449"/>
                </a:solidFill>
              </a:rPr>
              <a:t>IGBT</a:t>
            </a:r>
            <a:r>
              <a:rPr lang="zh-CN" altLang="en-US" sz="2400" b="1" dirty="0"/>
              <a:t>为主的压倒性局面，在</a:t>
            </a:r>
            <a:r>
              <a:rPr lang="en-US" altLang="zh-CN" sz="2400" b="1" dirty="0">
                <a:solidFill>
                  <a:srgbClr val="E35449"/>
                </a:solidFill>
              </a:rPr>
              <a:t>10MVA</a:t>
            </a:r>
            <a:r>
              <a:rPr lang="zh-CN" altLang="en-US" sz="2400" b="1" dirty="0">
                <a:solidFill>
                  <a:srgbClr val="E35449"/>
                </a:solidFill>
              </a:rPr>
              <a:t>以上或者数千伏以上</a:t>
            </a:r>
            <a:r>
              <a:rPr lang="zh-CN" altLang="en-US" sz="2400" b="1" dirty="0"/>
              <a:t>的应用场合，如果不需要自关断能力，那么</a:t>
            </a:r>
            <a:r>
              <a:rPr lang="zh-CN" altLang="en-US" sz="2400" b="1" dirty="0">
                <a:solidFill>
                  <a:srgbClr val="E35449"/>
                </a:solidFill>
              </a:rPr>
              <a:t>晶闸管</a:t>
            </a:r>
            <a:r>
              <a:rPr lang="zh-CN" altLang="en-US" sz="2400" b="1" dirty="0"/>
              <a:t>仍然是目前的首选器件</a:t>
            </a:r>
            <a:r>
              <a:rPr lang="zh-CN" altLang="en-US" sz="2400" dirty="0"/>
              <a:t> </a:t>
            </a:r>
            <a:r>
              <a:rPr lang="zh-CN" altLang="en-US" sz="2400" b="1" dirty="0"/>
              <a:t>。</a:t>
            </a:r>
            <a:r>
              <a:rPr lang="zh-CN" altLang="en-US" sz="2400" dirty="0"/>
              <a:t> </a:t>
            </a:r>
          </a:p>
          <a:p>
            <a:pPr>
              <a:lnSpc>
                <a:spcPct val="125000"/>
              </a:lnSpc>
              <a:buFontTx/>
              <a:buNone/>
            </a:pPr>
            <a:r>
              <a:rPr lang="zh-CN" altLang="en-US" sz="2400" dirty="0"/>
              <a:t>    </a:t>
            </a:r>
            <a:r>
              <a:rPr lang="zh-CN" altLang="en-US" sz="2400" b="1" dirty="0">
                <a:solidFill>
                  <a:srgbClr val="0000FF"/>
                </a:solidFill>
              </a:rPr>
              <a:t>◆</a:t>
            </a:r>
            <a:r>
              <a:rPr lang="zh-CN" altLang="en-US" sz="2400" b="1" dirty="0"/>
              <a:t>电力</a:t>
            </a:r>
            <a:r>
              <a:rPr lang="en-US" altLang="zh-CN" sz="2400" b="1" dirty="0"/>
              <a:t>MOSFET</a:t>
            </a:r>
            <a:r>
              <a:rPr lang="zh-CN" altLang="en-US" sz="2400" b="1" dirty="0"/>
              <a:t>和</a:t>
            </a:r>
            <a:r>
              <a:rPr lang="en-US" altLang="zh-CN" sz="2400" b="1" dirty="0"/>
              <a:t>IGBT</a:t>
            </a:r>
            <a:r>
              <a:rPr lang="zh-CN" altLang="en-US" sz="2400" b="1" dirty="0"/>
              <a:t>中的技术创新仍然在继续，</a:t>
            </a:r>
            <a:r>
              <a:rPr lang="en-US" altLang="zh-CN" sz="2400" b="1" dirty="0"/>
              <a:t>IGBT</a:t>
            </a:r>
            <a:r>
              <a:rPr lang="zh-CN" altLang="en-US" sz="2400" b="1" dirty="0"/>
              <a:t>还在不断夺取传统上属于晶闸管的应用领域</a:t>
            </a:r>
            <a:r>
              <a:rPr lang="zh-CN" altLang="en-US" sz="2400" dirty="0"/>
              <a:t> </a:t>
            </a:r>
            <a:r>
              <a:rPr lang="zh-CN" altLang="en-US" sz="2400" b="1" dirty="0"/>
              <a:t>。</a:t>
            </a:r>
          </a:p>
          <a:p>
            <a:pPr>
              <a:lnSpc>
                <a:spcPct val="125000"/>
              </a:lnSpc>
              <a:buFontTx/>
              <a:buNone/>
            </a:pPr>
            <a:r>
              <a:rPr lang="zh-CN" altLang="en-US" sz="2400" dirty="0">
                <a:solidFill>
                  <a:srgbClr val="FF0000"/>
                </a:solidFill>
              </a:rPr>
              <a:t>    </a:t>
            </a:r>
            <a:r>
              <a:rPr lang="zh-CN" altLang="en-US" sz="2400" b="1" dirty="0">
                <a:solidFill>
                  <a:srgbClr val="FF0000"/>
                </a:solidFill>
              </a:rPr>
              <a:t>◆宽禁带半导体材料由于其各方面性能都优于硅材料，因而是很有前景的电力半导体材料</a:t>
            </a:r>
            <a:r>
              <a:rPr lang="zh-CN" altLang="en-US" sz="2400" dirty="0">
                <a:solidFill>
                  <a:srgbClr val="FF0000"/>
                </a:solidFill>
              </a:rPr>
              <a:t> 。</a:t>
            </a:r>
          </a:p>
        </p:txBody>
      </p:sp>
      <p:sp>
        <p:nvSpPr>
          <p:cNvPr id="2" name="灯片编号占位符 1"/>
          <p:cNvSpPr>
            <a:spLocks noGrp="1"/>
          </p:cNvSpPr>
          <p:nvPr>
            <p:ph type="sldNum" sz="quarter" idx="12"/>
          </p:nvPr>
        </p:nvSpPr>
        <p:spPr/>
        <p:txBody>
          <a:bodyPr/>
          <a:lstStyle/>
          <a:p>
            <a:fld id="{0C913308-F349-4B6D-A68A-DD1791B4A57B}" type="slidenum">
              <a:rPr lang="zh-CN" altLang="en-US" smtClean="0"/>
              <a:t>34</a:t>
            </a:fld>
            <a:endParaRPr lang="zh-CN" altLang="en-US"/>
          </a:p>
        </p:txBody>
      </p:sp>
      <p:sp>
        <p:nvSpPr>
          <p:cNvPr id="3" name="日期占位符 2"/>
          <p:cNvSpPr>
            <a:spLocks noGrp="1"/>
          </p:cNvSpPr>
          <p:nvPr>
            <p:ph type="dt" sz="half" idx="10"/>
          </p:nvPr>
        </p:nvSpPr>
        <p:spPr/>
        <p:txBody>
          <a:bodyPr/>
          <a:lstStyle/>
          <a:p>
            <a:fld id="{15E6791E-DAFC-4169-B1C9-FFABA1A08812}" type="datetime10">
              <a:rPr lang="zh-CN" altLang="en-US" smtClean="0"/>
              <a:t>14:22</a:t>
            </a:fld>
            <a:endParaRPr lang="zh-CN" altLang="en-US"/>
          </a:p>
        </p:txBody>
      </p:sp>
    </p:spTree>
    <p:extLst>
      <p:ext uri="{BB962C8B-B14F-4D97-AF65-F5344CB8AC3E}">
        <p14:creationId xmlns:p14="http://schemas.microsoft.com/office/powerpoint/2010/main" val="165546339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思考题</a:t>
            </a:r>
          </a:p>
        </p:txBody>
      </p:sp>
      <p:sp>
        <p:nvSpPr>
          <p:cNvPr id="3" name="内容占位符 2"/>
          <p:cNvSpPr>
            <a:spLocks noGrp="1"/>
          </p:cNvSpPr>
          <p:nvPr>
            <p:ph idx="1"/>
          </p:nvPr>
        </p:nvSpPr>
        <p:spPr>
          <a:xfrm>
            <a:off x="752246" y="687824"/>
            <a:ext cx="8391753" cy="5181600"/>
          </a:xfrm>
        </p:spPr>
        <p:txBody>
          <a:bodyPr/>
          <a:lstStyle/>
          <a:p>
            <a:r>
              <a:rPr lang="en-US" altLang="zh-CN" sz="1800" dirty="0"/>
              <a:t>5</a:t>
            </a:r>
            <a:r>
              <a:rPr lang="zh-CN" altLang="en-US" sz="1800" dirty="0"/>
              <a:t>、</a:t>
            </a:r>
            <a:r>
              <a:rPr lang="zh-CN" altLang="zh-CN" sz="1800" dirty="0"/>
              <a:t>解释：晶闸管断态电压临界上升率</a:t>
            </a:r>
            <a:r>
              <a:rPr lang="en-US" altLang="zh-CN" sz="1800" dirty="0"/>
              <a:t>du/</a:t>
            </a:r>
            <a:r>
              <a:rPr lang="en-US" altLang="zh-CN" sz="1800" dirty="0" err="1"/>
              <a:t>dt</a:t>
            </a:r>
            <a:r>
              <a:rPr lang="zh-CN" altLang="zh-CN" sz="1800" dirty="0"/>
              <a:t>过高会有什么危害 、晶闸管通态电流临界上升率</a:t>
            </a:r>
            <a:r>
              <a:rPr lang="en-US" altLang="zh-CN" sz="1800" dirty="0"/>
              <a:t>di/</a:t>
            </a:r>
            <a:r>
              <a:rPr lang="en-US" altLang="zh-CN" sz="1800" dirty="0" err="1"/>
              <a:t>dt</a:t>
            </a:r>
            <a:r>
              <a:rPr lang="zh-CN" altLang="zh-CN" sz="1800" dirty="0"/>
              <a:t>过高会有什么危害。</a:t>
            </a:r>
            <a:endParaRPr lang="en-US" altLang="zh-CN" sz="1800" dirty="0"/>
          </a:p>
          <a:p>
            <a:pPr algn="just">
              <a:spcAft>
                <a:spcPts val="0"/>
              </a:spcAft>
            </a:pPr>
            <a:endParaRPr lang="en-US" altLang="zh-CN" sz="1800" kern="100" dirty="0">
              <a:latin typeface="Times New Roman" panose="02020603050405020304" pitchFamily="18" charset="0"/>
              <a:ea typeface="宋体" panose="02010600030101010101" pitchFamily="2" charset="-122"/>
            </a:endParaRPr>
          </a:p>
          <a:p>
            <a:pPr algn="just">
              <a:spcAft>
                <a:spcPts val="0"/>
              </a:spcAft>
            </a:pPr>
            <a:r>
              <a:rPr lang="en-US" altLang="zh-CN" sz="1800" kern="100" dirty="0">
                <a:latin typeface="Times New Roman" panose="02020603050405020304" pitchFamily="18" charset="0"/>
                <a:ea typeface="宋体" panose="02010600030101010101" pitchFamily="2" charset="-122"/>
              </a:rPr>
              <a:t>6</a:t>
            </a:r>
            <a:r>
              <a:rPr lang="zh-CN" altLang="zh-CN" sz="1800" kern="100" dirty="0">
                <a:latin typeface="Times New Roman" panose="02020603050405020304" pitchFamily="18" charset="0"/>
                <a:ea typeface="宋体" panose="02010600030101010101" pitchFamily="2" charset="-122"/>
              </a:rPr>
              <a:t>、下列电力电子器件中，属于全控型器件，而且具有电导调制效应，通态压降低，导通损耗小的器件是（</a:t>
            </a:r>
            <a:r>
              <a:rPr lang="en-US" altLang="zh-CN" sz="1800" kern="100" dirty="0">
                <a:latin typeface="Times New Roman" panose="02020603050405020304" pitchFamily="18" charset="0"/>
                <a:ea typeface="宋体" panose="02010600030101010101" pitchFamily="2" charset="-122"/>
              </a:rPr>
              <a:t>          </a:t>
            </a:r>
            <a:r>
              <a:rPr lang="zh-CN" altLang="zh-CN" sz="1800" kern="100" dirty="0">
                <a:latin typeface="Times New Roman" panose="02020603050405020304" pitchFamily="18" charset="0"/>
                <a:ea typeface="宋体" panose="02010600030101010101" pitchFamily="2" charset="-122"/>
              </a:rPr>
              <a:t>）。</a:t>
            </a:r>
          </a:p>
          <a:p>
            <a:r>
              <a:rPr lang="en-US" altLang="zh-CN" sz="1800" dirty="0">
                <a:latin typeface="Times New Roman" panose="02020603050405020304" pitchFamily="18" charset="0"/>
                <a:ea typeface="宋体" panose="02010600030101010101" pitchFamily="2" charset="-122"/>
              </a:rPr>
              <a:t>A</a:t>
            </a:r>
            <a:r>
              <a:rPr lang="zh-CN" altLang="zh-CN" sz="1800" dirty="0">
                <a:latin typeface="Times New Roman" panose="02020603050405020304" pitchFamily="18" charset="0"/>
                <a:ea typeface="宋体" panose="02010600030101010101" pitchFamily="2" charset="-122"/>
                <a:cs typeface="Times New Roman" panose="02020603050405020304" pitchFamily="18" charset="0"/>
              </a:rPr>
              <a:t>、晶闸管</a:t>
            </a:r>
            <a:r>
              <a:rPr lang="en-US" altLang="zh-CN" sz="1800" dirty="0">
                <a:latin typeface="Times New Roman" panose="02020603050405020304" pitchFamily="18" charset="0"/>
                <a:ea typeface="宋体" panose="02010600030101010101" pitchFamily="2" charset="-122"/>
              </a:rPr>
              <a:t>    B</a:t>
            </a:r>
            <a:r>
              <a:rPr lang="zh-CN" altLang="zh-CN" sz="18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1800" dirty="0">
                <a:latin typeface="Times New Roman" panose="02020603050405020304" pitchFamily="18" charset="0"/>
                <a:ea typeface="宋体" panose="02010600030101010101" pitchFamily="2" charset="-122"/>
              </a:rPr>
              <a:t>IGBT    C</a:t>
            </a:r>
            <a:r>
              <a:rPr lang="zh-CN" altLang="zh-CN" sz="18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1800" dirty="0">
                <a:latin typeface="Times New Roman" panose="02020603050405020304" pitchFamily="18" charset="0"/>
                <a:ea typeface="宋体" panose="02010600030101010101" pitchFamily="2" charset="-122"/>
              </a:rPr>
              <a:t>MOSFET    D</a:t>
            </a:r>
            <a:r>
              <a:rPr lang="zh-CN" altLang="zh-CN" sz="18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1800" dirty="0">
                <a:latin typeface="Times New Roman" panose="02020603050405020304" pitchFamily="18" charset="0"/>
                <a:ea typeface="宋体" panose="02010600030101010101" pitchFamily="2" charset="-122"/>
              </a:rPr>
              <a:t>GTR    E</a:t>
            </a:r>
            <a:r>
              <a:rPr lang="zh-CN" altLang="zh-CN" sz="18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1800" dirty="0">
                <a:latin typeface="Times New Roman" panose="02020603050405020304" pitchFamily="18" charset="0"/>
                <a:ea typeface="宋体" panose="02010600030101010101" pitchFamily="2" charset="-122"/>
              </a:rPr>
              <a:t>GTO    F</a:t>
            </a:r>
            <a:r>
              <a:rPr lang="zh-CN" altLang="zh-CN" sz="1800" dirty="0">
                <a:latin typeface="Times New Roman" panose="02020603050405020304" pitchFamily="18" charset="0"/>
                <a:ea typeface="宋体" panose="02010600030101010101" pitchFamily="2" charset="-122"/>
                <a:cs typeface="Times New Roman" panose="02020603050405020304" pitchFamily="18" charset="0"/>
              </a:rPr>
              <a:t>、电力二极管</a:t>
            </a:r>
            <a:endParaRPr lang="en-US" altLang="zh-CN" sz="1800" dirty="0">
              <a:latin typeface="Times New Roman" panose="02020603050405020304" pitchFamily="18" charset="0"/>
              <a:ea typeface="宋体" panose="02010600030101010101" pitchFamily="2" charset="-122"/>
              <a:cs typeface="Times New Roman" panose="02020603050405020304" pitchFamily="18" charset="0"/>
            </a:endParaRPr>
          </a:p>
          <a:p>
            <a:pPr algn="just">
              <a:spcAft>
                <a:spcPts val="0"/>
              </a:spcAft>
            </a:pPr>
            <a:endParaRPr lang="en-US" altLang="zh-CN" sz="1800" kern="100" dirty="0">
              <a:latin typeface="Times New Roman" panose="02020603050405020304" pitchFamily="18" charset="0"/>
              <a:ea typeface="宋体" panose="02010600030101010101" pitchFamily="2" charset="-122"/>
            </a:endParaRPr>
          </a:p>
          <a:p>
            <a:pPr algn="just">
              <a:spcAft>
                <a:spcPts val="0"/>
              </a:spcAft>
            </a:pPr>
            <a:r>
              <a:rPr lang="en-US" altLang="zh-CN" sz="1800" kern="100" dirty="0">
                <a:latin typeface="Times New Roman" panose="02020603050405020304" pitchFamily="18" charset="0"/>
                <a:ea typeface="宋体" panose="02010600030101010101" pitchFamily="2" charset="-122"/>
              </a:rPr>
              <a:t>7</a:t>
            </a:r>
            <a:r>
              <a:rPr lang="zh-CN" altLang="zh-CN" sz="1800" kern="100" dirty="0">
                <a:latin typeface="Times New Roman" panose="02020603050405020304" pitchFamily="18" charset="0"/>
                <a:ea typeface="宋体" panose="02010600030101010101" pitchFamily="2" charset="-122"/>
              </a:rPr>
              <a:t>、下列电力电子器件中，属于</a:t>
            </a:r>
            <a:r>
              <a:rPr lang="zh-CN" altLang="en-US" sz="1800" kern="100" dirty="0">
                <a:latin typeface="Times New Roman" panose="02020603050405020304" pitchFamily="18" charset="0"/>
                <a:ea typeface="宋体" panose="02010600030101010101" pitchFamily="2" charset="-122"/>
              </a:rPr>
              <a:t>电压驱动</a:t>
            </a:r>
            <a:r>
              <a:rPr lang="zh-CN" altLang="zh-CN" sz="1800" kern="100" dirty="0">
                <a:latin typeface="Times New Roman" panose="02020603050405020304" pitchFamily="18" charset="0"/>
                <a:ea typeface="宋体" panose="02010600030101010101" pitchFamily="2" charset="-122"/>
              </a:rPr>
              <a:t>的器件是（</a:t>
            </a:r>
            <a:r>
              <a:rPr lang="en-US" altLang="zh-CN" sz="1800" kern="100" dirty="0">
                <a:latin typeface="Times New Roman" panose="02020603050405020304" pitchFamily="18" charset="0"/>
                <a:ea typeface="宋体" panose="02010600030101010101" pitchFamily="2" charset="-122"/>
              </a:rPr>
              <a:t>          </a:t>
            </a:r>
            <a:r>
              <a:rPr lang="zh-CN" altLang="zh-CN" sz="1800" kern="100" dirty="0">
                <a:latin typeface="Times New Roman" panose="02020603050405020304" pitchFamily="18" charset="0"/>
                <a:ea typeface="宋体" panose="02010600030101010101" pitchFamily="2" charset="-122"/>
              </a:rPr>
              <a:t>）。</a:t>
            </a:r>
          </a:p>
          <a:p>
            <a:r>
              <a:rPr lang="en-US" altLang="zh-CN" sz="1800" dirty="0">
                <a:latin typeface="Times New Roman" panose="02020603050405020304" pitchFamily="18" charset="0"/>
                <a:ea typeface="宋体" panose="02010600030101010101" pitchFamily="2" charset="-122"/>
              </a:rPr>
              <a:t>A</a:t>
            </a:r>
            <a:r>
              <a:rPr lang="zh-CN" altLang="zh-CN" sz="1800" dirty="0">
                <a:latin typeface="Times New Roman" panose="02020603050405020304" pitchFamily="18" charset="0"/>
                <a:ea typeface="宋体" panose="02010600030101010101" pitchFamily="2" charset="-122"/>
                <a:cs typeface="Times New Roman" panose="02020603050405020304" pitchFamily="18" charset="0"/>
              </a:rPr>
              <a:t>、晶闸管</a:t>
            </a:r>
            <a:r>
              <a:rPr lang="en-US" altLang="zh-CN" sz="1800" dirty="0">
                <a:latin typeface="Times New Roman" panose="02020603050405020304" pitchFamily="18" charset="0"/>
                <a:ea typeface="宋体" panose="02010600030101010101" pitchFamily="2" charset="-122"/>
              </a:rPr>
              <a:t>    B</a:t>
            </a:r>
            <a:r>
              <a:rPr lang="zh-CN" altLang="zh-CN" sz="18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1800" dirty="0">
                <a:latin typeface="Times New Roman" panose="02020603050405020304" pitchFamily="18" charset="0"/>
                <a:ea typeface="宋体" panose="02010600030101010101" pitchFamily="2" charset="-122"/>
              </a:rPr>
              <a:t>IGBT    C</a:t>
            </a:r>
            <a:r>
              <a:rPr lang="zh-CN" altLang="zh-CN" sz="18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1800" dirty="0">
                <a:latin typeface="Times New Roman" panose="02020603050405020304" pitchFamily="18" charset="0"/>
                <a:ea typeface="宋体" panose="02010600030101010101" pitchFamily="2" charset="-122"/>
              </a:rPr>
              <a:t>MOSFET    D</a:t>
            </a:r>
            <a:r>
              <a:rPr lang="zh-CN" altLang="zh-CN" sz="18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1800" dirty="0">
                <a:latin typeface="Times New Roman" panose="02020603050405020304" pitchFamily="18" charset="0"/>
                <a:ea typeface="宋体" panose="02010600030101010101" pitchFamily="2" charset="-122"/>
              </a:rPr>
              <a:t>GTR    E</a:t>
            </a:r>
            <a:r>
              <a:rPr lang="zh-CN" altLang="zh-CN" sz="18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1800" dirty="0">
                <a:latin typeface="Times New Roman" panose="02020603050405020304" pitchFamily="18" charset="0"/>
                <a:ea typeface="宋体" panose="02010600030101010101" pitchFamily="2" charset="-122"/>
              </a:rPr>
              <a:t>GTO    F</a:t>
            </a:r>
            <a:r>
              <a:rPr lang="zh-CN" altLang="zh-CN" sz="1800" dirty="0">
                <a:latin typeface="Times New Roman" panose="02020603050405020304" pitchFamily="18" charset="0"/>
                <a:ea typeface="宋体" panose="02010600030101010101" pitchFamily="2" charset="-122"/>
                <a:cs typeface="Times New Roman" panose="02020603050405020304" pitchFamily="18" charset="0"/>
              </a:rPr>
              <a:t>、电力二极管</a:t>
            </a:r>
            <a:endParaRPr lang="zh-CN" altLang="en-US" sz="1800" dirty="0"/>
          </a:p>
          <a:p>
            <a:endParaRPr lang="en-US" altLang="zh-CN" sz="2400" dirty="0">
              <a:latin typeface="Times New Roman" panose="02020603050405020304" pitchFamily="18" charset="0"/>
              <a:ea typeface="宋体" panose="02010600030101010101" pitchFamily="2" charset="-122"/>
              <a:cs typeface="Times New Roman" panose="02020603050405020304" pitchFamily="18" charset="0"/>
            </a:endParaRPr>
          </a:p>
          <a:p>
            <a:endParaRPr lang="en-US" altLang="zh-CN" sz="2800" dirty="0"/>
          </a:p>
          <a:p>
            <a:endParaRPr lang="zh-CN" altLang="zh-CN" dirty="0"/>
          </a:p>
          <a:p>
            <a:endParaRPr lang="zh-CN" altLang="en-US" dirty="0"/>
          </a:p>
        </p:txBody>
      </p:sp>
      <p:sp>
        <p:nvSpPr>
          <p:cNvPr id="4" name="灯片编号占位符 3"/>
          <p:cNvSpPr>
            <a:spLocks noGrp="1"/>
          </p:cNvSpPr>
          <p:nvPr>
            <p:ph type="sldNum" sz="quarter" idx="12"/>
          </p:nvPr>
        </p:nvSpPr>
        <p:spPr/>
        <p:txBody>
          <a:bodyPr/>
          <a:lstStyle/>
          <a:p>
            <a:fld id="{0C913308-F349-4B6D-A68A-DD1791B4A57B}" type="slidenum">
              <a:rPr lang="zh-CN" altLang="en-US" smtClean="0"/>
              <a:t>35</a:t>
            </a:fld>
            <a:endParaRPr lang="zh-CN" altLang="en-US"/>
          </a:p>
        </p:txBody>
      </p:sp>
      <p:sp>
        <p:nvSpPr>
          <p:cNvPr id="5" name="Rectangle 2"/>
          <p:cNvSpPr>
            <a:spLocks noChangeArrowheads="1"/>
          </p:cNvSpPr>
          <p:nvPr/>
        </p:nvSpPr>
        <p:spPr bwMode="auto">
          <a:xfrm>
            <a:off x="669673" y="2922622"/>
            <a:ext cx="7763114" cy="18466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zh-CN" sz="12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zh-CN" sz="1200" dirty="0">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zh-CN" sz="12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zh-CN" sz="1200" dirty="0">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zh-CN" sz="12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zh-CN" sz="1200" dirty="0">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zh-CN" sz="12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zh-CN" sz="1200" dirty="0">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dirty="0">
              <a:ln>
                <a:noFill/>
              </a:ln>
              <a:solidFill>
                <a:schemeClr val="tx1"/>
              </a:solidFill>
              <a:effectLst/>
              <a:latin typeface="Arial" panose="020B0604020202020204" pitchFamily="34" charset="0"/>
            </a:endParaRPr>
          </a:p>
        </p:txBody>
      </p:sp>
      <p:sp>
        <p:nvSpPr>
          <p:cNvPr id="6" name="日期占位符 5"/>
          <p:cNvSpPr>
            <a:spLocks noGrp="1"/>
          </p:cNvSpPr>
          <p:nvPr>
            <p:ph type="dt" sz="half" idx="10"/>
          </p:nvPr>
        </p:nvSpPr>
        <p:spPr/>
        <p:txBody>
          <a:bodyPr/>
          <a:lstStyle/>
          <a:p>
            <a:fld id="{FF0BD7C1-0E48-40FC-BAC4-27D53805A991}" type="datetime10">
              <a:rPr lang="zh-CN" altLang="en-US" smtClean="0"/>
              <a:t>14:22</a:t>
            </a:fld>
            <a:endParaRPr lang="zh-CN" altLang="en-US"/>
          </a:p>
        </p:txBody>
      </p:sp>
    </p:spTree>
    <p:extLst>
      <p:ext uri="{BB962C8B-B14F-4D97-AF65-F5344CB8AC3E}">
        <p14:creationId xmlns:p14="http://schemas.microsoft.com/office/powerpoint/2010/main" val="213439376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691680" y="199939"/>
            <a:ext cx="6096000" cy="381000"/>
          </a:xfrm>
        </p:spPr>
        <p:txBody>
          <a:bodyPr/>
          <a:lstStyle/>
          <a:p>
            <a:pPr algn="ctr"/>
            <a:r>
              <a:rPr lang="zh-CN" altLang="en-US" dirty="0"/>
              <a:t>器件主要复习内容</a:t>
            </a:r>
          </a:p>
        </p:txBody>
      </p:sp>
      <p:sp>
        <p:nvSpPr>
          <p:cNvPr id="3" name="内容占位符 2"/>
          <p:cNvSpPr>
            <a:spLocks noGrp="1"/>
          </p:cNvSpPr>
          <p:nvPr>
            <p:ph idx="1"/>
          </p:nvPr>
        </p:nvSpPr>
        <p:spPr>
          <a:xfrm>
            <a:off x="752246" y="687824"/>
            <a:ext cx="8391753" cy="5181600"/>
          </a:xfrm>
        </p:spPr>
        <p:txBody>
          <a:bodyPr/>
          <a:lstStyle/>
          <a:p>
            <a:r>
              <a:rPr lang="zh-CN" altLang="en-US" sz="2800" dirty="0"/>
              <a:t>每一小节后面的总结</a:t>
            </a:r>
            <a:endParaRPr lang="en-US" altLang="zh-CN" sz="2800" dirty="0"/>
          </a:p>
          <a:p>
            <a:r>
              <a:rPr lang="zh-CN" altLang="en-US" sz="2800" dirty="0"/>
              <a:t>本章小结</a:t>
            </a:r>
            <a:endParaRPr lang="en-US" altLang="zh-CN" sz="2800" dirty="0"/>
          </a:p>
          <a:p>
            <a:endParaRPr lang="zh-CN" altLang="zh-CN" dirty="0"/>
          </a:p>
          <a:p>
            <a:endParaRPr lang="zh-CN" altLang="en-US" dirty="0"/>
          </a:p>
        </p:txBody>
      </p:sp>
      <p:sp>
        <p:nvSpPr>
          <p:cNvPr id="4" name="灯片编号占位符 3"/>
          <p:cNvSpPr>
            <a:spLocks noGrp="1"/>
          </p:cNvSpPr>
          <p:nvPr>
            <p:ph type="sldNum" sz="quarter" idx="12"/>
          </p:nvPr>
        </p:nvSpPr>
        <p:spPr/>
        <p:txBody>
          <a:bodyPr/>
          <a:lstStyle/>
          <a:p>
            <a:fld id="{0C913308-F349-4B6D-A68A-DD1791B4A57B}" type="slidenum">
              <a:rPr lang="zh-CN" altLang="en-US" smtClean="0"/>
              <a:t>36</a:t>
            </a:fld>
            <a:endParaRPr lang="zh-CN" altLang="en-US"/>
          </a:p>
        </p:txBody>
      </p:sp>
      <p:sp>
        <p:nvSpPr>
          <p:cNvPr id="5" name="Rectangle 2"/>
          <p:cNvSpPr>
            <a:spLocks noChangeArrowheads="1"/>
          </p:cNvSpPr>
          <p:nvPr/>
        </p:nvSpPr>
        <p:spPr bwMode="auto">
          <a:xfrm>
            <a:off x="669673" y="2922622"/>
            <a:ext cx="7763114" cy="18466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zh-CN" sz="12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zh-CN" sz="1200" dirty="0">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zh-CN" sz="12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zh-CN" sz="1200" dirty="0">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zh-CN" sz="12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zh-CN" sz="1200" dirty="0">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zh-CN" sz="12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zh-CN" sz="1200" dirty="0">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dirty="0">
              <a:ln>
                <a:noFill/>
              </a:ln>
              <a:solidFill>
                <a:schemeClr val="tx1"/>
              </a:solidFill>
              <a:effectLst/>
              <a:latin typeface="Arial" panose="020B0604020202020204" pitchFamily="34" charset="0"/>
            </a:endParaRPr>
          </a:p>
        </p:txBody>
      </p:sp>
      <p:sp>
        <p:nvSpPr>
          <p:cNvPr id="6" name="日期占位符 5"/>
          <p:cNvSpPr>
            <a:spLocks noGrp="1"/>
          </p:cNvSpPr>
          <p:nvPr>
            <p:ph type="dt" sz="half" idx="10"/>
          </p:nvPr>
        </p:nvSpPr>
        <p:spPr/>
        <p:txBody>
          <a:bodyPr/>
          <a:lstStyle/>
          <a:p>
            <a:fld id="{FF0BD7C1-0E48-40FC-BAC4-27D53805A991}" type="datetime10">
              <a:rPr lang="zh-CN" altLang="en-US" smtClean="0"/>
              <a:t>14:22</a:t>
            </a:fld>
            <a:endParaRPr lang="zh-CN" altLang="en-US"/>
          </a:p>
        </p:txBody>
      </p:sp>
    </p:spTree>
    <p:extLst>
      <p:ext uri="{BB962C8B-B14F-4D97-AF65-F5344CB8AC3E}">
        <p14:creationId xmlns:p14="http://schemas.microsoft.com/office/powerpoint/2010/main" val="107868087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A85C281-35B0-428A-9336-D1AF798B7C38}"/>
              </a:ext>
            </a:extLst>
          </p:cNvPr>
          <p:cNvSpPr>
            <a:spLocks noGrp="1"/>
          </p:cNvSpPr>
          <p:nvPr>
            <p:ph type="title"/>
          </p:nvPr>
        </p:nvSpPr>
        <p:spPr>
          <a:xfrm>
            <a:off x="3167844" y="188640"/>
            <a:ext cx="2808312" cy="381000"/>
          </a:xfrm>
        </p:spPr>
        <p:txBody>
          <a:bodyPr/>
          <a:lstStyle/>
          <a:p>
            <a:r>
              <a:rPr lang="zh-CN" altLang="en-US" dirty="0"/>
              <a:t>研究方向介绍</a:t>
            </a:r>
          </a:p>
        </p:txBody>
      </p:sp>
      <p:sp>
        <p:nvSpPr>
          <p:cNvPr id="4" name="日期占位符 3">
            <a:extLst>
              <a:ext uri="{FF2B5EF4-FFF2-40B4-BE49-F238E27FC236}">
                <a16:creationId xmlns:a16="http://schemas.microsoft.com/office/drawing/2014/main" id="{F14A026F-E948-4AF8-B244-C7E3924A0EF6}"/>
              </a:ext>
            </a:extLst>
          </p:cNvPr>
          <p:cNvSpPr>
            <a:spLocks noGrp="1"/>
          </p:cNvSpPr>
          <p:nvPr>
            <p:ph type="dt" sz="half" idx="10"/>
          </p:nvPr>
        </p:nvSpPr>
        <p:spPr>
          <a:xfrm>
            <a:off x="8132072" y="5853569"/>
            <a:ext cx="914400" cy="228600"/>
          </a:xfrm>
        </p:spPr>
        <p:txBody>
          <a:bodyPr/>
          <a:lstStyle/>
          <a:p>
            <a:fld id="{8109613B-5451-4CF3-AAA5-78B683543C35}" type="datetime10">
              <a:rPr lang="zh-CN" altLang="en-US" smtClean="0"/>
              <a:t>14:22</a:t>
            </a:fld>
            <a:endParaRPr lang="zh-CN" altLang="en-US" dirty="0"/>
          </a:p>
        </p:txBody>
      </p:sp>
      <p:sp>
        <p:nvSpPr>
          <p:cNvPr id="5" name="灯片编号占位符 4">
            <a:extLst>
              <a:ext uri="{FF2B5EF4-FFF2-40B4-BE49-F238E27FC236}">
                <a16:creationId xmlns:a16="http://schemas.microsoft.com/office/drawing/2014/main" id="{DE4E1855-9913-4093-BC6B-7166DC154CC4}"/>
              </a:ext>
            </a:extLst>
          </p:cNvPr>
          <p:cNvSpPr>
            <a:spLocks noGrp="1"/>
          </p:cNvSpPr>
          <p:nvPr>
            <p:ph type="sldNum" sz="quarter" idx="12"/>
          </p:nvPr>
        </p:nvSpPr>
        <p:spPr/>
        <p:txBody>
          <a:bodyPr/>
          <a:lstStyle/>
          <a:p>
            <a:fld id="{0C913308-F349-4B6D-A68A-DD1791B4A57B}" type="slidenum">
              <a:rPr lang="zh-CN" altLang="en-US" smtClean="0"/>
              <a:t>37</a:t>
            </a:fld>
            <a:endParaRPr lang="zh-CN" altLang="en-US"/>
          </a:p>
        </p:txBody>
      </p:sp>
      <p:sp>
        <p:nvSpPr>
          <p:cNvPr id="6" name="文本框 5">
            <a:extLst>
              <a:ext uri="{FF2B5EF4-FFF2-40B4-BE49-F238E27FC236}">
                <a16:creationId xmlns:a16="http://schemas.microsoft.com/office/drawing/2014/main" id="{DF769C16-D3EC-4D87-9C7C-2BD60A4057E2}"/>
              </a:ext>
            </a:extLst>
          </p:cNvPr>
          <p:cNvSpPr txBox="1"/>
          <p:nvPr/>
        </p:nvSpPr>
        <p:spPr>
          <a:xfrm>
            <a:off x="6185334" y="692696"/>
            <a:ext cx="2298948" cy="707886"/>
          </a:xfrm>
          <a:prstGeom prst="rect">
            <a:avLst/>
          </a:prstGeom>
          <a:noFill/>
        </p:spPr>
        <p:txBody>
          <a:bodyPr wrap="square" rtlCol="0">
            <a:spAutoFit/>
          </a:bodyPr>
          <a:lstStyle/>
          <a:p>
            <a:r>
              <a:rPr lang="en-US" altLang="zh-CN" sz="2000" dirty="0">
                <a:solidFill>
                  <a:srgbClr val="FF0000"/>
                </a:solidFill>
              </a:rPr>
              <a:t>3</a:t>
            </a:r>
            <a:r>
              <a:rPr lang="zh-CN" altLang="en-US" sz="2000" dirty="0">
                <a:solidFill>
                  <a:srgbClr val="FF0000"/>
                </a:solidFill>
              </a:rPr>
              <a:t>、数字孪生系统的研究与开发</a:t>
            </a:r>
          </a:p>
        </p:txBody>
      </p:sp>
      <p:sp>
        <p:nvSpPr>
          <p:cNvPr id="7" name="文本框 6">
            <a:extLst>
              <a:ext uri="{FF2B5EF4-FFF2-40B4-BE49-F238E27FC236}">
                <a16:creationId xmlns:a16="http://schemas.microsoft.com/office/drawing/2014/main" id="{A11C2381-A9F4-43BD-B975-EAD52F090480}"/>
              </a:ext>
            </a:extLst>
          </p:cNvPr>
          <p:cNvSpPr txBox="1"/>
          <p:nvPr/>
        </p:nvSpPr>
        <p:spPr>
          <a:xfrm>
            <a:off x="781422" y="722144"/>
            <a:ext cx="2451635" cy="707886"/>
          </a:xfrm>
          <a:prstGeom prst="rect">
            <a:avLst/>
          </a:prstGeom>
          <a:noFill/>
        </p:spPr>
        <p:txBody>
          <a:bodyPr wrap="square" rtlCol="0">
            <a:spAutoFit/>
          </a:bodyPr>
          <a:lstStyle/>
          <a:p>
            <a:r>
              <a:rPr lang="en-US" altLang="zh-CN" sz="2000" dirty="0">
                <a:solidFill>
                  <a:srgbClr val="FF0000"/>
                </a:solidFill>
              </a:rPr>
              <a:t>1</a:t>
            </a:r>
            <a:r>
              <a:rPr lang="zh-CN" altLang="en-US" sz="2000" dirty="0">
                <a:solidFill>
                  <a:srgbClr val="FF0000"/>
                </a:solidFill>
              </a:rPr>
              <a:t>、控制系统软硬件设计</a:t>
            </a:r>
          </a:p>
        </p:txBody>
      </p:sp>
      <p:sp>
        <p:nvSpPr>
          <p:cNvPr id="8" name="文本框 7">
            <a:extLst>
              <a:ext uri="{FF2B5EF4-FFF2-40B4-BE49-F238E27FC236}">
                <a16:creationId xmlns:a16="http://schemas.microsoft.com/office/drawing/2014/main" id="{00381EB6-8296-419E-8B44-531C8B7DC973}"/>
              </a:ext>
            </a:extLst>
          </p:cNvPr>
          <p:cNvSpPr txBox="1"/>
          <p:nvPr/>
        </p:nvSpPr>
        <p:spPr>
          <a:xfrm>
            <a:off x="3419872" y="692696"/>
            <a:ext cx="2376264" cy="707886"/>
          </a:xfrm>
          <a:prstGeom prst="rect">
            <a:avLst/>
          </a:prstGeom>
          <a:noFill/>
        </p:spPr>
        <p:txBody>
          <a:bodyPr wrap="square" rtlCol="0">
            <a:spAutoFit/>
          </a:bodyPr>
          <a:lstStyle/>
          <a:p>
            <a:r>
              <a:rPr lang="en-US" altLang="zh-CN" sz="2000" dirty="0">
                <a:solidFill>
                  <a:srgbClr val="FF0000"/>
                </a:solidFill>
              </a:rPr>
              <a:t>2</a:t>
            </a:r>
            <a:r>
              <a:rPr lang="zh-CN" altLang="en-US" sz="2000" dirty="0">
                <a:solidFill>
                  <a:srgbClr val="FF0000"/>
                </a:solidFill>
              </a:rPr>
              <a:t>、新一代电力电子技术研究与应用</a:t>
            </a:r>
          </a:p>
        </p:txBody>
      </p:sp>
      <p:sp>
        <p:nvSpPr>
          <p:cNvPr id="9" name="文本框 8">
            <a:extLst>
              <a:ext uri="{FF2B5EF4-FFF2-40B4-BE49-F238E27FC236}">
                <a16:creationId xmlns:a16="http://schemas.microsoft.com/office/drawing/2014/main" id="{A4C60082-D03C-4738-BA08-BC9C33C9B67D}"/>
              </a:ext>
            </a:extLst>
          </p:cNvPr>
          <p:cNvSpPr txBox="1"/>
          <p:nvPr/>
        </p:nvSpPr>
        <p:spPr>
          <a:xfrm>
            <a:off x="838200" y="1499269"/>
            <a:ext cx="2451636" cy="4708981"/>
          </a:xfrm>
          <a:prstGeom prst="rect">
            <a:avLst/>
          </a:prstGeom>
          <a:noFill/>
        </p:spPr>
        <p:txBody>
          <a:bodyPr wrap="square" rtlCol="0">
            <a:spAutoFit/>
          </a:bodyPr>
          <a:lstStyle/>
          <a:p>
            <a:r>
              <a:rPr lang="en-US" altLang="zh-CN" sz="2000" dirty="0">
                <a:solidFill>
                  <a:srgbClr val="0000FF"/>
                </a:solidFill>
              </a:rPr>
              <a:t>1</a:t>
            </a:r>
            <a:r>
              <a:rPr lang="zh-CN" altLang="en-US" sz="2000" dirty="0">
                <a:solidFill>
                  <a:srgbClr val="0000FF"/>
                </a:solidFill>
              </a:rPr>
              <a:t>、控制系统硬件设计：</a:t>
            </a:r>
            <a:r>
              <a:rPr lang="en-US" altLang="zh-CN" sz="2000" dirty="0">
                <a:solidFill>
                  <a:srgbClr val="0000FF"/>
                </a:solidFill>
              </a:rPr>
              <a:t>ARM</a:t>
            </a:r>
            <a:r>
              <a:rPr lang="zh-CN" altLang="en-US" sz="2000" dirty="0">
                <a:solidFill>
                  <a:srgbClr val="0000FF"/>
                </a:solidFill>
              </a:rPr>
              <a:t>、</a:t>
            </a:r>
            <a:r>
              <a:rPr lang="en-US" altLang="zh-CN" sz="2000" dirty="0">
                <a:solidFill>
                  <a:srgbClr val="0000FF"/>
                </a:solidFill>
              </a:rPr>
              <a:t>DSP</a:t>
            </a:r>
            <a:r>
              <a:rPr lang="zh-CN" altLang="en-US" sz="2000" dirty="0">
                <a:solidFill>
                  <a:srgbClr val="0000FF"/>
                </a:solidFill>
              </a:rPr>
              <a:t>、</a:t>
            </a:r>
            <a:r>
              <a:rPr lang="en-US" altLang="zh-CN" sz="2000" dirty="0">
                <a:solidFill>
                  <a:srgbClr val="0000FF"/>
                </a:solidFill>
              </a:rPr>
              <a:t>FPGA</a:t>
            </a:r>
            <a:r>
              <a:rPr lang="zh-CN" altLang="en-US" sz="2000" dirty="0">
                <a:solidFill>
                  <a:srgbClr val="0000FF"/>
                </a:solidFill>
              </a:rPr>
              <a:t>、</a:t>
            </a:r>
            <a:r>
              <a:rPr lang="en-US" altLang="zh-CN" sz="2000" dirty="0">
                <a:solidFill>
                  <a:srgbClr val="0000FF"/>
                </a:solidFill>
              </a:rPr>
              <a:t>CPLD</a:t>
            </a:r>
            <a:r>
              <a:rPr lang="zh-CN" altLang="en-US" sz="2000" dirty="0">
                <a:solidFill>
                  <a:srgbClr val="0000FF"/>
                </a:solidFill>
              </a:rPr>
              <a:t>；</a:t>
            </a:r>
            <a:endParaRPr lang="en-US" altLang="zh-CN" sz="2000" dirty="0">
              <a:solidFill>
                <a:srgbClr val="0000FF"/>
              </a:solidFill>
            </a:endParaRPr>
          </a:p>
          <a:p>
            <a:r>
              <a:rPr lang="en-US" altLang="zh-CN" sz="2000" dirty="0">
                <a:solidFill>
                  <a:srgbClr val="0000FF"/>
                </a:solidFill>
              </a:rPr>
              <a:t>2</a:t>
            </a:r>
            <a:r>
              <a:rPr lang="zh-CN" altLang="en-US" sz="2000" dirty="0">
                <a:solidFill>
                  <a:srgbClr val="0000FF"/>
                </a:solidFill>
              </a:rPr>
              <a:t>、控制系统软件设计：</a:t>
            </a:r>
            <a:r>
              <a:rPr lang="en-US" altLang="zh-CN" sz="2000" dirty="0">
                <a:solidFill>
                  <a:srgbClr val="0000FF"/>
                </a:solidFill>
              </a:rPr>
              <a:t>ARM</a:t>
            </a:r>
            <a:r>
              <a:rPr lang="zh-CN" altLang="en-US" sz="2000" dirty="0">
                <a:solidFill>
                  <a:srgbClr val="0000FF"/>
                </a:solidFill>
              </a:rPr>
              <a:t>、</a:t>
            </a:r>
            <a:r>
              <a:rPr lang="en-US" altLang="zh-CN" sz="2000" dirty="0">
                <a:solidFill>
                  <a:srgbClr val="0000FF"/>
                </a:solidFill>
              </a:rPr>
              <a:t>DSP</a:t>
            </a:r>
            <a:r>
              <a:rPr lang="zh-CN" altLang="en-US" sz="2000" dirty="0">
                <a:solidFill>
                  <a:srgbClr val="0000FF"/>
                </a:solidFill>
              </a:rPr>
              <a:t>、</a:t>
            </a:r>
            <a:r>
              <a:rPr lang="en-US" altLang="zh-CN" sz="2000" dirty="0">
                <a:solidFill>
                  <a:srgbClr val="0000FF"/>
                </a:solidFill>
              </a:rPr>
              <a:t>FPGA</a:t>
            </a:r>
            <a:r>
              <a:rPr lang="zh-CN" altLang="en-US" sz="2000" dirty="0">
                <a:solidFill>
                  <a:srgbClr val="0000FF"/>
                </a:solidFill>
              </a:rPr>
              <a:t>、</a:t>
            </a:r>
            <a:r>
              <a:rPr lang="en-US" altLang="zh-CN" sz="2000" dirty="0">
                <a:solidFill>
                  <a:srgbClr val="0000FF"/>
                </a:solidFill>
              </a:rPr>
              <a:t>CPLD</a:t>
            </a:r>
          </a:p>
          <a:p>
            <a:r>
              <a:rPr lang="en-US" altLang="zh-CN" sz="2000" dirty="0">
                <a:solidFill>
                  <a:srgbClr val="0000FF"/>
                </a:solidFill>
              </a:rPr>
              <a:t>3</a:t>
            </a:r>
            <a:r>
              <a:rPr lang="zh-CN" altLang="en-US" sz="2000" dirty="0">
                <a:solidFill>
                  <a:srgbClr val="0000FF"/>
                </a:solidFill>
              </a:rPr>
              <a:t>、模电、数电、</a:t>
            </a:r>
            <a:r>
              <a:rPr lang="en-US" altLang="zh-CN" sz="2000" dirty="0">
                <a:solidFill>
                  <a:srgbClr val="0000FF"/>
                </a:solidFill>
              </a:rPr>
              <a:t>C</a:t>
            </a:r>
            <a:r>
              <a:rPr lang="zh-CN" altLang="en-US" sz="2000" dirty="0">
                <a:solidFill>
                  <a:srgbClr val="0000FF"/>
                </a:solidFill>
              </a:rPr>
              <a:t>语言相关知识的应用</a:t>
            </a:r>
            <a:endParaRPr lang="en-US" altLang="zh-CN" sz="2000" dirty="0">
              <a:solidFill>
                <a:srgbClr val="0000FF"/>
              </a:solidFill>
            </a:endParaRPr>
          </a:p>
          <a:p>
            <a:r>
              <a:rPr lang="en-US" altLang="zh-CN" sz="2000" dirty="0">
                <a:solidFill>
                  <a:srgbClr val="0000FF"/>
                </a:solidFill>
              </a:rPr>
              <a:t>4</a:t>
            </a:r>
            <a:r>
              <a:rPr lang="zh-CN" altLang="en-US" sz="2000" dirty="0">
                <a:solidFill>
                  <a:srgbClr val="0000FF"/>
                </a:solidFill>
              </a:rPr>
              <a:t>、网络通讯相关知识</a:t>
            </a:r>
            <a:endParaRPr lang="en-US" altLang="zh-CN" sz="2000" dirty="0">
              <a:solidFill>
                <a:srgbClr val="0000FF"/>
              </a:solidFill>
            </a:endParaRPr>
          </a:p>
          <a:p>
            <a:r>
              <a:rPr lang="en-US" altLang="zh-CN" sz="2000" dirty="0">
                <a:solidFill>
                  <a:srgbClr val="0000FF"/>
                </a:solidFill>
              </a:rPr>
              <a:t>5</a:t>
            </a:r>
            <a:r>
              <a:rPr lang="zh-CN" altLang="en-US" sz="2000" dirty="0">
                <a:solidFill>
                  <a:srgbClr val="0000FF"/>
                </a:solidFill>
              </a:rPr>
              <a:t>、操作系统相关知识</a:t>
            </a:r>
            <a:endParaRPr lang="en-US" altLang="zh-CN" sz="2000" dirty="0">
              <a:solidFill>
                <a:srgbClr val="0000FF"/>
              </a:solidFill>
            </a:endParaRPr>
          </a:p>
          <a:p>
            <a:endParaRPr lang="en-US" altLang="zh-CN" sz="2000" dirty="0">
              <a:solidFill>
                <a:srgbClr val="0000FF"/>
              </a:solidFill>
            </a:endParaRPr>
          </a:p>
          <a:p>
            <a:endParaRPr lang="zh-CN" altLang="en-US" sz="2000" dirty="0">
              <a:solidFill>
                <a:srgbClr val="0000FF"/>
              </a:solidFill>
            </a:endParaRPr>
          </a:p>
        </p:txBody>
      </p:sp>
      <p:sp>
        <p:nvSpPr>
          <p:cNvPr id="10" name="文本框 9">
            <a:extLst>
              <a:ext uri="{FF2B5EF4-FFF2-40B4-BE49-F238E27FC236}">
                <a16:creationId xmlns:a16="http://schemas.microsoft.com/office/drawing/2014/main" id="{52516B59-7EC1-467D-9320-118E5A020274}"/>
              </a:ext>
            </a:extLst>
          </p:cNvPr>
          <p:cNvSpPr txBox="1"/>
          <p:nvPr/>
        </p:nvSpPr>
        <p:spPr>
          <a:xfrm>
            <a:off x="3419872" y="1460205"/>
            <a:ext cx="2477430" cy="4708981"/>
          </a:xfrm>
          <a:prstGeom prst="rect">
            <a:avLst/>
          </a:prstGeom>
          <a:noFill/>
        </p:spPr>
        <p:txBody>
          <a:bodyPr wrap="square" rtlCol="0">
            <a:spAutoFit/>
          </a:bodyPr>
          <a:lstStyle/>
          <a:p>
            <a:r>
              <a:rPr lang="en-US" altLang="zh-CN" sz="2000" dirty="0">
                <a:solidFill>
                  <a:srgbClr val="0000FF"/>
                </a:solidFill>
              </a:rPr>
              <a:t>1</a:t>
            </a:r>
            <a:r>
              <a:rPr lang="zh-CN" altLang="en-US" sz="2000" dirty="0">
                <a:solidFill>
                  <a:srgbClr val="0000FF"/>
                </a:solidFill>
              </a:rPr>
              <a:t>、新一代电力电子系统控制算法技术</a:t>
            </a:r>
            <a:endParaRPr lang="en-US" altLang="zh-CN" sz="2000" dirty="0">
              <a:solidFill>
                <a:srgbClr val="0000FF"/>
              </a:solidFill>
            </a:endParaRPr>
          </a:p>
          <a:p>
            <a:r>
              <a:rPr lang="en-US" altLang="zh-CN" sz="2000" dirty="0">
                <a:solidFill>
                  <a:srgbClr val="0000FF"/>
                </a:solidFill>
              </a:rPr>
              <a:t>2</a:t>
            </a:r>
            <a:r>
              <a:rPr lang="zh-CN" altLang="en-US" sz="2000" dirty="0">
                <a:solidFill>
                  <a:srgbClr val="0000FF"/>
                </a:solidFill>
              </a:rPr>
              <a:t>、工频微电网、中频微网并网控制策略技术</a:t>
            </a:r>
            <a:endParaRPr lang="en-US" altLang="zh-CN" sz="2000" dirty="0">
              <a:solidFill>
                <a:srgbClr val="0000FF"/>
              </a:solidFill>
            </a:endParaRPr>
          </a:p>
          <a:p>
            <a:r>
              <a:rPr lang="en-US" altLang="zh-CN" sz="2000" dirty="0">
                <a:solidFill>
                  <a:srgbClr val="0000FF"/>
                </a:solidFill>
              </a:rPr>
              <a:t>3</a:t>
            </a:r>
            <a:r>
              <a:rPr lang="zh-CN" altLang="en-US" sz="2000" dirty="0">
                <a:solidFill>
                  <a:srgbClr val="0000FF"/>
                </a:solidFill>
              </a:rPr>
              <a:t>、超大功率电力电子装备的研究与应用</a:t>
            </a:r>
            <a:endParaRPr lang="en-US" altLang="zh-CN" sz="2000" dirty="0">
              <a:solidFill>
                <a:srgbClr val="0000FF"/>
              </a:solidFill>
            </a:endParaRPr>
          </a:p>
          <a:p>
            <a:r>
              <a:rPr lang="en-US" altLang="zh-CN" sz="2000" dirty="0">
                <a:solidFill>
                  <a:srgbClr val="0000FF"/>
                </a:solidFill>
              </a:rPr>
              <a:t>4</a:t>
            </a:r>
            <a:r>
              <a:rPr lang="zh-CN" altLang="en-US" sz="2000" dirty="0">
                <a:solidFill>
                  <a:srgbClr val="0000FF"/>
                </a:solidFill>
              </a:rPr>
              <a:t>、新能源装备的研究与开发</a:t>
            </a:r>
            <a:endParaRPr lang="en-US" altLang="zh-CN" sz="2000" dirty="0">
              <a:solidFill>
                <a:srgbClr val="0000FF"/>
              </a:solidFill>
            </a:endParaRPr>
          </a:p>
          <a:p>
            <a:r>
              <a:rPr lang="en-US" altLang="zh-CN" sz="2000" dirty="0">
                <a:solidFill>
                  <a:srgbClr val="0000FF"/>
                </a:solidFill>
              </a:rPr>
              <a:t>5</a:t>
            </a:r>
            <a:r>
              <a:rPr lang="zh-CN" altLang="en-US" sz="2000" dirty="0">
                <a:solidFill>
                  <a:srgbClr val="0000FF"/>
                </a:solidFill>
              </a:rPr>
              <a:t>、电力电子系统的仿真与实现</a:t>
            </a:r>
            <a:endParaRPr lang="en-US" altLang="zh-CN" sz="2000" dirty="0">
              <a:solidFill>
                <a:srgbClr val="0000FF"/>
              </a:solidFill>
            </a:endParaRPr>
          </a:p>
          <a:p>
            <a:r>
              <a:rPr lang="en-US" altLang="zh-CN" sz="2000" dirty="0">
                <a:solidFill>
                  <a:srgbClr val="0000FF"/>
                </a:solidFill>
              </a:rPr>
              <a:t>6</a:t>
            </a:r>
            <a:r>
              <a:rPr lang="zh-CN" altLang="en-US" sz="2000" dirty="0">
                <a:solidFill>
                  <a:srgbClr val="0000FF"/>
                </a:solidFill>
              </a:rPr>
              <a:t>、智能电网相关</a:t>
            </a:r>
            <a:endParaRPr lang="en-US" altLang="zh-CN" sz="2000" dirty="0">
              <a:solidFill>
                <a:srgbClr val="0000FF"/>
              </a:solidFill>
            </a:endParaRPr>
          </a:p>
          <a:p>
            <a:endParaRPr lang="en-US" altLang="zh-CN" sz="2000" dirty="0">
              <a:solidFill>
                <a:srgbClr val="0000FF"/>
              </a:solidFill>
            </a:endParaRPr>
          </a:p>
          <a:p>
            <a:endParaRPr lang="en-US" altLang="zh-CN" sz="2000" dirty="0">
              <a:solidFill>
                <a:srgbClr val="0000FF"/>
              </a:solidFill>
            </a:endParaRPr>
          </a:p>
          <a:p>
            <a:endParaRPr lang="zh-CN" altLang="en-US" sz="2000" dirty="0">
              <a:solidFill>
                <a:srgbClr val="0000FF"/>
              </a:solidFill>
            </a:endParaRPr>
          </a:p>
        </p:txBody>
      </p:sp>
      <p:sp>
        <p:nvSpPr>
          <p:cNvPr id="11" name="文本框 10">
            <a:extLst>
              <a:ext uri="{FF2B5EF4-FFF2-40B4-BE49-F238E27FC236}">
                <a16:creationId xmlns:a16="http://schemas.microsoft.com/office/drawing/2014/main" id="{A7E48FD8-49BB-4717-B8B7-EE05FADF891B}"/>
              </a:ext>
            </a:extLst>
          </p:cNvPr>
          <p:cNvSpPr txBox="1"/>
          <p:nvPr/>
        </p:nvSpPr>
        <p:spPr>
          <a:xfrm>
            <a:off x="6185334" y="1412776"/>
            <a:ext cx="2851162" cy="4555093"/>
          </a:xfrm>
          <a:prstGeom prst="rect">
            <a:avLst/>
          </a:prstGeom>
          <a:noFill/>
        </p:spPr>
        <p:txBody>
          <a:bodyPr wrap="square" rtlCol="0">
            <a:spAutoFit/>
          </a:bodyPr>
          <a:lstStyle/>
          <a:p>
            <a:pPr marL="0" lvl="1">
              <a:lnSpc>
                <a:spcPct val="125000"/>
              </a:lnSpc>
            </a:pPr>
            <a:r>
              <a:rPr lang="en-US" altLang="zh-CN" sz="2000" dirty="0">
                <a:solidFill>
                  <a:srgbClr val="FF0000"/>
                </a:solidFill>
              </a:rPr>
              <a:t>1</a:t>
            </a:r>
            <a:r>
              <a:rPr lang="zh-CN" altLang="en-US" sz="2000" dirty="0">
                <a:solidFill>
                  <a:srgbClr val="FF0000"/>
                </a:solidFill>
              </a:rPr>
              <a:t>、数字孪生系统相关技术</a:t>
            </a:r>
            <a:r>
              <a:rPr lang="zh-CN" altLang="en-US" sz="2000" b="1" dirty="0">
                <a:solidFill>
                  <a:srgbClr val="9900FF"/>
                </a:solidFill>
              </a:rPr>
              <a:t>（很火）</a:t>
            </a:r>
            <a:endParaRPr lang="en-US" altLang="zh-CN" sz="2000" b="1" dirty="0">
              <a:solidFill>
                <a:srgbClr val="9900FF"/>
              </a:solidFill>
            </a:endParaRPr>
          </a:p>
          <a:p>
            <a:pPr marL="0" lvl="1">
              <a:lnSpc>
                <a:spcPct val="125000"/>
              </a:lnSpc>
            </a:pPr>
            <a:r>
              <a:rPr lang="en-US" altLang="zh-CN" sz="2000" dirty="0">
                <a:solidFill>
                  <a:srgbClr val="0000FF"/>
                </a:solidFill>
              </a:rPr>
              <a:t>2</a:t>
            </a:r>
            <a:r>
              <a:rPr lang="zh-CN" altLang="en-US" sz="2000" dirty="0">
                <a:solidFill>
                  <a:srgbClr val="0000FF"/>
                </a:solidFill>
              </a:rPr>
              <a:t>、人工智能，机器学习相关算法</a:t>
            </a:r>
            <a:endParaRPr lang="en-US" altLang="zh-CN" sz="2000" dirty="0">
              <a:solidFill>
                <a:srgbClr val="0000FF"/>
              </a:solidFill>
            </a:endParaRPr>
          </a:p>
          <a:p>
            <a:pPr marL="0" lvl="1">
              <a:lnSpc>
                <a:spcPct val="125000"/>
              </a:lnSpc>
            </a:pPr>
            <a:r>
              <a:rPr lang="en-US" altLang="zh-CN" sz="2000" dirty="0">
                <a:solidFill>
                  <a:srgbClr val="0000FF"/>
                </a:solidFill>
              </a:rPr>
              <a:t>3</a:t>
            </a:r>
            <a:r>
              <a:rPr lang="zh-CN" altLang="en-US" sz="2000" dirty="0">
                <a:solidFill>
                  <a:srgbClr val="0000FF"/>
                </a:solidFill>
              </a:rPr>
              <a:t>、系统优化与决策的理论与应用技术</a:t>
            </a:r>
            <a:endParaRPr lang="en-US" altLang="zh-CN" sz="2000" dirty="0">
              <a:solidFill>
                <a:srgbClr val="0000FF"/>
              </a:solidFill>
            </a:endParaRPr>
          </a:p>
          <a:p>
            <a:pPr marL="0" lvl="1">
              <a:lnSpc>
                <a:spcPct val="125000"/>
              </a:lnSpc>
            </a:pPr>
            <a:r>
              <a:rPr lang="en-US" altLang="zh-CN" sz="2000" dirty="0">
                <a:solidFill>
                  <a:srgbClr val="0000FF"/>
                </a:solidFill>
              </a:rPr>
              <a:t>4</a:t>
            </a:r>
            <a:r>
              <a:rPr lang="zh-CN" altLang="en-US" sz="2000" dirty="0">
                <a:solidFill>
                  <a:srgbClr val="0000FF"/>
                </a:solidFill>
              </a:rPr>
              <a:t>、下一步的深入研究：数据预测、异常检测、群智能决策优化、强化学习、鲁棒优化</a:t>
            </a:r>
            <a:endParaRPr lang="en-US" altLang="zh-CN" sz="2000" dirty="0">
              <a:solidFill>
                <a:srgbClr val="0000FF"/>
              </a:solidFill>
            </a:endParaRPr>
          </a:p>
          <a:p>
            <a:endParaRPr lang="en-US" altLang="zh-CN" sz="2000" dirty="0">
              <a:solidFill>
                <a:srgbClr val="0000FF"/>
              </a:solidFill>
            </a:endParaRPr>
          </a:p>
          <a:p>
            <a:endParaRPr lang="zh-CN" altLang="en-US" sz="2000" dirty="0">
              <a:solidFill>
                <a:srgbClr val="0000FF"/>
              </a:solidFill>
            </a:endParaRPr>
          </a:p>
        </p:txBody>
      </p:sp>
      <p:sp>
        <p:nvSpPr>
          <p:cNvPr id="12" name="矩形 11">
            <a:extLst>
              <a:ext uri="{FF2B5EF4-FFF2-40B4-BE49-F238E27FC236}">
                <a16:creationId xmlns:a16="http://schemas.microsoft.com/office/drawing/2014/main" id="{D717A048-2E1F-4C8D-9D65-D300F12D0E16}"/>
              </a:ext>
            </a:extLst>
          </p:cNvPr>
          <p:cNvSpPr/>
          <p:nvPr/>
        </p:nvSpPr>
        <p:spPr>
          <a:xfrm>
            <a:off x="779666" y="5286823"/>
            <a:ext cx="7558479" cy="1590692"/>
          </a:xfrm>
          <a:prstGeom prst="rect">
            <a:avLst/>
          </a:prstGeom>
        </p:spPr>
        <p:txBody>
          <a:bodyPr wrap="none">
            <a:spAutoFit/>
          </a:bodyPr>
          <a:lstStyle/>
          <a:p>
            <a:pPr lvl="1">
              <a:lnSpc>
                <a:spcPct val="125000"/>
              </a:lnSpc>
            </a:pPr>
            <a:r>
              <a:rPr lang="zh-CN" altLang="en-US" sz="2000" b="1" dirty="0">
                <a:solidFill>
                  <a:srgbClr val="FF0000"/>
                </a:solidFill>
              </a:rPr>
              <a:t>有理论研究，也有工程实践！</a:t>
            </a:r>
            <a:r>
              <a:rPr lang="zh-CN" altLang="en-US" sz="2000" b="1" dirty="0">
                <a:solidFill>
                  <a:srgbClr val="0000FF"/>
                </a:solidFill>
              </a:rPr>
              <a:t>（可以做项目也可以发文章）</a:t>
            </a:r>
            <a:endParaRPr lang="en-US" altLang="zh-CN" sz="2000" b="1" dirty="0">
              <a:solidFill>
                <a:srgbClr val="0000FF"/>
              </a:solidFill>
            </a:endParaRPr>
          </a:p>
          <a:p>
            <a:pPr lvl="1">
              <a:lnSpc>
                <a:spcPct val="125000"/>
              </a:lnSpc>
            </a:pPr>
            <a:r>
              <a:rPr lang="zh-CN" altLang="en-US" sz="2000" b="1" dirty="0">
                <a:solidFill>
                  <a:srgbClr val="FF0000"/>
                </a:solidFill>
              </a:rPr>
              <a:t>面向实际工程系统的理论和应用研究！</a:t>
            </a:r>
            <a:endParaRPr lang="en-US" altLang="zh-CN" sz="2000" b="1" dirty="0">
              <a:solidFill>
                <a:srgbClr val="FF0000"/>
              </a:solidFill>
            </a:endParaRPr>
          </a:p>
          <a:p>
            <a:pPr lvl="1">
              <a:lnSpc>
                <a:spcPct val="125000"/>
              </a:lnSpc>
            </a:pPr>
            <a:r>
              <a:rPr lang="zh-CN" altLang="en-US" sz="2000" b="1" dirty="0">
                <a:solidFill>
                  <a:srgbClr val="FF0000"/>
                </a:solidFill>
              </a:rPr>
              <a:t>实验室尽量提供同学们锻炼的机会</a:t>
            </a:r>
            <a:endParaRPr lang="en-US" altLang="zh-CN" sz="2000" b="1" dirty="0">
              <a:solidFill>
                <a:srgbClr val="FF0000"/>
              </a:solidFill>
            </a:endParaRPr>
          </a:p>
          <a:p>
            <a:pPr lvl="1">
              <a:lnSpc>
                <a:spcPct val="125000"/>
              </a:lnSpc>
            </a:pPr>
            <a:r>
              <a:rPr lang="zh-CN" altLang="en-US" sz="2000" b="1" dirty="0">
                <a:solidFill>
                  <a:srgbClr val="FF0000"/>
                </a:solidFill>
              </a:rPr>
              <a:t>（每年投入很多）！</a:t>
            </a:r>
            <a:endParaRPr lang="zh-CN" altLang="en-US" sz="2400" dirty="0"/>
          </a:p>
        </p:txBody>
      </p:sp>
    </p:spTree>
    <p:extLst>
      <p:ext uri="{BB962C8B-B14F-4D97-AF65-F5344CB8AC3E}">
        <p14:creationId xmlns:p14="http://schemas.microsoft.com/office/powerpoint/2010/main" val="139963810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rot="21600000">
            <a:off x="-23471" y="794615"/>
            <a:ext cx="9144000" cy="5143500"/>
          </a:xfrm>
          <a:prstGeom prst="rect">
            <a:avLst/>
          </a:prstGeom>
        </p:spPr>
      </p:pic>
      <p:sp>
        <p:nvSpPr>
          <p:cNvPr id="4" name="textbox 4"/>
          <p:cNvSpPr/>
          <p:nvPr/>
        </p:nvSpPr>
        <p:spPr>
          <a:xfrm>
            <a:off x="8915384" y="6185495"/>
            <a:ext cx="64770" cy="123825"/>
          </a:xfrm>
          <a:prstGeom prst="rect">
            <a:avLst/>
          </a:prstGeom>
          <a:noFill/>
          <a:ln w="0" cap="flat">
            <a:noFill/>
            <a:prstDash val="solid"/>
            <a:miter lim="0"/>
          </a:ln>
        </p:spPr>
        <p:txBody>
          <a:bodyPr vert="horz" wrap="square" lIns="0" tIns="0" rIns="0" bIns="0"/>
          <a:lstStyle/>
          <a:p>
            <a:pPr algn="l" rtl="0" eaLnBrk="0">
              <a:lnSpc>
                <a:spcPct val="87992"/>
              </a:lnSpc>
              <a:tabLst/>
            </a:pPr>
            <a:endParaRPr sz="100" dirty="0">
              <a:latin typeface="Arial"/>
              <a:ea typeface="Arial"/>
              <a:cs typeface="Arial"/>
            </a:endParaRPr>
          </a:p>
          <a:p>
            <a:pPr algn="r" rtl="0" eaLnBrk="0">
              <a:lnSpc>
                <a:spcPct val="91000"/>
              </a:lnSpc>
              <a:tabLst/>
            </a:pPr>
            <a:r>
              <a:rPr sz="750" kern="0" spc="-30" dirty="0">
                <a:solidFill>
                  <a:srgbClr val="505060">
                    <a:alpha val="100000"/>
                  </a:srgbClr>
                </a:solidFill>
                <a:latin typeface="Times New Roman"/>
                <a:ea typeface="Times New Roman"/>
                <a:cs typeface="Times New Roman"/>
              </a:rPr>
              <a:t>1</a:t>
            </a:r>
            <a:endParaRPr sz="750" dirty="0">
              <a:latin typeface="Times New Roman"/>
              <a:ea typeface="Times New Roman"/>
              <a:cs typeface="Times New Roman"/>
            </a:endParaRPr>
          </a:p>
        </p:txBody>
      </p:sp>
      <p:sp>
        <p:nvSpPr>
          <p:cNvPr id="5" name="圆角矩形 13">
            <a:extLst>
              <a:ext uri="{FF2B5EF4-FFF2-40B4-BE49-F238E27FC236}">
                <a16:creationId xmlns:a16="http://schemas.microsoft.com/office/drawing/2014/main" id="{4FBFAD25-2903-4819-A09A-7A8998E24507}"/>
              </a:ext>
            </a:extLst>
          </p:cNvPr>
          <p:cNvSpPr/>
          <p:nvPr/>
        </p:nvSpPr>
        <p:spPr>
          <a:xfrm>
            <a:off x="0" y="864705"/>
            <a:ext cx="9144000" cy="455810"/>
          </a:xfrm>
          <a:prstGeom prst="roundRect">
            <a:avLst>
              <a:gd name="adj" fmla="val 0"/>
            </a:avLst>
          </a:prstGeom>
          <a:solidFill>
            <a:srgbClr val="9B49B8"/>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indent="-3810" algn="ctr" fontAlgn="base">
              <a:lnSpc>
                <a:spcPts val="2175"/>
              </a:lnSpc>
              <a:spcBef>
                <a:spcPct val="0"/>
              </a:spcBef>
              <a:spcAft>
                <a:spcPct val="0"/>
              </a:spcAft>
              <a:defRPr/>
            </a:pPr>
            <a:r>
              <a:rPr lang="zh-CN" altLang="en-US" b="1" dirty="0">
                <a:latin typeface="微软雅黑" panose="020B0503020204020204" charset="-122"/>
                <a:ea typeface="微软雅黑" panose="020B0503020204020204" charset="-122"/>
                <a:cs typeface="微软雅黑" panose="020B0503020204020204" charset="-122"/>
              </a:rPr>
              <a:t>新一代电力电子与运动控制系统的研究与开发</a:t>
            </a:r>
          </a:p>
        </p:txBody>
      </p:sp>
      <p:sp>
        <p:nvSpPr>
          <p:cNvPr id="22" name="文本框 21">
            <a:extLst>
              <a:ext uri="{FF2B5EF4-FFF2-40B4-BE49-F238E27FC236}">
                <a16:creationId xmlns:a16="http://schemas.microsoft.com/office/drawing/2014/main" id="{766ED427-0D0C-426C-AA35-7E10E83FBA1C}"/>
              </a:ext>
            </a:extLst>
          </p:cNvPr>
          <p:cNvSpPr txBox="1"/>
          <p:nvPr/>
        </p:nvSpPr>
        <p:spPr>
          <a:xfrm>
            <a:off x="-360161" y="3401224"/>
            <a:ext cx="9424011" cy="2766783"/>
          </a:xfrm>
          <a:prstGeom prst="rect">
            <a:avLst/>
          </a:prstGeom>
          <a:noFill/>
        </p:spPr>
        <p:txBody>
          <a:bodyPr wrap="square">
            <a:spAutoFit/>
          </a:bodyPr>
          <a:lstStyle/>
          <a:p>
            <a:pPr lvl="1" algn="just">
              <a:lnSpc>
                <a:spcPct val="130000"/>
              </a:lnSpc>
            </a:pPr>
            <a:r>
              <a:rPr lang="en-US" altLang="zh-CN" sz="1350" b="1" kern="100" dirty="0">
                <a:solidFill>
                  <a:schemeClr val="accent1"/>
                </a:solidFill>
                <a:latin typeface="微软雅黑" panose="020B0503020204020204" pitchFamily="34" charset="-122"/>
                <a:ea typeface="微软雅黑" panose="020B0503020204020204" pitchFamily="34" charset="-122"/>
                <a:cs typeface="Times New Roman" panose="02020603050405020304" pitchFamily="18" charset="0"/>
              </a:rPr>
              <a:t>1</a:t>
            </a:r>
            <a:r>
              <a:rPr lang="zh-CN" altLang="en-US" sz="1350" b="1" kern="100" dirty="0">
                <a:solidFill>
                  <a:schemeClr val="accent1"/>
                </a:solidFill>
                <a:latin typeface="微软雅黑" panose="020B0503020204020204" pitchFamily="34" charset="-122"/>
                <a:ea typeface="微软雅黑" panose="020B0503020204020204" pitchFamily="34" charset="-122"/>
                <a:cs typeface="Times New Roman" panose="02020603050405020304" pitchFamily="18" charset="0"/>
              </a:rPr>
              <a:t>、背景：</a:t>
            </a:r>
            <a:r>
              <a:rPr lang="zh-CN" altLang="en-US" sz="1350" b="1" kern="100"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低碳与清洁能源的开发与利用是我国今后</a:t>
            </a:r>
            <a:r>
              <a:rPr lang="en-US" altLang="zh-CN" sz="1350" b="1" kern="100"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15-20</a:t>
            </a:r>
            <a:r>
              <a:rPr lang="zh-CN" altLang="en-US" sz="1350" b="1" kern="100"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年的战略方向。</a:t>
            </a:r>
          </a:p>
          <a:p>
            <a:pPr lvl="1" algn="just">
              <a:lnSpc>
                <a:spcPct val="130000"/>
              </a:lnSpc>
            </a:pPr>
            <a:r>
              <a:rPr lang="zh-CN" altLang="en-US" sz="1350" b="1" kern="100" dirty="0">
                <a:solidFill>
                  <a:schemeClr val="accent1"/>
                </a:solidFill>
                <a:latin typeface="微软雅黑" panose="020B0503020204020204" pitchFamily="34" charset="-122"/>
                <a:ea typeface="微软雅黑" panose="020B0503020204020204" pitchFamily="34" charset="-122"/>
                <a:cs typeface="Times New Roman" panose="02020603050405020304" pitchFamily="18" charset="0"/>
              </a:rPr>
              <a:t>研究的关键技术：</a:t>
            </a:r>
            <a:r>
              <a:rPr lang="en-US" altLang="zh-CN" sz="1350" b="1" kern="100" dirty="0">
                <a:solidFill>
                  <a:srgbClr val="A66BD3"/>
                </a:solidFill>
                <a:latin typeface="微软雅黑" panose="020B0503020204020204" pitchFamily="34" charset="-122"/>
                <a:ea typeface="微软雅黑" panose="020B0503020204020204" pitchFamily="34" charset="-122"/>
                <a:cs typeface="Times New Roman" panose="02020603050405020304" pitchFamily="18" charset="0"/>
              </a:rPr>
              <a:t>1</a:t>
            </a:r>
            <a:r>
              <a:rPr lang="zh-CN" altLang="en-US" sz="1350" b="1" kern="100" dirty="0">
                <a:solidFill>
                  <a:srgbClr val="A66BD3"/>
                </a:solidFill>
                <a:latin typeface="微软雅黑" panose="020B0503020204020204" pitchFamily="34" charset="-122"/>
                <a:ea typeface="微软雅黑" panose="020B0503020204020204" pitchFamily="34" charset="-122"/>
                <a:cs typeface="Times New Roman" panose="02020603050405020304" pitchFamily="18" charset="0"/>
              </a:rPr>
              <a:t>）面向新能源的并网电力电子装备研发；</a:t>
            </a:r>
            <a:r>
              <a:rPr lang="en-US" altLang="zh-CN" sz="1350" b="1" kern="100" dirty="0">
                <a:solidFill>
                  <a:srgbClr val="A66BD3"/>
                </a:solidFill>
                <a:latin typeface="微软雅黑" panose="020B0503020204020204" pitchFamily="34" charset="-122"/>
                <a:ea typeface="微软雅黑" panose="020B0503020204020204" pitchFamily="34" charset="-122"/>
                <a:cs typeface="Times New Roman" panose="02020603050405020304" pitchFamily="18" charset="0"/>
              </a:rPr>
              <a:t>2</a:t>
            </a:r>
            <a:r>
              <a:rPr lang="zh-CN" altLang="en-US" sz="1350" b="1" kern="100" dirty="0">
                <a:solidFill>
                  <a:srgbClr val="A66BD3"/>
                </a:solidFill>
                <a:latin typeface="微软雅黑" panose="020B0503020204020204" pitchFamily="34" charset="-122"/>
                <a:ea typeface="微软雅黑" panose="020B0503020204020204" pitchFamily="34" charset="-122"/>
                <a:cs typeface="Times New Roman" panose="02020603050405020304" pitchFamily="18" charset="0"/>
              </a:rPr>
              <a:t>）电网污染治理治理研究；</a:t>
            </a:r>
            <a:r>
              <a:rPr lang="en-US" altLang="zh-CN" sz="1350" b="1" kern="100" dirty="0">
                <a:solidFill>
                  <a:srgbClr val="A66BD3"/>
                </a:solidFill>
                <a:latin typeface="微软雅黑" panose="020B0503020204020204" pitchFamily="34" charset="-122"/>
                <a:ea typeface="微软雅黑" panose="020B0503020204020204" pitchFamily="34" charset="-122"/>
                <a:cs typeface="Times New Roman" panose="02020603050405020304" pitchFamily="18" charset="0"/>
              </a:rPr>
              <a:t>3</a:t>
            </a:r>
            <a:r>
              <a:rPr lang="zh-CN" altLang="en-US" sz="1350" b="1" kern="100" dirty="0">
                <a:solidFill>
                  <a:srgbClr val="A66BD3"/>
                </a:solidFill>
                <a:latin typeface="微软雅黑" panose="020B0503020204020204" pitchFamily="34" charset="-122"/>
                <a:ea typeface="微软雅黑" panose="020B0503020204020204" pitchFamily="34" charset="-122"/>
                <a:cs typeface="Times New Roman" panose="02020603050405020304" pitchFamily="18" charset="0"/>
              </a:rPr>
              <a:t>）高压超大功率电源装备研发；</a:t>
            </a:r>
            <a:r>
              <a:rPr lang="en-US" altLang="zh-CN" sz="1350" b="1" kern="1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4</a:t>
            </a:r>
            <a:r>
              <a:rPr lang="zh-CN" altLang="en-US" sz="1350" b="1" kern="1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）嵌入式操作系统软硬件设计：</a:t>
            </a:r>
            <a:r>
              <a:rPr lang="en-US" altLang="zh-CN" sz="1350" b="1" kern="1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ARM</a:t>
            </a:r>
            <a:r>
              <a:rPr lang="zh-CN" altLang="en-US" sz="1350" b="1" kern="1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1350" b="1" kern="1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DSP</a:t>
            </a:r>
            <a:r>
              <a:rPr lang="zh-CN" altLang="en-US" sz="1350" b="1" kern="1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1350" b="1" kern="1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FPGA</a:t>
            </a:r>
            <a:r>
              <a:rPr lang="zh-CN" altLang="en-US" sz="1350" b="1" kern="1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1350" b="1" kern="1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CPLD</a:t>
            </a:r>
            <a:r>
              <a:rPr lang="zh-CN" altLang="en-US" sz="1350" b="1" kern="1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1350" b="1" kern="100" dirty="0">
                <a:solidFill>
                  <a:srgbClr val="A66BD3"/>
                </a:solidFill>
                <a:latin typeface="微软雅黑" panose="020B0503020204020204" pitchFamily="34" charset="-122"/>
                <a:ea typeface="微软雅黑" panose="020B0503020204020204" pitchFamily="34" charset="-122"/>
                <a:cs typeface="Times New Roman" panose="02020603050405020304" pitchFamily="18" charset="0"/>
              </a:rPr>
              <a:t>5</a:t>
            </a:r>
            <a:r>
              <a:rPr lang="zh-CN" altLang="en-US" sz="1350" b="1" kern="100" dirty="0">
                <a:solidFill>
                  <a:srgbClr val="A66BD3"/>
                </a:solidFill>
                <a:latin typeface="微软雅黑" panose="020B0503020204020204" pitchFamily="34" charset="-122"/>
                <a:ea typeface="微软雅黑" panose="020B0503020204020204" pitchFamily="34" charset="-122"/>
                <a:cs typeface="Times New Roman" panose="02020603050405020304" pitchFamily="18" charset="0"/>
              </a:rPr>
              <a:t>）相关控制算法的研究与开发。</a:t>
            </a:r>
          </a:p>
          <a:p>
            <a:pPr lvl="1" algn="just">
              <a:lnSpc>
                <a:spcPct val="130000"/>
              </a:lnSpc>
            </a:pPr>
            <a:r>
              <a:rPr lang="en-US" altLang="zh-CN" sz="1350" b="1" kern="100" dirty="0">
                <a:solidFill>
                  <a:schemeClr val="accent1"/>
                </a:solidFill>
                <a:latin typeface="微软雅黑" panose="020B0503020204020204" pitchFamily="34" charset="-122"/>
                <a:ea typeface="微软雅黑" panose="020B0503020204020204" pitchFamily="34" charset="-122"/>
                <a:cs typeface="Times New Roman" panose="02020603050405020304" pitchFamily="18" charset="0"/>
              </a:rPr>
              <a:t>2</a:t>
            </a:r>
            <a:r>
              <a:rPr lang="zh-CN" altLang="en-US" sz="1350" b="1" kern="100" dirty="0">
                <a:solidFill>
                  <a:schemeClr val="accent1"/>
                </a:solidFill>
                <a:latin typeface="微软雅黑" panose="020B0503020204020204" pitchFamily="34" charset="-122"/>
                <a:ea typeface="微软雅黑" panose="020B0503020204020204" pitchFamily="34" charset="-122"/>
                <a:cs typeface="Times New Roman" panose="02020603050405020304" pitchFamily="18" charset="0"/>
              </a:rPr>
              <a:t>、应用场景：</a:t>
            </a:r>
            <a:r>
              <a:rPr lang="zh-CN" altLang="en-US" sz="1350" kern="100" dirty="0">
                <a:latin typeface="微软雅黑" panose="020B0503020204020204" pitchFamily="34" charset="-122"/>
                <a:ea typeface="微软雅黑" panose="020B0503020204020204" pitchFamily="34" charset="-122"/>
                <a:cs typeface="Times New Roman" panose="02020603050405020304" pitchFamily="18" charset="0"/>
              </a:rPr>
              <a:t>电网相关电力电子与电源设备、清洁能源装备、低碳场景下的电源装备。</a:t>
            </a:r>
            <a:endParaRPr lang="en-US" altLang="zh-CN" sz="1350" kern="100" dirty="0">
              <a:latin typeface="微软雅黑" panose="020B0503020204020204" pitchFamily="34" charset="-122"/>
              <a:ea typeface="微软雅黑" panose="020B0503020204020204" pitchFamily="34" charset="-122"/>
              <a:cs typeface="Times New Roman" panose="02020603050405020304" pitchFamily="18" charset="0"/>
            </a:endParaRPr>
          </a:p>
          <a:p>
            <a:pPr lvl="1" algn="just">
              <a:lnSpc>
                <a:spcPct val="130000"/>
              </a:lnSpc>
            </a:pPr>
            <a:r>
              <a:rPr lang="en-US" altLang="zh-CN" sz="1350" b="1" kern="100" dirty="0">
                <a:solidFill>
                  <a:schemeClr val="accent1"/>
                </a:solidFill>
                <a:latin typeface="微软雅黑" panose="020B0503020204020204" pitchFamily="34" charset="-122"/>
                <a:ea typeface="微软雅黑" panose="020B0503020204020204" pitchFamily="34" charset="-122"/>
                <a:cs typeface="Times New Roman" panose="02020603050405020304" pitchFamily="18" charset="0"/>
              </a:rPr>
              <a:t>3</a:t>
            </a:r>
            <a:r>
              <a:rPr lang="zh-CN" altLang="en-US" sz="1350" b="1" kern="100" dirty="0">
                <a:solidFill>
                  <a:schemeClr val="accent1"/>
                </a:solidFill>
                <a:latin typeface="微软雅黑" panose="020B0503020204020204" pitchFamily="34" charset="-122"/>
                <a:ea typeface="微软雅黑" panose="020B0503020204020204" pitchFamily="34" charset="-122"/>
                <a:cs typeface="Times New Roman" panose="02020603050405020304" pitchFamily="18" charset="0"/>
              </a:rPr>
              <a:t>、已取得的成果：</a:t>
            </a:r>
            <a:r>
              <a:rPr lang="en-US" altLang="zh-CN" sz="1350" b="1" kern="100" dirty="0">
                <a:solidFill>
                  <a:srgbClr val="004C85"/>
                </a:solidFill>
                <a:latin typeface="微软雅黑" panose="020B0503020204020204" pitchFamily="34" charset="-122"/>
                <a:ea typeface="微软雅黑" panose="020B0503020204020204" pitchFamily="34" charset="-122"/>
                <a:cs typeface="Times New Roman" panose="02020603050405020304" pitchFamily="18" charset="0"/>
              </a:rPr>
              <a:t>1</a:t>
            </a:r>
            <a:r>
              <a:rPr lang="zh-CN" altLang="en-US" sz="1350" b="1" kern="100" dirty="0">
                <a:solidFill>
                  <a:srgbClr val="004C85"/>
                </a:solidFill>
                <a:latin typeface="微软雅黑" panose="020B0503020204020204" pitchFamily="34" charset="-122"/>
                <a:ea typeface="微软雅黑" panose="020B0503020204020204" pitchFamily="34" charset="-122"/>
                <a:cs typeface="Times New Roman" panose="02020603050405020304" pitchFamily="18" charset="0"/>
              </a:rPr>
              <a:t>）为国家重大战略需求服务（为我国的核燃料生产提供一体化电源解决方案）。</a:t>
            </a:r>
            <a:r>
              <a:rPr lang="en-US" altLang="zh-CN" sz="1350" b="1" kern="100" dirty="0">
                <a:solidFill>
                  <a:srgbClr val="004C85"/>
                </a:solidFill>
                <a:latin typeface="微软雅黑" panose="020B0503020204020204" pitchFamily="34" charset="-122"/>
                <a:ea typeface="微软雅黑" panose="020B0503020204020204" pitchFamily="34" charset="-122"/>
                <a:cs typeface="Times New Roman" panose="02020603050405020304" pitchFamily="18" charset="0"/>
              </a:rPr>
              <a:t>2</a:t>
            </a:r>
            <a:r>
              <a:rPr lang="zh-CN" altLang="en-US" sz="1350" b="1" kern="100" dirty="0">
                <a:solidFill>
                  <a:srgbClr val="004C85"/>
                </a:solidFill>
                <a:latin typeface="微软雅黑" panose="020B0503020204020204" pitchFamily="34" charset="-122"/>
                <a:ea typeface="微软雅黑" panose="020B0503020204020204" pitchFamily="34" charset="-122"/>
                <a:cs typeface="Times New Roman" panose="02020603050405020304" pitchFamily="18" charset="0"/>
              </a:rPr>
              <a:t>）电网相关测试设备（并网运行为光伏风电装备提供测试环境），超大功率测试电源（为磁性元件、开关、线缆、互感器等提供冲击电流。</a:t>
            </a:r>
            <a:r>
              <a:rPr lang="en-US" altLang="zh-CN" sz="1350" b="1" kern="100" dirty="0">
                <a:solidFill>
                  <a:srgbClr val="004C85"/>
                </a:solidFill>
                <a:latin typeface="微软雅黑" panose="020B0503020204020204" pitchFamily="34" charset="-122"/>
                <a:ea typeface="微软雅黑" panose="020B0503020204020204" pitchFamily="34" charset="-122"/>
                <a:cs typeface="Times New Roman" panose="02020603050405020304" pitchFamily="18" charset="0"/>
              </a:rPr>
              <a:t>3</a:t>
            </a:r>
            <a:r>
              <a:rPr lang="zh-CN" altLang="en-US" sz="1350" b="1" kern="100" dirty="0">
                <a:solidFill>
                  <a:srgbClr val="004C85"/>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en-US" sz="1350" b="1" kern="100"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已与中核集团建立校企联合实验室，</a:t>
            </a:r>
            <a:r>
              <a:rPr lang="zh-CN" altLang="en-US" sz="1350" b="1" kern="100" dirty="0">
                <a:solidFill>
                  <a:srgbClr val="004C85"/>
                </a:solidFill>
                <a:latin typeface="微软雅黑" panose="020B0503020204020204" pitchFamily="34" charset="-122"/>
                <a:ea typeface="微软雅黑" panose="020B0503020204020204" pitchFamily="34" charset="-122"/>
                <a:cs typeface="Times New Roman" panose="02020603050405020304" pitchFamily="18" charset="0"/>
              </a:rPr>
              <a:t>培养学生实践能力。</a:t>
            </a:r>
            <a:r>
              <a:rPr lang="en-US" altLang="zh-CN" sz="1350" b="1" kern="100" dirty="0">
                <a:solidFill>
                  <a:srgbClr val="004C85"/>
                </a:solidFill>
                <a:latin typeface="微软雅黑" panose="020B0503020204020204" pitchFamily="34" charset="-122"/>
                <a:ea typeface="微软雅黑" panose="020B0503020204020204" pitchFamily="34" charset="-122"/>
                <a:cs typeface="Times New Roman" panose="02020603050405020304" pitchFamily="18" charset="0"/>
              </a:rPr>
              <a:t>4</a:t>
            </a:r>
            <a:r>
              <a:rPr lang="zh-CN" altLang="en-US" sz="1350" b="1" kern="100" dirty="0">
                <a:solidFill>
                  <a:srgbClr val="004C85"/>
                </a:solidFill>
                <a:latin typeface="微软雅黑" panose="020B0503020204020204" pitchFamily="34" charset="-122"/>
                <a:ea typeface="微软雅黑" panose="020B0503020204020204" pitchFamily="34" charset="-122"/>
                <a:cs typeface="Times New Roman" panose="02020603050405020304" pitchFamily="18" charset="0"/>
              </a:rPr>
              <a:t>）、牵头获得省部级科技进步一二等奖。</a:t>
            </a:r>
            <a:endParaRPr lang="en-US" altLang="zh-CN" sz="1350" b="1" kern="100" dirty="0">
              <a:solidFill>
                <a:srgbClr val="004C85"/>
              </a:solidFill>
              <a:latin typeface="微软雅黑" panose="020B0503020204020204" pitchFamily="34" charset="-122"/>
              <a:ea typeface="微软雅黑" panose="020B0503020204020204" pitchFamily="34" charset="-122"/>
              <a:cs typeface="Times New Roman" panose="02020603050405020304" pitchFamily="18" charset="0"/>
            </a:endParaRPr>
          </a:p>
          <a:p>
            <a:pPr lvl="1" algn="just">
              <a:lnSpc>
                <a:spcPct val="130000"/>
              </a:lnSpc>
            </a:pPr>
            <a:r>
              <a:rPr lang="en-US" altLang="zh-CN" sz="1350" b="1" kern="100" dirty="0">
                <a:solidFill>
                  <a:schemeClr val="accent1"/>
                </a:solidFill>
                <a:latin typeface="微软雅黑" panose="020B0503020204020204" pitchFamily="34" charset="-122"/>
                <a:ea typeface="微软雅黑" panose="020B0503020204020204" pitchFamily="34" charset="-122"/>
                <a:cs typeface="Times New Roman" panose="02020603050405020304" pitchFamily="18" charset="0"/>
              </a:rPr>
              <a:t>4</a:t>
            </a:r>
            <a:r>
              <a:rPr lang="zh-CN" altLang="en-US" sz="1350" b="1" kern="100" dirty="0">
                <a:solidFill>
                  <a:schemeClr val="accent1"/>
                </a:solidFill>
                <a:latin typeface="微软雅黑" panose="020B0503020204020204" pitchFamily="34" charset="-122"/>
                <a:ea typeface="微软雅黑" panose="020B0503020204020204" pitchFamily="34" charset="-122"/>
                <a:cs typeface="Times New Roman" panose="02020603050405020304" pitchFamily="18" charset="0"/>
              </a:rPr>
              <a:t>、适合对象：</a:t>
            </a:r>
            <a:r>
              <a:rPr lang="zh-CN" altLang="en-US" sz="1350" b="1" kern="100" dirty="0">
                <a:solidFill>
                  <a:srgbClr val="A66BD3"/>
                </a:solidFill>
                <a:latin typeface="微软雅黑" panose="020B0503020204020204" pitchFamily="34" charset="-122"/>
                <a:ea typeface="微软雅黑" panose="020B0503020204020204" pitchFamily="34" charset="-122"/>
                <a:cs typeface="Times New Roman" panose="02020603050405020304" pitchFamily="18" charset="0"/>
              </a:rPr>
              <a:t>致力于高压大功率电力电子装备研究、基于嵌入式控制系统软硬件开发的同学。</a:t>
            </a:r>
            <a:endParaRPr lang="en-US" altLang="zh-CN" sz="1350" b="1" kern="100" dirty="0">
              <a:solidFill>
                <a:srgbClr val="A66BD3"/>
              </a:solidFill>
              <a:latin typeface="微软雅黑" panose="020B0503020204020204" pitchFamily="34" charset="-122"/>
              <a:ea typeface="微软雅黑" panose="020B0503020204020204" pitchFamily="34" charset="-122"/>
              <a:cs typeface="Times New Roman" panose="02020603050405020304" pitchFamily="18" charset="0"/>
            </a:endParaRPr>
          </a:p>
          <a:p>
            <a:pPr lvl="1" algn="just">
              <a:lnSpc>
                <a:spcPct val="130000"/>
              </a:lnSpc>
            </a:pPr>
            <a:r>
              <a:rPr lang="en-US" altLang="zh-CN" sz="1350" b="1" kern="100" dirty="0">
                <a:solidFill>
                  <a:schemeClr val="accent1"/>
                </a:solidFill>
                <a:latin typeface="微软雅黑" panose="020B0503020204020204" pitchFamily="34" charset="-122"/>
                <a:ea typeface="微软雅黑" panose="020B0503020204020204" pitchFamily="34" charset="-122"/>
                <a:cs typeface="Times New Roman" panose="02020603050405020304" pitchFamily="18" charset="0"/>
              </a:rPr>
              <a:t>5</a:t>
            </a:r>
            <a:r>
              <a:rPr lang="zh-CN" altLang="en-US" sz="1350" b="1" kern="100" dirty="0">
                <a:solidFill>
                  <a:schemeClr val="accent1"/>
                </a:solidFill>
                <a:latin typeface="微软雅黑" panose="020B0503020204020204" pitchFamily="34" charset="-122"/>
                <a:ea typeface="微软雅黑" panose="020B0503020204020204" pitchFamily="34" charset="-122"/>
                <a:cs typeface="Times New Roman" panose="02020603050405020304" pitchFamily="18" charset="0"/>
              </a:rPr>
              <a:t>、锻炼学生能力：</a:t>
            </a:r>
            <a:r>
              <a:rPr lang="zh-CN" altLang="en-US" sz="1350" b="1" kern="100" dirty="0">
                <a:solidFill>
                  <a:srgbClr val="A66BD3"/>
                </a:solidFill>
                <a:latin typeface="微软雅黑" panose="020B0503020204020204" pitchFamily="34" charset="-122"/>
                <a:ea typeface="微软雅黑" panose="020B0503020204020204" pitchFamily="34" charset="-122"/>
                <a:cs typeface="Times New Roman" panose="02020603050405020304" pitchFamily="18" charset="0"/>
              </a:rPr>
              <a:t>强电系统设计与调试、电力电子相关控制算法的设计与实现、电力电子仿真系统的设计与实现、嵌入式系统软硬件设计、操作系统软件设计、专用软件开发、电力电子系统中人工智能算法研究。</a:t>
            </a:r>
            <a:endParaRPr lang="en-US" altLang="zh-CN" sz="1350" b="1" kern="100" dirty="0">
              <a:solidFill>
                <a:srgbClr val="A66BD3"/>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3" name="矩形 22">
            <a:extLst>
              <a:ext uri="{FF2B5EF4-FFF2-40B4-BE49-F238E27FC236}">
                <a16:creationId xmlns:a16="http://schemas.microsoft.com/office/drawing/2014/main" id="{3397DAC8-BD6C-40F8-A50B-C2E4EC45997C}"/>
              </a:ext>
            </a:extLst>
          </p:cNvPr>
          <p:cNvSpPr/>
          <p:nvPr/>
        </p:nvSpPr>
        <p:spPr bwMode="auto">
          <a:xfrm>
            <a:off x="1" y="3383751"/>
            <a:ext cx="9058736" cy="2747801"/>
          </a:xfrm>
          <a:prstGeom prst="rect">
            <a:avLst/>
          </a:prstGeom>
          <a:noFill/>
          <a:ln w="19050" cap="flat" cmpd="sng" algn="ctr">
            <a:solidFill>
              <a:srgbClr val="000000"/>
            </a:solidFill>
            <a:prstDash val="solid"/>
            <a:round/>
            <a:headEnd type="none" w="med" len="med"/>
            <a:tailEnd type="none" w="med" len="med"/>
          </a:ln>
          <a:effectLst/>
        </p:spPr>
        <p:txBody>
          <a:bodyPr vert="horz" wrap="square" lIns="68580" tIns="34290" rIns="68580" bIns="34290" numCol="1" rtlCol="0" anchor="t" anchorCtr="0" compatLnSpc="1"/>
          <a:lstStyle/>
          <a:p>
            <a:pPr defTabSz="685800" fontAlgn="base">
              <a:spcBef>
                <a:spcPct val="0"/>
              </a:spcBef>
              <a:spcAft>
                <a:spcPct val="0"/>
              </a:spcAft>
              <a:defRPr/>
            </a:pPr>
            <a:endParaRPr lang="zh-CN" altLang="en-US" sz="1350" b="1" kern="0">
              <a:solidFill>
                <a:srgbClr val="000000"/>
              </a:solidFill>
              <a:latin typeface="Arial" panose="020B0604020202020204" pitchFamily="34" charset="0"/>
              <a:ea typeface="宋体" panose="02010600030101010101" pitchFamily="2" charset="-122"/>
            </a:endParaRPr>
          </a:p>
        </p:txBody>
      </p:sp>
      <p:grpSp>
        <p:nvGrpSpPr>
          <p:cNvPr id="25" name="组合 24">
            <a:extLst>
              <a:ext uri="{FF2B5EF4-FFF2-40B4-BE49-F238E27FC236}">
                <a16:creationId xmlns:a16="http://schemas.microsoft.com/office/drawing/2014/main" id="{310ED126-41F0-41C4-A76B-C38656096655}"/>
              </a:ext>
            </a:extLst>
          </p:cNvPr>
          <p:cNvGrpSpPr/>
          <p:nvPr/>
        </p:nvGrpSpPr>
        <p:grpSpPr>
          <a:xfrm>
            <a:off x="89653" y="1333200"/>
            <a:ext cx="8637254" cy="1982200"/>
            <a:chOff x="170803" y="615996"/>
            <a:chExt cx="11802736" cy="3229237"/>
          </a:xfrm>
        </p:grpSpPr>
        <p:sp>
          <p:nvSpPr>
            <p:cNvPr id="26" name="文本框 25">
              <a:extLst>
                <a:ext uri="{FF2B5EF4-FFF2-40B4-BE49-F238E27FC236}">
                  <a16:creationId xmlns:a16="http://schemas.microsoft.com/office/drawing/2014/main" id="{9C18AA18-210A-4BA9-BD93-5CC26684847C}"/>
                </a:ext>
              </a:extLst>
            </p:cNvPr>
            <p:cNvSpPr txBox="1"/>
            <p:nvPr/>
          </p:nvSpPr>
          <p:spPr>
            <a:xfrm>
              <a:off x="296430" y="691260"/>
              <a:ext cx="2381576" cy="841839"/>
            </a:xfrm>
            <a:prstGeom prst="rect">
              <a:avLst/>
            </a:prstGeom>
            <a:noFill/>
          </p:spPr>
          <p:txBody>
            <a:bodyPr wrap="square">
              <a:spAutoFit/>
            </a:bodyPr>
            <a:lstStyle/>
            <a:p>
              <a:pPr algn="ctr">
                <a:lnSpc>
                  <a:spcPct val="120000"/>
                </a:lnSpc>
              </a:pPr>
              <a:r>
                <a:rPr lang="zh-CN" altLang="en-US" sz="1200" b="1" kern="100" dirty="0">
                  <a:solidFill>
                    <a:schemeClr val="accent1"/>
                  </a:solidFill>
                  <a:latin typeface="Microsoft YaHei" panose="020B0503020204020204" pitchFamily="34" charset="-122"/>
                  <a:ea typeface="Microsoft YaHei" panose="020B0503020204020204" pitchFamily="34" charset="-122"/>
                  <a:cs typeface="Times New Roman" panose="02020603050405020304" pitchFamily="18" charset="0"/>
                </a:rPr>
                <a:t>新能源的并网电力电子装备研发</a:t>
              </a:r>
              <a:endParaRPr lang="zh-CN" altLang="en-US" sz="1200" b="1" dirty="0">
                <a:solidFill>
                  <a:schemeClr val="accent1"/>
                </a:solidFill>
                <a:latin typeface="Microsoft YaHei" panose="020B0503020204020204" pitchFamily="34" charset="-122"/>
                <a:ea typeface="Microsoft YaHei" panose="020B0503020204020204" pitchFamily="34" charset="-122"/>
              </a:endParaRPr>
            </a:p>
          </p:txBody>
        </p:sp>
        <p:sp>
          <p:nvSpPr>
            <p:cNvPr id="28" name="圆角矩形 14">
              <a:extLst>
                <a:ext uri="{FF2B5EF4-FFF2-40B4-BE49-F238E27FC236}">
                  <a16:creationId xmlns:a16="http://schemas.microsoft.com/office/drawing/2014/main" id="{96E0F04D-6039-4966-A8F9-421CDFA62948}"/>
                </a:ext>
              </a:extLst>
            </p:cNvPr>
            <p:cNvSpPr/>
            <p:nvPr/>
          </p:nvSpPr>
          <p:spPr>
            <a:xfrm>
              <a:off x="3205164" y="665193"/>
              <a:ext cx="2632830" cy="2690284"/>
            </a:xfrm>
            <a:prstGeom prst="roundRect">
              <a:avLst>
                <a:gd name="adj" fmla="val 9636"/>
              </a:avLst>
            </a:prstGeom>
            <a:noFill/>
            <a:ln w="25400">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sz="1350"/>
            </a:p>
          </p:txBody>
        </p:sp>
        <p:sp>
          <p:nvSpPr>
            <p:cNvPr id="31" name="文本框 30">
              <a:extLst>
                <a:ext uri="{FF2B5EF4-FFF2-40B4-BE49-F238E27FC236}">
                  <a16:creationId xmlns:a16="http://schemas.microsoft.com/office/drawing/2014/main" id="{B8857324-F9DE-4281-9483-1856FF5CA671}"/>
                </a:ext>
              </a:extLst>
            </p:cNvPr>
            <p:cNvSpPr txBox="1"/>
            <p:nvPr/>
          </p:nvSpPr>
          <p:spPr>
            <a:xfrm>
              <a:off x="3380786" y="694630"/>
              <a:ext cx="2272062" cy="841839"/>
            </a:xfrm>
            <a:prstGeom prst="rect">
              <a:avLst/>
            </a:prstGeom>
            <a:noFill/>
          </p:spPr>
          <p:txBody>
            <a:bodyPr wrap="square">
              <a:spAutoFit/>
            </a:bodyPr>
            <a:lstStyle/>
            <a:p>
              <a:pPr algn="ctr">
                <a:lnSpc>
                  <a:spcPct val="120000"/>
                </a:lnSpc>
              </a:pPr>
              <a:r>
                <a:rPr lang="zh-CN" altLang="en-US" sz="1200" b="1" kern="100" dirty="0">
                  <a:solidFill>
                    <a:schemeClr val="accent1"/>
                  </a:solidFill>
                  <a:latin typeface="Microsoft YaHei" panose="020B0503020204020204" pitchFamily="34" charset="-122"/>
                  <a:ea typeface="Microsoft YaHei" panose="020B0503020204020204" pitchFamily="34" charset="-122"/>
                  <a:cs typeface="Times New Roman" panose="02020603050405020304" pitchFamily="18" charset="0"/>
                </a:rPr>
                <a:t>电网污染治理装备研发</a:t>
              </a:r>
              <a:endParaRPr lang="zh-CN" altLang="en-US" sz="1200" b="1" dirty="0">
                <a:solidFill>
                  <a:schemeClr val="accent1"/>
                </a:solidFill>
                <a:latin typeface="Microsoft YaHei" panose="020B0503020204020204" pitchFamily="34" charset="-122"/>
                <a:ea typeface="Microsoft YaHei" panose="020B0503020204020204" pitchFamily="34" charset="-122"/>
              </a:endParaRPr>
            </a:p>
          </p:txBody>
        </p:sp>
        <p:sp>
          <p:nvSpPr>
            <p:cNvPr id="32" name="文本框 31">
              <a:extLst>
                <a:ext uri="{FF2B5EF4-FFF2-40B4-BE49-F238E27FC236}">
                  <a16:creationId xmlns:a16="http://schemas.microsoft.com/office/drawing/2014/main" id="{E184D3DE-826D-4B79-9719-05EB0FAA843F}"/>
                </a:ext>
              </a:extLst>
            </p:cNvPr>
            <p:cNvSpPr txBox="1"/>
            <p:nvPr/>
          </p:nvSpPr>
          <p:spPr>
            <a:xfrm>
              <a:off x="6623304" y="691260"/>
              <a:ext cx="2120646" cy="841839"/>
            </a:xfrm>
            <a:prstGeom prst="rect">
              <a:avLst/>
            </a:prstGeom>
            <a:noFill/>
          </p:spPr>
          <p:txBody>
            <a:bodyPr wrap="square">
              <a:spAutoFit/>
            </a:bodyPr>
            <a:lstStyle/>
            <a:p>
              <a:pPr algn="ctr">
                <a:lnSpc>
                  <a:spcPct val="120000"/>
                </a:lnSpc>
              </a:pPr>
              <a:r>
                <a:rPr lang="zh-CN" altLang="en-US" sz="1200" b="1" kern="100" dirty="0">
                  <a:solidFill>
                    <a:schemeClr val="accent1"/>
                  </a:solidFill>
                  <a:latin typeface="Microsoft YaHei" panose="020B0503020204020204" pitchFamily="34" charset="-122"/>
                  <a:ea typeface="Microsoft YaHei" panose="020B0503020204020204" pitchFamily="34" charset="-122"/>
                  <a:cs typeface="Times New Roman" panose="02020603050405020304" pitchFamily="18" charset="0"/>
                </a:rPr>
                <a:t>高压超大功率电源装备研发</a:t>
              </a:r>
              <a:endParaRPr lang="zh-CN" altLang="en-US" sz="1200" b="1" dirty="0">
                <a:solidFill>
                  <a:schemeClr val="accent1"/>
                </a:solidFill>
                <a:latin typeface="Microsoft YaHei" panose="020B0503020204020204" pitchFamily="34" charset="-122"/>
                <a:ea typeface="Microsoft YaHei" panose="020B0503020204020204" pitchFamily="34" charset="-122"/>
              </a:endParaRPr>
            </a:p>
          </p:txBody>
        </p:sp>
        <p:pic>
          <p:nvPicPr>
            <p:cNvPr id="33" name="图片 32">
              <a:extLst>
                <a:ext uri="{FF2B5EF4-FFF2-40B4-BE49-F238E27FC236}">
                  <a16:creationId xmlns:a16="http://schemas.microsoft.com/office/drawing/2014/main" id="{5C98D7FC-C0E8-4B03-B37C-8ABAB7226CEF}"/>
                </a:ext>
              </a:extLst>
            </p:cNvPr>
            <p:cNvPicPr>
              <a:picLocks noChangeAspect="1"/>
            </p:cNvPicPr>
            <p:nvPr/>
          </p:nvPicPr>
          <p:blipFill>
            <a:blip r:embed="rId4"/>
            <a:srcRect l="9957" r="7224"/>
            <a:stretch>
              <a:fillRect/>
            </a:stretch>
          </p:blipFill>
          <p:spPr>
            <a:xfrm>
              <a:off x="3355336" y="1353799"/>
              <a:ext cx="2322961" cy="1251316"/>
            </a:xfrm>
            <a:prstGeom prst="rect">
              <a:avLst/>
            </a:prstGeom>
          </p:spPr>
        </p:pic>
        <p:pic>
          <p:nvPicPr>
            <p:cNvPr id="34" name="图片 33">
              <a:extLst>
                <a:ext uri="{FF2B5EF4-FFF2-40B4-BE49-F238E27FC236}">
                  <a16:creationId xmlns:a16="http://schemas.microsoft.com/office/drawing/2014/main" id="{B810970F-7211-49B6-9565-C1C9F2BA032F}"/>
                </a:ext>
              </a:extLst>
            </p:cNvPr>
            <p:cNvPicPr>
              <a:picLocks noChangeAspect="1"/>
            </p:cNvPicPr>
            <p:nvPr/>
          </p:nvPicPr>
          <p:blipFill>
            <a:blip r:embed="rId5"/>
            <a:stretch>
              <a:fillRect/>
            </a:stretch>
          </p:blipFill>
          <p:spPr>
            <a:xfrm>
              <a:off x="285433" y="1375522"/>
              <a:ext cx="2381577" cy="1229592"/>
            </a:xfrm>
            <a:prstGeom prst="rect">
              <a:avLst/>
            </a:prstGeom>
          </p:spPr>
        </p:pic>
        <p:pic>
          <p:nvPicPr>
            <p:cNvPr id="35" name="图片 34">
              <a:extLst>
                <a:ext uri="{FF2B5EF4-FFF2-40B4-BE49-F238E27FC236}">
                  <a16:creationId xmlns:a16="http://schemas.microsoft.com/office/drawing/2014/main" id="{0E189A40-DFAD-42AE-BC33-27B38C582D45}"/>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l="4680" t="9384" r="10819" b="8925"/>
            <a:stretch>
              <a:fillRect/>
            </a:stretch>
          </p:blipFill>
          <p:spPr>
            <a:xfrm>
              <a:off x="6395804" y="1349454"/>
              <a:ext cx="2443222" cy="1255660"/>
            </a:xfrm>
            <a:prstGeom prst="rect">
              <a:avLst/>
            </a:prstGeom>
            <a:noFill/>
            <a:ln>
              <a:noFill/>
            </a:ln>
          </p:spPr>
        </p:pic>
        <p:sp>
          <p:nvSpPr>
            <p:cNvPr id="36" name="圆角矩形 30">
              <a:extLst>
                <a:ext uri="{FF2B5EF4-FFF2-40B4-BE49-F238E27FC236}">
                  <a16:creationId xmlns:a16="http://schemas.microsoft.com/office/drawing/2014/main" id="{93D2D171-ECA2-44CE-8E3C-E436EE6B3792}"/>
                </a:ext>
              </a:extLst>
            </p:cNvPr>
            <p:cNvSpPr/>
            <p:nvPr/>
          </p:nvSpPr>
          <p:spPr>
            <a:xfrm>
              <a:off x="170803" y="665193"/>
              <a:ext cx="2632830" cy="2690284"/>
            </a:xfrm>
            <a:prstGeom prst="roundRect">
              <a:avLst>
                <a:gd name="adj" fmla="val 9636"/>
              </a:avLst>
            </a:prstGeom>
            <a:noFill/>
            <a:ln w="25400">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sz="1350"/>
            </a:p>
          </p:txBody>
        </p:sp>
        <p:sp>
          <p:nvSpPr>
            <p:cNvPr id="37" name="圆角矩形 31">
              <a:extLst>
                <a:ext uri="{FF2B5EF4-FFF2-40B4-BE49-F238E27FC236}">
                  <a16:creationId xmlns:a16="http://schemas.microsoft.com/office/drawing/2014/main" id="{F5E82733-193C-45D0-A635-5B780406FCDB}"/>
                </a:ext>
              </a:extLst>
            </p:cNvPr>
            <p:cNvSpPr/>
            <p:nvPr/>
          </p:nvSpPr>
          <p:spPr>
            <a:xfrm>
              <a:off x="6301000" y="665191"/>
              <a:ext cx="2632830" cy="2690285"/>
            </a:xfrm>
            <a:prstGeom prst="roundRect">
              <a:avLst>
                <a:gd name="adj" fmla="val 9636"/>
              </a:avLst>
            </a:prstGeom>
            <a:noFill/>
            <a:ln w="25400">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sz="1350"/>
            </a:p>
          </p:txBody>
        </p:sp>
        <p:sp>
          <p:nvSpPr>
            <p:cNvPr id="38" name="文本框 37">
              <a:extLst>
                <a:ext uri="{FF2B5EF4-FFF2-40B4-BE49-F238E27FC236}">
                  <a16:creationId xmlns:a16="http://schemas.microsoft.com/office/drawing/2014/main" id="{5FBEEFFE-24B6-4A42-8226-ACC8C84AC4BE}"/>
                </a:ext>
              </a:extLst>
            </p:cNvPr>
            <p:cNvSpPr txBox="1"/>
            <p:nvPr/>
          </p:nvSpPr>
          <p:spPr>
            <a:xfrm>
              <a:off x="210366" y="2631182"/>
              <a:ext cx="2553705" cy="841839"/>
            </a:xfrm>
            <a:prstGeom prst="rect">
              <a:avLst/>
            </a:prstGeom>
            <a:noFill/>
          </p:spPr>
          <p:txBody>
            <a:bodyPr wrap="square">
              <a:spAutoFit/>
            </a:bodyPr>
            <a:lstStyle/>
            <a:p>
              <a:pPr algn="ctr">
                <a:lnSpc>
                  <a:spcPct val="120000"/>
                </a:lnSpc>
              </a:pPr>
              <a:r>
                <a:rPr lang="zh-CN" altLang="en-US" sz="1200" kern="100" dirty="0">
                  <a:latin typeface="Microsoft YaHei" panose="020B0503020204020204" pitchFamily="34" charset="-122"/>
                  <a:ea typeface="Microsoft YaHei" panose="020B0503020204020204" pitchFamily="34" charset="-122"/>
                </a:rPr>
                <a:t>并网运行为光伏风电装备提供测试环境</a:t>
              </a:r>
            </a:p>
          </p:txBody>
        </p:sp>
        <p:sp>
          <p:nvSpPr>
            <p:cNvPr id="39" name="文本框 38">
              <a:extLst>
                <a:ext uri="{FF2B5EF4-FFF2-40B4-BE49-F238E27FC236}">
                  <a16:creationId xmlns:a16="http://schemas.microsoft.com/office/drawing/2014/main" id="{5DF54562-1025-4330-AF35-1265BA5D86F5}"/>
                </a:ext>
              </a:extLst>
            </p:cNvPr>
            <p:cNvSpPr txBox="1"/>
            <p:nvPr/>
          </p:nvSpPr>
          <p:spPr>
            <a:xfrm>
              <a:off x="6432453" y="2629952"/>
              <a:ext cx="2369924" cy="841839"/>
            </a:xfrm>
            <a:prstGeom prst="rect">
              <a:avLst/>
            </a:prstGeom>
            <a:noFill/>
          </p:spPr>
          <p:txBody>
            <a:bodyPr wrap="square">
              <a:spAutoFit/>
            </a:bodyPr>
            <a:lstStyle/>
            <a:p>
              <a:pPr algn="ctr">
                <a:lnSpc>
                  <a:spcPct val="120000"/>
                </a:lnSpc>
              </a:pPr>
              <a:r>
                <a:rPr lang="zh-CN" altLang="en-US" sz="1200" kern="100" dirty="0">
                  <a:latin typeface="Microsoft YaHei" panose="020B0503020204020204" pitchFamily="34" charset="-122"/>
                  <a:ea typeface="Microsoft YaHei" panose="020B0503020204020204" pitchFamily="34" charset="-122"/>
                </a:rPr>
                <a:t>为磁性元件、开关、线缆提供冲击电流</a:t>
              </a:r>
            </a:p>
          </p:txBody>
        </p:sp>
        <p:sp>
          <p:nvSpPr>
            <p:cNvPr id="40" name="文本框 39">
              <a:extLst>
                <a:ext uri="{FF2B5EF4-FFF2-40B4-BE49-F238E27FC236}">
                  <a16:creationId xmlns:a16="http://schemas.microsoft.com/office/drawing/2014/main" id="{E710EB88-09E8-4541-91B0-FD94B7E99A80}"/>
                </a:ext>
              </a:extLst>
            </p:cNvPr>
            <p:cNvSpPr txBox="1"/>
            <p:nvPr/>
          </p:nvSpPr>
          <p:spPr>
            <a:xfrm>
              <a:off x="3329887" y="2629952"/>
              <a:ext cx="2415592" cy="841839"/>
            </a:xfrm>
            <a:prstGeom prst="rect">
              <a:avLst/>
            </a:prstGeom>
            <a:noFill/>
          </p:spPr>
          <p:txBody>
            <a:bodyPr wrap="square">
              <a:spAutoFit/>
            </a:bodyPr>
            <a:lstStyle/>
            <a:p>
              <a:pPr algn="ctr">
                <a:lnSpc>
                  <a:spcPct val="120000"/>
                </a:lnSpc>
              </a:pPr>
              <a:r>
                <a:rPr lang="zh-CN" altLang="en-US" sz="1200" kern="100" dirty="0">
                  <a:latin typeface="Microsoft YaHei" panose="020B0503020204020204" pitchFamily="34" charset="-122"/>
                  <a:ea typeface="Microsoft YaHei" panose="020B0503020204020204" pitchFamily="34" charset="-122"/>
                </a:rPr>
                <a:t>电网相关电力电子与电源设备、清洁能源装备</a:t>
              </a:r>
            </a:p>
          </p:txBody>
        </p:sp>
        <p:sp>
          <p:nvSpPr>
            <p:cNvPr id="41" name="文本框 40">
              <a:extLst>
                <a:ext uri="{FF2B5EF4-FFF2-40B4-BE49-F238E27FC236}">
                  <a16:creationId xmlns:a16="http://schemas.microsoft.com/office/drawing/2014/main" id="{E52B2F6F-D238-4DA0-B6D1-462874BFFC9C}"/>
                </a:ext>
              </a:extLst>
            </p:cNvPr>
            <p:cNvSpPr txBox="1"/>
            <p:nvPr/>
          </p:nvSpPr>
          <p:spPr>
            <a:xfrm>
              <a:off x="9524152" y="615996"/>
              <a:ext cx="2265947" cy="841839"/>
            </a:xfrm>
            <a:prstGeom prst="rect">
              <a:avLst/>
            </a:prstGeom>
            <a:noFill/>
          </p:spPr>
          <p:txBody>
            <a:bodyPr wrap="square">
              <a:spAutoFit/>
            </a:bodyPr>
            <a:lstStyle>
              <a:defPPr>
                <a:defRPr lang="zh-CN"/>
              </a:defPPr>
              <a:lvl1pPr algn="ctr">
                <a:lnSpc>
                  <a:spcPct val="120000"/>
                </a:lnSpc>
                <a:defRPr sz="1600" b="1" kern="100">
                  <a:solidFill>
                    <a:schemeClr val="accent1"/>
                  </a:solidFill>
                  <a:effectLst/>
                  <a:latin typeface="Microsoft YaHei" panose="020B0503020204020204" pitchFamily="34" charset="-122"/>
                  <a:ea typeface="Microsoft YaHei" panose="020B0503020204020204" pitchFamily="34" charset="-122"/>
                  <a:cs typeface="Times New Roman" panose="02020603050405020304" pitchFamily="18" charset="0"/>
                </a:defRPr>
              </a:lvl1pPr>
            </a:lstStyle>
            <a:p>
              <a:r>
                <a:rPr lang="zh-CN" altLang="en-US" sz="1200" dirty="0">
                  <a:solidFill>
                    <a:srgbClr val="FF0000"/>
                  </a:solidFill>
                </a:rPr>
                <a:t>省部级科技进步一等奖、二等奖</a:t>
              </a:r>
              <a:endParaRPr lang="en-US" altLang="zh-CN" sz="1200" dirty="0">
                <a:solidFill>
                  <a:srgbClr val="FF0000"/>
                </a:solidFill>
              </a:endParaRPr>
            </a:p>
          </p:txBody>
        </p:sp>
        <p:sp>
          <p:nvSpPr>
            <p:cNvPr id="42" name="圆角矩形 32">
              <a:extLst>
                <a:ext uri="{FF2B5EF4-FFF2-40B4-BE49-F238E27FC236}">
                  <a16:creationId xmlns:a16="http://schemas.microsoft.com/office/drawing/2014/main" id="{4651AE18-539A-4B3B-88BB-BDF1CF17D3E0}"/>
                </a:ext>
              </a:extLst>
            </p:cNvPr>
            <p:cNvSpPr/>
            <p:nvPr/>
          </p:nvSpPr>
          <p:spPr>
            <a:xfrm>
              <a:off x="9340709" y="677051"/>
              <a:ext cx="2632830" cy="2678426"/>
            </a:xfrm>
            <a:prstGeom prst="roundRect">
              <a:avLst>
                <a:gd name="adj" fmla="val 9636"/>
              </a:avLst>
            </a:prstGeom>
            <a:noFill/>
            <a:ln w="25400">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sz="1350"/>
            </a:p>
          </p:txBody>
        </p:sp>
        <p:sp>
          <p:nvSpPr>
            <p:cNvPr id="43" name="文本框 42">
              <a:extLst>
                <a:ext uri="{FF2B5EF4-FFF2-40B4-BE49-F238E27FC236}">
                  <a16:creationId xmlns:a16="http://schemas.microsoft.com/office/drawing/2014/main" id="{2169A45E-50C1-4D4F-83B2-1C7ACA5FB25E}"/>
                </a:ext>
              </a:extLst>
            </p:cNvPr>
            <p:cNvSpPr txBox="1"/>
            <p:nvPr/>
          </p:nvSpPr>
          <p:spPr>
            <a:xfrm>
              <a:off x="9411952" y="2642383"/>
              <a:ext cx="2490342" cy="1202850"/>
            </a:xfrm>
            <a:prstGeom prst="rect">
              <a:avLst/>
            </a:prstGeom>
            <a:noFill/>
          </p:spPr>
          <p:txBody>
            <a:bodyPr wrap="square">
              <a:spAutoFit/>
            </a:bodyPr>
            <a:lstStyle/>
            <a:p>
              <a:pPr algn="ctr">
                <a:lnSpc>
                  <a:spcPct val="120000"/>
                </a:lnSpc>
              </a:pPr>
              <a:r>
                <a:rPr lang="zh-CN" altLang="en-US" sz="1200" kern="100" dirty="0">
                  <a:latin typeface="Microsoft YaHei" panose="020B0503020204020204" pitchFamily="34" charset="-122"/>
                  <a:ea typeface="Microsoft YaHei" panose="020B0503020204020204" pitchFamily="34" charset="-122"/>
                </a:rPr>
                <a:t>先后获得省部级、市级奖项，国家发明专利多项</a:t>
              </a:r>
            </a:p>
          </p:txBody>
        </p:sp>
        <p:pic>
          <p:nvPicPr>
            <p:cNvPr id="44" name="图片 43">
              <a:extLst>
                <a:ext uri="{FF2B5EF4-FFF2-40B4-BE49-F238E27FC236}">
                  <a16:creationId xmlns:a16="http://schemas.microsoft.com/office/drawing/2014/main" id="{6738C05A-3622-401E-BBF3-E9B7BE35BECA}"/>
                </a:ext>
              </a:extLst>
            </p:cNvPr>
            <p:cNvPicPr>
              <a:picLocks noChangeAspect="1"/>
            </p:cNvPicPr>
            <p:nvPr/>
          </p:nvPicPr>
          <p:blipFill>
            <a:blip r:embed="rId7"/>
            <a:stretch>
              <a:fillRect/>
            </a:stretch>
          </p:blipFill>
          <p:spPr>
            <a:xfrm>
              <a:off x="9488320" y="1349454"/>
              <a:ext cx="2301777" cy="1278782"/>
            </a:xfrm>
            <a:prstGeom prst="rect">
              <a:avLst/>
            </a:prstGeom>
          </p:spPr>
        </p:pic>
      </p:gr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rot="21600000">
            <a:off x="-12324" y="872565"/>
            <a:ext cx="9144000" cy="5143500"/>
          </a:xfrm>
          <a:prstGeom prst="rect">
            <a:avLst/>
          </a:prstGeom>
        </p:spPr>
      </p:pic>
      <p:sp>
        <p:nvSpPr>
          <p:cNvPr id="4" name="textbox 4"/>
          <p:cNvSpPr/>
          <p:nvPr/>
        </p:nvSpPr>
        <p:spPr>
          <a:xfrm>
            <a:off x="8915384" y="5814290"/>
            <a:ext cx="64770" cy="123825"/>
          </a:xfrm>
          <a:prstGeom prst="rect">
            <a:avLst/>
          </a:prstGeom>
          <a:noFill/>
          <a:ln w="0" cap="flat">
            <a:noFill/>
            <a:prstDash val="solid"/>
            <a:miter lim="0"/>
          </a:ln>
        </p:spPr>
        <p:txBody>
          <a:bodyPr vert="horz" wrap="square" lIns="0" tIns="0" rIns="0" bIns="0"/>
          <a:lstStyle/>
          <a:p>
            <a:pPr algn="l" rtl="0" eaLnBrk="0">
              <a:lnSpc>
                <a:spcPct val="87992"/>
              </a:lnSpc>
              <a:tabLst/>
            </a:pPr>
            <a:endParaRPr sz="100" dirty="0">
              <a:latin typeface="Arial"/>
              <a:ea typeface="Arial"/>
              <a:cs typeface="Arial"/>
            </a:endParaRPr>
          </a:p>
          <a:p>
            <a:pPr algn="r" rtl="0" eaLnBrk="0">
              <a:lnSpc>
                <a:spcPct val="91000"/>
              </a:lnSpc>
              <a:tabLst/>
            </a:pPr>
            <a:r>
              <a:rPr sz="750" kern="0" spc="-30" dirty="0">
                <a:solidFill>
                  <a:srgbClr val="505060">
                    <a:alpha val="100000"/>
                  </a:srgbClr>
                </a:solidFill>
                <a:latin typeface="Times New Roman"/>
                <a:ea typeface="Times New Roman"/>
                <a:cs typeface="Times New Roman"/>
              </a:rPr>
              <a:t>1</a:t>
            </a:r>
            <a:endParaRPr sz="750" dirty="0">
              <a:latin typeface="Times New Roman"/>
              <a:ea typeface="Times New Roman"/>
              <a:cs typeface="Times New Roman"/>
            </a:endParaRPr>
          </a:p>
        </p:txBody>
      </p:sp>
      <p:sp>
        <p:nvSpPr>
          <p:cNvPr id="22" name="文本框 21">
            <a:extLst>
              <a:ext uri="{FF2B5EF4-FFF2-40B4-BE49-F238E27FC236}">
                <a16:creationId xmlns:a16="http://schemas.microsoft.com/office/drawing/2014/main" id="{766ED427-0D0C-426C-AA35-7E10E83FBA1C}"/>
              </a:ext>
            </a:extLst>
          </p:cNvPr>
          <p:cNvSpPr txBox="1"/>
          <p:nvPr/>
        </p:nvSpPr>
        <p:spPr>
          <a:xfrm>
            <a:off x="-293052" y="2885796"/>
            <a:ext cx="9437052" cy="3483518"/>
          </a:xfrm>
          <a:prstGeom prst="rect">
            <a:avLst/>
          </a:prstGeom>
          <a:noFill/>
        </p:spPr>
        <p:txBody>
          <a:bodyPr wrap="square">
            <a:spAutoFit/>
          </a:bodyPr>
          <a:lstStyle/>
          <a:p>
            <a:pPr lvl="1" algn="just">
              <a:lnSpc>
                <a:spcPct val="150000"/>
              </a:lnSpc>
            </a:pPr>
            <a:r>
              <a:rPr lang="en-US" altLang="zh-CN" sz="1350" b="1" kern="100" dirty="0">
                <a:solidFill>
                  <a:schemeClr val="accent1"/>
                </a:solidFill>
                <a:latin typeface="微软雅黑" panose="020B0503020204020204" pitchFamily="34" charset="-122"/>
                <a:ea typeface="微软雅黑" panose="020B0503020204020204" pitchFamily="34" charset="-122"/>
                <a:cs typeface="Times New Roman" panose="02020603050405020304" pitchFamily="18" charset="0"/>
              </a:rPr>
              <a:t>1</a:t>
            </a:r>
            <a:r>
              <a:rPr lang="zh-CN" altLang="en-US" sz="1350" b="1" kern="100" dirty="0">
                <a:solidFill>
                  <a:schemeClr val="accent1"/>
                </a:solidFill>
                <a:latin typeface="微软雅黑" panose="020B0503020204020204" pitchFamily="34" charset="-122"/>
                <a:ea typeface="微软雅黑" panose="020B0503020204020204" pitchFamily="34" charset="-122"/>
                <a:cs typeface="Times New Roman" panose="02020603050405020304" pitchFamily="18" charset="0"/>
              </a:rPr>
              <a:t>、背景：</a:t>
            </a:r>
            <a:r>
              <a:rPr lang="zh-CN" altLang="en-US" sz="1350" b="1" kern="100" dirty="0">
                <a:solidFill>
                  <a:srgbClr val="A66BD3"/>
                </a:solidFill>
                <a:latin typeface="微软雅黑" panose="020B0503020204020204" pitchFamily="34" charset="-122"/>
                <a:ea typeface="微软雅黑" panose="020B0503020204020204" pitchFamily="34" charset="-122"/>
                <a:cs typeface="Times New Roman" panose="02020603050405020304" pitchFamily="18" charset="0"/>
              </a:rPr>
              <a:t>系统由</a:t>
            </a:r>
            <a:r>
              <a:rPr lang="zh-CN" altLang="en-US" sz="1350" b="1" kern="1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自动化向智能化升级</a:t>
            </a:r>
            <a:r>
              <a:rPr lang="zh-CN" altLang="en-US" sz="1350" b="1" kern="100" dirty="0">
                <a:solidFill>
                  <a:srgbClr val="A66BD3"/>
                </a:solidFill>
                <a:latin typeface="微软雅黑" panose="020B0503020204020204" pitchFamily="34" charset="-122"/>
                <a:ea typeface="微软雅黑" panose="020B0503020204020204" pitchFamily="34" charset="-122"/>
                <a:cs typeface="Times New Roman" panose="02020603050405020304" pitchFamily="18" charset="0"/>
              </a:rPr>
              <a:t>相关技术的研究，</a:t>
            </a:r>
            <a:r>
              <a:rPr lang="zh-CN" altLang="en-US" sz="1350" kern="100" dirty="0">
                <a:latin typeface="微软雅黑" panose="020B0503020204020204" pitchFamily="34" charset="-122"/>
                <a:ea typeface="微软雅黑" panose="020B0503020204020204" pitchFamily="34" charset="-122"/>
                <a:cs typeface="Times New Roman" panose="02020603050405020304" pitchFamily="18" charset="0"/>
              </a:rPr>
              <a:t>是目前国际研究的热点和前沿。</a:t>
            </a:r>
            <a:endParaRPr lang="en-US" altLang="zh-CN" sz="1350" kern="100" dirty="0">
              <a:latin typeface="微软雅黑" panose="020B0503020204020204" pitchFamily="34" charset="-122"/>
              <a:ea typeface="微软雅黑" panose="020B0503020204020204" pitchFamily="34" charset="-122"/>
              <a:cs typeface="Times New Roman" panose="02020603050405020304" pitchFamily="18" charset="0"/>
            </a:endParaRPr>
          </a:p>
          <a:p>
            <a:pPr lvl="1" algn="just">
              <a:lnSpc>
                <a:spcPct val="150000"/>
              </a:lnSpc>
            </a:pPr>
            <a:r>
              <a:rPr lang="en-US" altLang="zh-CN" sz="1350" b="1" kern="100" dirty="0">
                <a:solidFill>
                  <a:schemeClr val="accent1"/>
                </a:solidFill>
                <a:latin typeface="微软雅黑" panose="020B0503020204020204" pitchFamily="34" charset="-122"/>
                <a:ea typeface="微软雅黑" panose="020B0503020204020204" pitchFamily="34" charset="-122"/>
                <a:cs typeface="Times New Roman" panose="02020603050405020304" pitchFamily="18" charset="0"/>
              </a:rPr>
              <a:t>2</a:t>
            </a:r>
            <a:r>
              <a:rPr lang="zh-CN" altLang="en-US" sz="1350" b="1" kern="100" dirty="0">
                <a:solidFill>
                  <a:schemeClr val="accent1"/>
                </a:solidFill>
                <a:latin typeface="微软雅黑" panose="020B0503020204020204" pitchFamily="34" charset="-122"/>
                <a:ea typeface="微软雅黑" panose="020B0503020204020204" pitchFamily="34" charset="-122"/>
                <a:cs typeface="Times New Roman" panose="02020603050405020304" pitchFamily="18" charset="0"/>
              </a:rPr>
              <a:t>、关键技术：</a:t>
            </a:r>
            <a:r>
              <a:rPr lang="en-US" altLang="zh-CN" sz="1350" b="1" kern="100" dirty="0">
                <a:solidFill>
                  <a:srgbClr val="004C85"/>
                </a:solidFill>
                <a:latin typeface="微软雅黑" panose="020B0503020204020204" pitchFamily="34" charset="-122"/>
                <a:ea typeface="微软雅黑" panose="020B0503020204020204" pitchFamily="34" charset="-122"/>
                <a:cs typeface="Times New Roman" panose="02020603050405020304" pitchFamily="18" charset="0"/>
              </a:rPr>
              <a:t>1</a:t>
            </a:r>
            <a:r>
              <a:rPr lang="zh-CN" altLang="en-US" sz="1350" b="1" kern="100" dirty="0">
                <a:solidFill>
                  <a:srgbClr val="004C85"/>
                </a:solidFill>
                <a:latin typeface="微软雅黑" panose="020B0503020204020204" pitchFamily="34" charset="-122"/>
                <a:ea typeface="微软雅黑" panose="020B0503020204020204" pitchFamily="34" charset="-122"/>
                <a:cs typeface="Times New Roman" panose="02020603050405020304" pitchFamily="18" charset="0"/>
              </a:rPr>
              <a:t>）融合多模态数据，构建可复制、易扩展的工业数字孪生系统；</a:t>
            </a:r>
            <a:r>
              <a:rPr lang="en-US" altLang="zh-CN" sz="1350" b="1" kern="100" dirty="0">
                <a:solidFill>
                  <a:srgbClr val="004C85"/>
                </a:solidFill>
                <a:latin typeface="微软雅黑" panose="020B0503020204020204" pitchFamily="34" charset="-122"/>
                <a:ea typeface="微软雅黑" panose="020B0503020204020204" pitchFamily="34" charset="-122"/>
                <a:cs typeface="Times New Roman" panose="02020603050405020304" pitchFamily="18" charset="0"/>
              </a:rPr>
              <a:t>2</a:t>
            </a:r>
            <a:r>
              <a:rPr lang="zh-CN" altLang="en-US" sz="1350" b="1" kern="100" dirty="0">
                <a:solidFill>
                  <a:srgbClr val="004C85"/>
                </a:solidFill>
                <a:latin typeface="微软雅黑" panose="020B0503020204020204" pitchFamily="34" charset="-122"/>
                <a:ea typeface="微软雅黑" panose="020B0503020204020204" pitchFamily="34" charset="-122"/>
                <a:cs typeface="Times New Roman" panose="02020603050405020304" pitchFamily="18" charset="0"/>
              </a:rPr>
              <a:t>）结合机理模型与人工智能算法的过程模拟方法；</a:t>
            </a:r>
            <a:r>
              <a:rPr lang="en-US" altLang="zh-CN" sz="1350" b="1" kern="100" dirty="0">
                <a:solidFill>
                  <a:srgbClr val="004C85"/>
                </a:solidFill>
                <a:latin typeface="微软雅黑" panose="020B0503020204020204" pitchFamily="34" charset="-122"/>
                <a:ea typeface="微软雅黑" panose="020B0503020204020204" pitchFamily="34" charset="-122"/>
                <a:cs typeface="Times New Roman" panose="02020603050405020304" pitchFamily="18" charset="0"/>
              </a:rPr>
              <a:t>3</a:t>
            </a:r>
            <a:r>
              <a:rPr lang="zh-CN" altLang="en-US" sz="1350" b="1" kern="100" dirty="0">
                <a:solidFill>
                  <a:srgbClr val="004C85"/>
                </a:solidFill>
                <a:latin typeface="微软雅黑" panose="020B0503020204020204" pitchFamily="34" charset="-122"/>
                <a:ea typeface="微软雅黑" panose="020B0503020204020204" pitchFamily="34" charset="-122"/>
                <a:cs typeface="Times New Roman" panose="02020603050405020304" pitchFamily="18" charset="0"/>
              </a:rPr>
              <a:t>）嵌入深度学习模型和智能优化控制算法的决策调控系统；</a:t>
            </a:r>
            <a:r>
              <a:rPr lang="en-US" altLang="zh-CN" sz="1350" b="1" kern="100" dirty="0">
                <a:solidFill>
                  <a:srgbClr val="004C85"/>
                </a:solidFill>
                <a:latin typeface="微软雅黑" panose="020B0503020204020204" pitchFamily="34" charset="-122"/>
                <a:ea typeface="微软雅黑" panose="020B0503020204020204" pitchFamily="34" charset="-122"/>
                <a:cs typeface="Times New Roman" panose="02020603050405020304" pitchFamily="18" charset="0"/>
              </a:rPr>
              <a:t>4</a:t>
            </a:r>
            <a:r>
              <a:rPr lang="zh-CN" altLang="en-US" sz="1350" b="1" kern="100" dirty="0">
                <a:solidFill>
                  <a:srgbClr val="004C85"/>
                </a:solidFill>
                <a:latin typeface="微软雅黑" panose="020B0503020204020204" pitchFamily="34" charset="-122"/>
                <a:ea typeface="微软雅黑" panose="020B0503020204020204" pitchFamily="34" charset="-122"/>
                <a:cs typeface="Times New Roman" panose="02020603050405020304" pitchFamily="18" charset="0"/>
              </a:rPr>
              <a:t>）大语言模型智能系统中的垂直应用技术。</a:t>
            </a:r>
            <a:endParaRPr lang="en-US" altLang="zh-CN" sz="1350" b="1" kern="100" dirty="0">
              <a:solidFill>
                <a:srgbClr val="004C85"/>
              </a:solidFill>
              <a:latin typeface="微软雅黑" panose="020B0503020204020204" pitchFamily="34" charset="-122"/>
              <a:ea typeface="微软雅黑" panose="020B0503020204020204" pitchFamily="34" charset="-122"/>
              <a:cs typeface="Times New Roman" panose="02020603050405020304" pitchFamily="18" charset="0"/>
            </a:endParaRPr>
          </a:p>
          <a:p>
            <a:pPr lvl="1" algn="just">
              <a:lnSpc>
                <a:spcPct val="150000"/>
              </a:lnSpc>
            </a:pPr>
            <a:r>
              <a:rPr lang="en-US" altLang="zh-CN" sz="1350" b="1" kern="100" dirty="0">
                <a:solidFill>
                  <a:schemeClr val="accent1"/>
                </a:solidFill>
                <a:latin typeface="微软雅黑" panose="020B0503020204020204" pitchFamily="34" charset="-122"/>
                <a:ea typeface="微软雅黑" panose="020B0503020204020204" pitchFamily="34" charset="-122"/>
                <a:cs typeface="Times New Roman" panose="02020603050405020304" pitchFamily="18" charset="0"/>
              </a:rPr>
              <a:t>3</a:t>
            </a:r>
            <a:r>
              <a:rPr lang="zh-CN" altLang="en-US" sz="1350" b="1" kern="100" dirty="0">
                <a:solidFill>
                  <a:schemeClr val="accent1"/>
                </a:solidFill>
                <a:latin typeface="微软雅黑" panose="020B0503020204020204" pitchFamily="34" charset="-122"/>
                <a:ea typeface="微软雅黑" panose="020B0503020204020204" pitchFamily="34" charset="-122"/>
                <a:cs typeface="Times New Roman" panose="02020603050405020304" pitchFamily="18" charset="0"/>
              </a:rPr>
              <a:t>、应用场景：</a:t>
            </a:r>
            <a:r>
              <a:rPr lang="zh-CN" altLang="en-US" sz="1350" b="1" kern="100" dirty="0">
                <a:solidFill>
                  <a:srgbClr val="004C85"/>
                </a:solidFill>
                <a:latin typeface="微软雅黑" panose="020B0503020204020204" pitchFamily="34" charset="-122"/>
                <a:ea typeface="微软雅黑" panose="020B0503020204020204" pitchFamily="34" charset="-122"/>
                <a:cs typeface="Times New Roman" panose="02020603050405020304" pitchFamily="18" charset="0"/>
              </a:rPr>
              <a:t>依托人工智能</a:t>
            </a:r>
            <a:r>
              <a:rPr lang="en-US" altLang="zh-CN" sz="1350" b="1" kern="100" dirty="0">
                <a:solidFill>
                  <a:srgbClr val="004C85"/>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en-US" sz="1350" b="1" kern="100" dirty="0">
                <a:solidFill>
                  <a:srgbClr val="004C85"/>
                </a:solidFill>
                <a:latin typeface="微软雅黑" panose="020B0503020204020204" pitchFamily="34" charset="-122"/>
                <a:ea typeface="微软雅黑" panose="020B0503020204020204" pitchFamily="34" charset="-122"/>
                <a:cs typeface="Times New Roman" panose="02020603050405020304" pitchFamily="18" charset="0"/>
              </a:rPr>
              <a:t>机理建模，构建可复制、可扩展的工业数字孪生平台，开发融合大语言模型的智能决策与优化控制系统，</a:t>
            </a:r>
            <a:r>
              <a:rPr lang="zh-CN" altLang="en-US" sz="1350" b="1" kern="100" dirty="0">
                <a:solidFill>
                  <a:srgbClr val="A66BD3"/>
                </a:solidFill>
                <a:latin typeface="微软雅黑" panose="020B0503020204020204" pitchFamily="34" charset="-122"/>
                <a:ea typeface="微软雅黑" panose="020B0503020204020204" pitchFamily="34" charset="-122"/>
                <a:cs typeface="Times New Roman" panose="02020603050405020304" pitchFamily="18" charset="0"/>
              </a:rPr>
              <a:t>应用于智慧城市、智能制造、能源与水务管理、交通物流、智能仪表等前沿场景。</a:t>
            </a:r>
            <a:endParaRPr lang="en-US" altLang="zh-CN" sz="1350" b="1" kern="100" dirty="0">
              <a:solidFill>
                <a:srgbClr val="A66BD3"/>
              </a:solidFill>
              <a:latin typeface="微软雅黑" panose="020B0503020204020204" pitchFamily="34" charset="-122"/>
              <a:ea typeface="微软雅黑" panose="020B0503020204020204" pitchFamily="34" charset="-122"/>
              <a:cs typeface="Times New Roman" panose="02020603050405020304" pitchFamily="18" charset="0"/>
            </a:endParaRPr>
          </a:p>
          <a:p>
            <a:pPr lvl="1" algn="just">
              <a:lnSpc>
                <a:spcPct val="150000"/>
              </a:lnSpc>
            </a:pPr>
            <a:r>
              <a:rPr lang="en-US" altLang="zh-CN" sz="1350" b="1" kern="100" dirty="0">
                <a:solidFill>
                  <a:schemeClr val="accent1"/>
                </a:solidFill>
                <a:latin typeface="微软雅黑" panose="020B0503020204020204" pitchFamily="34" charset="-122"/>
                <a:ea typeface="微软雅黑" panose="020B0503020204020204" pitchFamily="34" charset="-122"/>
                <a:cs typeface="Times New Roman" panose="02020603050405020304" pitchFamily="18" charset="0"/>
              </a:rPr>
              <a:t>4</a:t>
            </a:r>
            <a:r>
              <a:rPr lang="zh-CN" altLang="en-US" sz="1350" b="1" kern="100" dirty="0">
                <a:solidFill>
                  <a:schemeClr val="accent1"/>
                </a:solidFill>
                <a:latin typeface="微软雅黑" panose="020B0503020204020204" pitchFamily="34" charset="-122"/>
                <a:ea typeface="微软雅黑" panose="020B0503020204020204" pitchFamily="34" charset="-122"/>
                <a:cs typeface="Times New Roman" panose="02020603050405020304" pitchFamily="18" charset="0"/>
              </a:rPr>
              <a:t>、已取成果：</a:t>
            </a:r>
            <a:r>
              <a:rPr lang="zh-CN" altLang="en-US" sz="1350" b="1" kern="1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成功研发具备国际竞争力</a:t>
            </a:r>
            <a:r>
              <a:rPr lang="en-US" altLang="zh-CN" sz="1350" b="1" kern="1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AI</a:t>
            </a:r>
            <a:r>
              <a:rPr lang="zh-CN" altLang="en-US" sz="1350" b="1" kern="1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驱动数字孪生系统，实现了大语言模型的垂直应用，建立了校级联合实验室。</a:t>
            </a:r>
            <a:endParaRPr lang="en-US" altLang="zh-CN" sz="1350" b="1" kern="1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endParaRPr>
          </a:p>
          <a:p>
            <a:pPr lvl="1" algn="just">
              <a:lnSpc>
                <a:spcPct val="150000"/>
              </a:lnSpc>
            </a:pPr>
            <a:r>
              <a:rPr lang="en-US" altLang="zh-CN" sz="1350" b="1" kern="100" dirty="0">
                <a:solidFill>
                  <a:schemeClr val="accent1"/>
                </a:solidFill>
                <a:latin typeface="微软雅黑" panose="020B0503020204020204" pitchFamily="34" charset="-122"/>
                <a:ea typeface="微软雅黑" panose="020B0503020204020204" pitchFamily="34" charset="-122"/>
                <a:cs typeface="Times New Roman" panose="02020603050405020304" pitchFamily="18" charset="0"/>
              </a:rPr>
              <a:t>5</a:t>
            </a:r>
            <a:r>
              <a:rPr lang="zh-CN" altLang="en-US" sz="1350" b="1" kern="100" dirty="0">
                <a:solidFill>
                  <a:schemeClr val="accent1"/>
                </a:solidFill>
                <a:latin typeface="微软雅黑" panose="020B0503020204020204" pitchFamily="34" charset="-122"/>
                <a:ea typeface="微软雅黑" panose="020B0503020204020204" pitchFamily="34" charset="-122"/>
                <a:cs typeface="Times New Roman" panose="02020603050405020304" pitchFamily="18" charset="0"/>
              </a:rPr>
              <a:t>、适合对象：</a:t>
            </a:r>
            <a:r>
              <a:rPr lang="zh-CN" altLang="en-US" sz="1350" b="1" kern="100" dirty="0">
                <a:solidFill>
                  <a:srgbClr val="A66BD3"/>
                </a:solidFill>
                <a:latin typeface="微软雅黑" panose="020B0503020204020204" pitchFamily="34" charset="-122"/>
                <a:ea typeface="微软雅黑" panose="020B0503020204020204" pitchFamily="34" charset="-122"/>
                <a:cs typeface="Times New Roman" panose="02020603050405020304" pitchFamily="18" charset="0"/>
              </a:rPr>
              <a:t>想以后从事于数字孪生及智能系统开发、人工智能算法与大语言模型垂直应用软件开发的同学。</a:t>
            </a:r>
            <a:endParaRPr lang="en-US" altLang="zh-CN" sz="1350" b="1" kern="100" dirty="0">
              <a:solidFill>
                <a:srgbClr val="A66BD3"/>
              </a:solidFill>
              <a:latin typeface="微软雅黑" panose="020B0503020204020204" pitchFamily="34" charset="-122"/>
              <a:ea typeface="微软雅黑" panose="020B0503020204020204" pitchFamily="34" charset="-122"/>
              <a:cs typeface="Times New Roman" panose="02020603050405020304" pitchFamily="18" charset="0"/>
            </a:endParaRPr>
          </a:p>
          <a:p>
            <a:pPr lvl="1" algn="just">
              <a:lnSpc>
                <a:spcPct val="150000"/>
              </a:lnSpc>
            </a:pPr>
            <a:r>
              <a:rPr lang="en-US" altLang="zh-CN" sz="1350" b="1" kern="100" dirty="0">
                <a:solidFill>
                  <a:schemeClr val="accent1"/>
                </a:solidFill>
                <a:latin typeface="微软雅黑" panose="020B0503020204020204" pitchFamily="34" charset="-122"/>
                <a:ea typeface="微软雅黑" panose="020B0503020204020204" pitchFamily="34" charset="-122"/>
                <a:cs typeface="Times New Roman" panose="02020603050405020304" pitchFamily="18" charset="0"/>
              </a:rPr>
              <a:t>6</a:t>
            </a:r>
            <a:r>
              <a:rPr lang="zh-CN" altLang="en-US" sz="1350" b="1" kern="100" dirty="0">
                <a:solidFill>
                  <a:schemeClr val="accent1"/>
                </a:solidFill>
                <a:latin typeface="微软雅黑" panose="020B0503020204020204" pitchFamily="34" charset="-122"/>
                <a:ea typeface="微软雅黑" panose="020B0503020204020204" pitchFamily="34" charset="-122"/>
                <a:cs typeface="Times New Roman" panose="02020603050405020304" pitchFamily="18" charset="0"/>
              </a:rPr>
              <a:t>、锻炼学生能力：</a:t>
            </a:r>
            <a:r>
              <a:rPr lang="zh-CN" altLang="en-US" sz="1350" b="1" kern="100" dirty="0">
                <a:solidFill>
                  <a:srgbClr val="8A3BC5"/>
                </a:solidFill>
                <a:latin typeface="微软雅黑" panose="020B0503020204020204" pitchFamily="34" charset="-122"/>
                <a:ea typeface="微软雅黑" panose="020B0503020204020204" pitchFamily="34" charset="-122"/>
                <a:cs typeface="Times New Roman" panose="02020603050405020304" pitchFamily="18" charset="0"/>
              </a:rPr>
              <a:t>时序数据预测、异常检测、群智能决策优化、强化学习、鲁棒优化等相关人工智能算法的设计，相关智能化系统的总体设计与实现，大模型在智能系统中的垂直应用。</a:t>
            </a:r>
            <a:endParaRPr lang="en-US" altLang="zh-CN" sz="1350" b="1" kern="100" dirty="0">
              <a:solidFill>
                <a:srgbClr val="8A3BC5"/>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3" name="矩形 22">
            <a:extLst>
              <a:ext uri="{FF2B5EF4-FFF2-40B4-BE49-F238E27FC236}">
                <a16:creationId xmlns:a16="http://schemas.microsoft.com/office/drawing/2014/main" id="{3397DAC8-BD6C-40F8-A50B-C2E4EC45997C}"/>
              </a:ext>
            </a:extLst>
          </p:cNvPr>
          <p:cNvSpPr/>
          <p:nvPr/>
        </p:nvSpPr>
        <p:spPr bwMode="auto">
          <a:xfrm>
            <a:off x="12324" y="2963807"/>
            <a:ext cx="9119352" cy="3353026"/>
          </a:xfrm>
          <a:prstGeom prst="rect">
            <a:avLst/>
          </a:prstGeom>
          <a:noFill/>
          <a:ln w="19050" cap="flat" cmpd="sng" algn="ctr">
            <a:solidFill>
              <a:srgbClr val="000000"/>
            </a:solidFill>
            <a:prstDash val="solid"/>
            <a:round/>
            <a:headEnd type="none" w="med" len="med"/>
            <a:tailEnd type="none" w="med" len="med"/>
          </a:ln>
          <a:effectLst/>
        </p:spPr>
        <p:txBody>
          <a:bodyPr vert="horz" wrap="square" lIns="68580" tIns="34290" rIns="68580" bIns="34290" numCol="1" rtlCol="0" anchor="t" anchorCtr="0" compatLnSpc="1"/>
          <a:lstStyle/>
          <a:p>
            <a:pPr defTabSz="685800" fontAlgn="base">
              <a:spcBef>
                <a:spcPct val="0"/>
              </a:spcBef>
              <a:spcAft>
                <a:spcPct val="0"/>
              </a:spcAft>
              <a:defRPr/>
            </a:pPr>
            <a:endParaRPr lang="zh-CN" altLang="en-US" sz="1350" b="1" kern="0">
              <a:solidFill>
                <a:srgbClr val="000000"/>
              </a:solidFill>
              <a:latin typeface="Arial" panose="020B0604020202020204" pitchFamily="34" charset="0"/>
              <a:ea typeface="宋体" panose="02010600030101010101" pitchFamily="2" charset="-122"/>
            </a:endParaRPr>
          </a:p>
        </p:txBody>
      </p:sp>
      <p:sp>
        <p:nvSpPr>
          <p:cNvPr id="25" name="圆角矩形 13">
            <a:extLst>
              <a:ext uri="{FF2B5EF4-FFF2-40B4-BE49-F238E27FC236}">
                <a16:creationId xmlns:a16="http://schemas.microsoft.com/office/drawing/2014/main" id="{B49FA380-3F35-4E74-B8C0-8B298AFB5472}"/>
              </a:ext>
            </a:extLst>
          </p:cNvPr>
          <p:cNvSpPr/>
          <p:nvPr/>
        </p:nvSpPr>
        <p:spPr>
          <a:xfrm>
            <a:off x="0" y="863809"/>
            <a:ext cx="9144000" cy="455810"/>
          </a:xfrm>
          <a:prstGeom prst="roundRect">
            <a:avLst>
              <a:gd name="adj" fmla="val 0"/>
            </a:avLst>
          </a:prstGeom>
          <a:solidFill>
            <a:srgbClr val="9B49B8"/>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indent="-3810" algn="ctr" fontAlgn="base">
              <a:lnSpc>
                <a:spcPts val="2175"/>
              </a:lnSpc>
              <a:spcBef>
                <a:spcPct val="0"/>
              </a:spcBef>
              <a:spcAft>
                <a:spcPct val="0"/>
              </a:spcAft>
              <a:defRPr/>
            </a:pPr>
            <a:r>
              <a:rPr lang="zh-CN" altLang="en-US" b="1" dirty="0">
                <a:latin typeface="微软雅黑" panose="020B0503020204020204" charset="-122"/>
                <a:ea typeface="微软雅黑" panose="020B0503020204020204" charset="-122"/>
                <a:cs typeface="微软雅黑" panose="020B0503020204020204" charset="-122"/>
              </a:rPr>
              <a:t>数字孪生及智能系统应用与科学研究</a:t>
            </a:r>
          </a:p>
        </p:txBody>
      </p:sp>
      <p:grpSp>
        <p:nvGrpSpPr>
          <p:cNvPr id="51" name="组合 50">
            <a:extLst>
              <a:ext uri="{FF2B5EF4-FFF2-40B4-BE49-F238E27FC236}">
                <a16:creationId xmlns:a16="http://schemas.microsoft.com/office/drawing/2014/main" id="{BB8651D8-3036-42DF-AF9C-A8023CD6BE0E}"/>
              </a:ext>
            </a:extLst>
          </p:cNvPr>
          <p:cNvGrpSpPr/>
          <p:nvPr/>
        </p:nvGrpSpPr>
        <p:grpSpPr>
          <a:xfrm>
            <a:off x="141401" y="1336463"/>
            <a:ext cx="8886733" cy="1639252"/>
            <a:chOff x="170803" y="632895"/>
            <a:chExt cx="11817530" cy="2952010"/>
          </a:xfrm>
        </p:grpSpPr>
        <p:sp>
          <p:nvSpPr>
            <p:cNvPr id="52" name="文本框 51">
              <a:extLst>
                <a:ext uri="{FF2B5EF4-FFF2-40B4-BE49-F238E27FC236}">
                  <a16:creationId xmlns:a16="http://schemas.microsoft.com/office/drawing/2014/main" id="{BCAE3789-232F-4BA4-9C86-446C2523AFA9}"/>
                </a:ext>
              </a:extLst>
            </p:cNvPr>
            <p:cNvSpPr txBox="1"/>
            <p:nvPr/>
          </p:nvSpPr>
          <p:spPr>
            <a:xfrm>
              <a:off x="412421" y="632895"/>
              <a:ext cx="2149590" cy="739465"/>
            </a:xfrm>
            <a:prstGeom prst="rect">
              <a:avLst/>
            </a:prstGeom>
            <a:noFill/>
          </p:spPr>
          <p:txBody>
            <a:bodyPr wrap="square">
              <a:spAutoFit/>
            </a:bodyPr>
            <a:lstStyle/>
            <a:p>
              <a:pPr algn="ctr">
                <a:lnSpc>
                  <a:spcPct val="120000"/>
                </a:lnSpc>
              </a:pPr>
              <a:r>
                <a:rPr lang="zh-CN" altLang="en-US" sz="900" b="1" kern="100" dirty="0">
                  <a:solidFill>
                    <a:schemeClr val="accent1"/>
                  </a:solidFill>
                  <a:latin typeface="Microsoft YaHei" panose="020B0503020204020204" pitchFamily="34" charset="-122"/>
                  <a:ea typeface="Microsoft YaHei" panose="020B0503020204020204" pitchFamily="34" charset="-122"/>
                  <a:cs typeface="Times New Roman" panose="02020603050405020304" pitchFamily="18" charset="0"/>
                </a:rPr>
                <a:t>基于数字孪生的智能决策及控制系统</a:t>
              </a:r>
              <a:endParaRPr lang="zh-CN" altLang="en-US" sz="900" b="1" dirty="0">
                <a:solidFill>
                  <a:schemeClr val="accent1"/>
                </a:solidFill>
                <a:latin typeface="Microsoft YaHei" panose="020B0503020204020204" pitchFamily="34" charset="-122"/>
                <a:ea typeface="Microsoft YaHei" panose="020B0503020204020204" pitchFamily="34" charset="-122"/>
              </a:endParaRPr>
            </a:p>
          </p:txBody>
        </p:sp>
        <p:sp>
          <p:nvSpPr>
            <p:cNvPr id="53" name="圆角矩形 30">
              <a:extLst>
                <a:ext uri="{FF2B5EF4-FFF2-40B4-BE49-F238E27FC236}">
                  <a16:creationId xmlns:a16="http://schemas.microsoft.com/office/drawing/2014/main" id="{8361FAA5-7027-4D15-A3A1-04AC07A61DDC}"/>
                </a:ext>
              </a:extLst>
            </p:cNvPr>
            <p:cNvSpPr/>
            <p:nvPr/>
          </p:nvSpPr>
          <p:spPr>
            <a:xfrm>
              <a:off x="170803" y="665193"/>
              <a:ext cx="2632830" cy="2919712"/>
            </a:xfrm>
            <a:prstGeom prst="roundRect">
              <a:avLst>
                <a:gd name="adj" fmla="val 9636"/>
              </a:avLst>
            </a:prstGeom>
            <a:noFill/>
            <a:ln w="25400">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sz="900"/>
            </a:p>
          </p:txBody>
        </p:sp>
        <p:sp>
          <p:nvSpPr>
            <p:cNvPr id="54" name="文本框 53">
              <a:extLst>
                <a:ext uri="{FF2B5EF4-FFF2-40B4-BE49-F238E27FC236}">
                  <a16:creationId xmlns:a16="http://schemas.microsoft.com/office/drawing/2014/main" id="{7F6B6D7A-004B-4C2A-88AD-621587CB1590}"/>
                </a:ext>
              </a:extLst>
            </p:cNvPr>
            <p:cNvSpPr txBox="1"/>
            <p:nvPr/>
          </p:nvSpPr>
          <p:spPr>
            <a:xfrm>
              <a:off x="245410" y="2833964"/>
              <a:ext cx="2553704" cy="440169"/>
            </a:xfrm>
            <a:prstGeom prst="rect">
              <a:avLst/>
            </a:prstGeom>
            <a:noFill/>
          </p:spPr>
          <p:txBody>
            <a:bodyPr wrap="square">
              <a:spAutoFit/>
            </a:bodyPr>
            <a:lstStyle/>
            <a:p>
              <a:pPr algn="ctr">
                <a:lnSpc>
                  <a:spcPct val="120000"/>
                </a:lnSpc>
              </a:pPr>
              <a:r>
                <a:rPr lang="zh-CN" altLang="en-US" sz="900" kern="100" dirty="0">
                  <a:latin typeface="Microsoft YaHei" panose="020B0503020204020204" pitchFamily="34" charset="-122"/>
                  <a:ea typeface="Microsoft YaHei" panose="020B0503020204020204" pitchFamily="34" charset="-122"/>
                </a:rPr>
                <a:t>融合多模态数据，可复制，易扩展</a:t>
              </a:r>
            </a:p>
          </p:txBody>
        </p:sp>
        <p:pic>
          <p:nvPicPr>
            <p:cNvPr id="55" name="图片 54">
              <a:extLst>
                <a:ext uri="{FF2B5EF4-FFF2-40B4-BE49-F238E27FC236}">
                  <a16:creationId xmlns:a16="http://schemas.microsoft.com/office/drawing/2014/main" id="{9671D148-6F19-417F-9459-72AB6F5D3E96}"/>
                </a:ext>
              </a:extLst>
            </p:cNvPr>
            <p:cNvPicPr>
              <a:picLocks noChangeAspect="1"/>
            </p:cNvPicPr>
            <p:nvPr/>
          </p:nvPicPr>
          <p:blipFill>
            <a:blip r:embed="rId4"/>
            <a:srcRect l="37916" t="5600" r="3178" b="47322"/>
            <a:stretch>
              <a:fillRect/>
            </a:stretch>
          </p:blipFill>
          <p:spPr>
            <a:xfrm>
              <a:off x="236002" y="1349453"/>
              <a:ext cx="2528068" cy="1531893"/>
            </a:xfrm>
            <a:prstGeom prst="rect">
              <a:avLst/>
            </a:prstGeom>
          </p:spPr>
        </p:pic>
        <p:sp>
          <p:nvSpPr>
            <p:cNvPr id="56" name="矩形 55">
              <a:extLst>
                <a:ext uri="{FF2B5EF4-FFF2-40B4-BE49-F238E27FC236}">
                  <a16:creationId xmlns:a16="http://schemas.microsoft.com/office/drawing/2014/main" id="{4B7BBB6D-28A8-49A1-99B5-A624D7EFE2FE}"/>
                </a:ext>
              </a:extLst>
            </p:cNvPr>
            <p:cNvSpPr/>
            <p:nvPr/>
          </p:nvSpPr>
          <p:spPr>
            <a:xfrm>
              <a:off x="3435580" y="771389"/>
              <a:ext cx="3078111" cy="402653"/>
            </a:xfrm>
            <a:prstGeom prst="rect">
              <a:avLst/>
            </a:prstGeom>
            <a:solidFill>
              <a:srgbClr val="9B49B8">
                <a:alpha val="6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sz="900" b="1" dirty="0">
                  <a:latin typeface="微软雅黑" panose="020B0503020204020204" pitchFamily="34" charset="-122"/>
                  <a:ea typeface="微软雅黑" panose="020B0503020204020204" pitchFamily="34" charset="-122"/>
                </a:rPr>
                <a:t>数据驱动</a:t>
              </a:r>
            </a:p>
          </p:txBody>
        </p:sp>
        <p:sp>
          <p:nvSpPr>
            <p:cNvPr id="57" name="矩形 56">
              <a:extLst>
                <a:ext uri="{FF2B5EF4-FFF2-40B4-BE49-F238E27FC236}">
                  <a16:creationId xmlns:a16="http://schemas.microsoft.com/office/drawing/2014/main" id="{AB7B6D6E-7DD5-46A5-B70F-9F33F6A592F5}"/>
                </a:ext>
              </a:extLst>
            </p:cNvPr>
            <p:cNvSpPr/>
            <p:nvPr/>
          </p:nvSpPr>
          <p:spPr>
            <a:xfrm>
              <a:off x="7280550" y="781309"/>
              <a:ext cx="1807309" cy="382812"/>
            </a:xfrm>
            <a:prstGeom prst="rect">
              <a:avLst/>
            </a:prstGeom>
            <a:solidFill>
              <a:srgbClr val="9B49B8">
                <a:alpha val="6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sz="900" b="1" dirty="0">
                  <a:latin typeface="微软雅黑" panose="020B0503020204020204" pitchFamily="34" charset="-122"/>
                  <a:ea typeface="微软雅黑" panose="020B0503020204020204" pitchFamily="34" charset="-122"/>
                </a:rPr>
                <a:t>决策控制</a:t>
              </a:r>
            </a:p>
          </p:txBody>
        </p:sp>
        <p:sp>
          <p:nvSpPr>
            <p:cNvPr id="58" name="矩形 57">
              <a:extLst>
                <a:ext uri="{FF2B5EF4-FFF2-40B4-BE49-F238E27FC236}">
                  <a16:creationId xmlns:a16="http://schemas.microsoft.com/office/drawing/2014/main" id="{DFD093A0-DEF6-46F9-BECF-322439C7189C}"/>
                </a:ext>
              </a:extLst>
            </p:cNvPr>
            <p:cNvSpPr/>
            <p:nvPr/>
          </p:nvSpPr>
          <p:spPr>
            <a:xfrm>
              <a:off x="10125596" y="781309"/>
              <a:ext cx="1472351" cy="369902"/>
            </a:xfrm>
            <a:prstGeom prst="rect">
              <a:avLst/>
            </a:prstGeom>
            <a:solidFill>
              <a:srgbClr val="9B49B8">
                <a:alpha val="6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sz="900" b="1" dirty="0">
                  <a:latin typeface="微软雅黑" panose="020B0503020204020204" pitchFamily="34" charset="-122"/>
                  <a:ea typeface="微软雅黑" panose="020B0503020204020204" pitchFamily="34" charset="-122"/>
                </a:rPr>
                <a:t>大模型</a:t>
              </a:r>
            </a:p>
          </p:txBody>
        </p:sp>
        <p:sp>
          <p:nvSpPr>
            <p:cNvPr id="59" name="圆角矩形 1">
              <a:extLst>
                <a:ext uri="{FF2B5EF4-FFF2-40B4-BE49-F238E27FC236}">
                  <a16:creationId xmlns:a16="http://schemas.microsoft.com/office/drawing/2014/main" id="{91413FBB-9E54-4229-A8B7-2A77A76FDE0A}"/>
                </a:ext>
              </a:extLst>
            </p:cNvPr>
            <p:cNvSpPr/>
            <p:nvPr/>
          </p:nvSpPr>
          <p:spPr>
            <a:xfrm>
              <a:off x="3435581" y="1270143"/>
              <a:ext cx="1329193" cy="1147642"/>
            </a:xfrm>
            <a:prstGeom prst="roundRect">
              <a:avLst/>
            </a:prstGeom>
            <a:solidFill>
              <a:schemeClr val="bg1"/>
            </a:solidFill>
            <a:ln>
              <a:solidFill>
                <a:schemeClr val="bg1">
                  <a:lumMod val="6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sz="900"/>
            </a:p>
          </p:txBody>
        </p:sp>
        <p:sp>
          <p:nvSpPr>
            <p:cNvPr id="60" name="文本框 59">
              <a:extLst>
                <a:ext uri="{FF2B5EF4-FFF2-40B4-BE49-F238E27FC236}">
                  <a16:creationId xmlns:a16="http://schemas.microsoft.com/office/drawing/2014/main" id="{D0DC64AB-8D1E-4D1F-82A3-B929CB2E3E3B}"/>
                </a:ext>
              </a:extLst>
            </p:cNvPr>
            <p:cNvSpPr txBox="1"/>
            <p:nvPr/>
          </p:nvSpPr>
          <p:spPr>
            <a:xfrm>
              <a:off x="3451668" y="1339322"/>
              <a:ext cx="1293943" cy="914516"/>
            </a:xfrm>
            <a:prstGeom prst="rect">
              <a:avLst/>
            </a:prstGeom>
            <a:noFill/>
          </p:spPr>
          <p:txBody>
            <a:bodyPr wrap="square" rtlCol="0">
              <a:spAutoFit/>
            </a:bodyPr>
            <a:lstStyle/>
            <a:p>
              <a:r>
                <a:rPr kumimoji="1" lang="zh-CN" altLang="en-US" sz="900" b="1" dirty="0">
                  <a:latin typeface="微软雅黑" panose="020B0503020204020204" pitchFamily="34" charset="-122"/>
                  <a:ea typeface="微软雅黑" panose="020B0503020204020204" pitchFamily="34" charset="-122"/>
                </a:rPr>
                <a:t>数据清洗</a:t>
              </a:r>
              <a:endParaRPr kumimoji="1" lang="en-US" altLang="zh-CN" sz="900" b="1" dirty="0">
                <a:latin typeface="微软雅黑" panose="020B0503020204020204" pitchFamily="34" charset="-122"/>
                <a:ea typeface="微软雅黑" panose="020B0503020204020204" pitchFamily="34" charset="-122"/>
              </a:endParaRPr>
            </a:p>
            <a:p>
              <a:pPr marL="214313" indent="-214313">
                <a:buFont typeface="Wingdings" pitchFamily="2" charset="2"/>
                <a:buChar char="ü"/>
              </a:pPr>
              <a:r>
                <a:rPr kumimoji="1" lang="zh-CN" altLang="en-US" sz="900" dirty="0">
                  <a:latin typeface="微软雅黑" panose="020B0503020204020204" pitchFamily="34" charset="-122"/>
                  <a:ea typeface="微软雅黑" panose="020B0503020204020204" pitchFamily="34" charset="-122"/>
                </a:rPr>
                <a:t>异常检测</a:t>
              </a:r>
              <a:endParaRPr kumimoji="1" lang="en-US" altLang="zh-CN" sz="900" dirty="0">
                <a:latin typeface="微软雅黑" panose="020B0503020204020204" pitchFamily="34" charset="-122"/>
                <a:ea typeface="微软雅黑" panose="020B0503020204020204" pitchFamily="34" charset="-122"/>
              </a:endParaRPr>
            </a:p>
            <a:p>
              <a:pPr marL="214313" indent="-214313">
                <a:buFont typeface="Wingdings" pitchFamily="2" charset="2"/>
                <a:buChar char="ü"/>
              </a:pPr>
              <a:r>
                <a:rPr kumimoji="1" lang="zh-CN" altLang="en-US" sz="900" dirty="0">
                  <a:latin typeface="微软雅黑" panose="020B0503020204020204" pitchFamily="34" charset="-122"/>
                  <a:ea typeface="微软雅黑" panose="020B0503020204020204" pitchFamily="34" charset="-122"/>
                </a:rPr>
                <a:t>数据回填</a:t>
              </a:r>
            </a:p>
          </p:txBody>
        </p:sp>
        <p:sp>
          <p:nvSpPr>
            <p:cNvPr id="61" name="圆角矩形 7">
              <a:extLst>
                <a:ext uri="{FF2B5EF4-FFF2-40B4-BE49-F238E27FC236}">
                  <a16:creationId xmlns:a16="http://schemas.microsoft.com/office/drawing/2014/main" id="{1F7C0C3B-B391-457C-96F7-4918BDB0E18E}"/>
                </a:ext>
              </a:extLst>
            </p:cNvPr>
            <p:cNvSpPr/>
            <p:nvPr/>
          </p:nvSpPr>
          <p:spPr>
            <a:xfrm>
              <a:off x="4869611" y="1270143"/>
              <a:ext cx="1644080" cy="1147642"/>
            </a:xfrm>
            <a:prstGeom prst="roundRect">
              <a:avLst/>
            </a:prstGeom>
            <a:solidFill>
              <a:schemeClr val="bg1"/>
            </a:solidFill>
            <a:ln>
              <a:solidFill>
                <a:schemeClr val="bg1">
                  <a:lumMod val="6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sz="900"/>
            </a:p>
          </p:txBody>
        </p:sp>
        <p:sp>
          <p:nvSpPr>
            <p:cNvPr id="62" name="文本框 61">
              <a:extLst>
                <a:ext uri="{FF2B5EF4-FFF2-40B4-BE49-F238E27FC236}">
                  <a16:creationId xmlns:a16="http://schemas.microsoft.com/office/drawing/2014/main" id="{B55F9F18-E71D-4EF0-9178-BFD01E2E9A88}"/>
                </a:ext>
              </a:extLst>
            </p:cNvPr>
            <p:cNvSpPr txBox="1"/>
            <p:nvPr/>
          </p:nvSpPr>
          <p:spPr>
            <a:xfrm>
              <a:off x="4860429" y="1237588"/>
              <a:ext cx="1737179" cy="1163931"/>
            </a:xfrm>
            <a:prstGeom prst="rect">
              <a:avLst/>
            </a:prstGeom>
            <a:noFill/>
          </p:spPr>
          <p:txBody>
            <a:bodyPr wrap="square" rtlCol="0">
              <a:spAutoFit/>
            </a:bodyPr>
            <a:lstStyle/>
            <a:p>
              <a:r>
                <a:rPr kumimoji="1" lang="zh-CN" altLang="en-US" sz="900" b="1" dirty="0">
                  <a:latin typeface="微软雅黑" panose="020B0503020204020204" pitchFamily="34" charset="-122"/>
                  <a:ea typeface="微软雅黑" panose="020B0503020204020204" pitchFamily="34" charset="-122"/>
                </a:rPr>
                <a:t>数据挖掘</a:t>
              </a:r>
              <a:endParaRPr kumimoji="1" lang="en-US" altLang="zh-CN" sz="900" b="1" dirty="0">
                <a:latin typeface="微软雅黑" panose="020B0503020204020204" pitchFamily="34" charset="-122"/>
                <a:ea typeface="微软雅黑" panose="020B0503020204020204" pitchFamily="34" charset="-122"/>
              </a:endParaRPr>
            </a:p>
            <a:p>
              <a:pPr marL="214313" indent="-214313">
                <a:buFont typeface="Wingdings" pitchFamily="2" charset="2"/>
                <a:buChar char="ü"/>
              </a:pPr>
              <a:r>
                <a:rPr kumimoji="1" lang="zh-CN" altLang="en-US" sz="900" dirty="0">
                  <a:latin typeface="微软雅黑" panose="020B0503020204020204" pitchFamily="34" charset="-122"/>
                  <a:ea typeface="微软雅黑" panose="020B0503020204020204" pitchFamily="34" charset="-122"/>
                </a:rPr>
                <a:t>时间序列预测</a:t>
              </a:r>
              <a:endParaRPr kumimoji="1" lang="en-US" altLang="zh-CN" sz="900" dirty="0">
                <a:latin typeface="微软雅黑" panose="020B0503020204020204" pitchFamily="34" charset="-122"/>
                <a:ea typeface="微软雅黑" panose="020B0503020204020204" pitchFamily="34" charset="-122"/>
              </a:endParaRPr>
            </a:p>
            <a:p>
              <a:pPr marL="214313" indent="-214313">
                <a:buFont typeface="Wingdings" pitchFamily="2" charset="2"/>
                <a:buChar char="ü"/>
              </a:pPr>
              <a:r>
                <a:rPr kumimoji="1" lang="zh-CN" altLang="en-US" sz="900" dirty="0">
                  <a:latin typeface="微软雅黑" panose="020B0503020204020204" pitchFamily="34" charset="-122"/>
                  <a:ea typeface="微软雅黑" panose="020B0503020204020204" pitchFamily="34" charset="-122"/>
                </a:rPr>
                <a:t>异常报警</a:t>
              </a:r>
              <a:endParaRPr kumimoji="1" lang="en-US" altLang="zh-CN" sz="900" dirty="0">
                <a:latin typeface="微软雅黑" panose="020B0503020204020204" pitchFamily="34" charset="-122"/>
                <a:ea typeface="微软雅黑" panose="020B0503020204020204" pitchFamily="34" charset="-122"/>
              </a:endParaRPr>
            </a:p>
            <a:p>
              <a:pPr marL="214313" indent="-214313">
                <a:buFont typeface="Wingdings" pitchFamily="2" charset="2"/>
                <a:buChar char="ü"/>
              </a:pPr>
              <a:r>
                <a:rPr kumimoji="1" lang="zh-CN" altLang="en-US" sz="900" dirty="0">
                  <a:latin typeface="微软雅黑" panose="020B0503020204020204" pitchFamily="34" charset="-122"/>
                  <a:ea typeface="微软雅黑" panose="020B0503020204020204" pitchFamily="34" charset="-122"/>
                </a:rPr>
                <a:t>过程建模</a:t>
              </a:r>
              <a:endParaRPr kumimoji="1" lang="en-US" altLang="zh-CN" sz="900" dirty="0">
                <a:latin typeface="微软雅黑" panose="020B0503020204020204" pitchFamily="34" charset="-122"/>
                <a:ea typeface="微软雅黑" panose="020B0503020204020204" pitchFamily="34" charset="-122"/>
              </a:endParaRPr>
            </a:p>
          </p:txBody>
        </p:sp>
        <p:sp>
          <p:nvSpPr>
            <p:cNvPr id="63" name="圆角矩形 14">
              <a:extLst>
                <a:ext uri="{FF2B5EF4-FFF2-40B4-BE49-F238E27FC236}">
                  <a16:creationId xmlns:a16="http://schemas.microsoft.com/office/drawing/2014/main" id="{046E3837-B649-4AEB-9C84-6019679B8EEF}"/>
                </a:ext>
              </a:extLst>
            </p:cNvPr>
            <p:cNvSpPr/>
            <p:nvPr/>
          </p:nvSpPr>
          <p:spPr>
            <a:xfrm>
              <a:off x="7280551" y="1270143"/>
              <a:ext cx="2094516" cy="1147642"/>
            </a:xfrm>
            <a:prstGeom prst="roundRect">
              <a:avLst/>
            </a:prstGeom>
            <a:solidFill>
              <a:schemeClr val="bg1"/>
            </a:solidFill>
            <a:ln>
              <a:solidFill>
                <a:schemeClr val="bg1">
                  <a:lumMod val="6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sz="900" b="1"/>
            </a:p>
          </p:txBody>
        </p:sp>
        <p:sp>
          <p:nvSpPr>
            <p:cNvPr id="64" name="文本框 63">
              <a:extLst>
                <a:ext uri="{FF2B5EF4-FFF2-40B4-BE49-F238E27FC236}">
                  <a16:creationId xmlns:a16="http://schemas.microsoft.com/office/drawing/2014/main" id="{B30936B8-F95E-486F-BBB3-5971D28690CD}"/>
                </a:ext>
              </a:extLst>
            </p:cNvPr>
            <p:cNvSpPr txBox="1"/>
            <p:nvPr/>
          </p:nvSpPr>
          <p:spPr>
            <a:xfrm>
              <a:off x="7280550" y="1309790"/>
              <a:ext cx="2083001" cy="1163931"/>
            </a:xfrm>
            <a:prstGeom prst="rect">
              <a:avLst/>
            </a:prstGeom>
            <a:noFill/>
          </p:spPr>
          <p:txBody>
            <a:bodyPr wrap="square" rtlCol="0">
              <a:spAutoFit/>
            </a:bodyPr>
            <a:lstStyle/>
            <a:p>
              <a:r>
                <a:rPr kumimoji="1" lang="zh-CN" altLang="en-US" sz="900" b="1" dirty="0">
                  <a:latin typeface="微软雅黑" panose="020B0503020204020204" pitchFamily="34" charset="-122"/>
                  <a:ea typeface="微软雅黑" panose="020B0503020204020204" pitchFamily="34" charset="-122"/>
                </a:rPr>
                <a:t>决策支持及控制</a:t>
              </a:r>
              <a:endParaRPr kumimoji="1" lang="en-US" altLang="zh-CN" sz="900" b="1" dirty="0">
                <a:latin typeface="微软雅黑" panose="020B0503020204020204" pitchFamily="34" charset="-122"/>
                <a:ea typeface="微软雅黑" panose="020B0503020204020204" pitchFamily="34" charset="-122"/>
              </a:endParaRPr>
            </a:p>
            <a:p>
              <a:pPr marL="214313" indent="-214313">
                <a:buFont typeface="Wingdings" pitchFamily="2" charset="2"/>
                <a:buChar char="ü"/>
              </a:pPr>
              <a:r>
                <a:rPr kumimoji="1" lang="zh-CN" altLang="en-US" sz="900" dirty="0">
                  <a:latin typeface="微软雅黑" panose="020B0503020204020204" pitchFamily="34" charset="-122"/>
                  <a:ea typeface="微软雅黑" panose="020B0503020204020204" pitchFamily="34" charset="-122"/>
                </a:rPr>
                <a:t>机理建模</a:t>
              </a:r>
              <a:endParaRPr kumimoji="1" lang="en-US" altLang="zh-CN" sz="900" dirty="0">
                <a:latin typeface="微软雅黑" panose="020B0503020204020204" pitchFamily="34" charset="-122"/>
                <a:ea typeface="微软雅黑" panose="020B0503020204020204" pitchFamily="34" charset="-122"/>
              </a:endParaRPr>
            </a:p>
            <a:p>
              <a:pPr marL="214313" indent="-214313">
                <a:buFont typeface="Wingdings" pitchFamily="2" charset="2"/>
                <a:buChar char="ü"/>
              </a:pPr>
              <a:r>
                <a:rPr kumimoji="1" lang="zh-CN" altLang="en-US" sz="900" dirty="0">
                  <a:latin typeface="微软雅黑" panose="020B0503020204020204" pitchFamily="34" charset="-122"/>
                  <a:ea typeface="微软雅黑" panose="020B0503020204020204" pitchFamily="34" charset="-122"/>
                </a:rPr>
                <a:t>模型预测控制</a:t>
              </a:r>
              <a:endParaRPr kumimoji="1" lang="en-US" altLang="zh-CN" sz="900" dirty="0">
                <a:latin typeface="微软雅黑" panose="020B0503020204020204" pitchFamily="34" charset="-122"/>
                <a:ea typeface="微软雅黑" panose="020B0503020204020204" pitchFamily="34" charset="-122"/>
              </a:endParaRPr>
            </a:p>
            <a:p>
              <a:pPr marL="214313" indent="-214313">
                <a:buFont typeface="Wingdings" pitchFamily="2" charset="2"/>
                <a:buChar char="ü"/>
              </a:pPr>
              <a:r>
                <a:rPr kumimoji="1" lang="zh-CN" altLang="en-US" sz="900" dirty="0">
                  <a:latin typeface="微软雅黑" panose="020B0503020204020204" pitchFamily="34" charset="-122"/>
                  <a:ea typeface="微软雅黑" panose="020B0503020204020204" pitchFamily="34" charset="-122"/>
                </a:rPr>
                <a:t>鲁棒优化</a:t>
              </a:r>
            </a:p>
          </p:txBody>
        </p:sp>
        <p:sp>
          <p:nvSpPr>
            <p:cNvPr id="65" name="加号 64">
              <a:extLst>
                <a:ext uri="{FF2B5EF4-FFF2-40B4-BE49-F238E27FC236}">
                  <a16:creationId xmlns:a16="http://schemas.microsoft.com/office/drawing/2014/main" id="{60CE42BF-8272-49C8-A241-AC712B9E2636}"/>
                </a:ext>
              </a:extLst>
            </p:cNvPr>
            <p:cNvSpPr/>
            <p:nvPr/>
          </p:nvSpPr>
          <p:spPr>
            <a:xfrm>
              <a:off x="6511034" y="1381868"/>
              <a:ext cx="756000" cy="756000"/>
            </a:xfrm>
            <a:prstGeom prst="mathPlus">
              <a:avLst/>
            </a:prstGeom>
            <a:solidFill>
              <a:srgbClr val="9B49B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sz="900" dirty="0"/>
            </a:p>
          </p:txBody>
        </p:sp>
        <p:sp>
          <p:nvSpPr>
            <p:cNvPr id="66" name="圆角矩形 17">
              <a:extLst>
                <a:ext uri="{FF2B5EF4-FFF2-40B4-BE49-F238E27FC236}">
                  <a16:creationId xmlns:a16="http://schemas.microsoft.com/office/drawing/2014/main" id="{7A4D5425-4B42-44E3-A43B-2B80B5B3B700}"/>
                </a:ext>
              </a:extLst>
            </p:cNvPr>
            <p:cNvSpPr/>
            <p:nvPr/>
          </p:nvSpPr>
          <p:spPr>
            <a:xfrm>
              <a:off x="10125596" y="1259827"/>
              <a:ext cx="1472350" cy="1174787"/>
            </a:xfrm>
            <a:prstGeom prst="roundRect">
              <a:avLst/>
            </a:prstGeom>
            <a:solidFill>
              <a:schemeClr val="bg1"/>
            </a:solidFill>
            <a:ln>
              <a:solidFill>
                <a:schemeClr val="bg1">
                  <a:lumMod val="6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sz="900" b="1"/>
            </a:p>
          </p:txBody>
        </p:sp>
        <p:sp>
          <p:nvSpPr>
            <p:cNvPr id="67" name="文本框 66">
              <a:extLst>
                <a:ext uri="{FF2B5EF4-FFF2-40B4-BE49-F238E27FC236}">
                  <a16:creationId xmlns:a16="http://schemas.microsoft.com/office/drawing/2014/main" id="{5C2D83A2-DCF7-48DB-8428-760477F452CF}"/>
                </a:ext>
              </a:extLst>
            </p:cNvPr>
            <p:cNvSpPr txBox="1"/>
            <p:nvPr/>
          </p:nvSpPr>
          <p:spPr>
            <a:xfrm>
              <a:off x="10218694" y="1306795"/>
              <a:ext cx="1512116" cy="1163931"/>
            </a:xfrm>
            <a:prstGeom prst="rect">
              <a:avLst/>
            </a:prstGeom>
            <a:noFill/>
          </p:spPr>
          <p:txBody>
            <a:bodyPr wrap="square" rtlCol="0">
              <a:spAutoFit/>
            </a:bodyPr>
            <a:lstStyle/>
            <a:p>
              <a:r>
                <a:rPr kumimoji="1" lang="zh-CN" altLang="en-US" sz="900" b="1" dirty="0">
                  <a:latin typeface="微软雅黑" panose="020B0503020204020204" pitchFamily="34" charset="-122"/>
                  <a:ea typeface="微软雅黑" panose="020B0503020204020204" pitchFamily="34" charset="-122"/>
                </a:rPr>
                <a:t>智慧运维</a:t>
              </a:r>
              <a:endParaRPr kumimoji="1" lang="en-US" altLang="zh-CN" sz="900" b="1" dirty="0">
                <a:latin typeface="微软雅黑" panose="020B0503020204020204" pitchFamily="34" charset="-122"/>
                <a:ea typeface="微软雅黑" panose="020B0503020204020204" pitchFamily="34" charset="-122"/>
              </a:endParaRPr>
            </a:p>
            <a:p>
              <a:pPr marL="214313" indent="-214313">
                <a:buFont typeface="Wingdings" pitchFamily="2" charset="2"/>
                <a:buChar char="ü"/>
              </a:pPr>
              <a:r>
                <a:rPr kumimoji="1" lang="zh-CN" altLang="en-US" sz="900" dirty="0">
                  <a:latin typeface="微软雅黑" panose="020B0503020204020204" pitchFamily="34" charset="-122"/>
                  <a:ea typeface="微软雅黑" panose="020B0503020204020204" pitchFamily="34" charset="-122"/>
                </a:rPr>
                <a:t>实时问答</a:t>
              </a:r>
              <a:endParaRPr kumimoji="1" lang="en-US" altLang="zh-CN" sz="900" dirty="0">
                <a:latin typeface="微软雅黑" panose="020B0503020204020204" pitchFamily="34" charset="-122"/>
                <a:ea typeface="微软雅黑" panose="020B0503020204020204" pitchFamily="34" charset="-122"/>
              </a:endParaRPr>
            </a:p>
            <a:p>
              <a:pPr marL="214313" indent="-214313">
                <a:buFont typeface="Wingdings" pitchFamily="2" charset="2"/>
                <a:buChar char="ü"/>
              </a:pPr>
              <a:r>
                <a:rPr kumimoji="1" lang="zh-CN" altLang="en-US" sz="900" dirty="0">
                  <a:latin typeface="微软雅黑" panose="020B0503020204020204" pitchFamily="34" charset="-122"/>
                  <a:ea typeface="微软雅黑" panose="020B0503020204020204" pitchFamily="34" charset="-122"/>
                </a:rPr>
                <a:t>专业知识</a:t>
              </a:r>
              <a:endParaRPr kumimoji="1" lang="en-US" altLang="zh-CN" sz="900" dirty="0">
                <a:latin typeface="微软雅黑" panose="020B0503020204020204" pitchFamily="34" charset="-122"/>
                <a:ea typeface="微软雅黑" panose="020B0503020204020204" pitchFamily="34" charset="-122"/>
              </a:endParaRPr>
            </a:p>
            <a:p>
              <a:pPr marL="214313" indent="-214313">
                <a:buFont typeface="Wingdings" pitchFamily="2" charset="2"/>
                <a:buChar char="ü"/>
              </a:pPr>
              <a:r>
                <a:rPr kumimoji="1" lang="zh-CN" altLang="en-US" sz="900" dirty="0">
                  <a:latin typeface="微软雅黑" panose="020B0503020204020204" pitchFamily="34" charset="-122"/>
                  <a:ea typeface="微软雅黑" panose="020B0503020204020204" pitchFamily="34" charset="-122"/>
                </a:rPr>
                <a:t>动态更新</a:t>
              </a:r>
              <a:endParaRPr kumimoji="1" lang="en-US" altLang="zh-CN" sz="900" dirty="0">
                <a:latin typeface="微软雅黑" panose="020B0503020204020204" pitchFamily="34" charset="-122"/>
                <a:ea typeface="微软雅黑" panose="020B0503020204020204" pitchFamily="34" charset="-122"/>
              </a:endParaRPr>
            </a:p>
          </p:txBody>
        </p:sp>
        <p:sp>
          <p:nvSpPr>
            <p:cNvPr id="68" name="加号 67">
              <a:extLst>
                <a:ext uri="{FF2B5EF4-FFF2-40B4-BE49-F238E27FC236}">
                  <a16:creationId xmlns:a16="http://schemas.microsoft.com/office/drawing/2014/main" id="{84E641AC-1074-4E4F-A604-58814FE73B8D}"/>
                </a:ext>
              </a:extLst>
            </p:cNvPr>
            <p:cNvSpPr/>
            <p:nvPr/>
          </p:nvSpPr>
          <p:spPr>
            <a:xfrm>
              <a:off x="9372370" y="1411998"/>
              <a:ext cx="782953" cy="716422"/>
            </a:xfrm>
            <a:prstGeom prst="mathPlus">
              <a:avLst/>
            </a:prstGeom>
            <a:solidFill>
              <a:srgbClr val="9B49B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sz="900"/>
            </a:p>
          </p:txBody>
        </p:sp>
        <p:sp>
          <p:nvSpPr>
            <p:cNvPr id="69" name="圆角矩形 30">
              <a:extLst>
                <a:ext uri="{FF2B5EF4-FFF2-40B4-BE49-F238E27FC236}">
                  <a16:creationId xmlns:a16="http://schemas.microsoft.com/office/drawing/2014/main" id="{ED8D7CFC-5032-4C0E-A604-92766B69C4FD}"/>
                </a:ext>
              </a:extLst>
            </p:cNvPr>
            <p:cNvSpPr/>
            <p:nvPr/>
          </p:nvSpPr>
          <p:spPr>
            <a:xfrm>
              <a:off x="3027353" y="664504"/>
              <a:ext cx="8960980" cy="2919712"/>
            </a:xfrm>
            <a:prstGeom prst="roundRect">
              <a:avLst>
                <a:gd name="adj" fmla="val 9636"/>
              </a:avLst>
            </a:prstGeom>
            <a:noFill/>
            <a:ln w="25400">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sz="900"/>
            </a:p>
          </p:txBody>
        </p:sp>
        <p:sp>
          <p:nvSpPr>
            <p:cNvPr id="70" name="圆角矩形 1">
              <a:extLst>
                <a:ext uri="{FF2B5EF4-FFF2-40B4-BE49-F238E27FC236}">
                  <a16:creationId xmlns:a16="http://schemas.microsoft.com/office/drawing/2014/main" id="{3F4C5C5A-B3A2-4B1E-9075-C47B1D4E78DB}"/>
                </a:ext>
              </a:extLst>
            </p:cNvPr>
            <p:cNvSpPr/>
            <p:nvPr/>
          </p:nvSpPr>
          <p:spPr>
            <a:xfrm>
              <a:off x="3416420" y="2564291"/>
              <a:ext cx="3094614" cy="864709"/>
            </a:xfrm>
            <a:prstGeom prst="roundRect">
              <a:avLst/>
            </a:prstGeom>
            <a:solidFill>
              <a:schemeClr val="bg1"/>
            </a:solidFill>
            <a:ln>
              <a:solidFill>
                <a:schemeClr val="bg1">
                  <a:lumMod val="6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sz="900" dirty="0"/>
            </a:p>
          </p:txBody>
        </p:sp>
        <p:sp>
          <p:nvSpPr>
            <p:cNvPr id="71" name="文本框 70">
              <a:extLst>
                <a:ext uri="{FF2B5EF4-FFF2-40B4-BE49-F238E27FC236}">
                  <a16:creationId xmlns:a16="http://schemas.microsoft.com/office/drawing/2014/main" id="{21DCE7F5-9DD0-4513-980C-DE1E26FDD82F}"/>
                </a:ext>
              </a:extLst>
            </p:cNvPr>
            <p:cNvSpPr txBox="1"/>
            <p:nvPr/>
          </p:nvSpPr>
          <p:spPr>
            <a:xfrm>
              <a:off x="3496903" y="2587646"/>
              <a:ext cx="2232116" cy="914516"/>
            </a:xfrm>
            <a:prstGeom prst="rect">
              <a:avLst/>
            </a:prstGeom>
            <a:noFill/>
          </p:spPr>
          <p:txBody>
            <a:bodyPr wrap="square" rtlCol="0">
              <a:spAutoFit/>
            </a:bodyPr>
            <a:lstStyle/>
            <a:p>
              <a:r>
                <a:rPr kumimoji="1" lang="zh-CN" altLang="en-US" sz="900" b="1" dirty="0">
                  <a:latin typeface="微软雅黑" panose="020B0503020204020204" pitchFamily="34" charset="-122"/>
                  <a:ea typeface="微软雅黑" panose="020B0503020204020204" pitchFamily="34" charset="-122"/>
                </a:rPr>
                <a:t>可视化展示</a:t>
              </a:r>
              <a:endParaRPr kumimoji="1" lang="en-US" altLang="zh-CN" sz="900" b="1" dirty="0">
                <a:latin typeface="微软雅黑" panose="020B0503020204020204" pitchFamily="34" charset="-122"/>
                <a:ea typeface="微软雅黑" panose="020B0503020204020204" pitchFamily="34" charset="-122"/>
              </a:endParaRPr>
            </a:p>
            <a:p>
              <a:pPr marL="214313" indent="-214313">
                <a:buFont typeface="Wingdings" pitchFamily="2" charset="2"/>
                <a:buChar char="ü"/>
              </a:pPr>
              <a:r>
                <a:rPr kumimoji="1" lang="en-US" altLang="zh-CN" sz="900" dirty="0">
                  <a:latin typeface="微软雅黑" panose="020B0503020204020204" pitchFamily="34" charset="-122"/>
                  <a:ea typeface="微软雅黑" panose="020B0503020204020204" pitchFamily="34" charset="-122"/>
                </a:rPr>
                <a:t>3D BIM</a:t>
              </a:r>
              <a:r>
                <a:rPr kumimoji="1" lang="zh-CN" altLang="en-US" sz="900" dirty="0">
                  <a:latin typeface="微软雅黑" panose="020B0503020204020204" pitchFamily="34" charset="-122"/>
                  <a:ea typeface="微软雅黑" panose="020B0503020204020204" pitchFamily="34" charset="-122"/>
                </a:rPr>
                <a:t>展示</a:t>
              </a:r>
              <a:endParaRPr kumimoji="1" lang="en-US" altLang="zh-CN" sz="900" dirty="0">
                <a:latin typeface="微软雅黑" panose="020B0503020204020204" pitchFamily="34" charset="-122"/>
                <a:ea typeface="微软雅黑" panose="020B0503020204020204" pitchFamily="34" charset="-122"/>
              </a:endParaRPr>
            </a:p>
            <a:p>
              <a:pPr marL="214313" indent="-214313">
                <a:buFont typeface="Wingdings" pitchFamily="2" charset="2"/>
                <a:buChar char="ü"/>
              </a:pPr>
              <a:r>
                <a:rPr kumimoji="1" lang="zh-CN" altLang="en-US" sz="900" dirty="0">
                  <a:latin typeface="微软雅黑" panose="020B0503020204020204" pitchFamily="34" charset="-122"/>
                  <a:ea typeface="微软雅黑" panose="020B0503020204020204" pitchFamily="34" charset="-122"/>
                </a:rPr>
                <a:t>多维度数据可视化</a:t>
              </a:r>
            </a:p>
          </p:txBody>
        </p:sp>
        <p:sp>
          <p:nvSpPr>
            <p:cNvPr id="72" name="圆角矩形 1">
              <a:extLst>
                <a:ext uri="{FF2B5EF4-FFF2-40B4-BE49-F238E27FC236}">
                  <a16:creationId xmlns:a16="http://schemas.microsoft.com/office/drawing/2014/main" id="{1FC65524-04A7-44EE-999C-A31CEC275B30}"/>
                </a:ext>
              </a:extLst>
            </p:cNvPr>
            <p:cNvSpPr/>
            <p:nvPr/>
          </p:nvSpPr>
          <p:spPr>
            <a:xfrm>
              <a:off x="7301054" y="2558269"/>
              <a:ext cx="2074013" cy="864709"/>
            </a:xfrm>
            <a:prstGeom prst="roundRect">
              <a:avLst/>
            </a:prstGeom>
            <a:solidFill>
              <a:schemeClr val="bg1"/>
            </a:solidFill>
            <a:ln>
              <a:solidFill>
                <a:schemeClr val="bg1">
                  <a:lumMod val="6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sz="900" dirty="0"/>
            </a:p>
          </p:txBody>
        </p:sp>
        <p:sp>
          <p:nvSpPr>
            <p:cNvPr id="73" name="文本框 72">
              <a:extLst>
                <a:ext uri="{FF2B5EF4-FFF2-40B4-BE49-F238E27FC236}">
                  <a16:creationId xmlns:a16="http://schemas.microsoft.com/office/drawing/2014/main" id="{9DE50906-343E-455F-9D72-4D6231C0D629}"/>
                </a:ext>
              </a:extLst>
            </p:cNvPr>
            <p:cNvSpPr txBox="1"/>
            <p:nvPr/>
          </p:nvSpPr>
          <p:spPr>
            <a:xfrm>
              <a:off x="7280550" y="2826724"/>
              <a:ext cx="2108033" cy="415689"/>
            </a:xfrm>
            <a:prstGeom prst="rect">
              <a:avLst/>
            </a:prstGeom>
            <a:noFill/>
          </p:spPr>
          <p:txBody>
            <a:bodyPr wrap="square" rtlCol="0">
              <a:spAutoFit/>
            </a:bodyPr>
            <a:lstStyle/>
            <a:p>
              <a:r>
                <a:rPr kumimoji="1" lang="zh-CN" altLang="en-US" sz="900" b="1" dirty="0">
                  <a:latin typeface="微软雅黑" panose="020B0503020204020204" pitchFamily="34" charset="-122"/>
                  <a:ea typeface="微软雅黑" panose="020B0503020204020204" pitchFamily="34" charset="-122"/>
                </a:rPr>
                <a:t>过程对象（即插即用）</a:t>
              </a:r>
              <a:endParaRPr kumimoji="1" lang="zh-CN" altLang="en-US" sz="900" dirty="0">
                <a:latin typeface="微软雅黑" panose="020B0503020204020204" pitchFamily="34" charset="-122"/>
                <a:ea typeface="微软雅黑" panose="020B0503020204020204" pitchFamily="34" charset="-122"/>
              </a:endParaRPr>
            </a:p>
          </p:txBody>
        </p:sp>
        <p:sp>
          <p:nvSpPr>
            <p:cNvPr id="74" name="圆角矩形 1">
              <a:extLst>
                <a:ext uri="{FF2B5EF4-FFF2-40B4-BE49-F238E27FC236}">
                  <a16:creationId xmlns:a16="http://schemas.microsoft.com/office/drawing/2014/main" id="{3A762E39-DDFB-410F-9BBF-73C056DACA61}"/>
                </a:ext>
              </a:extLst>
            </p:cNvPr>
            <p:cNvSpPr/>
            <p:nvPr/>
          </p:nvSpPr>
          <p:spPr>
            <a:xfrm>
              <a:off x="10125597" y="2543230"/>
              <a:ext cx="1472350" cy="864709"/>
            </a:xfrm>
            <a:prstGeom prst="roundRect">
              <a:avLst/>
            </a:prstGeom>
            <a:solidFill>
              <a:schemeClr val="bg1"/>
            </a:solidFill>
            <a:ln>
              <a:solidFill>
                <a:schemeClr val="bg1">
                  <a:lumMod val="6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sz="900" dirty="0"/>
            </a:p>
          </p:txBody>
        </p:sp>
        <p:sp>
          <p:nvSpPr>
            <p:cNvPr id="75" name="文本框 74">
              <a:extLst>
                <a:ext uri="{FF2B5EF4-FFF2-40B4-BE49-F238E27FC236}">
                  <a16:creationId xmlns:a16="http://schemas.microsoft.com/office/drawing/2014/main" id="{8F5EF5E3-6198-4705-A7E6-1A4662B12CC7}"/>
                </a:ext>
              </a:extLst>
            </p:cNvPr>
            <p:cNvSpPr txBox="1"/>
            <p:nvPr/>
          </p:nvSpPr>
          <p:spPr>
            <a:xfrm>
              <a:off x="10178603" y="2660731"/>
              <a:ext cx="1402139" cy="665103"/>
            </a:xfrm>
            <a:prstGeom prst="rect">
              <a:avLst/>
            </a:prstGeom>
            <a:noFill/>
          </p:spPr>
          <p:txBody>
            <a:bodyPr wrap="square" rtlCol="0">
              <a:spAutoFit/>
            </a:bodyPr>
            <a:lstStyle/>
            <a:p>
              <a:r>
                <a:rPr kumimoji="1" lang="zh-CN" altLang="en-US" sz="900" b="1" dirty="0">
                  <a:latin typeface="微软雅黑" panose="020B0503020204020204" pitchFamily="34" charset="-122"/>
                  <a:ea typeface="微软雅黑" panose="020B0503020204020204" pitchFamily="34" charset="-122"/>
                </a:rPr>
                <a:t>从</a:t>
              </a:r>
              <a:r>
                <a:rPr kumimoji="1" lang="zh-CN" altLang="en-US" sz="900" b="1" dirty="0">
                  <a:solidFill>
                    <a:srgbClr val="8A3BC5"/>
                  </a:solidFill>
                  <a:latin typeface="微软雅黑" panose="020B0503020204020204" pitchFamily="34" charset="-122"/>
                  <a:ea typeface="微软雅黑" panose="020B0503020204020204" pitchFamily="34" charset="-122"/>
                </a:rPr>
                <a:t>自动化</a:t>
              </a:r>
              <a:r>
                <a:rPr kumimoji="1" lang="zh-CN" altLang="en-US" sz="900" b="1" dirty="0">
                  <a:latin typeface="微软雅黑" panose="020B0503020204020204" pitchFamily="34" charset="-122"/>
                  <a:ea typeface="微软雅黑" panose="020B0503020204020204" pitchFamily="34" charset="-122"/>
                </a:rPr>
                <a:t>到</a:t>
              </a:r>
              <a:r>
                <a:rPr kumimoji="1" lang="zh-CN" altLang="en-US" sz="900" b="1" dirty="0">
                  <a:solidFill>
                    <a:srgbClr val="8A3BC5"/>
                  </a:solidFill>
                  <a:latin typeface="微软雅黑" panose="020B0503020204020204" pitchFamily="34" charset="-122"/>
                  <a:ea typeface="微软雅黑" panose="020B0503020204020204" pitchFamily="34" charset="-122"/>
                </a:rPr>
                <a:t>智能化</a:t>
              </a:r>
              <a:r>
                <a:rPr kumimoji="1" lang="zh-CN" altLang="en-US" sz="900" b="1" dirty="0">
                  <a:latin typeface="微软雅黑" panose="020B0503020204020204" pitchFamily="34" charset="-122"/>
                  <a:ea typeface="微软雅黑" panose="020B0503020204020204" pitchFamily="34" charset="-122"/>
                </a:rPr>
                <a:t>转型</a:t>
              </a:r>
              <a:endParaRPr kumimoji="1" lang="en-US" altLang="zh-CN" sz="900" dirty="0">
                <a:latin typeface="微软雅黑" panose="020B0503020204020204" pitchFamily="34" charset="-122"/>
                <a:ea typeface="微软雅黑" panose="020B0503020204020204" pitchFamily="34" charset="-122"/>
              </a:endParaRPr>
            </a:p>
          </p:txBody>
        </p:sp>
      </p:grpSp>
    </p:spTree>
    <p:extLst>
      <p:ext uri="{BB962C8B-B14F-4D97-AF65-F5344CB8AC3E}">
        <p14:creationId xmlns:p14="http://schemas.microsoft.com/office/powerpoint/2010/main" val="100145096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rot="21600000">
            <a:off x="5114" y="848284"/>
            <a:ext cx="9144000" cy="5143500"/>
          </a:xfrm>
          <a:prstGeom prst="rect">
            <a:avLst/>
          </a:prstGeom>
        </p:spPr>
      </p:pic>
      <p:sp>
        <p:nvSpPr>
          <p:cNvPr id="4" name="textbox 4"/>
          <p:cNvSpPr/>
          <p:nvPr/>
        </p:nvSpPr>
        <p:spPr>
          <a:xfrm>
            <a:off x="8915384" y="5814290"/>
            <a:ext cx="64770" cy="123825"/>
          </a:xfrm>
          <a:prstGeom prst="rect">
            <a:avLst/>
          </a:prstGeom>
          <a:noFill/>
          <a:ln w="0" cap="flat">
            <a:noFill/>
            <a:prstDash val="solid"/>
            <a:miter lim="0"/>
          </a:ln>
        </p:spPr>
        <p:txBody>
          <a:bodyPr vert="horz" wrap="square" lIns="0" tIns="0" rIns="0" bIns="0"/>
          <a:lstStyle/>
          <a:p>
            <a:pPr algn="l" rtl="0" eaLnBrk="0">
              <a:lnSpc>
                <a:spcPct val="87992"/>
              </a:lnSpc>
              <a:tabLst/>
            </a:pPr>
            <a:endParaRPr sz="100" dirty="0">
              <a:latin typeface="Arial"/>
              <a:ea typeface="Arial"/>
              <a:cs typeface="Arial"/>
            </a:endParaRPr>
          </a:p>
          <a:p>
            <a:pPr algn="r" rtl="0" eaLnBrk="0">
              <a:lnSpc>
                <a:spcPct val="91000"/>
              </a:lnSpc>
              <a:tabLst/>
            </a:pPr>
            <a:r>
              <a:rPr sz="750" kern="0" spc="-30" dirty="0">
                <a:solidFill>
                  <a:srgbClr val="505060">
                    <a:alpha val="100000"/>
                  </a:srgbClr>
                </a:solidFill>
                <a:latin typeface="Times New Roman"/>
                <a:ea typeface="Times New Roman"/>
                <a:cs typeface="Times New Roman"/>
              </a:rPr>
              <a:t>1</a:t>
            </a:r>
            <a:endParaRPr sz="750" dirty="0">
              <a:latin typeface="Times New Roman"/>
              <a:ea typeface="Times New Roman"/>
              <a:cs typeface="Times New Roman"/>
            </a:endParaRPr>
          </a:p>
        </p:txBody>
      </p:sp>
      <p:sp>
        <p:nvSpPr>
          <p:cNvPr id="22" name="文本框 21">
            <a:extLst>
              <a:ext uri="{FF2B5EF4-FFF2-40B4-BE49-F238E27FC236}">
                <a16:creationId xmlns:a16="http://schemas.microsoft.com/office/drawing/2014/main" id="{766ED427-0D0C-426C-AA35-7E10E83FBA1C}"/>
              </a:ext>
            </a:extLst>
          </p:cNvPr>
          <p:cNvSpPr txBox="1"/>
          <p:nvPr/>
        </p:nvSpPr>
        <p:spPr>
          <a:xfrm>
            <a:off x="-351228" y="2295442"/>
            <a:ext cx="9476117" cy="3748398"/>
          </a:xfrm>
          <a:prstGeom prst="rect">
            <a:avLst/>
          </a:prstGeom>
          <a:noFill/>
        </p:spPr>
        <p:txBody>
          <a:bodyPr wrap="square">
            <a:spAutoFit/>
          </a:bodyPr>
          <a:lstStyle/>
          <a:p>
            <a:pPr lvl="1" algn="just">
              <a:lnSpc>
                <a:spcPct val="150000"/>
              </a:lnSpc>
            </a:pPr>
            <a:r>
              <a:rPr lang="en-US" altLang="zh-CN" sz="1350" b="1" kern="100" dirty="0">
                <a:solidFill>
                  <a:schemeClr val="accent1"/>
                </a:solidFill>
                <a:latin typeface="微软雅黑" panose="020B0503020204020204" pitchFamily="34" charset="-122"/>
                <a:ea typeface="微软雅黑" panose="020B0503020204020204" pitchFamily="34" charset="-122"/>
                <a:cs typeface="Times New Roman" panose="02020603050405020304" pitchFamily="18" charset="0"/>
              </a:rPr>
              <a:t>1</a:t>
            </a:r>
            <a:r>
              <a:rPr lang="zh-CN" altLang="en-US" sz="1350" b="1" kern="100" dirty="0">
                <a:solidFill>
                  <a:schemeClr val="accent1"/>
                </a:solidFill>
                <a:latin typeface="微软雅黑" panose="020B0503020204020204" pitchFamily="34" charset="-122"/>
                <a:ea typeface="微软雅黑" panose="020B0503020204020204" pitchFamily="34" charset="-122"/>
                <a:cs typeface="Times New Roman" panose="02020603050405020304" pitchFamily="18" charset="0"/>
              </a:rPr>
              <a:t>、背景：</a:t>
            </a:r>
            <a:r>
              <a:rPr lang="zh-CN" altLang="en-US" sz="1350" b="1" kern="100" dirty="0">
                <a:solidFill>
                  <a:srgbClr val="004C85"/>
                </a:solidFill>
                <a:latin typeface="微软雅黑" panose="020B0503020204020204" pitchFamily="34" charset="-122"/>
                <a:ea typeface="微软雅黑" panose="020B0503020204020204" pitchFamily="34" charset="-122"/>
                <a:cs typeface="Times New Roman" panose="02020603050405020304" pitchFamily="18" charset="0"/>
              </a:rPr>
              <a:t>两个热点（人工智能与电力电子 ）的结合，</a:t>
            </a:r>
            <a:r>
              <a:rPr lang="zh-CN" altLang="en-US" sz="1350" b="1" kern="1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是国际的研究前沿。</a:t>
            </a:r>
            <a:endParaRPr lang="en-US" altLang="zh-CN" sz="1350" b="1" kern="1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endParaRPr>
          </a:p>
          <a:p>
            <a:pPr lvl="1" algn="just">
              <a:lnSpc>
                <a:spcPct val="150000"/>
              </a:lnSpc>
            </a:pPr>
            <a:r>
              <a:rPr lang="en-US" altLang="zh-CN" sz="1350" b="1" kern="100" dirty="0">
                <a:solidFill>
                  <a:schemeClr val="accent1"/>
                </a:solidFill>
                <a:latin typeface="微软雅黑" panose="020B0503020204020204" pitchFamily="34" charset="-122"/>
                <a:ea typeface="微软雅黑" panose="020B0503020204020204" pitchFamily="34" charset="-122"/>
                <a:cs typeface="Times New Roman" panose="02020603050405020304" pitchFamily="18" charset="0"/>
              </a:rPr>
              <a:t>2</a:t>
            </a:r>
            <a:r>
              <a:rPr lang="zh-CN" altLang="en-US" sz="1350" b="1" kern="100" dirty="0">
                <a:solidFill>
                  <a:schemeClr val="accent1"/>
                </a:solidFill>
                <a:latin typeface="微软雅黑" panose="020B0503020204020204" pitchFamily="34" charset="-122"/>
                <a:ea typeface="微软雅黑" panose="020B0503020204020204" pitchFamily="34" charset="-122"/>
                <a:cs typeface="Times New Roman" panose="02020603050405020304" pitchFamily="18" charset="0"/>
              </a:rPr>
              <a:t>、研究的关键技术：</a:t>
            </a:r>
            <a:r>
              <a:rPr lang="en-US" altLang="zh-CN" sz="1350" b="1" kern="100" dirty="0">
                <a:solidFill>
                  <a:srgbClr val="004C85"/>
                </a:solidFill>
                <a:latin typeface="微软雅黑" panose="020B0503020204020204" pitchFamily="34" charset="-122"/>
                <a:ea typeface="微软雅黑" panose="020B0503020204020204" pitchFamily="34" charset="-122"/>
                <a:cs typeface="Times New Roman" panose="02020603050405020304" pitchFamily="18" charset="0"/>
              </a:rPr>
              <a:t>1</a:t>
            </a:r>
            <a:r>
              <a:rPr lang="zh-CN" altLang="en-US" sz="1350" b="1" kern="100" dirty="0">
                <a:solidFill>
                  <a:srgbClr val="004C85"/>
                </a:solidFill>
                <a:latin typeface="微软雅黑" panose="020B0503020204020204" pitchFamily="34" charset="-122"/>
                <a:ea typeface="微软雅黑" panose="020B0503020204020204" pitchFamily="34" charset="-122"/>
                <a:cs typeface="Times New Roman" panose="02020603050405020304" pitchFamily="18" charset="0"/>
              </a:rPr>
              <a:t>）基于人工智能的电力电子系统建模、设计与优化；</a:t>
            </a:r>
            <a:r>
              <a:rPr lang="en-US" altLang="zh-CN" sz="1350" b="1" kern="100" dirty="0">
                <a:solidFill>
                  <a:srgbClr val="004C85"/>
                </a:solidFill>
                <a:latin typeface="微软雅黑" panose="020B0503020204020204" pitchFamily="34" charset="-122"/>
                <a:ea typeface="微软雅黑" panose="020B0503020204020204" pitchFamily="34" charset="-122"/>
                <a:cs typeface="Times New Roman" panose="02020603050405020304" pitchFamily="18" charset="0"/>
              </a:rPr>
              <a:t>2</a:t>
            </a:r>
            <a:r>
              <a:rPr lang="zh-CN" altLang="en-US" sz="1350" b="1" kern="100" dirty="0">
                <a:solidFill>
                  <a:srgbClr val="004C85"/>
                </a:solidFill>
                <a:latin typeface="微软雅黑" panose="020B0503020204020204" pitchFamily="34" charset="-122"/>
                <a:ea typeface="微软雅黑" panose="020B0503020204020204" pitchFamily="34" charset="-122"/>
                <a:cs typeface="Times New Roman" panose="02020603050405020304" pitchFamily="18" charset="0"/>
              </a:rPr>
              <a:t>）在线数据清洗与软测量；</a:t>
            </a:r>
            <a:r>
              <a:rPr lang="en-US" altLang="zh-CN" sz="1350" b="1" kern="100" dirty="0">
                <a:solidFill>
                  <a:srgbClr val="004C85"/>
                </a:solidFill>
                <a:latin typeface="微软雅黑" panose="020B0503020204020204" pitchFamily="34" charset="-122"/>
                <a:ea typeface="微软雅黑" panose="020B0503020204020204" pitchFamily="34" charset="-122"/>
                <a:cs typeface="Times New Roman" panose="02020603050405020304" pitchFamily="18" charset="0"/>
              </a:rPr>
              <a:t>3</a:t>
            </a:r>
            <a:r>
              <a:rPr lang="zh-CN" altLang="en-US" sz="1350" b="1" kern="100" dirty="0">
                <a:solidFill>
                  <a:srgbClr val="004C85"/>
                </a:solidFill>
                <a:latin typeface="微软雅黑" panose="020B0503020204020204" pitchFamily="34" charset="-122"/>
                <a:ea typeface="微软雅黑" panose="020B0503020204020204" pitchFamily="34" charset="-122"/>
                <a:cs typeface="Times New Roman" panose="02020603050405020304" pitchFamily="18" charset="0"/>
              </a:rPr>
              <a:t>）基于人工智能的硬件在环以及数字孪生相融合的仿真技术；</a:t>
            </a:r>
            <a:r>
              <a:rPr lang="en-US" altLang="zh-CN" sz="1350" b="1" kern="100" dirty="0">
                <a:solidFill>
                  <a:srgbClr val="004C85"/>
                </a:solidFill>
                <a:latin typeface="微软雅黑" panose="020B0503020204020204" pitchFamily="34" charset="-122"/>
                <a:ea typeface="微软雅黑" panose="020B0503020204020204" pitchFamily="34" charset="-122"/>
                <a:cs typeface="Times New Roman" panose="02020603050405020304" pitchFamily="18" charset="0"/>
              </a:rPr>
              <a:t>4</a:t>
            </a:r>
            <a:r>
              <a:rPr lang="zh-CN" altLang="en-US" sz="1350" b="1" kern="100" dirty="0">
                <a:solidFill>
                  <a:srgbClr val="004C85"/>
                </a:solidFill>
                <a:latin typeface="微软雅黑" panose="020B0503020204020204" pitchFamily="34" charset="-122"/>
                <a:ea typeface="微软雅黑" panose="020B0503020204020204" pitchFamily="34" charset="-122"/>
                <a:cs typeface="Times New Roman" panose="02020603050405020304" pitchFamily="18" charset="0"/>
              </a:rPr>
              <a:t>）数据驱动的故障诊断、健康状态监测与寿命预测；</a:t>
            </a:r>
            <a:r>
              <a:rPr lang="en-US" altLang="zh-CN" sz="1350" b="1" kern="100" dirty="0">
                <a:solidFill>
                  <a:srgbClr val="004C85"/>
                </a:solidFill>
                <a:latin typeface="微软雅黑" panose="020B0503020204020204" pitchFamily="34" charset="-122"/>
                <a:ea typeface="微软雅黑" panose="020B0503020204020204" pitchFamily="34" charset="-122"/>
                <a:cs typeface="Times New Roman" panose="02020603050405020304" pitchFamily="18" charset="0"/>
              </a:rPr>
              <a:t>5</a:t>
            </a:r>
            <a:r>
              <a:rPr lang="zh-CN" altLang="en-US" sz="1350" b="1" kern="100" dirty="0">
                <a:solidFill>
                  <a:srgbClr val="004C85"/>
                </a:solidFill>
                <a:latin typeface="微软雅黑" panose="020B0503020204020204" pitchFamily="34" charset="-122"/>
                <a:ea typeface="微软雅黑" panose="020B0503020204020204" pitchFamily="34" charset="-122"/>
                <a:cs typeface="Times New Roman" panose="02020603050405020304" pitchFamily="18" charset="0"/>
              </a:rPr>
              <a:t>）人工智能技术支撑的系统稳定性分析、数据与算法轻量化；</a:t>
            </a:r>
            <a:r>
              <a:rPr lang="en-US" altLang="zh-CN" sz="1350" b="1" kern="100" dirty="0">
                <a:solidFill>
                  <a:srgbClr val="004C85"/>
                </a:solidFill>
                <a:latin typeface="微软雅黑" panose="020B0503020204020204" pitchFamily="34" charset="-122"/>
                <a:ea typeface="微软雅黑" panose="020B0503020204020204" pitchFamily="34" charset="-122"/>
                <a:cs typeface="Times New Roman" panose="02020603050405020304" pitchFamily="18" charset="0"/>
              </a:rPr>
              <a:t>6</a:t>
            </a:r>
            <a:r>
              <a:rPr lang="zh-CN" altLang="en-US" sz="1350" b="1" kern="100" dirty="0">
                <a:solidFill>
                  <a:srgbClr val="004C85"/>
                </a:solidFill>
                <a:latin typeface="微软雅黑" panose="020B0503020204020204" pitchFamily="34" charset="-122"/>
                <a:ea typeface="微软雅黑" panose="020B0503020204020204" pitchFamily="34" charset="-122"/>
                <a:cs typeface="Times New Roman" panose="02020603050405020304" pitchFamily="18" charset="0"/>
              </a:rPr>
              <a:t>）电力电子数字孪生系统中的大语言模型垂直应用。</a:t>
            </a:r>
            <a:endParaRPr lang="en-US" altLang="zh-CN" sz="1350" b="1" kern="100" dirty="0">
              <a:solidFill>
                <a:srgbClr val="004C85"/>
              </a:solidFill>
              <a:latin typeface="微软雅黑" panose="020B0503020204020204" pitchFamily="34" charset="-122"/>
              <a:ea typeface="微软雅黑" panose="020B0503020204020204" pitchFamily="34" charset="-122"/>
              <a:cs typeface="Times New Roman" panose="02020603050405020304" pitchFamily="18" charset="0"/>
            </a:endParaRPr>
          </a:p>
          <a:p>
            <a:pPr lvl="1" algn="just">
              <a:lnSpc>
                <a:spcPct val="150000"/>
              </a:lnSpc>
            </a:pPr>
            <a:r>
              <a:rPr lang="en-US" altLang="zh-CN" sz="1350" b="1" kern="100" dirty="0">
                <a:solidFill>
                  <a:schemeClr val="accent1"/>
                </a:solidFill>
                <a:latin typeface="微软雅黑" panose="020B0503020204020204" pitchFamily="34" charset="-122"/>
                <a:ea typeface="微软雅黑" panose="020B0503020204020204" pitchFamily="34" charset="-122"/>
                <a:cs typeface="Times New Roman" panose="02020603050405020304" pitchFamily="18" charset="0"/>
              </a:rPr>
              <a:t>3</a:t>
            </a:r>
            <a:r>
              <a:rPr lang="zh-CN" altLang="en-US" sz="1350" b="1" kern="100" dirty="0">
                <a:solidFill>
                  <a:schemeClr val="accent1"/>
                </a:solidFill>
                <a:latin typeface="微软雅黑" panose="020B0503020204020204" pitchFamily="34" charset="-122"/>
                <a:ea typeface="微软雅黑" panose="020B0503020204020204" pitchFamily="34" charset="-122"/>
                <a:cs typeface="Times New Roman" panose="02020603050405020304" pitchFamily="18" charset="0"/>
              </a:rPr>
              <a:t>、应用场景：</a:t>
            </a:r>
            <a:r>
              <a:rPr lang="zh-CN" altLang="en-US" sz="1350" b="1" kern="100" dirty="0">
                <a:solidFill>
                  <a:srgbClr val="004C85"/>
                </a:solidFill>
                <a:latin typeface="微软雅黑" panose="020B0503020204020204" pitchFamily="34" charset="-122"/>
                <a:ea typeface="微软雅黑" panose="020B0503020204020204" pitchFamily="34" charset="-122"/>
                <a:cs typeface="Times New Roman" panose="02020603050405020304" pitchFamily="18" charset="0"/>
              </a:rPr>
              <a:t>开辟人工智能与电力电子交叉融合的新路径，</a:t>
            </a:r>
            <a:r>
              <a:rPr lang="zh-CN" altLang="en-US" sz="1350" b="1" kern="100" dirty="0">
                <a:solidFill>
                  <a:srgbClr val="A66BD3"/>
                </a:solidFill>
                <a:latin typeface="微软雅黑" panose="020B0503020204020204" pitchFamily="34" charset="-122"/>
                <a:ea typeface="微软雅黑" panose="020B0503020204020204" pitchFamily="34" charset="-122"/>
                <a:cs typeface="Times New Roman" panose="02020603050405020304" pitchFamily="18" charset="0"/>
              </a:rPr>
              <a:t>推动电力电子走向“自学习、自诊断、自优化”智能化。</a:t>
            </a:r>
          </a:p>
          <a:p>
            <a:pPr lvl="1" algn="just">
              <a:lnSpc>
                <a:spcPct val="150000"/>
              </a:lnSpc>
            </a:pPr>
            <a:r>
              <a:rPr lang="en-US" altLang="zh-CN" sz="1350" b="1" kern="100" dirty="0">
                <a:solidFill>
                  <a:schemeClr val="accent1"/>
                </a:solidFill>
                <a:latin typeface="微软雅黑" panose="020B0503020204020204" pitchFamily="34" charset="-122"/>
                <a:ea typeface="微软雅黑" panose="020B0503020204020204" pitchFamily="34" charset="-122"/>
                <a:cs typeface="Times New Roman" panose="02020603050405020304" pitchFamily="18" charset="0"/>
              </a:rPr>
              <a:t>4</a:t>
            </a:r>
            <a:r>
              <a:rPr lang="zh-CN" altLang="en-US" sz="1350" b="1" kern="100" dirty="0">
                <a:solidFill>
                  <a:schemeClr val="accent1"/>
                </a:solidFill>
                <a:latin typeface="微软雅黑" panose="020B0503020204020204" pitchFamily="34" charset="-122"/>
                <a:ea typeface="微软雅黑" panose="020B0503020204020204" pitchFamily="34" charset="-122"/>
                <a:cs typeface="Times New Roman" panose="02020603050405020304" pitchFamily="18" charset="0"/>
              </a:rPr>
              <a:t>、已取得的成果：</a:t>
            </a:r>
            <a:r>
              <a:rPr lang="zh-CN" altLang="en-US" sz="1350" b="1" kern="100" dirty="0">
                <a:solidFill>
                  <a:srgbClr val="004C85"/>
                </a:solidFill>
                <a:latin typeface="微软雅黑" panose="020B0503020204020204" pitchFamily="34" charset="-122"/>
                <a:ea typeface="微软雅黑" panose="020B0503020204020204" pitchFamily="34" charset="-122"/>
                <a:cs typeface="Times New Roman" panose="02020603050405020304" pitchFamily="18" charset="0"/>
              </a:rPr>
              <a:t>已经进行相应的布局，并</a:t>
            </a:r>
            <a:r>
              <a:rPr lang="zh-CN" altLang="en-US" sz="1350" b="1" kern="100" dirty="0">
                <a:solidFill>
                  <a:srgbClr val="A66BD3"/>
                </a:solidFill>
                <a:latin typeface="微软雅黑" panose="020B0503020204020204" pitchFamily="34" charset="-122"/>
                <a:ea typeface="微软雅黑" panose="020B0503020204020204" pitchFamily="34" charset="-122"/>
                <a:cs typeface="Times New Roman" panose="02020603050405020304" pitchFamily="18" charset="0"/>
              </a:rPr>
              <a:t>取得初步的成果。    </a:t>
            </a:r>
            <a:r>
              <a:rPr lang="zh-CN" altLang="en-US" sz="1350" b="1" kern="1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为什么难？</a:t>
            </a:r>
            <a:endParaRPr lang="en-US" altLang="zh-CN" sz="1350" b="1" kern="1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endParaRPr>
          </a:p>
          <a:p>
            <a:pPr lvl="1" algn="just">
              <a:lnSpc>
                <a:spcPct val="150000"/>
              </a:lnSpc>
            </a:pPr>
            <a:r>
              <a:rPr lang="en-US" altLang="zh-CN" sz="1350" b="1" kern="100" dirty="0">
                <a:solidFill>
                  <a:schemeClr val="accent1"/>
                </a:solidFill>
                <a:latin typeface="微软雅黑" panose="020B0503020204020204" pitchFamily="34" charset="-122"/>
                <a:ea typeface="微软雅黑" panose="020B0503020204020204" pitchFamily="34" charset="-122"/>
                <a:cs typeface="Times New Roman" panose="02020603050405020304" pitchFamily="18" charset="0"/>
              </a:rPr>
              <a:t>5</a:t>
            </a:r>
            <a:r>
              <a:rPr lang="zh-CN" altLang="en-US" sz="1350" b="1" kern="100" dirty="0">
                <a:solidFill>
                  <a:schemeClr val="accent1"/>
                </a:solidFill>
                <a:latin typeface="微软雅黑" panose="020B0503020204020204" pitchFamily="34" charset="-122"/>
                <a:ea typeface="微软雅黑" panose="020B0503020204020204" pitchFamily="34" charset="-122"/>
                <a:cs typeface="Times New Roman" panose="02020603050405020304" pitchFamily="18" charset="0"/>
              </a:rPr>
              <a:t>、项目的优势：</a:t>
            </a:r>
            <a:r>
              <a:rPr lang="zh-CN" altLang="en-US" sz="1350" b="1" kern="100" dirty="0">
                <a:solidFill>
                  <a:srgbClr val="004C85"/>
                </a:solidFill>
                <a:latin typeface="微软雅黑" panose="020B0503020204020204" pitchFamily="34" charset="-122"/>
                <a:ea typeface="微软雅黑" panose="020B0503020204020204" pitchFamily="34" charset="-122"/>
                <a:cs typeface="Times New Roman" panose="02020603050405020304" pitchFamily="18" charset="0"/>
              </a:rPr>
              <a:t>可以提供</a:t>
            </a:r>
            <a:r>
              <a:rPr lang="zh-CN" altLang="en-US" sz="1350" b="1" kern="1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海量的数据（传感器数据、控制过程中间数据等），</a:t>
            </a:r>
            <a:r>
              <a:rPr lang="zh-CN" altLang="en-US" sz="1350" b="1" kern="100" dirty="0">
                <a:latin typeface="微软雅黑" panose="020B0503020204020204" pitchFamily="34" charset="-122"/>
                <a:ea typeface="微软雅黑" panose="020B0503020204020204" pitchFamily="34" charset="-122"/>
                <a:cs typeface="Times New Roman" panose="02020603050405020304" pitchFamily="18" charset="0"/>
              </a:rPr>
              <a:t>为人工智能算法和大语言模型的垂直应用提供支撑。</a:t>
            </a:r>
            <a:r>
              <a:rPr lang="zh-CN" altLang="en-US" sz="1350" b="1" kern="100" dirty="0">
                <a:solidFill>
                  <a:srgbClr val="004C85"/>
                </a:solidFill>
                <a:latin typeface="微软雅黑" panose="020B0503020204020204" pitchFamily="34" charset="-122"/>
                <a:ea typeface="微软雅黑" panose="020B0503020204020204" pitchFamily="34" charset="-122"/>
                <a:cs typeface="Times New Roman" panose="02020603050405020304" pitchFamily="18" charset="0"/>
              </a:rPr>
              <a:t>电力电子装备的设计、建模与优化、故障定位、状态预测等均可与人工智能</a:t>
            </a:r>
            <a:r>
              <a:rPr lang="zh-CN" altLang="en-US" sz="1350" b="1" kern="100"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强结合。应用场合极广！</a:t>
            </a:r>
            <a:endParaRPr lang="en-US" altLang="zh-CN" sz="1350" b="1" kern="100"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endParaRPr>
          </a:p>
          <a:p>
            <a:pPr lvl="1" algn="just">
              <a:lnSpc>
                <a:spcPct val="150000"/>
              </a:lnSpc>
            </a:pPr>
            <a:r>
              <a:rPr lang="en-US" altLang="zh-CN" sz="1350" b="1" kern="100" dirty="0">
                <a:solidFill>
                  <a:schemeClr val="accent1"/>
                </a:solidFill>
                <a:latin typeface="微软雅黑" panose="020B0503020204020204" pitchFamily="34" charset="-122"/>
                <a:ea typeface="微软雅黑" panose="020B0503020204020204" pitchFamily="34" charset="-122"/>
                <a:cs typeface="Times New Roman" panose="02020603050405020304" pitchFamily="18" charset="0"/>
              </a:rPr>
              <a:t>6</a:t>
            </a:r>
            <a:r>
              <a:rPr lang="zh-CN" altLang="en-US" sz="1350" b="1" kern="100" dirty="0">
                <a:solidFill>
                  <a:schemeClr val="accent1"/>
                </a:solidFill>
                <a:latin typeface="微软雅黑" panose="020B0503020204020204" pitchFamily="34" charset="-122"/>
                <a:ea typeface="微软雅黑" panose="020B0503020204020204" pitchFamily="34" charset="-122"/>
                <a:cs typeface="Times New Roman" panose="02020603050405020304" pitchFamily="18" charset="0"/>
              </a:rPr>
              <a:t>、适合对象：</a:t>
            </a:r>
            <a:r>
              <a:rPr lang="zh-CN" altLang="en-US" sz="1350" b="1" kern="100" dirty="0">
                <a:solidFill>
                  <a:srgbClr val="004C85"/>
                </a:solidFill>
                <a:latin typeface="微软雅黑" panose="020B0503020204020204" pitchFamily="34" charset="-122"/>
                <a:ea typeface="微软雅黑" panose="020B0503020204020204" pitchFamily="34" charset="-122"/>
                <a:cs typeface="Times New Roman" panose="02020603050405020304" pitchFamily="18" charset="0"/>
              </a:rPr>
              <a:t>想以后从事于人工智能与电力电子系统相结合研究的同学，</a:t>
            </a:r>
            <a:r>
              <a:rPr lang="zh-CN" altLang="en-US" sz="1350" b="1" kern="100" dirty="0">
                <a:solidFill>
                  <a:srgbClr val="A66BD3"/>
                </a:solidFill>
                <a:latin typeface="微软雅黑" panose="020B0503020204020204" pitchFamily="34" charset="-122"/>
                <a:ea typeface="微软雅黑" panose="020B0503020204020204" pitchFamily="34" charset="-122"/>
                <a:cs typeface="Times New Roman" panose="02020603050405020304" pitchFamily="18" charset="0"/>
              </a:rPr>
              <a:t>欢迎勇于挑战的同学加入</a:t>
            </a:r>
            <a:r>
              <a:rPr lang="zh-CN" altLang="en-US" sz="1350" b="1" kern="100" dirty="0">
                <a:latin typeface="微软雅黑" panose="020B0503020204020204" pitchFamily="34" charset="-122"/>
                <a:ea typeface="微软雅黑" panose="020B0503020204020204" pitchFamily="34" charset="-122"/>
                <a:cs typeface="Times New Roman" panose="02020603050405020304" pitchFamily="18" charset="0"/>
              </a:rPr>
              <a:t>。</a:t>
            </a:r>
            <a:endParaRPr lang="en-US" altLang="zh-CN" sz="1350" b="1" kern="100" dirty="0">
              <a:latin typeface="微软雅黑" panose="020B0503020204020204" pitchFamily="34" charset="-122"/>
              <a:ea typeface="微软雅黑" panose="020B0503020204020204" pitchFamily="34" charset="-122"/>
              <a:cs typeface="Times New Roman" panose="02020603050405020304" pitchFamily="18" charset="0"/>
            </a:endParaRPr>
          </a:p>
          <a:p>
            <a:pPr lvl="1" algn="just">
              <a:lnSpc>
                <a:spcPct val="150000"/>
              </a:lnSpc>
            </a:pPr>
            <a:r>
              <a:rPr lang="en-US" altLang="zh-CN" sz="1350" b="1" kern="100" dirty="0">
                <a:solidFill>
                  <a:schemeClr val="accent1"/>
                </a:solidFill>
                <a:latin typeface="微软雅黑" panose="020B0503020204020204" pitchFamily="34" charset="-122"/>
                <a:ea typeface="微软雅黑" panose="020B0503020204020204" pitchFamily="34" charset="-122"/>
                <a:cs typeface="Times New Roman" panose="02020603050405020304" pitchFamily="18" charset="0"/>
              </a:rPr>
              <a:t>7</a:t>
            </a:r>
            <a:r>
              <a:rPr lang="zh-CN" altLang="en-US" sz="1350" b="1" kern="100" dirty="0">
                <a:solidFill>
                  <a:schemeClr val="accent1"/>
                </a:solidFill>
                <a:latin typeface="微软雅黑" panose="020B0503020204020204" pitchFamily="34" charset="-122"/>
                <a:ea typeface="微软雅黑" panose="020B0503020204020204" pitchFamily="34" charset="-122"/>
                <a:cs typeface="Times New Roman" panose="02020603050405020304" pitchFamily="18" charset="0"/>
              </a:rPr>
              <a:t>、锻炼学生能力：</a:t>
            </a:r>
            <a:r>
              <a:rPr lang="zh-CN" altLang="en-US" sz="1350" b="1" kern="100" dirty="0">
                <a:solidFill>
                  <a:srgbClr val="A66BD3"/>
                </a:solidFill>
                <a:latin typeface="微软雅黑" panose="020B0503020204020204" pitchFamily="34" charset="-122"/>
                <a:ea typeface="微软雅黑" panose="020B0503020204020204" pitchFamily="34" charset="-122"/>
                <a:cs typeface="Times New Roman" panose="02020603050405020304" pitchFamily="18" charset="0"/>
              </a:rPr>
              <a:t>电力电子与人工智能交叉的相关软硬件设计与实现、基于人工智能的嵌入式系统开发与实现、硬件在环系统的设计与实现、大模型在电力电子数字孪生智能系统中的垂直应用。</a:t>
            </a:r>
          </a:p>
          <a:p>
            <a:pPr lvl="1" algn="just">
              <a:lnSpc>
                <a:spcPct val="120000"/>
              </a:lnSpc>
            </a:pPr>
            <a:endParaRPr lang="en-US" altLang="zh-CN" sz="1350" b="1" kern="100"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3" name="矩形 22">
            <a:extLst>
              <a:ext uri="{FF2B5EF4-FFF2-40B4-BE49-F238E27FC236}">
                <a16:creationId xmlns:a16="http://schemas.microsoft.com/office/drawing/2014/main" id="{3397DAC8-BD6C-40F8-A50B-C2E4EC45997C}"/>
              </a:ext>
            </a:extLst>
          </p:cNvPr>
          <p:cNvSpPr/>
          <p:nvPr/>
        </p:nvSpPr>
        <p:spPr bwMode="auto">
          <a:xfrm>
            <a:off x="-3770" y="2369091"/>
            <a:ext cx="9133773" cy="3391861"/>
          </a:xfrm>
          <a:prstGeom prst="rect">
            <a:avLst/>
          </a:prstGeom>
          <a:noFill/>
          <a:ln w="19050" cap="flat" cmpd="sng" algn="ctr">
            <a:solidFill>
              <a:srgbClr val="000000"/>
            </a:solidFill>
            <a:prstDash val="solid"/>
            <a:round/>
            <a:headEnd type="none" w="med" len="med"/>
            <a:tailEnd type="none" w="med" len="med"/>
          </a:ln>
          <a:effectLst/>
        </p:spPr>
        <p:txBody>
          <a:bodyPr vert="horz" wrap="square" lIns="68580" tIns="34290" rIns="68580" bIns="34290" numCol="1" rtlCol="0" anchor="t" anchorCtr="0" compatLnSpc="1"/>
          <a:lstStyle/>
          <a:p>
            <a:pPr defTabSz="685800" fontAlgn="base">
              <a:spcBef>
                <a:spcPct val="0"/>
              </a:spcBef>
              <a:spcAft>
                <a:spcPct val="0"/>
              </a:spcAft>
              <a:defRPr/>
            </a:pPr>
            <a:endParaRPr lang="zh-CN" altLang="en-US" sz="1350" b="1" kern="0">
              <a:solidFill>
                <a:srgbClr val="000000"/>
              </a:solidFill>
              <a:latin typeface="Arial" panose="020B0604020202020204" pitchFamily="34" charset="0"/>
              <a:ea typeface="宋体" panose="02010600030101010101" pitchFamily="2" charset="-122"/>
            </a:endParaRPr>
          </a:p>
        </p:txBody>
      </p:sp>
      <p:sp>
        <p:nvSpPr>
          <p:cNvPr id="25" name="圆角矩形 13">
            <a:extLst>
              <a:ext uri="{FF2B5EF4-FFF2-40B4-BE49-F238E27FC236}">
                <a16:creationId xmlns:a16="http://schemas.microsoft.com/office/drawing/2014/main" id="{B49FA380-3F35-4E74-B8C0-8B298AFB5472}"/>
              </a:ext>
            </a:extLst>
          </p:cNvPr>
          <p:cNvSpPr/>
          <p:nvPr/>
        </p:nvSpPr>
        <p:spPr>
          <a:xfrm>
            <a:off x="0" y="863809"/>
            <a:ext cx="9144000" cy="455810"/>
          </a:xfrm>
          <a:prstGeom prst="roundRect">
            <a:avLst>
              <a:gd name="adj" fmla="val 0"/>
            </a:avLst>
          </a:prstGeom>
          <a:solidFill>
            <a:srgbClr val="9B49B8"/>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indent="-3810" algn="ctr" fontAlgn="base">
              <a:lnSpc>
                <a:spcPts val="2175"/>
              </a:lnSpc>
              <a:spcBef>
                <a:spcPct val="0"/>
              </a:spcBef>
              <a:spcAft>
                <a:spcPct val="0"/>
              </a:spcAft>
              <a:defRPr/>
            </a:pPr>
            <a:r>
              <a:rPr lang="zh-CN" altLang="en-US" b="1" dirty="0">
                <a:solidFill>
                  <a:prstClr val="black">
                    <a:lumMod val="75000"/>
                    <a:lumOff val="25000"/>
                  </a:prstClr>
                </a:solidFill>
                <a:latin typeface="微软雅黑" panose="020B0503020204020204" pitchFamily="34" charset="-122"/>
                <a:ea typeface="微软雅黑" panose="020B0503020204020204" pitchFamily="34" charset="-122"/>
              </a:rPr>
              <a:t>电力电子数字孪生智能控制系统</a:t>
            </a:r>
            <a:endParaRPr lang="en-GB" altLang="zh-CN" b="1" dirty="0">
              <a:solidFill>
                <a:prstClr val="black">
                  <a:lumMod val="75000"/>
                  <a:lumOff val="25000"/>
                </a:prstClr>
              </a:solidFill>
              <a:latin typeface="微软雅黑" panose="020B0503020204020204" pitchFamily="34" charset="-122"/>
              <a:ea typeface="微软雅黑" panose="020B0503020204020204" pitchFamily="34" charset="-122"/>
            </a:endParaRPr>
          </a:p>
        </p:txBody>
      </p:sp>
      <p:grpSp>
        <p:nvGrpSpPr>
          <p:cNvPr id="29" name="组合 28">
            <a:extLst>
              <a:ext uri="{FF2B5EF4-FFF2-40B4-BE49-F238E27FC236}">
                <a16:creationId xmlns:a16="http://schemas.microsoft.com/office/drawing/2014/main" id="{B4F4D77F-8BEE-414E-8000-9CAF176FAC65}"/>
              </a:ext>
            </a:extLst>
          </p:cNvPr>
          <p:cNvGrpSpPr/>
          <p:nvPr/>
        </p:nvGrpSpPr>
        <p:grpSpPr>
          <a:xfrm>
            <a:off x="432419" y="1319619"/>
            <a:ext cx="8482965" cy="1049770"/>
            <a:chOff x="170803" y="648319"/>
            <a:chExt cx="11802736" cy="2082141"/>
          </a:xfrm>
        </p:grpSpPr>
        <p:sp>
          <p:nvSpPr>
            <p:cNvPr id="30" name="文本框 29">
              <a:extLst>
                <a:ext uri="{FF2B5EF4-FFF2-40B4-BE49-F238E27FC236}">
                  <a16:creationId xmlns:a16="http://schemas.microsoft.com/office/drawing/2014/main" id="{C9788C11-13CB-463A-A235-46747FBDE7AC}"/>
                </a:ext>
              </a:extLst>
            </p:cNvPr>
            <p:cNvSpPr txBox="1"/>
            <p:nvPr/>
          </p:nvSpPr>
          <p:spPr>
            <a:xfrm>
              <a:off x="412423" y="654295"/>
              <a:ext cx="2149590" cy="484801"/>
            </a:xfrm>
            <a:prstGeom prst="rect">
              <a:avLst/>
            </a:prstGeom>
            <a:noFill/>
          </p:spPr>
          <p:txBody>
            <a:bodyPr wrap="square">
              <a:spAutoFit/>
            </a:bodyPr>
            <a:lstStyle/>
            <a:p>
              <a:pPr algn="ctr">
                <a:lnSpc>
                  <a:spcPct val="120000"/>
                </a:lnSpc>
              </a:pPr>
              <a:r>
                <a:rPr lang="zh-CN" altLang="en-US" sz="900" b="1" kern="100" dirty="0">
                  <a:solidFill>
                    <a:schemeClr val="accent1"/>
                  </a:solidFill>
                  <a:latin typeface="Microsoft YaHei" panose="020B0503020204020204" pitchFamily="34" charset="-122"/>
                  <a:ea typeface="Microsoft YaHei" panose="020B0503020204020204" pitchFamily="34" charset="-122"/>
                  <a:cs typeface="Times New Roman" panose="02020603050405020304" pitchFamily="18" charset="0"/>
                </a:rPr>
                <a:t>综合设计</a:t>
              </a:r>
              <a:endParaRPr lang="zh-CN" altLang="en-US" sz="900" b="1" dirty="0">
                <a:solidFill>
                  <a:schemeClr val="accent1"/>
                </a:solidFill>
                <a:latin typeface="Microsoft YaHei" panose="020B0503020204020204" pitchFamily="34" charset="-122"/>
                <a:ea typeface="Microsoft YaHei" panose="020B0503020204020204" pitchFamily="34" charset="-122"/>
              </a:endParaRPr>
            </a:p>
          </p:txBody>
        </p:sp>
        <p:sp>
          <p:nvSpPr>
            <p:cNvPr id="31" name="圆角矩形 30">
              <a:extLst>
                <a:ext uri="{FF2B5EF4-FFF2-40B4-BE49-F238E27FC236}">
                  <a16:creationId xmlns:a16="http://schemas.microsoft.com/office/drawing/2014/main" id="{F6492CD4-C399-41D3-B44A-6F799C25C2F7}"/>
                </a:ext>
              </a:extLst>
            </p:cNvPr>
            <p:cNvSpPr/>
            <p:nvPr/>
          </p:nvSpPr>
          <p:spPr>
            <a:xfrm>
              <a:off x="170803" y="665194"/>
              <a:ext cx="2632830" cy="2027612"/>
            </a:xfrm>
            <a:prstGeom prst="roundRect">
              <a:avLst>
                <a:gd name="adj" fmla="val 9636"/>
              </a:avLst>
            </a:prstGeom>
            <a:noFill/>
            <a:ln w="25400">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sz="900"/>
            </a:p>
          </p:txBody>
        </p:sp>
        <p:pic>
          <p:nvPicPr>
            <p:cNvPr id="32" name="图片 31">
              <a:extLst>
                <a:ext uri="{FF2B5EF4-FFF2-40B4-BE49-F238E27FC236}">
                  <a16:creationId xmlns:a16="http://schemas.microsoft.com/office/drawing/2014/main" id="{6C870400-02FC-4AA3-A68E-F984ACEEBAA0}"/>
                </a:ext>
              </a:extLst>
            </p:cNvPr>
            <p:cNvPicPr>
              <a:picLocks noChangeAspect="1"/>
            </p:cNvPicPr>
            <p:nvPr/>
          </p:nvPicPr>
          <p:blipFill>
            <a:blip r:embed="rId4"/>
            <a:stretch>
              <a:fillRect/>
            </a:stretch>
          </p:blipFill>
          <p:spPr>
            <a:xfrm>
              <a:off x="568807" y="976049"/>
              <a:ext cx="1836821" cy="1201531"/>
            </a:xfrm>
            <a:prstGeom prst="rect">
              <a:avLst/>
            </a:prstGeom>
            <a:effectLst>
              <a:softEdge rad="31750"/>
            </a:effectLst>
          </p:spPr>
        </p:pic>
        <p:sp>
          <p:nvSpPr>
            <p:cNvPr id="33" name="圆角矩形 30">
              <a:extLst>
                <a:ext uri="{FF2B5EF4-FFF2-40B4-BE49-F238E27FC236}">
                  <a16:creationId xmlns:a16="http://schemas.microsoft.com/office/drawing/2014/main" id="{9C097360-C873-4321-9EBF-35BCB5ACD258}"/>
                </a:ext>
              </a:extLst>
            </p:cNvPr>
            <p:cNvSpPr/>
            <p:nvPr/>
          </p:nvSpPr>
          <p:spPr>
            <a:xfrm>
              <a:off x="3229131" y="675649"/>
              <a:ext cx="2632830" cy="2027612"/>
            </a:xfrm>
            <a:prstGeom prst="roundRect">
              <a:avLst>
                <a:gd name="adj" fmla="val 9636"/>
              </a:avLst>
            </a:prstGeom>
            <a:noFill/>
            <a:ln w="25400">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sz="900"/>
            </a:p>
          </p:txBody>
        </p:sp>
        <p:sp>
          <p:nvSpPr>
            <p:cNvPr id="34" name="圆角矩形 30">
              <a:extLst>
                <a:ext uri="{FF2B5EF4-FFF2-40B4-BE49-F238E27FC236}">
                  <a16:creationId xmlns:a16="http://schemas.microsoft.com/office/drawing/2014/main" id="{07725BDE-173F-44DE-9E46-6E42A349D155}"/>
                </a:ext>
              </a:extLst>
            </p:cNvPr>
            <p:cNvSpPr/>
            <p:nvPr/>
          </p:nvSpPr>
          <p:spPr>
            <a:xfrm>
              <a:off x="6283587" y="667673"/>
              <a:ext cx="2632830" cy="2027612"/>
            </a:xfrm>
            <a:prstGeom prst="roundRect">
              <a:avLst>
                <a:gd name="adj" fmla="val 9636"/>
              </a:avLst>
            </a:prstGeom>
            <a:noFill/>
            <a:ln w="25400">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sz="900"/>
            </a:p>
          </p:txBody>
        </p:sp>
        <p:sp>
          <p:nvSpPr>
            <p:cNvPr id="35" name="文本框 34">
              <a:extLst>
                <a:ext uri="{FF2B5EF4-FFF2-40B4-BE49-F238E27FC236}">
                  <a16:creationId xmlns:a16="http://schemas.microsoft.com/office/drawing/2014/main" id="{163B581E-FD8C-452B-A819-D6A7DC17B496}"/>
                </a:ext>
              </a:extLst>
            </p:cNvPr>
            <p:cNvSpPr txBox="1"/>
            <p:nvPr/>
          </p:nvSpPr>
          <p:spPr>
            <a:xfrm>
              <a:off x="6549733" y="661310"/>
              <a:ext cx="2149590" cy="484801"/>
            </a:xfrm>
            <a:prstGeom prst="rect">
              <a:avLst/>
            </a:prstGeom>
            <a:noFill/>
          </p:spPr>
          <p:txBody>
            <a:bodyPr wrap="square">
              <a:spAutoFit/>
            </a:bodyPr>
            <a:lstStyle/>
            <a:p>
              <a:pPr algn="ctr">
                <a:lnSpc>
                  <a:spcPct val="120000"/>
                </a:lnSpc>
              </a:pPr>
              <a:r>
                <a:rPr lang="zh-CN" altLang="en-US" sz="900" b="1" kern="100" dirty="0">
                  <a:solidFill>
                    <a:schemeClr val="accent1"/>
                  </a:solidFill>
                  <a:latin typeface="Microsoft YaHei" panose="020B0503020204020204" pitchFamily="34" charset="-122"/>
                  <a:ea typeface="Microsoft YaHei" panose="020B0503020204020204" pitchFamily="34" charset="-122"/>
                  <a:cs typeface="Times New Roman" panose="02020603050405020304" pitchFamily="18" charset="0"/>
                </a:rPr>
                <a:t>变换器设计</a:t>
              </a:r>
              <a:endParaRPr lang="zh-CN" altLang="en-US" sz="900" b="1" dirty="0">
                <a:solidFill>
                  <a:schemeClr val="accent1"/>
                </a:solidFill>
                <a:latin typeface="Microsoft YaHei" panose="020B0503020204020204" pitchFamily="34" charset="-122"/>
                <a:ea typeface="Microsoft YaHei" panose="020B0503020204020204" pitchFamily="34" charset="-122"/>
              </a:endParaRPr>
            </a:p>
          </p:txBody>
        </p:sp>
        <p:sp>
          <p:nvSpPr>
            <p:cNvPr id="36" name="文本框 35">
              <a:extLst>
                <a:ext uri="{FF2B5EF4-FFF2-40B4-BE49-F238E27FC236}">
                  <a16:creationId xmlns:a16="http://schemas.microsoft.com/office/drawing/2014/main" id="{0DA65359-A07D-40E3-8837-0DD9C61B78EC}"/>
                </a:ext>
              </a:extLst>
            </p:cNvPr>
            <p:cNvSpPr txBox="1"/>
            <p:nvPr/>
          </p:nvSpPr>
          <p:spPr>
            <a:xfrm>
              <a:off x="210365" y="2240970"/>
              <a:ext cx="2553705" cy="484801"/>
            </a:xfrm>
            <a:prstGeom prst="rect">
              <a:avLst/>
            </a:prstGeom>
            <a:noFill/>
          </p:spPr>
          <p:txBody>
            <a:bodyPr wrap="square">
              <a:spAutoFit/>
            </a:bodyPr>
            <a:lstStyle/>
            <a:p>
              <a:pPr algn="ctr">
                <a:lnSpc>
                  <a:spcPct val="120000"/>
                </a:lnSpc>
              </a:pPr>
              <a:r>
                <a:rPr lang="zh-CN" altLang="en-US" sz="900" kern="100" dirty="0">
                  <a:latin typeface="Microsoft YaHei" panose="020B0503020204020204" pitchFamily="34" charset="-122"/>
                  <a:ea typeface="Microsoft YaHei" panose="020B0503020204020204" pitchFamily="34" charset="-122"/>
                </a:rPr>
                <a:t>控制、维护、设计</a:t>
              </a:r>
            </a:p>
          </p:txBody>
        </p:sp>
        <p:pic>
          <p:nvPicPr>
            <p:cNvPr id="37" name="图片 36">
              <a:extLst>
                <a:ext uri="{FF2B5EF4-FFF2-40B4-BE49-F238E27FC236}">
                  <a16:creationId xmlns:a16="http://schemas.microsoft.com/office/drawing/2014/main" id="{72112C6C-AFBA-42AD-9872-FE221A5BA5C0}"/>
                </a:ext>
              </a:extLst>
            </p:cNvPr>
            <p:cNvPicPr>
              <a:picLocks noChangeAspect="1"/>
            </p:cNvPicPr>
            <p:nvPr/>
          </p:nvPicPr>
          <p:blipFill rotWithShape="1">
            <a:blip r:embed="rId5" cstate="print">
              <a:extLst>
                <a:ext uri="{28A0092B-C50C-407E-A947-70E740481C1C}">
                  <a14:useLocalDpi xmlns:a14="http://schemas.microsoft.com/office/drawing/2010/main" val="0"/>
                </a:ext>
              </a:extLst>
            </a:blip>
            <a:srcRect l="52577" t="3355" b="70959"/>
            <a:stretch/>
          </p:blipFill>
          <p:spPr>
            <a:xfrm>
              <a:off x="3346044" y="994574"/>
              <a:ext cx="2395568" cy="1204249"/>
            </a:xfrm>
            <a:prstGeom prst="rect">
              <a:avLst/>
            </a:prstGeom>
            <a:effectLst>
              <a:softEdge rad="12700"/>
            </a:effectLst>
          </p:spPr>
        </p:pic>
        <p:sp>
          <p:nvSpPr>
            <p:cNvPr id="38" name="文本框 37">
              <a:extLst>
                <a:ext uri="{FF2B5EF4-FFF2-40B4-BE49-F238E27FC236}">
                  <a16:creationId xmlns:a16="http://schemas.microsoft.com/office/drawing/2014/main" id="{CBE3A889-E571-48B5-83BF-8767F7513162}"/>
                </a:ext>
              </a:extLst>
            </p:cNvPr>
            <p:cNvSpPr txBox="1"/>
            <p:nvPr/>
          </p:nvSpPr>
          <p:spPr>
            <a:xfrm>
              <a:off x="3225259" y="2245659"/>
              <a:ext cx="2553705" cy="484801"/>
            </a:xfrm>
            <a:prstGeom prst="rect">
              <a:avLst/>
            </a:prstGeom>
            <a:noFill/>
          </p:spPr>
          <p:txBody>
            <a:bodyPr wrap="square">
              <a:spAutoFit/>
            </a:bodyPr>
            <a:lstStyle/>
            <a:p>
              <a:pPr algn="ctr">
                <a:lnSpc>
                  <a:spcPct val="120000"/>
                </a:lnSpc>
              </a:pPr>
              <a:r>
                <a:rPr lang="zh-CN" altLang="en-US" sz="900" kern="100" dirty="0">
                  <a:latin typeface="Microsoft YaHei" panose="020B0503020204020204" pitchFamily="34" charset="-122"/>
                  <a:ea typeface="Microsoft YaHei" panose="020B0503020204020204" pitchFamily="34" charset="-122"/>
                </a:rPr>
                <a:t>物理</a:t>
              </a:r>
              <a:r>
                <a:rPr lang="en-US" altLang="zh-CN" sz="900" kern="100" dirty="0">
                  <a:latin typeface="Microsoft YaHei" panose="020B0503020204020204" pitchFamily="34" charset="-122"/>
                  <a:ea typeface="Microsoft YaHei" panose="020B0503020204020204" pitchFamily="34" charset="-122"/>
                </a:rPr>
                <a:t>-</a:t>
              </a:r>
              <a:r>
                <a:rPr lang="zh-CN" altLang="en-US" sz="900" kern="100" dirty="0">
                  <a:latin typeface="Microsoft YaHei" panose="020B0503020204020204" pitchFamily="34" charset="-122"/>
                  <a:ea typeface="Microsoft YaHei" panose="020B0503020204020204" pitchFamily="34" charset="-122"/>
                </a:rPr>
                <a:t>数字孪生控制架构</a:t>
              </a:r>
            </a:p>
          </p:txBody>
        </p:sp>
        <p:sp>
          <p:nvSpPr>
            <p:cNvPr id="39" name="文本框 38">
              <a:extLst>
                <a:ext uri="{FF2B5EF4-FFF2-40B4-BE49-F238E27FC236}">
                  <a16:creationId xmlns:a16="http://schemas.microsoft.com/office/drawing/2014/main" id="{A7B51487-D3C2-4A75-9915-607430FF08BB}"/>
                </a:ext>
              </a:extLst>
            </p:cNvPr>
            <p:cNvSpPr txBox="1"/>
            <p:nvPr/>
          </p:nvSpPr>
          <p:spPr>
            <a:xfrm>
              <a:off x="6324482" y="2245659"/>
              <a:ext cx="2553705" cy="484801"/>
            </a:xfrm>
            <a:prstGeom prst="rect">
              <a:avLst/>
            </a:prstGeom>
            <a:noFill/>
          </p:spPr>
          <p:txBody>
            <a:bodyPr wrap="square">
              <a:spAutoFit/>
            </a:bodyPr>
            <a:lstStyle/>
            <a:p>
              <a:pPr algn="ctr">
                <a:lnSpc>
                  <a:spcPct val="120000"/>
                </a:lnSpc>
              </a:pPr>
              <a:r>
                <a:rPr lang="zh-CN" altLang="en-US" sz="900" kern="100" dirty="0">
                  <a:latin typeface="Microsoft YaHei" panose="020B0503020204020204" pitchFamily="34" charset="-122"/>
                  <a:ea typeface="Microsoft YaHei" panose="020B0503020204020204" pitchFamily="34" charset="-122"/>
                </a:rPr>
                <a:t>基于</a:t>
              </a:r>
              <a:r>
                <a:rPr lang="en-US" altLang="zh-CN" sz="900" kern="100" dirty="0">
                  <a:latin typeface="Microsoft YaHei" panose="020B0503020204020204" pitchFamily="34" charset="-122"/>
                  <a:ea typeface="Microsoft YaHei" panose="020B0503020204020204" pitchFamily="34" charset="-122"/>
                </a:rPr>
                <a:t>AI</a:t>
              </a:r>
              <a:r>
                <a:rPr lang="zh-CN" altLang="en-US" sz="900" kern="100" dirty="0">
                  <a:latin typeface="Microsoft YaHei" panose="020B0503020204020204" pitchFamily="34" charset="-122"/>
                  <a:ea typeface="Microsoft YaHei" panose="020B0503020204020204" pitchFamily="34" charset="-122"/>
                </a:rPr>
                <a:t>的设计方法</a:t>
              </a:r>
            </a:p>
          </p:txBody>
        </p:sp>
        <p:sp>
          <p:nvSpPr>
            <p:cNvPr id="40" name="圆角矩形 30">
              <a:extLst>
                <a:ext uri="{FF2B5EF4-FFF2-40B4-BE49-F238E27FC236}">
                  <a16:creationId xmlns:a16="http://schemas.microsoft.com/office/drawing/2014/main" id="{10E4A237-0EC1-40C3-A0E8-F17F89943080}"/>
                </a:ext>
              </a:extLst>
            </p:cNvPr>
            <p:cNvSpPr/>
            <p:nvPr/>
          </p:nvSpPr>
          <p:spPr>
            <a:xfrm>
              <a:off x="9182563" y="667673"/>
              <a:ext cx="2790976" cy="2027612"/>
            </a:xfrm>
            <a:prstGeom prst="roundRect">
              <a:avLst>
                <a:gd name="adj" fmla="val 9636"/>
              </a:avLst>
            </a:prstGeom>
            <a:noFill/>
            <a:ln w="25400">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sz="900"/>
            </a:p>
          </p:txBody>
        </p:sp>
        <p:sp>
          <p:nvSpPr>
            <p:cNvPr id="41" name="文本框 40">
              <a:extLst>
                <a:ext uri="{FF2B5EF4-FFF2-40B4-BE49-F238E27FC236}">
                  <a16:creationId xmlns:a16="http://schemas.microsoft.com/office/drawing/2014/main" id="{875AE6EA-FE29-421C-B4FA-E4C3D304266A}"/>
                </a:ext>
              </a:extLst>
            </p:cNvPr>
            <p:cNvSpPr txBox="1"/>
            <p:nvPr/>
          </p:nvSpPr>
          <p:spPr>
            <a:xfrm>
              <a:off x="9736205" y="648319"/>
              <a:ext cx="1693871" cy="484801"/>
            </a:xfrm>
            <a:prstGeom prst="rect">
              <a:avLst/>
            </a:prstGeom>
            <a:noFill/>
          </p:spPr>
          <p:txBody>
            <a:bodyPr wrap="square">
              <a:spAutoFit/>
            </a:bodyPr>
            <a:lstStyle/>
            <a:p>
              <a:pPr algn="ctr">
                <a:lnSpc>
                  <a:spcPct val="120000"/>
                </a:lnSpc>
              </a:pPr>
              <a:r>
                <a:rPr lang="zh-CN" altLang="en-US" sz="900" b="1" kern="100" dirty="0">
                  <a:solidFill>
                    <a:schemeClr val="accent1"/>
                  </a:solidFill>
                  <a:latin typeface="Microsoft YaHei" panose="020B0503020204020204" pitchFamily="34" charset="-122"/>
                  <a:ea typeface="Microsoft YaHei" panose="020B0503020204020204" pitchFamily="34" charset="-122"/>
                  <a:cs typeface="Times New Roman" panose="02020603050405020304" pitchFamily="18" charset="0"/>
                </a:rPr>
                <a:t>智能自适应控制</a:t>
              </a:r>
              <a:endParaRPr lang="en-US" altLang="zh-CN" sz="900" b="1" kern="100" dirty="0">
                <a:solidFill>
                  <a:schemeClr val="accent1"/>
                </a:solidFill>
                <a:latin typeface="Microsoft YaHei" panose="020B0503020204020204" pitchFamily="34" charset="-122"/>
                <a:ea typeface="Microsoft YaHei" panose="020B0503020204020204" pitchFamily="34" charset="-122"/>
                <a:cs typeface="Times New Roman" panose="02020603050405020304" pitchFamily="18" charset="0"/>
              </a:endParaRPr>
            </a:p>
          </p:txBody>
        </p:sp>
        <p:sp>
          <p:nvSpPr>
            <p:cNvPr id="42" name="文本框 41">
              <a:extLst>
                <a:ext uri="{FF2B5EF4-FFF2-40B4-BE49-F238E27FC236}">
                  <a16:creationId xmlns:a16="http://schemas.microsoft.com/office/drawing/2014/main" id="{551502F2-94D2-4A2D-B8D8-FFE4A6C072E4}"/>
                </a:ext>
              </a:extLst>
            </p:cNvPr>
            <p:cNvSpPr txBox="1"/>
            <p:nvPr/>
          </p:nvSpPr>
          <p:spPr>
            <a:xfrm>
              <a:off x="9301198" y="2245659"/>
              <a:ext cx="2553705" cy="484801"/>
            </a:xfrm>
            <a:prstGeom prst="rect">
              <a:avLst/>
            </a:prstGeom>
            <a:noFill/>
          </p:spPr>
          <p:txBody>
            <a:bodyPr wrap="square">
              <a:spAutoFit/>
            </a:bodyPr>
            <a:lstStyle/>
            <a:p>
              <a:pPr algn="ctr">
                <a:lnSpc>
                  <a:spcPct val="120000"/>
                </a:lnSpc>
              </a:pPr>
              <a:r>
                <a:rPr lang="zh-CN" altLang="en-US" sz="900" kern="100" dirty="0">
                  <a:latin typeface="Microsoft YaHei" panose="020B0503020204020204" pitchFamily="34" charset="-122"/>
                  <a:ea typeface="Microsoft YaHei" panose="020B0503020204020204" pitchFamily="34" charset="-122"/>
                </a:rPr>
                <a:t>基于神经网络的相移调制</a:t>
              </a:r>
            </a:p>
          </p:txBody>
        </p:sp>
        <p:pic>
          <p:nvPicPr>
            <p:cNvPr id="43" name="图片 42">
              <a:extLst>
                <a:ext uri="{FF2B5EF4-FFF2-40B4-BE49-F238E27FC236}">
                  <a16:creationId xmlns:a16="http://schemas.microsoft.com/office/drawing/2014/main" id="{F4C4AE96-FAFE-4A13-BE4F-36DBFDB1DCFA}"/>
                </a:ext>
              </a:extLst>
            </p:cNvPr>
            <p:cNvPicPr>
              <a:picLocks noChangeAspect="1"/>
            </p:cNvPicPr>
            <p:nvPr/>
          </p:nvPicPr>
          <p:blipFill>
            <a:blip r:embed="rId6"/>
            <a:stretch>
              <a:fillRect/>
            </a:stretch>
          </p:blipFill>
          <p:spPr>
            <a:xfrm>
              <a:off x="6320105" y="1011112"/>
              <a:ext cx="1222263" cy="1153188"/>
            </a:xfrm>
            <a:prstGeom prst="rect">
              <a:avLst/>
            </a:prstGeom>
          </p:spPr>
        </p:pic>
        <p:sp>
          <p:nvSpPr>
            <p:cNvPr id="44" name="矩形 43">
              <a:extLst>
                <a:ext uri="{FF2B5EF4-FFF2-40B4-BE49-F238E27FC236}">
                  <a16:creationId xmlns:a16="http://schemas.microsoft.com/office/drawing/2014/main" id="{A797238B-FFD0-4893-BA45-8255C3DEB55B}"/>
                </a:ext>
              </a:extLst>
            </p:cNvPr>
            <p:cNvSpPr/>
            <p:nvPr/>
          </p:nvSpPr>
          <p:spPr>
            <a:xfrm>
              <a:off x="7591204" y="1011111"/>
              <a:ext cx="1282605" cy="311151"/>
            </a:xfrm>
            <a:prstGeom prst="rect">
              <a:avLst/>
            </a:prstGeom>
            <a:solidFill>
              <a:srgbClr val="9B49B8">
                <a:alpha val="6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sz="900" b="1" dirty="0">
                  <a:latin typeface="微软雅黑" panose="020B0503020204020204" pitchFamily="34" charset="-122"/>
                  <a:ea typeface="微软雅黑" panose="020B0503020204020204" pitchFamily="34" charset="-122"/>
                </a:rPr>
                <a:t>自动数据获取</a:t>
              </a:r>
            </a:p>
          </p:txBody>
        </p:sp>
        <p:sp>
          <p:nvSpPr>
            <p:cNvPr id="45" name="矩形 44">
              <a:extLst>
                <a:ext uri="{FF2B5EF4-FFF2-40B4-BE49-F238E27FC236}">
                  <a16:creationId xmlns:a16="http://schemas.microsoft.com/office/drawing/2014/main" id="{40591C69-CFBA-491F-B926-D427C5DD231D}"/>
                </a:ext>
              </a:extLst>
            </p:cNvPr>
            <p:cNvSpPr/>
            <p:nvPr/>
          </p:nvSpPr>
          <p:spPr>
            <a:xfrm>
              <a:off x="7598228" y="1424549"/>
              <a:ext cx="1275581" cy="311151"/>
            </a:xfrm>
            <a:prstGeom prst="rect">
              <a:avLst/>
            </a:prstGeom>
            <a:solidFill>
              <a:srgbClr val="9B49B8">
                <a:alpha val="6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sz="900" b="1" dirty="0">
                  <a:latin typeface="微软雅黑" panose="020B0503020204020204" pitchFamily="34" charset="-122"/>
                  <a:ea typeface="微软雅黑" panose="020B0503020204020204" pitchFamily="34" charset="-122"/>
                </a:rPr>
                <a:t>数据驱动建模</a:t>
              </a:r>
            </a:p>
          </p:txBody>
        </p:sp>
        <p:sp>
          <p:nvSpPr>
            <p:cNvPr id="46" name="矩形 45">
              <a:extLst>
                <a:ext uri="{FF2B5EF4-FFF2-40B4-BE49-F238E27FC236}">
                  <a16:creationId xmlns:a16="http://schemas.microsoft.com/office/drawing/2014/main" id="{07F073C2-935B-437F-9FE9-4F8192A0D30E}"/>
                </a:ext>
              </a:extLst>
            </p:cNvPr>
            <p:cNvSpPr/>
            <p:nvPr/>
          </p:nvSpPr>
          <p:spPr>
            <a:xfrm>
              <a:off x="7598228" y="1855130"/>
              <a:ext cx="1275581" cy="311150"/>
            </a:xfrm>
            <a:prstGeom prst="rect">
              <a:avLst/>
            </a:prstGeom>
            <a:solidFill>
              <a:srgbClr val="9B49B8">
                <a:alpha val="6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sz="900" b="1" dirty="0">
                  <a:latin typeface="微软雅黑" panose="020B0503020204020204" pitchFamily="34" charset="-122"/>
                  <a:ea typeface="微软雅黑" panose="020B0503020204020204" pitchFamily="34" charset="-122"/>
                </a:rPr>
                <a:t>决策控制</a:t>
              </a:r>
            </a:p>
          </p:txBody>
        </p:sp>
        <p:pic>
          <p:nvPicPr>
            <p:cNvPr id="47" name="图片 46">
              <a:extLst>
                <a:ext uri="{FF2B5EF4-FFF2-40B4-BE49-F238E27FC236}">
                  <a16:creationId xmlns:a16="http://schemas.microsoft.com/office/drawing/2014/main" id="{841B2C1F-BAB2-4772-B3FB-41CA4F8A1691}"/>
                </a:ext>
              </a:extLst>
            </p:cNvPr>
            <p:cNvPicPr>
              <a:picLocks noChangeAspect="1"/>
            </p:cNvPicPr>
            <p:nvPr/>
          </p:nvPicPr>
          <p:blipFill>
            <a:blip r:embed="rId7"/>
            <a:stretch>
              <a:fillRect/>
            </a:stretch>
          </p:blipFill>
          <p:spPr>
            <a:xfrm>
              <a:off x="9241457" y="1000899"/>
              <a:ext cx="2686116" cy="1176681"/>
            </a:xfrm>
            <a:prstGeom prst="rect">
              <a:avLst/>
            </a:prstGeom>
          </p:spPr>
        </p:pic>
      </p:grpSp>
    </p:spTree>
    <p:extLst>
      <p:ext uri="{BB962C8B-B14F-4D97-AF65-F5344CB8AC3E}">
        <p14:creationId xmlns:p14="http://schemas.microsoft.com/office/powerpoint/2010/main" val="94138759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2EB84564-94E5-45DA-9FC3-80152134A5C1}"/>
              </a:ext>
            </a:extLst>
          </p:cNvPr>
          <p:cNvSpPr>
            <a:spLocks noGrp="1"/>
          </p:cNvSpPr>
          <p:nvPr>
            <p:ph idx="1"/>
          </p:nvPr>
        </p:nvSpPr>
        <p:spPr>
          <a:xfrm>
            <a:off x="0" y="0"/>
            <a:ext cx="9144000" cy="6165305"/>
          </a:xfrm>
        </p:spPr>
        <p:txBody>
          <a:bodyPr/>
          <a:lstStyle/>
          <a:p>
            <a:pPr lvl="0" algn="ctr">
              <a:lnSpc>
                <a:spcPct val="150000"/>
              </a:lnSpc>
            </a:pPr>
            <a:r>
              <a:rPr lang="zh-CN" altLang="en-US" b="1" dirty="0">
                <a:solidFill>
                  <a:srgbClr val="FF0000"/>
                </a:solidFill>
              </a:rPr>
              <a:t>寄语</a:t>
            </a:r>
            <a:endParaRPr lang="en-US" altLang="zh-CN" b="1" dirty="0"/>
          </a:p>
          <a:p>
            <a:pPr lvl="1">
              <a:lnSpc>
                <a:spcPct val="150000"/>
              </a:lnSpc>
            </a:pPr>
            <a:r>
              <a:rPr lang="zh-CN" altLang="en-US" b="1" dirty="0">
                <a:solidFill>
                  <a:srgbClr val="FF0000"/>
                </a:solidFill>
              </a:rPr>
              <a:t>数字化、低碳节能</a:t>
            </a:r>
            <a:r>
              <a:rPr lang="zh-CN" altLang="en-US" b="1" dirty="0"/>
              <a:t>是我国重大战略方向，有很多机会，无限的想象空间。新能源是不可逆转的趋势。</a:t>
            </a:r>
            <a:endParaRPr lang="zh-CN" altLang="zh-CN" b="1" dirty="0"/>
          </a:p>
          <a:p>
            <a:pPr lvl="1">
              <a:lnSpc>
                <a:spcPct val="150000"/>
              </a:lnSpc>
            </a:pPr>
            <a:r>
              <a:rPr lang="zh-CN" altLang="en-US" b="1" dirty="0"/>
              <a:t>正确对待</a:t>
            </a:r>
            <a:r>
              <a:rPr lang="zh-CN" altLang="en-US" b="1" dirty="0">
                <a:solidFill>
                  <a:srgbClr val="0000FF"/>
                </a:solidFill>
              </a:rPr>
              <a:t>挫折与失败</a:t>
            </a:r>
            <a:r>
              <a:rPr lang="zh-CN" altLang="en-US" b="1" dirty="0"/>
              <a:t>，挫折是人生的财富。</a:t>
            </a:r>
            <a:endParaRPr lang="zh-CN" altLang="zh-CN" b="1" dirty="0"/>
          </a:p>
          <a:p>
            <a:pPr lvl="1">
              <a:lnSpc>
                <a:spcPct val="150000"/>
              </a:lnSpc>
            </a:pPr>
            <a:r>
              <a:rPr lang="zh-CN" altLang="en-US" b="1" dirty="0"/>
              <a:t>越努力机会越多，机会是自己争取来的。</a:t>
            </a:r>
            <a:endParaRPr lang="en-US" altLang="zh-CN" b="1" dirty="0"/>
          </a:p>
          <a:p>
            <a:pPr lvl="1">
              <a:lnSpc>
                <a:spcPct val="150000"/>
              </a:lnSpc>
            </a:pPr>
            <a:r>
              <a:rPr lang="zh-CN" altLang="en-US" b="1" dirty="0"/>
              <a:t>带学生的初衷：</a:t>
            </a:r>
            <a:r>
              <a:rPr lang="zh-CN" altLang="en-US" b="1" dirty="0">
                <a:solidFill>
                  <a:srgbClr val="0000FF"/>
                </a:solidFill>
              </a:rPr>
              <a:t>教书育人</a:t>
            </a:r>
            <a:r>
              <a:rPr lang="zh-CN" altLang="en-US" b="1" dirty="0"/>
              <a:t>！</a:t>
            </a:r>
            <a:endParaRPr lang="en-US" altLang="zh-CN" b="1" dirty="0"/>
          </a:p>
          <a:p>
            <a:pPr lvl="1">
              <a:lnSpc>
                <a:spcPct val="150000"/>
              </a:lnSpc>
            </a:pPr>
            <a:r>
              <a:rPr lang="zh-CN" altLang="en-US" b="1" dirty="0"/>
              <a:t>实验室本科、硕士、博士的总体培养效果。</a:t>
            </a:r>
            <a:endParaRPr lang="en-US" altLang="zh-CN" b="1" dirty="0"/>
          </a:p>
          <a:p>
            <a:pPr lvl="1">
              <a:lnSpc>
                <a:spcPct val="150000"/>
              </a:lnSpc>
            </a:pPr>
            <a:r>
              <a:rPr lang="zh-CN" altLang="en-US" b="1" dirty="0">
                <a:solidFill>
                  <a:srgbClr val="0000FF"/>
                </a:solidFill>
              </a:rPr>
              <a:t>欢迎大家到实验室实习或者攻读硕士、博士研究生！</a:t>
            </a:r>
            <a:endParaRPr lang="en-US" altLang="zh-CN" b="1" dirty="0"/>
          </a:p>
          <a:p>
            <a:pPr lvl="1">
              <a:lnSpc>
                <a:spcPct val="150000"/>
              </a:lnSpc>
            </a:pPr>
            <a:endParaRPr lang="en-US" altLang="zh-CN" sz="2000" b="1" dirty="0"/>
          </a:p>
          <a:p>
            <a:pPr lvl="0">
              <a:lnSpc>
                <a:spcPct val="150000"/>
              </a:lnSpc>
            </a:pPr>
            <a:endParaRPr lang="zh-CN" altLang="zh-CN" sz="2400" dirty="0"/>
          </a:p>
          <a:p>
            <a:endParaRPr lang="zh-CN" altLang="en-US" dirty="0"/>
          </a:p>
        </p:txBody>
      </p:sp>
      <p:sp>
        <p:nvSpPr>
          <p:cNvPr id="4" name="日期占位符 3">
            <a:extLst>
              <a:ext uri="{FF2B5EF4-FFF2-40B4-BE49-F238E27FC236}">
                <a16:creationId xmlns:a16="http://schemas.microsoft.com/office/drawing/2014/main" id="{67DA207E-7572-4624-B12F-E88C3CD6167B}"/>
              </a:ext>
            </a:extLst>
          </p:cNvPr>
          <p:cNvSpPr>
            <a:spLocks noGrp="1"/>
          </p:cNvSpPr>
          <p:nvPr>
            <p:ph type="dt" sz="half" idx="10"/>
          </p:nvPr>
        </p:nvSpPr>
        <p:spPr>
          <a:xfrm>
            <a:off x="7884368" y="5805264"/>
            <a:ext cx="914400" cy="228600"/>
          </a:xfrm>
        </p:spPr>
        <p:txBody>
          <a:bodyPr/>
          <a:lstStyle/>
          <a:p>
            <a:fld id="{74D1653E-7BF7-4D3C-8257-083AC9C2CB6F}" type="datetime10">
              <a:rPr lang="zh-CN" altLang="en-US" smtClean="0"/>
              <a:t>14:22</a:t>
            </a:fld>
            <a:endParaRPr lang="zh-CN" altLang="en-US" dirty="0"/>
          </a:p>
        </p:txBody>
      </p:sp>
    </p:spTree>
    <p:extLst>
      <p:ext uri="{BB962C8B-B14F-4D97-AF65-F5344CB8AC3E}">
        <p14:creationId xmlns:p14="http://schemas.microsoft.com/office/powerpoint/2010/main" val="130461304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5" name="Text Box 2"/>
          <p:cNvSpPr txBox="1">
            <a:spLocks noChangeArrowheads="1"/>
          </p:cNvSpPr>
          <p:nvPr/>
        </p:nvSpPr>
        <p:spPr bwMode="auto">
          <a:xfrm>
            <a:off x="898525" y="0"/>
            <a:ext cx="3416320"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3600">
                <a:solidFill>
                  <a:schemeClr val="tx1"/>
                </a:solidFill>
                <a:latin typeface="华文中宋" pitchFamily="2" charset="-122"/>
                <a:ea typeface="华文中宋" pitchFamily="2" charset="-122"/>
              </a:defRPr>
            </a:lvl1pPr>
            <a:lvl2pPr marL="742950" indent="-285750" eaLnBrk="0" hangingPunct="0">
              <a:defRPr kumimoji="1" sz="3600">
                <a:solidFill>
                  <a:schemeClr val="tx1"/>
                </a:solidFill>
                <a:latin typeface="华文中宋" pitchFamily="2" charset="-122"/>
                <a:ea typeface="华文中宋" pitchFamily="2" charset="-122"/>
              </a:defRPr>
            </a:lvl2pPr>
            <a:lvl3pPr marL="1143000" indent="-228600" eaLnBrk="0" hangingPunct="0">
              <a:defRPr kumimoji="1" sz="3600">
                <a:solidFill>
                  <a:schemeClr val="tx1"/>
                </a:solidFill>
                <a:latin typeface="华文中宋" pitchFamily="2" charset="-122"/>
                <a:ea typeface="华文中宋" pitchFamily="2" charset="-122"/>
              </a:defRPr>
            </a:lvl3pPr>
            <a:lvl4pPr marL="1600200" indent="-228600" eaLnBrk="0" hangingPunct="0">
              <a:defRPr kumimoji="1" sz="3600">
                <a:solidFill>
                  <a:schemeClr val="tx1"/>
                </a:solidFill>
                <a:latin typeface="华文中宋" pitchFamily="2" charset="-122"/>
                <a:ea typeface="华文中宋" pitchFamily="2" charset="-122"/>
              </a:defRPr>
            </a:lvl4pPr>
            <a:lvl5pPr marL="2057400" indent="-228600" eaLnBrk="0" hangingPunct="0">
              <a:defRPr kumimoji="1" sz="3600">
                <a:solidFill>
                  <a:schemeClr val="tx1"/>
                </a:solidFill>
                <a:latin typeface="华文中宋" pitchFamily="2" charset="-122"/>
                <a:ea typeface="华文中宋" pitchFamily="2" charset="-122"/>
              </a:defRPr>
            </a:lvl5pPr>
            <a:lvl6pPr marL="2514600" indent="-228600" eaLnBrk="0" fontAlgn="base" hangingPunct="0">
              <a:lnSpc>
                <a:spcPct val="90000"/>
              </a:lnSpc>
              <a:spcBef>
                <a:spcPct val="0"/>
              </a:spcBef>
              <a:spcAft>
                <a:spcPct val="0"/>
              </a:spcAft>
              <a:defRPr kumimoji="1" sz="3600">
                <a:solidFill>
                  <a:schemeClr val="tx1"/>
                </a:solidFill>
                <a:latin typeface="华文中宋" pitchFamily="2" charset="-122"/>
                <a:ea typeface="华文中宋" pitchFamily="2" charset="-122"/>
              </a:defRPr>
            </a:lvl6pPr>
            <a:lvl7pPr marL="2971800" indent="-228600" eaLnBrk="0" fontAlgn="base" hangingPunct="0">
              <a:lnSpc>
                <a:spcPct val="90000"/>
              </a:lnSpc>
              <a:spcBef>
                <a:spcPct val="0"/>
              </a:spcBef>
              <a:spcAft>
                <a:spcPct val="0"/>
              </a:spcAft>
              <a:defRPr kumimoji="1" sz="3600">
                <a:solidFill>
                  <a:schemeClr val="tx1"/>
                </a:solidFill>
                <a:latin typeface="华文中宋" pitchFamily="2" charset="-122"/>
                <a:ea typeface="华文中宋" pitchFamily="2" charset="-122"/>
              </a:defRPr>
            </a:lvl7pPr>
            <a:lvl8pPr marL="3429000" indent="-228600" eaLnBrk="0" fontAlgn="base" hangingPunct="0">
              <a:lnSpc>
                <a:spcPct val="90000"/>
              </a:lnSpc>
              <a:spcBef>
                <a:spcPct val="0"/>
              </a:spcBef>
              <a:spcAft>
                <a:spcPct val="0"/>
              </a:spcAft>
              <a:defRPr kumimoji="1" sz="3600">
                <a:solidFill>
                  <a:schemeClr val="tx1"/>
                </a:solidFill>
                <a:latin typeface="华文中宋" pitchFamily="2" charset="-122"/>
                <a:ea typeface="华文中宋" pitchFamily="2" charset="-122"/>
              </a:defRPr>
            </a:lvl8pPr>
            <a:lvl9pPr marL="3886200" indent="-228600" eaLnBrk="0" fontAlgn="base" hangingPunct="0">
              <a:lnSpc>
                <a:spcPct val="90000"/>
              </a:lnSpc>
              <a:spcBef>
                <a:spcPct val="0"/>
              </a:spcBef>
              <a:spcAft>
                <a:spcPct val="0"/>
              </a:spcAft>
              <a:defRPr kumimoji="1" sz="3600">
                <a:solidFill>
                  <a:schemeClr val="tx1"/>
                </a:solidFill>
                <a:latin typeface="华文中宋" pitchFamily="2" charset="-122"/>
                <a:ea typeface="华文中宋" pitchFamily="2" charset="-122"/>
              </a:defRPr>
            </a:lvl9pPr>
          </a:lstStyle>
          <a:p>
            <a:pPr eaLnBrk="1" hangingPunct="1"/>
            <a:r>
              <a:rPr lang="zh-CN" altLang="en-US" dirty="0">
                <a:solidFill>
                  <a:srgbClr val="0000FF"/>
                </a:solidFill>
              </a:rPr>
              <a:t>电力二极管要点</a:t>
            </a:r>
          </a:p>
        </p:txBody>
      </p:sp>
      <p:sp>
        <p:nvSpPr>
          <p:cNvPr id="300035" name="Text Box 3"/>
          <p:cNvSpPr txBox="1">
            <a:spLocks noChangeArrowheads="1"/>
          </p:cNvSpPr>
          <p:nvPr/>
        </p:nvSpPr>
        <p:spPr bwMode="auto">
          <a:xfrm>
            <a:off x="611560" y="476672"/>
            <a:ext cx="8389440" cy="56323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3600">
                <a:solidFill>
                  <a:schemeClr val="tx1"/>
                </a:solidFill>
                <a:latin typeface="华文中宋" pitchFamily="2" charset="-122"/>
                <a:ea typeface="华文中宋" pitchFamily="2" charset="-122"/>
              </a:defRPr>
            </a:lvl1pPr>
            <a:lvl2pPr marL="742950" indent="-285750" eaLnBrk="0" hangingPunct="0">
              <a:defRPr kumimoji="1" sz="3600">
                <a:solidFill>
                  <a:schemeClr val="tx1"/>
                </a:solidFill>
                <a:latin typeface="华文中宋" pitchFamily="2" charset="-122"/>
                <a:ea typeface="华文中宋" pitchFamily="2" charset="-122"/>
              </a:defRPr>
            </a:lvl2pPr>
            <a:lvl3pPr marL="1143000" indent="-228600" eaLnBrk="0" hangingPunct="0">
              <a:defRPr kumimoji="1" sz="3600">
                <a:solidFill>
                  <a:schemeClr val="tx1"/>
                </a:solidFill>
                <a:latin typeface="华文中宋" pitchFamily="2" charset="-122"/>
                <a:ea typeface="华文中宋" pitchFamily="2" charset="-122"/>
              </a:defRPr>
            </a:lvl3pPr>
            <a:lvl4pPr marL="1600200" indent="-228600" eaLnBrk="0" hangingPunct="0">
              <a:defRPr kumimoji="1" sz="3600">
                <a:solidFill>
                  <a:schemeClr val="tx1"/>
                </a:solidFill>
                <a:latin typeface="华文中宋" pitchFamily="2" charset="-122"/>
                <a:ea typeface="华文中宋" pitchFamily="2" charset="-122"/>
              </a:defRPr>
            </a:lvl4pPr>
            <a:lvl5pPr marL="2057400" indent="-228600" eaLnBrk="0" hangingPunct="0">
              <a:defRPr kumimoji="1" sz="3600">
                <a:solidFill>
                  <a:schemeClr val="tx1"/>
                </a:solidFill>
                <a:latin typeface="华文中宋" pitchFamily="2" charset="-122"/>
                <a:ea typeface="华文中宋" pitchFamily="2" charset="-122"/>
              </a:defRPr>
            </a:lvl5pPr>
            <a:lvl6pPr marL="2514600" indent="-228600" eaLnBrk="0" fontAlgn="base" hangingPunct="0">
              <a:lnSpc>
                <a:spcPct val="90000"/>
              </a:lnSpc>
              <a:spcBef>
                <a:spcPct val="0"/>
              </a:spcBef>
              <a:spcAft>
                <a:spcPct val="0"/>
              </a:spcAft>
              <a:defRPr kumimoji="1" sz="3600">
                <a:solidFill>
                  <a:schemeClr val="tx1"/>
                </a:solidFill>
                <a:latin typeface="华文中宋" pitchFamily="2" charset="-122"/>
                <a:ea typeface="华文中宋" pitchFamily="2" charset="-122"/>
              </a:defRPr>
            </a:lvl6pPr>
            <a:lvl7pPr marL="2971800" indent="-228600" eaLnBrk="0" fontAlgn="base" hangingPunct="0">
              <a:lnSpc>
                <a:spcPct val="90000"/>
              </a:lnSpc>
              <a:spcBef>
                <a:spcPct val="0"/>
              </a:spcBef>
              <a:spcAft>
                <a:spcPct val="0"/>
              </a:spcAft>
              <a:defRPr kumimoji="1" sz="3600">
                <a:solidFill>
                  <a:schemeClr val="tx1"/>
                </a:solidFill>
                <a:latin typeface="华文中宋" pitchFamily="2" charset="-122"/>
                <a:ea typeface="华文中宋" pitchFamily="2" charset="-122"/>
              </a:defRPr>
            </a:lvl7pPr>
            <a:lvl8pPr marL="3429000" indent="-228600" eaLnBrk="0" fontAlgn="base" hangingPunct="0">
              <a:lnSpc>
                <a:spcPct val="90000"/>
              </a:lnSpc>
              <a:spcBef>
                <a:spcPct val="0"/>
              </a:spcBef>
              <a:spcAft>
                <a:spcPct val="0"/>
              </a:spcAft>
              <a:defRPr kumimoji="1" sz="3600">
                <a:solidFill>
                  <a:schemeClr val="tx1"/>
                </a:solidFill>
                <a:latin typeface="华文中宋" pitchFamily="2" charset="-122"/>
                <a:ea typeface="华文中宋" pitchFamily="2" charset="-122"/>
              </a:defRPr>
            </a:lvl8pPr>
            <a:lvl9pPr marL="3886200" indent="-228600" eaLnBrk="0" fontAlgn="base" hangingPunct="0">
              <a:lnSpc>
                <a:spcPct val="90000"/>
              </a:lnSpc>
              <a:spcBef>
                <a:spcPct val="0"/>
              </a:spcBef>
              <a:spcAft>
                <a:spcPct val="0"/>
              </a:spcAft>
              <a:defRPr kumimoji="1" sz="3600">
                <a:solidFill>
                  <a:schemeClr val="tx1"/>
                </a:solidFill>
                <a:latin typeface="华文中宋" pitchFamily="2" charset="-122"/>
                <a:ea typeface="华文中宋" pitchFamily="2" charset="-122"/>
              </a:defRPr>
            </a:lvl9pPr>
          </a:lstStyle>
          <a:p>
            <a:pPr eaLnBrk="1" hangingPunct="1">
              <a:lnSpc>
                <a:spcPct val="150000"/>
              </a:lnSpc>
            </a:pPr>
            <a:r>
              <a:rPr lang="en-US" altLang="zh-CN" sz="2400" dirty="0"/>
              <a:t>1</a:t>
            </a:r>
            <a:r>
              <a:rPr lang="zh-CN" altLang="en-US" sz="2400" dirty="0"/>
              <a:t>、</a:t>
            </a:r>
            <a:r>
              <a:rPr lang="zh-CN" altLang="en-US" sz="2400" dirty="0">
                <a:solidFill>
                  <a:srgbClr val="FF0000"/>
                </a:solidFill>
              </a:rPr>
              <a:t>电力二极管的结构</a:t>
            </a:r>
            <a:r>
              <a:rPr lang="zh-CN" altLang="en-US" sz="2400" dirty="0"/>
              <a:t>：</a:t>
            </a:r>
            <a:r>
              <a:rPr lang="zh-CN" altLang="en-US" sz="2400" dirty="0">
                <a:solidFill>
                  <a:srgbClr val="0070C0"/>
                </a:solidFill>
              </a:rPr>
              <a:t>垂直导电、</a:t>
            </a:r>
            <a:r>
              <a:rPr lang="en-US" altLang="zh-CN" sz="2400" dirty="0">
                <a:solidFill>
                  <a:srgbClr val="0070C0"/>
                </a:solidFill>
              </a:rPr>
              <a:t>PIN</a:t>
            </a:r>
            <a:r>
              <a:rPr lang="zh-CN" altLang="en-US" sz="2400" dirty="0">
                <a:solidFill>
                  <a:srgbClr val="0070C0"/>
                </a:solidFill>
              </a:rPr>
              <a:t>结构、电导调制效应、结电容（开关特性）</a:t>
            </a:r>
            <a:r>
              <a:rPr lang="zh-CN" altLang="en-US" sz="2400" dirty="0"/>
              <a:t>；</a:t>
            </a:r>
            <a:endParaRPr lang="en-US" altLang="zh-CN" sz="2400" dirty="0"/>
          </a:p>
          <a:p>
            <a:pPr eaLnBrk="1" hangingPunct="1">
              <a:lnSpc>
                <a:spcPct val="150000"/>
              </a:lnSpc>
            </a:pPr>
            <a:r>
              <a:rPr lang="en-US" altLang="zh-CN" sz="2400" dirty="0"/>
              <a:t>2</a:t>
            </a:r>
            <a:r>
              <a:rPr lang="zh-CN" altLang="en-US" sz="2400" dirty="0"/>
              <a:t>、</a:t>
            </a:r>
            <a:r>
              <a:rPr lang="zh-CN" altLang="en-US" sz="2400" dirty="0">
                <a:solidFill>
                  <a:srgbClr val="FF0000"/>
                </a:solidFill>
              </a:rPr>
              <a:t>电力二极管的静态特性</a:t>
            </a:r>
            <a:r>
              <a:rPr lang="en-US" altLang="zh-CN" sz="2400" dirty="0">
                <a:solidFill>
                  <a:srgbClr val="FF0000"/>
                </a:solidFill>
              </a:rPr>
              <a:t>;</a:t>
            </a:r>
          </a:p>
          <a:p>
            <a:pPr eaLnBrk="1" hangingPunct="1">
              <a:lnSpc>
                <a:spcPct val="150000"/>
              </a:lnSpc>
            </a:pPr>
            <a:r>
              <a:rPr lang="en-US" altLang="zh-CN" sz="2400" dirty="0"/>
              <a:t>3</a:t>
            </a:r>
            <a:r>
              <a:rPr lang="zh-CN" altLang="en-US" sz="2400" dirty="0">
                <a:solidFill>
                  <a:srgbClr val="FF0000"/>
                </a:solidFill>
              </a:rPr>
              <a:t>、动态特性：</a:t>
            </a:r>
            <a:endParaRPr lang="en-US" altLang="zh-CN" sz="2400" dirty="0">
              <a:solidFill>
                <a:srgbClr val="FF0000"/>
              </a:solidFill>
            </a:endParaRPr>
          </a:p>
          <a:p>
            <a:pPr eaLnBrk="1" hangingPunct="1">
              <a:lnSpc>
                <a:spcPct val="150000"/>
              </a:lnSpc>
            </a:pPr>
            <a:r>
              <a:rPr lang="en-US" altLang="zh-CN" sz="2400" dirty="0">
                <a:solidFill>
                  <a:srgbClr val="FF0000"/>
                </a:solidFill>
              </a:rPr>
              <a:t>	1)</a:t>
            </a:r>
            <a:r>
              <a:rPr lang="zh-CN" altLang="en-US" sz="2400" dirty="0">
                <a:solidFill>
                  <a:srgbClr val="FF0000"/>
                </a:solidFill>
              </a:rPr>
              <a:t>、</a:t>
            </a:r>
            <a:r>
              <a:rPr lang="zh-CN" altLang="en-US" sz="2400" b="1" dirty="0">
                <a:latin typeface="Times New Roman" pitchFamily="18" charset="0"/>
              </a:rPr>
              <a:t>正向偏置转换为反向偏置</a:t>
            </a:r>
            <a:r>
              <a:rPr lang="zh-CN" altLang="en-US" sz="2400" b="1" dirty="0">
                <a:solidFill>
                  <a:srgbClr val="0000FF"/>
                </a:solidFill>
                <a:latin typeface="Times New Roman" pitchFamily="18" charset="0"/>
              </a:rPr>
              <a:t> 动态过程</a:t>
            </a:r>
            <a:r>
              <a:rPr lang="en-US" altLang="zh-CN" sz="2400" b="1" dirty="0">
                <a:solidFill>
                  <a:srgbClr val="0000FF"/>
                </a:solidFill>
                <a:latin typeface="Times New Roman" pitchFamily="18" charset="0"/>
              </a:rPr>
              <a:t>(</a:t>
            </a:r>
            <a:r>
              <a:rPr lang="zh-CN" altLang="en-US" sz="2400" b="1" dirty="0">
                <a:solidFill>
                  <a:srgbClr val="FF0000"/>
                </a:solidFill>
                <a:latin typeface="Times New Roman" pitchFamily="18" charset="0"/>
              </a:rPr>
              <a:t>三段组成、延迟时间、电流下降时间，会伴随</a:t>
            </a:r>
            <a:r>
              <a:rPr lang="zh-CN" altLang="en-US" sz="2400" dirty="0">
                <a:solidFill>
                  <a:srgbClr val="FF0000"/>
                </a:solidFill>
              </a:rPr>
              <a:t>电流过冲、电压过冲</a:t>
            </a:r>
            <a:r>
              <a:rPr lang="en-US" altLang="zh-CN" sz="2400" b="1" dirty="0">
                <a:solidFill>
                  <a:srgbClr val="0000FF"/>
                </a:solidFill>
                <a:latin typeface="Times New Roman" pitchFamily="18" charset="0"/>
              </a:rPr>
              <a:t>)(</a:t>
            </a:r>
            <a:r>
              <a:rPr lang="zh-CN" altLang="en-US" sz="2400" b="1" dirty="0">
                <a:solidFill>
                  <a:srgbClr val="0000FF"/>
                </a:solidFill>
                <a:latin typeface="Times New Roman" pitchFamily="18" charset="0"/>
              </a:rPr>
              <a:t>与电感和电容（电导调制效应）有关系</a:t>
            </a:r>
            <a:r>
              <a:rPr lang="en-US" altLang="zh-CN" sz="2400" b="1" dirty="0">
                <a:solidFill>
                  <a:srgbClr val="0000FF"/>
                </a:solidFill>
                <a:latin typeface="Times New Roman" pitchFamily="18" charset="0"/>
              </a:rPr>
              <a:t>)</a:t>
            </a:r>
            <a:r>
              <a:rPr lang="zh-CN" altLang="en-US" sz="2400" dirty="0"/>
              <a:t>；反向恢复时间的定义</a:t>
            </a:r>
            <a:endParaRPr lang="en-US" altLang="zh-CN" sz="2400" dirty="0"/>
          </a:p>
          <a:p>
            <a:pPr eaLnBrk="1" hangingPunct="1">
              <a:lnSpc>
                <a:spcPct val="150000"/>
              </a:lnSpc>
            </a:pPr>
            <a:r>
              <a:rPr lang="en-US" altLang="zh-CN" sz="2400" dirty="0"/>
              <a:t>	2</a:t>
            </a:r>
            <a:r>
              <a:rPr lang="zh-CN" altLang="en-US" sz="2400" dirty="0"/>
              <a:t>）、零偏转换为正偏</a:t>
            </a:r>
            <a:r>
              <a:rPr lang="zh-CN" altLang="en-US" sz="2400" b="1" dirty="0">
                <a:solidFill>
                  <a:srgbClr val="0000FF"/>
                </a:solidFill>
                <a:latin typeface="Times New Roman" pitchFamily="18" charset="0"/>
              </a:rPr>
              <a:t>动态过程（</a:t>
            </a:r>
            <a:r>
              <a:rPr lang="zh-CN" altLang="en-US" sz="2400" b="1" dirty="0">
                <a:solidFill>
                  <a:srgbClr val="FF0000"/>
                </a:solidFill>
                <a:latin typeface="Times New Roman" pitchFamily="18" charset="0"/>
              </a:rPr>
              <a:t>电压过冲、电流上升，</a:t>
            </a:r>
            <a:r>
              <a:rPr lang="zh-CN" altLang="en-US" sz="2400" dirty="0">
                <a:solidFill>
                  <a:srgbClr val="FF0000"/>
                </a:solidFill>
              </a:rPr>
              <a:t>正向恢复时间</a:t>
            </a:r>
            <a:r>
              <a:rPr lang="zh-CN" altLang="en-US" sz="2400" b="1" dirty="0">
                <a:solidFill>
                  <a:srgbClr val="0000FF"/>
                </a:solidFill>
                <a:latin typeface="Times New Roman" pitchFamily="18" charset="0"/>
              </a:rPr>
              <a:t>）</a:t>
            </a:r>
            <a:r>
              <a:rPr lang="zh-CN" altLang="en-US" sz="2400" dirty="0"/>
              <a:t>；</a:t>
            </a:r>
            <a:endParaRPr lang="en-US" altLang="zh-CN" sz="2400" dirty="0"/>
          </a:p>
          <a:p>
            <a:pPr eaLnBrk="1" hangingPunct="1">
              <a:lnSpc>
                <a:spcPct val="150000"/>
              </a:lnSpc>
            </a:pPr>
            <a:r>
              <a:rPr lang="en-US" altLang="zh-CN" sz="2400" dirty="0"/>
              <a:t>4</a:t>
            </a:r>
            <a:r>
              <a:rPr lang="zh-CN" altLang="en-US" sz="2400" dirty="0"/>
              <a:t>、</a:t>
            </a:r>
            <a:r>
              <a:rPr lang="zh-CN" altLang="en-US" sz="2400" dirty="0">
                <a:solidFill>
                  <a:srgbClr val="FF0000"/>
                </a:solidFill>
              </a:rPr>
              <a:t>主要参数</a:t>
            </a:r>
            <a:r>
              <a:rPr lang="zh-CN" altLang="en-US" sz="2400" dirty="0"/>
              <a:t>。（额定电压，额定电流）</a:t>
            </a:r>
            <a:endParaRPr lang="zh-CN" altLang="en-US" dirty="0"/>
          </a:p>
        </p:txBody>
      </p:sp>
      <p:sp>
        <p:nvSpPr>
          <p:cNvPr id="2" name="灯片编号占位符 1"/>
          <p:cNvSpPr>
            <a:spLocks noGrp="1"/>
          </p:cNvSpPr>
          <p:nvPr>
            <p:ph type="sldNum" sz="quarter" idx="12"/>
          </p:nvPr>
        </p:nvSpPr>
        <p:spPr/>
        <p:txBody>
          <a:bodyPr/>
          <a:lstStyle/>
          <a:p>
            <a:fld id="{0C913308-F349-4B6D-A68A-DD1791B4A57B}" type="slidenum">
              <a:rPr lang="zh-CN" altLang="en-US" smtClean="0"/>
              <a:t>42</a:t>
            </a:fld>
            <a:endParaRPr lang="zh-CN" altLang="en-US"/>
          </a:p>
        </p:txBody>
      </p:sp>
      <p:sp>
        <p:nvSpPr>
          <p:cNvPr id="3" name="日期占位符 2"/>
          <p:cNvSpPr>
            <a:spLocks noGrp="1"/>
          </p:cNvSpPr>
          <p:nvPr>
            <p:ph type="dt" sz="half" idx="10"/>
          </p:nvPr>
        </p:nvSpPr>
        <p:spPr/>
        <p:txBody>
          <a:bodyPr/>
          <a:lstStyle/>
          <a:p>
            <a:fld id="{5894B8AF-4AC3-424D-A5B0-A065E684D0B6}" type="datetime10">
              <a:rPr lang="zh-CN" altLang="en-US" smtClean="0"/>
              <a:t>14:22</a:t>
            </a:fld>
            <a:endParaRPr lang="zh-CN" altLang="en-US"/>
          </a:p>
        </p:txBody>
      </p:sp>
      <p:sp>
        <p:nvSpPr>
          <p:cNvPr id="4" name="页脚占位符 3">
            <a:extLst>
              <a:ext uri="{FF2B5EF4-FFF2-40B4-BE49-F238E27FC236}">
                <a16:creationId xmlns:a16="http://schemas.microsoft.com/office/drawing/2014/main" id="{56FFB3C7-F901-4D7E-8925-6D2BEB1645CE}"/>
              </a:ext>
            </a:extLst>
          </p:cNvPr>
          <p:cNvSpPr>
            <a:spLocks noGrp="1"/>
          </p:cNvSpPr>
          <p:nvPr>
            <p:ph type="ftr" sz="quarter" idx="11"/>
          </p:nvPr>
        </p:nvSpPr>
        <p:spPr/>
        <p:txBody>
          <a:bodyPr/>
          <a:lstStyle/>
          <a:p>
            <a:endParaRPr lang="zh-CN" altLang="en-US"/>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4793"/>
    </mc:Choice>
    <mc:Fallback xmlns="">
      <p:transition spd="slow" advTm="4793"/>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30003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nodeType="clickEffect">
                                  <p:stCondLst>
                                    <p:cond delay="0"/>
                                  </p:stCondLst>
                                  <p:childTnLst>
                                    <p:set>
                                      <p:cBhvr>
                                        <p:cTn id="10" dur="1" fill="hold">
                                          <p:stCondLst>
                                            <p:cond delay="0"/>
                                          </p:stCondLst>
                                        </p:cTn>
                                        <p:tgtEl>
                                          <p:spTgt spid="300035">
                                            <p:txEl>
                                              <p:pRg st="0" end="0"/>
                                            </p:txEl>
                                          </p:spTgt>
                                        </p:tgtEl>
                                        <p:attrNameLst>
                                          <p:attrName>style.visibility</p:attrName>
                                        </p:attrNameLst>
                                      </p:cBhvr>
                                      <p:to>
                                        <p:strVal val="visible"/>
                                      </p:to>
                                    </p:set>
                                    <p:anim calcmode="lin" valueType="num">
                                      <p:cBhvr additive="base">
                                        <p:cTn id="11" dur="500" fill="hold"/>
                                        <p:tgtEl>
                                          <p:spTgt spid="300035">
                                            <p:txEl>
                                              <p:pRg st="0" end="0"/>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0003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300035">
                                            <p:txEl>
                                              <p:pRg st="1" end="1"/>
                                            </p:txEl>
                                          </p:spTgt>
                                        </p:tgtEl>
                                        <p:attrNameLst>
                                          <p:attrName>style.visibility</p:attrName>
                                        </p:attrNameLst>
                                      </p:cBhvr>
                                      <p:to>
                                        <p:strVal val="visible"/>
                                      </p:to>
                                    </p:set>
                                    <p:anim calcmode="lin" valueType="num">
                                      <p:cBhvr additive="base">
                                        <p:cTn id="17" dur="500" fill="hold"/>
                                        <p:tgtEl>
                                          <p:spTgt spid="300035">
                                            <p:txEl>
                                              <p:pRg st="1" end="1"/>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00035">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nodeType="clickEffect">
                                  <p:stCondLst>
                                    <p:cond delay="0"/>
                                  </p:stCondLst>
                                  <p:childTnLst>
                                    <p:set>
                                      <p:cBhvr>
                                        <p:cTn id="22" dur="1" fill="hold">
                                          <p:stCondLst>
                                            <p:cond delay="0"/>
                                          </p:stCondLst>
                                        </p:cTn>
                                        <p:tgtEl>
                                          <p:spTgt spid="300035">
                                            <p:txEl>
                                              <p:pRg st="2" end="2"/>
                                            </p:txEl>
                                          </p:spTgt>
                                        </p:tgtEl>
                                        <p:attrNameLst>
                                          <p:attrName>style.visibility</p:attrName>
                                        </p:attrNameLst>
                                      </p:cBhvr>
                                      <p:to>
                                        <p:strVal val="visible"/>
                                      </p:to>
                                    </p:set>
                                    <p:anim calcmode="lin" valueType="num">
                                      <p:cBhvr additive="base">
                                        <p:cTn id="23" dur="500" fill="hold"/>
                                        <p:tgtEl>
                                          <p:spTgt spid="300035">
                                            <p:txEl>
                                              <p:pRg st="2" end="2"/>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00035">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nodeType="clickEffect">
                                  <p:stCondLst>
                                    <p:cond delay="0"/>
                                  </p:stCondLst>
                                  <p:childTnLst>
                                    <p:set>
                                      <p:cBhvr>
                                        <p:cTn id="28" dur="1" fill="hold">
                                          <p:stCondLst>
                                            <p:cond delay="0"/>
                                          </p:stCondLst>
                                        </p:cTn>
                                        <p:tgtEl>
                                          <p:spTgt spid="300035">
                                            <p:txEl>
                                              <p:pRg st="3" end="3"/>
                                            </p:txEl>
                                          </p:spTgt>
                                        </p:tgtEl>
                                        <p:attrNameLst>
                                          <p:attrName>style.visibility</p:attrName>
                                        </p:attrNameLst>
                                      </p:cBhvr>
                                      <p:to>
                                        <p:strVal val="visible"/>
                                      </p:to>
                                    </p:set>
                                    <p:anim calcmode="lin" valueType="num">
                                      <p:cBhvr additive="base">
                                        <p:cTn id="29" dur="500" fill="hold"/>
                                        <p:tgtEl>
                                          <p:spTgt spid="300035">
                                            <p:txEl>
                                              <p:pRg st="3" end="3"/>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300035">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nodeType="clickEffect">
                                  <p:stCondLst>
                                    <p:cond delay="0"/>
                                  </p:stCondLst>
                                  <p:childTnLst>
                                    <p:set>
                                      <p:cBhvr>
                                        <p:cTn id="34" dur="1" fill="hold">
                                          <p:stCondLst>
                                            <p:cond delay="0"/>
                                          </p:stCondLst>
                                        </p:cTn>
                                        <p:tgtEl>
                                          <p:spTgt spid="300035">
                                            <p:txEl>
                                              <p:pRg st="4" end="4"/>
                                            </p:txEl>
                                          </p:spTgt>
                                        </p:tgtEl>
                                        <p:attrNameLst>
                                          <p:attrName>style.visibility</p:attrName>
                                        </p:attrNameLst>
                                      </p:cBhvr>
                                      <p:to>
                                        <p:strVal val="visible"/>
                                      </p:to>
                                    </p:set>
                                    <p:anim calcmode="lin" valueType="num">
                                      <p:cBhvr additive="base">
                                        <p:cTn id="35" dur="500" fill="hold"/>
                                        <p:tgtEl>
                                          <p:spTgt spid="300035">
                                            <p:txEl>
                                              <p:pRg st="4" end="4"/>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300035">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2" presetClass="entr" presetSubtype="4" fill="hold" nodeType="clickEffect">
                                  <p:stCondLst>
                                    <p:cond delay="0"/>
                                  </p:stCondLst>
                                  <p:childTnLst>
                                    <p:set>
                                      <p:cBhvr>
                                        <p:cTn id="40" dur="1" fill="hold">
                                          <p:stCondLst>
                                            <p:cond delay="0"/>
                                          </p:stCondLst>
                                        </p:cTn>
                                        <p:tgtEl>
                                          <p:spTgt spid="300035">
                                            <p:txEl>
                                              <p:pRg st="5" end="5"/>
                                            </p:txEl>
                                          </p:spTgt>
                                        </p:tgtEl>
                                        <p:attrNameLst>
                                          <p:attrName>style.visibility</p:attrName>
                                        </p:attrNameLst>
                                      </p:cBhvr>
                                      <p:to>
                                        <p:strVal val="visible"/>
                                      </p:to>
                                    </p:set>
                                    <p:anim calcmode="lin" valueType="num">
                                      <p:cBhvr additive="base">
                                        <p:cTn id="41" dur="500" fill="hold"/>
                                        <p:tgtEl>
                                          <p:spTgt spid="300035">
                                            <p:txEl>
                                              <p:pRg st="5" end="5"/>
                                            </p:txEl>
                                          </p:spTgt>
                                        </p:tgtEl>
                                        <p:attrNameLst>
                                          <p:attrName>ppt_x</p:attrName>
                                        </p:attrNameLst>
                                      </p:cBhvr>
                                      <p:tavLst>
                                        <p:tav tm="0">
                                          <p:val>
                                            <p:strVal val="#ppt_x"/>
                                          </p:val>
                                        </p:tav>
                                        <p:tav tm="100000">
                                          <p:val>
                                            <p:strVal val="#ppt_x"/>
                                          </p:val>
                                        </p:tav>
                                      </p:tavLst>
                                    </p:anim>
                                    <p:anim calcmode="lin" valueType="num">
                                      <p:cBhvr additive="base">
                                        <p:cTn id="42" dur="500" fill="hold"/>
                                        <p:tgtEl>
                                          <p:spTgt spid="300035">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0035" grpId="0" autoUpdateAnimBg="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7" name="Rectangle 2"/>
          <p:cNvSpPr>
            <a:spLocks noGrp="1" noChangeArrowheads="1"/>
          </p:cNvSpPr>
          <p:nvPr>
            <p:ph type="title"/>
          </p:nvPr>
        </p:nvSpPr>
        <p:spPr/>
        <p:txBody>
          <a:bodyPr/>
          <a:lstStyle/>
          <a:p>
            <a:pPr eaLnBrk="1" hangingPunct="1"/>
            <a:r>
              <a:rPr lang="zh-CN" altLang="en-US"/>
              <a:t>本节要点</a:t>
            </a:r>
          </a:p>
        </p:txBody>
      </p:sp>
      <p:sp>
        <p:nvSpPr>
          <p:cNvPr id="26628" name="Rectangle 3"/>
          <p:cNvSpPr>
            <a:spLocks noGrp="1" noChangeArrowheads="1"/>
          </p:cNvSpPr>
          <p:nvPr>
            <p:ph type="body" idx="1"/>
          </p:nvPr>
        </p:nvSpPr>
        <p:spPr>
          <a:xfrm>
            <a:off x="395536" y="695672"/>
            <a:ext cx="8748464" cy="6162328"/>
          </a:xfrm>
        </p:spPr>
        <p:txBody>
          <a:bodyPr/>
          <a:lstStyle/>
          <a:p>
            <a:r>
              <a:rPr lang="en-US" altLang="zh-CN" sz="2000" dirty="0"/>
              <a:t>1</a:t>
            </a:r>
            <a:r>
              <a:rPr lang="zh-CN" altLang="en-US" sz="2000" b="1" dirty="0">
                <a:solidFill>
                  <a:srgbClr val="FF0000"/>
                </a:solidFill>
              </a:rPr>
              <a:t>、晶闸管结构</a:t>
            </a:r>
            <a:r>
              <a:rPr lang="en-US" altLang="zh-CN" sz="2000" b="1" dirty="0">
                <a:solidFill>
                  <a:srgbClr val="FF0000"/>
                </a:solidFill>
              </a:rPr>
              <a:t>:</a:t>
            </a:r>
          </a:p>
          <a:p>
            <a:pPr lvl="2"/>
            <a:r>
              <a:rPr lang="zh-CN" altLang="en-US" sz="1800" b="1" dirty="0">
                <a:solidFill>
                  <a:srgbClr val="0070C0"/>
                </a:solidFill>
              </a:rPr>
              <a:t>四层半导体结构</a:t>
            </a:r>
            <a:endParaRPr lang="en-US" altLang="zh-CN" sz="1800" b="1" dirty="0">
              <a:solidFill>
                <a:srgbClr val="0070C0"/>
              </a:solidFill>
            </a:endParaRPr>
          </a:p>
          <a:p>
            <a:pPr lvl="2"/>
            <a:r>
              <a:rPr lang="zh-CN" altLang="en-US" sz="1800" b="1" dirty="0">
                <a:solidFill>
                  <a:srgbClr val="0070C0"/>
                </a:solidFill>
              </a:rPr>
              <a:t>三端器件</a:t>
            </a:r>
            <a:endParaRPr lang="en-US" altLang="zh-CN" sz="1800" b="1" dirty="0">
              <a:solidFill>
                <a:srgbClr val="0070C0"/>
              </a:solidFill>
            </a:endParaRPr>
          </a:p>
          <a:p>
            <a:pPr lvl="2"/>
            <a:r>
              <a:rPr lang="zh-CN" altLang="en-US" sz="1800" b="1" dirty="0">
                <a:solidFill>
                  <a:srgbClr val="0070C0"/>
                </a:solidFill>
              </a:rPr>
              <a:t>双晶体管模型</a:t>
            </a:r>
            <a:r>
              <a:rPr lang="en-US" altLang="zh-CN" sz="1800" b="1" dirty="0">
                <a:solidFill>
                  <a:srgbClr val="0070C0"/>
                </a:solidFill>
              </a:rPr>
              <a:t>;</a:t>
            </a:r>
          </a:p>
          <a:p>
            <a:r>
              <a:rPr lang="en-US" altLang="zh-CN" sz="2000" dirty="0"/>
              <a:t>2</a:t>
            </a:r>
            <a:r>
              <a:rPr lang="zh-CN" altLang="en-US" sz="2000" dirty="0"/>
              <a:t>、</a:t>
            </a:r>
            <a:r>
              <a:rPr lang="zh-CN" altLang="en-US" sz="2000" b="1" dirty="0">
                <a:solidFill>
                  <a:srgbClr val="FF0000"/>
                </a:solidFill>
              </a:rPr>
              <a:t>晶闸管的基本工作原理：</a:t>
            </a:r>
            <a:endParaRPr lang="en-US" altLang="zh-CN" sz="2000" b="1" dirty="0">
              <a:solidFill>
                <a:srgbClr val="FF0000"/>
              </a:solidFill>
            </a:endParaRPr>
          </a:p>
          <a:p>
            <a:pPr lvl="2"/>
            <a:r>
              <a:rPr lang="zh-CN" altLang="en-US" sz="1800" b="1" dirty="0">
                <a:solidFill>
                  <a:srgbClr val="0070C0"/>
                </a:solidFill>
              </a:rPr>
              <a:t>定性：正反馈</a:t>
            </a:r>
            <a:endParaRPr lang="en-US" altLang="zh-CN" sz="1800" b="1" dirty="0">
              <a:solidFill>
                <a:srgbClr val="0070C0"/>
              </a:solidFill>
            </a:endParaRPr>
          </a:p>
          <a:p>
            <a:pPr lvl="2"/>
            <a:r>
              <a:rPr lang="zh-CN" altLang="en-US" sz="1800" b="1" dirty="0">
                <a:solidFill>
                  <a:srgbClr val="0070C0"/>
                </a:solidFill>
              </a:rPr>
              <a:t>定量：阳极电流计算公式，公式不用记</a:t>
            </a:r>
            <a:endParaRPr lang="en-US" altLang="zh-CN" sz="1800" b="1" dirty="0">
              <a:solidFill>
                <a:srgbClr val="0070C0"/>
              </a:solidFill>
            </a:endParaRPr>
          </a:p>
          <a:p>
            <a:pPr lvl="2"/>
            <a:r>
              <a:rPr lang="zh-CN" altLang="en-US" sz="1800" b="1" dirty="0">
                <a:solidFill>
                  <a:srgbClr val="0070C0"/>
                </a:solidFill>
              </a:rPr>
              <a:t>晶闸管导通、关断条件；</a:t>
            </a:r>
            <a:endParaRPr lang="en-US" altLang="zh-CN" sz="1800" b="1" dirty="0">
              <a:solidFill>
                <a:srgbClr val="0070C0"/>
              </a:solidFill>
            </a:endParaRPr>
          </a:p>
          <a:p>
            <a:r>
              <a:rPr lang="en-US" altLang="zh-CN" sz="2000" dirty="0"/>
              <a:t>3</a:t>
            </a:r>
            <a:r>
              <a:rPr lang="zh-CN" altLang="en-US" sz="2000" dirty="0"/>
              <a:t>、</a:t>
            </a:r>
            <a:r>
              <a:rPr lang="zh-CN" altLang="en-US" sz="2000" b="1" dirty="0">
                <a:solidFill>
                  <a:srgbClr val="FF0000"/>
                </a:solidFill>
              </a:rPr>
              <a:t>晶闸管特性：</a:t>
            </a:r>
            <a:endParaRPr lang="en-US" altLang="zh-CN" sz="2000" b="1" dirty="0">
              <a:solidFill>
                <a:srgbClr val="FF0000"/>
              </a:solidFill>
            </a:endParaRPr>
          </a:p>
          <a:p>
            <a:pPr lvl="1"/>
            <a:r>
              <a:rPr lang="zh-CN" altLang="en-US" sz="2000" b="1" dirty="0">
                <a:solidFill>
                  <a:srgbClr val="FF0000"/>
                </a:solidFill>
              </a:rPr>
              <a:t>静态特性：</a:t>
            </a:r>
            <a:r>
              <a:rPr lang="zh-CN" altLang="en-US" sz="2000" dirty="0"/>
              <a:t>正常工作特性、反向特性、正向特性；</a:t>
            </a:r>
            <a:endParaRPr lang="en-US" altLang="zh-CN" sz="2000" dirty="0"/>
          </a:p>
          <a:p>
            <a:pPr lvl="1"/>
            <a:r>
              <a:rPr lang="zh-CN" altLang="en-US" sz="2000" b="1" dirty="0">
                <a:solidFill>
                  <a:srgbClr val="FF0000"/>
                </a:solidFill>
              </a:rPr>
              <a:t>动态特性：</a:t>
            </a:r>
            <a:endParaRPr lang="en-US" altLang="zh-CN" sz="2000" b="1" dirty="0">
              <a:solidFill>
                <a:srgbClr val="FF0000"/>
              </a:solidFill>
            </a:endParaRPr>
          </a:p>
          <a:p>
            <a:pPr lvl="2"/>
            <a:r>
              <a:rPr lang="zh-CN" altLang="en-US" sz="1800" b="1" dirty="0">
                <a:solidFill>
                  <a:srgbClr val="0070C0"/>
                </a:solidFill>
              </a:rPr>
              <a:t>开通（电流上升、电压下降过程，一维导通</a:t>
            </a:r>
            <a:r>
              <a:rPr lang="en-US" altLang="zh-CN" sz="1800" b="1" dirty="0">
                <a:solidFill>
                  <a:srgbClr val="0070C0"/>
                </a:solidFill>
              </a:rPr>
              <a:t>—</a:t>
            </a:r>
            <a:r>
              <a:rPr lang="zh-CN" altLang="en-US" sz="1800" b="1" dirty="0">
                <a:solidFill>
                  <a:srgbClr val="0070C0"/>
                </a:solidFill>
              </a:rPr>
              <a:t>二维导通）</a:t>
            </a:r>
            <a:endParaRPr lang="en-US" altLang="zh-CN" sz="1800" b="1" dirty="0">
              <a:solidFill>
                <a:srgbClr val="0070C0"/>
              </a:solidFill>
            </a:endParaRPr>
          </a:p>
          <a:p>
            <a:pPr lvl="2"/>
            <a:r>
              <a:rPr lang="zh-CN" altLang="en-US" sz="1800" b="1" dirty="0">
                <a:solidFill>
                  <a:srgbClr val="0070C0"/>
                </a:solidFill>
              </a:rPr>
              <a:t>关断（二极管关断过程</a:t>
            </a:r>
            <a:r>
              <a:rPr lang="en-US" altLang="zh-CN" sz="1800" b="1" dirty="0">
                <a:solidFill>
                  <a:srgbClr val="0070C0"/>
                </a:solidFill>
              </a:rPr>
              <a:t>+</a:t>
            </a:r>
            <a:r>
              <a:rPr lang="zh-CN" altLang="en-US" sz="1800" b="1" dirty="0">
                <a:solidFill>
                  <a:srgbClr val="0070C0"/>
                </a:solidFill>
              </a:rPr>
              <a:t>正向阻断恢复时间，接触面小无法控制关断）；</a:t>
            </a:r>
          </a:p>
          <a:p>
            <a:r>
              <a:rPr lang="en-US" altLang="zh-CN" sz="2000" dirty="0"/>
              <a:t>4</a:t>
            </a:r>
            <a:r>
              <a:rPr lang="zh-CN" altLang="en-US" sz="2000" dirty="0"/>
              <a:t>、</a:t>
            </a:r>
            <a:r>
              <a:rPr lang="zh-CN" altLang="en-US" sz="2000" b="1" dirty="0">
                <a:solidFill>
                  <a:srgbClr val="FF0000"/>
                </a:solidFill>
              </a:rPr>
              <a:t>晶闸管的选择（额定电压、电流的选择</a:t>
            </a:r>
            <a:r>
              <a:rPr lang="en-US" altLang="zh-CN" sz="2000" b="1" dirty="0">
                <a:solidFill>
                  <a:srgbClr val="FF0000"/>
                </a:solidFill>
              </a:rPr>
              <a:t>)</a:t>
            </a:r>
            <a:r>
              <a:rPr lang="zh-CN" altLang="en-US" sz="2000" b="1" dirty="0">
                <a:solidFill>
                  <a:srgbClr val="FF0000"/>
                </a:solidFill>
              </a:rPr>
              <a:t>；</a:t>
            </a:r>
            <a:endParaRPr lang="en-US" altLang="zh-CN" sz="2000" b="1" dirty="0">
              <a:solidFill>
                <a:srgbClr val="FF0000"/>
              </a:solidFill>
            </a:endParaRPr>
          </a:p>
          <a:p>
            <a:pPr lvl="2"/>
            <a:r>
              <a:rPr lang="zh-CN" altLang="en-US" sz="1800" b="1" dirty="0">
                <a:solidFill>
                  <a:srgbClr val="0070C0"/>
                </a:solidFill>
              </a:rPr>
              <a:t>维持电流：和关断有关系；</a:t>
            </a:r>
            <a:endParaRPr lang="en-US" altLang="zh-CN" sz="1800" b="1" dirty="0">
              <a:solidFill>
                <a:srgbClr val="0070C0"/>
              </a:solidFill>
            </a:endParaRPr>
          </a:p>
          <a:p>
            <a:pPr lvl="2"/>
            <a:r>
              <a:rPr lang="zh-CN" altLang="en-US" sz="1800" b="1" dirty="0">
                <a:solidFill>
                  <a:srgbClr val="0070C0"/>
                </a:solidFill>
              </a:rPr>
              <a:t>擎住电流：和开通有关系；</a:t>
            </a:r>
            <a:endParaRPr lang="en-US" altLang="zh-CN" sz="1800" b="1" dirty="0">
              <a:solidFill>
                <a:srgbClr val="0070C0"/>
              </a:solidFill>
            </a:endParaRPr>
          </a:p>
          <a:p>
            <a:pPr lvl="2"/>
            <a:r>
              <a:rPr lang="zh-CN" altLang="en-US" sz="1800" b="1" dirty="0">
                <a:solidFill>
                  <a:srgbClr val="0070C0"/>
                </a:solidFill>
              </a:rPr>
              <a:t>断态电压临界上升率</a:t>
            </a:r>
            <a:r>
              <a:rPr lang="en-US" altLang="zh-CN" sz="1800" b="1" dirty="0">
                <a:solidFill>
                  <a:srgbClr val="0070C0"/>
                </a:solidFill>
              </a:rPr>
              <a:t>du/dt</a:t>
            </a:r>
            <a:r>
              <a:rPr lang="zh-CN" altLang="en-US" sz="1800" b="1" dirty="0">
                <a:solidFill>
                  <a:srgbClr val="0070C0"/>
                </a:solidFill>
              </a:rPr>
              <a:t>；</a:t>
            </a:r>
            <a:endParaRPr lang="en-US" altLang="zh-CN" sz="1800" b="1" dirty="0">
              <a:solidFill>
                <a:srgbClr val="0070C0"/>
              </a:solidFill>
            </a:endParaRPr>
          </a:p>
          <a:p>
            <a:pPr lvl="2"/>
            <a:r>
              <a:rPr lang="zh-CN" altLang="en-US" sz="1800" b="1" dirty="0">
                <a:solidFill>
                  <a:srgbClr val="0070C0"/>
                </a:solidFill>
              </a:rPr>
              <a:t>通态电流临界上升率</a:t>
            </a:r>
            <a:r>
              <a:rPr lang="en-US" altLang="zh-CN" sz="1800" b="1" dirty="0">
                <a:solidFill>
                  <a:srgbClr val="0070C0"/>
                </a:solidFill>
              </a:rPr>
              <a:t>di/dt</a:t>
            </a:r>
            <a:r>
              <a:rPr lang="zh-CN" altLang="en-US" sz="1800" b="1" dirty="0">
                <a:solidFill>
                  <a:srgbClr val="0070C0"/>
                </a:solidFill>
              </a:rPr>
              <a:t>；</a:t>
            </a:r>
          </a:p>
        </p:txBody>
      </p:sp>
      <p:sp>
        <p:nvSpPr>
          <p:cNvPr id="2" name="灯片编号占位符 1"/>
          <p:cNvSpPr>
            <a:spLocks noGrp="1"/>
          </p:cNvSpPr>
          <p:nvPr>
            <p:ph type="sldNum" sz="quarter" idx="12"/>
          </p:nvPr>
        </p:nvSpPr>
        <p:spPr/>
        <p:txBody>
          <a:bodyPr/>
          <a:lstStyle/>
          <a:p>
            <a:fld id="{0C913308-F349-4B6D-A68A-DD1791B4A57B}" type="slidenum">
              <a:rPr lang="zh-CN" altLang="en-US" smtClean="0"/>
              <a:t>43</a:t>
            </a:fld>
            <a:endParaRPr lang="zh-CN" altLang="en-US"/>
          </a:p>
        </p:txBody>
      </p:sp>
      <p:sp>
        <p:nvSpPr>
          <p:cNvPr id="4" name="日期占位符 3">
            <a:extLst>
              <a:ext uri="{FF2B5EF4-FFF2-40B4-BE49-F238E27FC236}">
                <a16:creationId xmlns:a16="http://schemas.microsoft.com/office/drawing/2014/main" id="{69D4B2AA-056E-469A-BF09-AF79BD0B8376}"/>
              </a:ext>
            </a:extLst>
          </p:cNvPr>
          <p:cNvSpPr>
            <a:spLocks noGrp="1"/>
          </p:cNvSpPr>
          <p:nvPr>
            <p:ph type="dt" sz="half" idx="10"/>
          </p:nvPr>
        </p:nvSpPr>
        <p:spPr/>
        <p:txBody>
          <a:bodyPr/>
          <a:lstStyle/>
          <a:p>
            <a:fld id="{A7DA73AA-0274-4365-B1AC-6E15F75843EB}" type="datetime10">
              <a:rPr lang="zh-CN" altLang="en-US" smtClean="0"/>
              <a:t>14:22</a:t>
            </a:fld>
            <a:endParaRPr lang="zh-CN" altLang="en-US"/>
          </a:p>
        </p:txBody>
      </p:sp>
      <p:sp>
        <p:nvSpPr>
          <p:cNvPr id="5" name="页脚占位符 4">
            <a:extLst>
              <a:ext uri="{FF2B5EF4-FFF2-40B4-BE49-F238E27FC236}">
                <a16:creationId xmlns:a16="http://schemas.microsoft.com/office/drawing/2014/main" id="{836A8B46-46EC-4FBA-8198-B30CA12D7AC0}"/>
              </a:ext>
            </a:extLst>
          </p:cNvPr>
          <p:cNvSpPr>
            <a:spLocks noGrp="1"/>
          </p:cNvSpPr>
          <p:nvPr>
            <p:ph type="ftr" sz="quarter" idx="11"/>
          </p:nvPr>
        </p:nvSpPr>
        <p:spPr>
          <a:xfrm>
            <a:off x="6172200" y="5606703"/>
            <a:ext cx="2895600" cy="476250"/>
          </a:xfrm>
        </p:spPr>
        <p:txBody>
          <a:bodyPr/>
          <a:lstStyle/>
          <a:p>
            <a:endParaRPr lang="zh-CN" altLang="en-US" dirty="0"/>
          </a:p>
        </p:txBody>
      </p:sp>
    </p:spTree>
    <p:extLst>
      <p:ext uri="{BB962C8B-B14F-4D97-AF65-F5344CB8AC3E}">
        <p14:creationId xmlns:p14="http://schemas.microsoft.com/office/powerpoint/2010/main" val="1562314184"/>
      </p:ext>
    </p:extLst>
  </p:cSld>
  <p:clrMapOvr>
    <a:masterClrMapping/>
  </p:clrMapOvr>
  <mc:AlternateContent xmlns:mc="http://schemas.openxmlformats.org/markup-compatibility/2006" xmlns:p14="http://schemas.microsoft.com/office/powerpoint/2010/main">
    <mc:Choice Requires="p14">
      <p:transition spd="slow" p14:dur="2000" advTm="472145"/>
    </mc:Choice>
    <mc:Fallback xmlns="">
      <p:transition spd="slow" advTm="472145"/>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6628">
                                            <p:txEl>
                                              <p:pRg st="0" end="0"/>
                                            </p:txEl>
                                          </p:spTgt>
                                        </p:tgtEl>
                                        <p:attrNameLst>
                                          <p:attrName>style.visibility</p:attrName>
                                        </p:attrNameLst>
                                      </p:cBhvr>
                                      <p:to>
                                        <p:strVal val="visible"/>
                                      </p:to>
                                    </p:set>
                                    <p:anim calcmode="lin" valueType="num">
                                      <p:cBhvr additive="base">
                                        <p:cTn id="7" dur="500" fill="hold"/>
                                        <p:tgtEl>
                                          <p:spTgt spid="26628">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6628">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26628">
                                            <p:txEl>
                                              <p:pRg st="1" end="1"/>
                                            </p:txEl>
                                          </p:spTgt>
                                        </p:tgtEl>
                                        <p:attrNameLst>
                                          <p:attrName>style.visibility</p:attrName>
                                        </p:attrNameLst>
                                      </p:cBhvr>
                                      <p:to>
                                        <p:strVal val="visible"/>
                                      </p:to>
                                    </p:set>
                                    <p:anim calcmode="lin" valueType="num">
                                      <p:cBhvr additive="base">
                                        <p:cTn id="11" dur="500" fill="hold"/>
                                        <p:tgtEl>
                                          <p:spTgt spid="26628">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26628">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26628">
                                            <p:txEl>
                                              <p:pRg st="2" end="2"/>
                                            </p:txEl>
                                          </p:spTgt>
                                        </p:tgtEl>
                                        <p:attrNameLst>
                                          <p:attrName>style.visibility</p:attrName>
                                        </p:attrNameLst>
                                      </p:cBhvr>
                                      <p:to>
                                        <p:strVal val="visible"/>
                                      </p:to>
                                    </p:set>
                                    <p:anim calcmode="lin" valueType="num">
                                      <p:cBhvr additive="base">
                                        <p:cTn id="15" dur="500" fill="hold"/>
                                        <p:tgtEl>
                                          <p:spTgt spid="26628">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26628">
                                            <p:txEl>
                                              <p:pRg st="2" end="2"/>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26628">
                                            <p:txEl>
                                              <p:pRg st="3" end="3"/>
                                            </p:txEl>
                                          </p:spTgt>
                                        </p:tgtEl>
                                        <p:attrNameLst>
                                          <p:attrName>style.visibility</p:attrName>
                                        </p:attrNameLst>
                                      </p:cBhvr>
                                      <p:to>
                                        <p:strVal val="visible"/>
                                      </p:to>
                                    </p:set>
                                    <p:anim calcmode="lin" valueType="num">
                                      <p:cBhvr additive="base">
                                        <p:cTn id="19" dur="500" fill="hold"/>
                                        <p:tgtEl>
                                          <p:spTgt spid="26628">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6628">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26628">
                                            <p:txEl>
                                              <p:pRg st="4" end="4"/>
                                            </p:txEl>
                                          </p:spTgt>
                                        </p:tgtEl>
                                        <p:attrNameLst>
                                          <p:attrName>style.visibility</p:attrName>
                                        </p:attrNameLst>
                                      </p:cBhvr>
                                      <p:to>
                                        <p:strVal val="visible"/>
                                      </p:to>
                                    </p:set>
                                    <p:anim calcmode="lin" valueType="num">
                                      <p:cBhvr additive="base">
                                        <p:cTn id="25" dur="500" fill="hold"/>
                                        <p:tgtEl>
                                          <p:spTgt spid="26628">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26628">
                                            <p:txEl>
                                              <p:pRg st="4" end="4"/>
                                            </p:txEl>
                                          </p:spTgt>
                                        </p:tgtEl>
                                        <p:attrNameLst>
                                          <p:attrName>ppt_y</p:attrName>
                                        </p:attrNameLst>
                                      </p:cBhvr>
                                      <p:tavLst>
                                        <p:tav tm="0">
                                          <p:val>
                                            <p:strVal val="1+#ppt_h/2"/>
                                          </p:val>
                                        </p:tav>
                                        <p:tav tm="100000">
                                          <p:val>
                                            <p:strVal val="#ppt_y"/>
                                          </p:val>
                                        </p:tav>
                                      </p:tavLst>
                                    </p:anim>
                                  </p:childTnLst>
                                </p:cTn>
                              </p:par>
                              <p:par>
                                <p:cTn id="27" presetID="2" presetClass="entr" presetSubtype="4" fill="hold" nodeType="withEffect">
                                  <p:stCondLst>
                                    <p:cond delay="0"/>
                                  </p:stCondLst>
                                  <p:childTnLst>
                                    <p:set>
                                      <p:cBhvr>
                                        <p:cTn id="28" dur="1" fill="hold">
                                          <p:stCondLst>
                                            <p:cond delay="0"/>
                                          </p:stCondLst>
                                        </p:cTn>
                                        <p:tgtEl>
                                          <p:spTgt spid="26628">
                                            <p:txEl>
                                              <p:pRg st="5" end="5"/>
                                            </p:txEl>
                                          </p:spTgt>
                                        </p:tgtEl>
                                        <p:attrNameLst>
                                          <p:attrName>style.visibility</p:attrName>
                                        </p:attrNameLst>
                                      </p:cBhvr>
                                      <p:to>
                                        <p:strVal val="visible"/>
                                      </p:to>
                                    </p:set>
                                    <p:anim calcmode="lin" valueType="num">
                                      <p:cBhvr additive="base">
                                        <p:cTn id="29" dur="500" fill="hold"/>
                                        <p:tgtEl>
                                          <p:spTgt spid="26628">
                                            <p:txEl>
                                              <p:pRg st="5" end="5"/>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26628">
                                            <p:txEl>
                                              <p:pRg st="5" end="5"/>
                                            </p:txEl>
                                          </p:spTgt>
                                        </p:tgtEl>
                                        <p:attrNameLst>
                                          <p:attrName>ppt_y</p:attrName>
                                        </p:attrNameLst>
                                      </p:cBhvr>
                                      <p:tavLst>
                                        <p:tav tm="0">
                                          <p:val>
                                            <p:strVal val="1+#ppt_h/2"/>
                                          </p:val>
                                        </p:tav>
                                        <p:tav tm="100000">
                                          <p:val>
                                            <p:strVal val="#ppt_y"/>
                                          </p:val>
                                        </p:tav>
                                      </p:tavLst>
                                    </p:anim>
                                  </p:childTnLst>
                                </p:cTn>
                              </p:par>
                              <p:par>
                                <p:cTn id="31" presetID="2" presetClass="entr" presetSubtype="4" fill="hold" nodeType="withEffect">
                                  <p:stCondLst>
                                    <p:cond delay="0"/>
                                  </p:stCondLst>
                                  <p:childTnLst>
                                    <p:set>
                                      <p:cBhvr>
                                        <p:cTn id="32" dur="1" fill="hold">
                                          <p:stCondLst>
                                            <p:cond delay="0"/>
                                          </p:stCondLst>
                                        </p:cTn>
                                        <p:tgtEl>
                                          <p:spTgt spid="26628">
                                            <p:txEl>
                                              <p:pRg st="6" end="6"/>
                                            </p:txEl>
                                          </p:spTgt>
                                        </p:tgtEl>
                                        <p:attrNameLst>
                                          <p:attrName>style.visibility</p:attrName>
                                        </p:attrNameLst>
                                      </p:cBhvr>
                                      <p:to>
                                        <p:strVal val="visible"/>
                                      </p:to>
                                    </p:set>
                                    <p:anim calcmode="lin" valueType="num">
                                      <p:cBhvr additive="base">
                                        <p:cTn id="33" dur="500" fill="hold"/>
                                        <p:tgtEl>
                                          <p:spTgt spid="26628">
                                            <p:txEl>
                                              <p:pRg st="6" end="6"/>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26628">
                                            <p:txEl>
                                              <p:pRg st="6" end="6"/>
                                            </p:txEl>
                                          </p:spTgt>
                                        </p:tgtEl>
                                        <p:attrNameLst>
                                          <p:attrName>ppt_y</p:attrName>
                                        </p:attrNameLst>
                                      </p:cBhvr>
                                      <p:tavLst>
                                        <p:tav tm="0">
                                          <p:val>
                                            <p:strVal val="1+#ppt_h/2"/>
                                          </p:val>
                                        </p:tav>
                                        <p:tav tm="100000">
                                          <p:val>
                                            <p:strVal val="#ppt_y"/>
                                          </p:val>
                                        </p:tav>
                                      </p:tavLst>
                                    </p:anim>
                                  </p:childTnLst>
                                </p:cTn>
                              </p:par>
                              <p:par>
                                <p:cTn id="35" presetID="2" presetClass="entr" presetSubtype="4" fill="hold" nodeType="withEffect">
                                  <p:stCondLst>
                                    <p:cond delay="0"/>
                                  </p:stCondLst>
                                  <p:childTnLst>
                                    <p:set>
                                      <p:cBhvr>
                                        <p:cTn id="36" dur="1" fill="hold">
                                          <p:stCondLst>
                                            <p:cond delay="0"/>
                                          </p:stCondLst>
                                        </p:cTn>
                                        <p:tgtEl>
                                          <p:spTgt spid="26628">
                                            <p:txEl>
                                              <p:pRg st="7" end="7"/>
                                            </p:txEl>
                                          </p:spTgt>
                                        </p:tgtEl>
                                        <p:attrNameLst>
                                          <p:attrName>style.visibility</p:attrName>
                                        </p:attrNameLst>
                                      </p:cBhvr>
                                      <p:to>
                                        <p:strVal val="visible"/>
                                      </p:to>
                                    </p:set>
                                    <p:anim calcmode="lin" valueType="num">
                                      <p:cBhvr additive="base">
                                        <p:cTn id="37" dur="500" fill="hold"/>
                                        <p:tgtEl>
                                          <p:spTgt spid="26628">
                                            <p:txEl>
                                              <p:pRg st="7" end="7"/>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26628">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26628">
                                            <p:txEl>
                                              <p:pRg st="8" end="8"/>
                                            </p:txEl>
                                          </p:spTgt>
                                        </p:tgtEl>
                                        <p:attrNameLst>
                                          <p:attrName>style.visibility</p:attrName>
                                        </p:attrNameLst>
                                      </p:cBhvr>
                                      <p:to>
                                        <p:strVal val="visible"/>
                                      </p:to>
                                    </p:set>
                                    <p:anim calcmode="lin" valueType="num">
                                      <p:cBhvr additive="base">
                                        <p:cTn id="43" dur="500" fill="hold"/>
                                        <p:tgtEl>
                                          <p:spTgt spid="26628">
                                            <p:txEl>
                                              <p:pRg st="8" end="8"/>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26628">
                                            <p:txEl>
                                              <p:pRg st="8" end="8"/>
                                            </p:txEl>
                                          </p:spTgt>
                                        </p:tgtEl>
                                        <p:attrNameLst>
                                          <p:attrName>ppt_y</p:attrName>
                                        </p:attrNameLst>
                                      </p:cBhvr>
                                      <p:tavLst>
                                        <p:tav tm="0">
                                          <p:val>
                                            <p:strVal val="1+#ppt_h/2"/>
                                          </p:val>
                                        </p:tav>
                                        <p:tav tm="100000">
                                          <p:val>
                                            <p:strVal val="#ppt_y"/>
                                          </p:val>
                                        </p:tav>
                                      </p:tavLst>
                                    </p:anim>
                                  </p:childTnLst>
                                </p:cTn>
                              </p:par>
                              <p:par>
                                <p:cTn id="45" presetID="2" presetClass="entr" presetSubtype="4" fill="hold" nodeType="withEffect">
                                  <p:stCondLst>
                                    <p:cond delay="0"/>
                                  </p:stCondLst>
                                  <p:childTnLst>
                                    <p:set>
                                      <p:cBhvr>
                                        <p:cTn id="46" dur="1" fill="hold">
                                          <p:stCondLst>
                                            <p:cond delay="0"/>
                                          </p:stCondLst>
                                        </p:cTn>
                                        <p:tgtEl>
                                          <p:spTgt spid="26628">
                                            <p:txEl>
                                              <p:pRg st="9" end="9"/>
                                            </p:txEl>
                                          </p:spTgt>
                                        </p:tgtEl>
                                        <p:attrNameLst>
                                          <p:attrName>style.visibility</p:attrName>
                                        </p:attrNameLst>
                                      </p:cBhvr>
                                      <p:to>
                                        <p:strVal val="visible"/>
                                      </p:to>
                                    </p:set>
                                    <p:anim calcmode="lin" valueType="num">
                                      <p:cBhvr additive="base">
                                        <p:cTn id="47" dur="500" fill="hold"/>
                                        <p:tgtEl>
                                          <p:spTgt spid="26628">
                                            <p:txEl>
                                              <p:pRg st="9" end="9"/>
                                            </p:txEl>
                                          </p:spTgt>
                                        </p:tgtEl>
                                        <p:attrNameLst>
                                          <p:attrName>ppt_x</p:attrName>
                                        </p:attrNameLst>
                                      </p:cBhvr>
                                      <p:tavLst>
                                        <p:tav tm="0">
                                          <p:val>
                                            <p:strVal val="#ppt_x"/>
                                          </p:val>
                                        </p:tav>
                                        <p:tav tm="100000">
                                          <p:val>
                                            <p:strVal val="#ppt_x"/>
                                          </p:val>
                                        </p:tav>
                                      </p:tavLst>
                                    </p:anim>
                                    <p:anim calcmode="lin" valueType="num">
                                      <p:cBhvr additive="base">
                                        <p:cTn id="48" dur="500" fill="hold"/>
                                        <p:tgtEl>
                                          <p:spTgt spid="26628">
                                            <p:txEl>
                                              <p:pRg st="9" end="9"/>
                                            </p:txEl>
                                          </p:spTgt>
                                        </p:tgtEl>
                                        <p:attrNameLst>
                                          <p:attrName>ppt_y</p:attrName>
                                        </p:attrNameLst>
                                      </p:cBhvr>
                                      <p:tavLst>
                                        <p:tav tm="0">
                                          <p:val>
                                            <p:strVal val="1+#ppt_h/2"/>
                                          </p:val>
                                        </p:tav>
                                        <p:tav tm="100000">
                                          <p:val>
                                            <p:strVal val="#ppt_y"/>
                                          </p:val>
                                        </p:tav>
                                      </p:tavLst>
                                    </p:anim>
                                  </p:childTnLst>
                                </p:cTn>
                              </p:par>
                              <p:par>
                                <p:cTn id="49" presetID="2" presetClass="entr" presetSubtype="4" fill="hold" nodeType="withEffect">
                                  <p:stCondLst>
                                    <p:cond delay="0"/>
                                  </p:stCondLst>
                                  <p:childTnLst>
                                    <p:set>
                                      <p:cBhvr>
                                        <p:cTn id="50" dur="1" fill="hold">
                                          <p:stCondLst>
                                            <p:cond delay="0"/>
                                          </p:stCondLst>
                                        </p:cTn>
                                        <p:tgtEl>
                                          <p:spTgt spid="26628">
                                            <p:txEl>
                                              <p:pRg st="10" end="10"/>
                                            </p:txEl>
                                          </p:spTgt>
                                        </p:tgtEl>
                                        <p:attrNameLst>
                                          <p:attrName>style.visibility</p:attrName>
                                        </p:attrNameLst>
                                      </p:cBhvr>
                                      <p:to>
                                        <p:strVal val="visible"/>
                                      </p:to>
                                    </p:set>
                                    <p:anim calcmode="lin" valueType="num">
                                      <p:cBhvr additive="base">
                                        <p:cTn id="51" dur="500" fill="hold"/>
                                        <p:tgtEl>
                                          <p:spTgt spid="26628">
                                            <p:txEl>
                                              <p:pRg st="10" end="10"/>
                                            </p:txEl>
                                          </p:spTgt>
                                        </p:tgtEl>
                                        <p:attrNameLst>
                                          <p:attrName>ppt_x</p:attrName>
                                        </p:attrNameLst>
                                      </p:cBhvr>
                                      <p:tavLst>
                                        <p:tav tm="0">
                                          <p:val>
                                            <p:strVal val="#ppt_x"/>
                                          </p:val>
                                        </p:tav>
                                        <p:tav tm="100000">
                                          <p:val>
                                            <p:strVal val="#ppt_x"/>
                                          </p:val>
                                        </p:tav>
                                      </p:tavLst>
                                    </p:anim>
                                    <p:anim calcmode="lin" valueType="num">
                                      <p:cBhvr additive="base">
                                        <p:cTn id="52" dur="500" fill="hold"/>
                                        <p:tgtEl>
                                          <p:spTgt spid="26628">
                                            <p:txEl>
                                              <p:pRg st="10" end="10"/>
                                            </p:txEl>
                                          </p:spTgt>
                                        </p:tgtEl>
                                        <p:attrNameLst>
                                          <p:attrName>ppt_y</p:attrName>
                                        </p:attrNameLst>
                                      </p:cBhvr>
                                      <p:tavLst>
                                        <p:tav tm="0">
                                          <p:val>
                                            <p:strVal val="1+#ppt_h/2"/>
                                          </p:val>
                                        </p:tav>
                                        <p:tav tm="100000">
                                          <p:val>
                                            <p:strVal val="#ppt_y"/>
                                          </p:val>
                                        </p:tav>
                                      </p:tavLst>
                                    </p:anim>
                                  </p:childTnLst>
                                </p:cTn>
                              </p:par>
                              <p:par>
                                <p:cTn id="53" presetID="2" presetClass="entr" presetSubtype="4" fill="hold" nodeType="withEffect">
                                  <p:stCondLst>
                                    <p:cond delay="0"/>
                                  </p:stCondLst>
                                  <p:childTnLst>
                                    <p:set>
                                      <p:cBhvr>
                                        <p:cTn id="54" dur="1" fill="hold">
                                          <p:stCondLst>
                                            <p:cond delay="0"/>
                                          </p:stCondLst>
                                        </p:cTn>
                                        <p:tgtEl>
                                          <p:spTgt spid="26628">
                                            <p:txEl>
                                              <p:pRg st="11" end="11"/>
                                            </p:txEl>
                                          </p:spTgt>
                                        </p:tgtEl>
                                        <p:attrNameLst>
                                          <p:attrName>style.visibility</p:attrName>
                                        </p:attrNameLst>
                                      </p:cBhvr>
                                      <p:to>
                                        <p:strVal val="visible"/>
                                      </p:to>
                                    </p:set>
                                    <p:anim calcmode="lin" valueType="num">
                                      <p:cBhvr additive="base">
                                        <p:cTn id="55" dur="500" fill="hold"/>
                                        <p:tgtEl>
                                          <p:spTgt spid="26628">
                                            <p:txEl>
                                              <p:pRg st="11" end="11"/>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26628">
                                            <p:txEl>
                                              <p:pRg st="11" end="11"/>
                                            </p:txEl>
                                          </p:spTgt>
                                        </p:tgtEl>
                                        <p:attrNameLst>
                                          <p:attrName>ppt_y</p:attrName>
                                        </p:attrNameLst>
                                      </p:cBhvr>
                                      <p:tavLst>
                                        <p:tav tm="0">
                                          <p:val>
                                            <p:strVal val="1+#ppt_h/2"/>
                                          </p:val>
                                        </p:tav>
                                        <p:tav tm="100000">
                                          <p:val>
                                            <p:strVal val="#ppt_y"/>
                                          </p:val>
                                        </p:tav>
                                      </p:tavLst>
                                    </p:anim>
                                  </p:childTnLst>
                                </p:cTn>
                              </p:par>
                              <p:par>
                                <p:cTn id="57" presetID="2" presetClass="entr" presetSubtype="4" fill="hold" nodeType="withEffect">
                                  <p:stCondLst>
                                    <p:cond delay="0"/>
                                  </p:stCondLst>
                                  <p:childTnLst>
                                    <p:set>
                                      <p:cBhvr>
                                        <p:cTn id="58" dur="1" fill="hold">
                                          <p:stCondLst>
                                            <p:cond delay="0"/>
                                          </p:stCondLst>
                                        </p:cTn>
                                        <p:tgtEl>
                                          <p:spTgt spid="26628">
                                            <p:txEl>
                                              <p:pRg st="12" end="12"/>
                                            </p:txEl>
                                          </p:spTgt>
                                        </p:tgtEl>
                                        <p:attrNameLst>
                                          <p:attrName>style.visibility</p:attrName>
                                        </p:attrNameLst>
                                      </p:cBhvr>
                                      <p:to>
                                        <p:strVal val="visible"/>
                                      </p:to>
                                    </p:set>
                                    <p:anim calcmode="lin" valueType="num">
                                      <p:cBhvr additive="base">
                                        <p:cTn id="59" dur="500" fill="hold"/>
                                        <p:tgtEl>
                                          <p:spTgt spid="26628">
                                            <p:txEl>
                                              <p:pRg st="12" end="12"/>
                                            </p:txEl>
                                          </p:spTgt>
                                        </p:tgtEl>
                                        <p:attrNameLst>
                                          <p:attrName>ppt_x</p:attrName>
                                        </p:attrNameLst>
                                      </p:cBhvr>
                                      <p:tavLst>
                                        <p:tav tm="0">
                                          <p:val>
                                            <p:strVal val="#ppt_x"/>
                                          </p:val>
                                        </p:tav>
                                        <p:tav tm="100000">
                                          <p:val>
                                            <p:strVal val="#ppt_x"/>
                                          </p:val>
                                        </p:tav>
                                      </p:tavLst>
                                    </p:anim>
                                    <p:anim calcmode="lin" valueType="num">
                                      <p:cBhvr additive="base">
                                        <p:cTn id="60" dur="500" fill="hold"/>
                                        <p:tgtEl>
                                          <p:spTgt spid="26628">
                                            <p:txEl>
                                              <p:pRg st="12" end="12"/>
                                            </p:txEl>
                                          </p:spTgt>
                                        </p:tgtEl>
                                        <p:attrNameLst>
                                          <p:attrName>ppt_y</p:attrName>
                                        </p:attrNameLst>
                                      </p:cBhvr>
                                      <p:tavLst>
                                        <p:tav tm="0">
                                          <p:val>
                                            <p:strVal val="1+#ppt_h/2"/>
                                          </p:val>
                                        </p:tav>
                                        <p:tav tm="100000">
                                          <p:val>
                                            <p:strVal val="#ppt_y"/>
                                          </p:val>
                                        </p:tav>
                                      </p:tavLst>
                                    </p:anim>
                                  </p:childTnLst>
                                </p:cTn>
                              </p:par>
                            </p:childTnLst>
                          </p:cTn>
                        </p:par>
                      </p:childTnLst>
                    </p:cTn>
                  </p:par>
                  <p:par>
                    <p:cTn id="61" fill="hold">
                      <p:stCondLst>
                        <p:cond delay="indefinite"/>
                      </p:stCondLst>
                      <p:childTnLst>
                        <p:par>
                          <p:cTn id="62" fill="hold">
                            <p:stCondLst>
                              <p:cond delay="0"/>
                            </p:stCondLst>
                            <p:childTnLst>
                              <p:par>
                                <p:cTn id="63" presetID="2" presetClass="entr" presetSubtype="4" fill="hold" nodeType="clickEffect">
                                  <p:stCondLst>
                                    <p:cond delay="0"/>
                                  </p:stCondLst>
                                  <p:childTnLst>
                                    <p:set>
                                      <p:cBhvr>
                                        <p:cTn id="64" dur="1" fill="hold">
                                          <p:stCondLst>
                                            <p:cond delay="0"/>
                                          </p:stCondLst>
                                        </p:cTn>
                                        <p:tgtEl>
                                          <p:spTgt spid="26628">
                                            <p:txEl>
                                              <p:pRg st="13" end="13"/>
                                            </p:txEl>
                                          </p:spTgt>
                                        </p:tgtEl>
                                        <p:attrNameLst>
                                          <p:attrName>style.visibility</p:attrName>
                                        </p:attrNameLst>
                                      </p:cBhvr>
                                      <p:to>
                                        <p:strVal val="visible"/>
                                      </p:to>
                                    </p:set>
                                    <p:anim calcmode="lin" valueType="num">
                                      <p:cBhvr additive="base">
                                        <p:cTn id="65" dur="500" fill="hold"/>
                                        <p:tgtEl>
                                          <p:spTgt spid="26628">
                                            <p:txEl>
                                              <p:pRg st="13" end="13"/>
                                            </p:txEl>
                                          </p:spTgt>
                                        </p:tgtEl>
                                        <p:attrNameLst>
                                          <p:attrName>ppt_x</p:attrName>
                                        </p:attrNameLst>
                                      </p:cBhvr>
                                      <p:tavLst>
                                        <p:tav tm="0">
                                          <p:val>
                                            <p:strVal val="#ppt_x"/>
                                          </p:val>
                                        </p:tav>
                                        <p:tav tm="100000">
                                          <p:val>
                                            <p:strVal val="#ppt_x"/>
                                          </p:val>
                                        </p:tav>
                                      </p:tavLst>
                                    </p:anim>
                                    <p:anim calcmode="lin" valueType="num">
                                      <p:cBhvr additive="base">
                                        <p:cTn id="66" dur="500" fill="hold"/>
                                        <p:tgtEl>
                                          <p:spTgt spid="26628">
                                            <p:txEl>
                                              <p:pRg st="13" end="13"/>
                                            </p:txEl>
                                          </p:spTgt>
                                        </p:tgtEl>
                                        <p:attrNameLst>
                                          <p:attrName>ppt_y</p:attrName>
                                        </p:attrNameLst>
                                      </p:cBhvr>
                                      <p:tavLst>
                                        <p:tav tm="0">
                                          <p:val>
                                            <p:strVal val="1+#ppt_h/2"/>
                                          </p:val>
                                        </p:tav>
                                        <p:tav tm="100000">
                                          <p:val>
                                            <p:strVal val="#ppt_y"/>
                                          </p:val>
                                        </p:tav>
                                      </p:tavLst>
                                    </p:anim>
                                  </p:childTnLst>
                                </p:cTn>
                              </p:par>
                              <p:par>
                                <p:cTn id="67" presetID="2" presetClass="entr" presetSubtype="4" fill="hold" nodeType="withEffect">
                                  <p:stCondLst>
                                    <p:cond delay="0"/>
                                  </p:stCondLst>
                                  <p:childTnLst>
                                    <p:set>
                                      <p:cBhvr>
                                        <p:cTn id="68" dur="1" fill="hold">
                                          <p:stCondLst>
                                            <p:cond delay="0"/>
                                          </p:stCondLst>
                                        </p:cTn>
                                        <p:tgtEl>
                                          <p:spTgt spid="26628">
                                            <p:txEl>
                                              <p:pRg st="14" end="14"/>
                                            </p:txEl>
                                          </p:spTgt>
                                        </p:tgtEl>
                                        <p:attrNameLst>
                                          <p:attrName>style.visibility</p:attrName>
                                        </p:attrNameLst>
                                      </p:cBhvr>
                                      <p:to>
                                        <p:strVal val="visible"/>
                                      </p:to>
                                    </p:set>
                                    <p:anim calcmode="lin" valueType="num">
                                      <p:cBhvr additive="base">
                                        <p:cTn id="69" dur="500" fill="hold"/>
                                        <p:tgtEl>
                                          <p:spTgt spid="26628">
                                            <p:txEl>
                                              <p:pRg st="14" end="14"/>
                                            </p:txEl>
                                          </p:spTgt>
                                        </p:tgtEl>
                                        <p:attrNameLst>
                                          <p:attrName>ppt_x</p:attrName>
                                        </p:attrNameLst>
                                      </p:cBhvr>
                                      <p:tavLst>
                                        <p:tav tm="0">
                                          <p:val>
                                            <p:strVal val="#ppt_x"/>
                                          </p:val>
                                        </p:tav>
                                        <p:tav tm="100000">
                                          <p:val>
                                            <p:strVal val="#ppt_x"/>
                                          </p:val>
                                        </p:tav>
                                      </p:tavLst>
                                    </p:anim>
                                    <p:anim calcmode="lin" valueType="num">
                                      <p:cBhvr additive="base">
                                        <p:cTn id="70" dur="500" fill="hold"/>
                                        <p:tgtEl>
                                          <p:spTgt spid="26628">
                                            <p:txEl>
                                              <p:pRg st="14" end="14"/>
                                            </p:txEl>
                                          </p:spTgt>
                                        </p:tgtEl>
                                        <p:attrNameLst>
                                          <p:attrName>ppt_y</p:attrName>
                                        </p:attrNameLst>
                                      </p:cBhvr>
                                      <p:tavLst>
                                        <p:tav tm="0">
                                          <p:val>
                                            <p:strVal val="1+#ppt_h/2"/>
                                          </p:val>
                                        </p:tav>
                                        <p:tav tm="100000">
                                          <p:val>
                                            <p:strVal val="#ppt_y"/>
                                          </p:val>
                                        </p:tav>
                                      </p:tavLst>
                                    </p:anim>
                                  </p:childTnLst>
                                </p:cTn>
                              </p:par>
                              <p:par>
                                <p:cTn id="71" presetID="2" presetClass="entr" presetSubtype="4" fill="hold" nodeType="withEffect">
                                  <p:stCondLst>
                                    <p:cond delay="0"/>
                                  </p:stCondLst>
                                  <p:childTnLst>
                                    <p:set>
                                      <p:cBhvr>
                                        <p:cTn id="72" dur="1" fill="hold">
                                          <p:stCondLst>
                                            <p:cond delay="0"/>
                                          </p:stCondLst>
                                        </p:cTn>
                                        <p:tgtEl>
                                          <p:spTgt spid="26628">
                                            <p:txEl>
                                              <p:pRg st="15" end="15"/>
                                            </p:txEl>
                                          </p:spTgt>
                                        </p:tgtEl>
                                        <p:attrNameLst>
                                          <p:attrName>style.visibility</p:attrName>
                                        </p:attrNameLst>
                                      </p:cBhvr>
                                      <p:to>
                                        <p:strVal val="visible"/>
                                      </p:to>
                                    </p:set>
                                    <p:anim calcmode="lin" valueType="num">
                                      <p:cBhvr additive="base">
                                        <p:cTn id="73" dur="500" fill="hold"/>
                                        <p:tgtEl>
                                          <p:spTgt spid="26628">
                                            <p:txEl>
                                              <p:pRg st="15" end="15"/>
                                            </p:txEl>
                                          </p:spTgt>
                                        </p:tgtEl>
                                        <p:attrNameLst>
                                          <p:attrName>ppt_x</p:attrName>
                                        </p:attrNameLst>
                                      </p:cBhvr>
                                      <p:tavLst>
                                        <p:tav tm="0">
                                          <p:val>
                                            <p:strVal val="#ppt_x"/>
                                          </p:val>
                                        </p:tav>
                                        <p:tav tm="100000">
                                          <p:val>
                                            <p:strVal val="#ppt_x"/>
                                          </p:val>
                                        </p:tav>
                                      </p:tavLst>
                                    </p:anim>
                                    <p:anim calcmode="lin" valueType="num">
                                      <p:cBhvr additive="base">
                                        <p:cTn id="74" dur="500" fill="hold"/>
                                        <p:tgtEl>
                                          <p:spTgt spid="26628">
                                            <p:txEl>
                                              <p:pRg st="15" end="15"/>
                                            </p:txEl>
                                          </p:spTgt>
                                        </p:tgtEl>
                                        <p:attrNameLst>
                                          <p:attrName>ppt_y</p:attrName>
                                        </p:attrNameLst>
                                      </p:cBhvr>
                                      <p:tavLst>
                                        <p:tav tm="0">
                                          <p:val>
                                            <p:strVal val="1+#ppt_h/2"/>
                                          </p:val>
                                        </p:tav>
                                        <p:tav tm="100000">
                                          <p:val>
                                            <p:strVal val="#ppt_y"/>
                                          </p:val>
                                        </p:tav>
                                      </p:tavLst>
                                    </p:anim>
                                  </p:childTnLst>
                                </p:cTn>
                              </p:par>
                              <p:par>
                                <p:cTn id="75" presetID="2" presetClass="entr" presetSubtype="4" fill="hold" nodeType="withEffect">
                                  <p:stCondLst>
                                    <p:cond delay="0"/>
                                  </p:stCondLst>
                                  <p:childTnLst>
                                    <p:set>
                                      <p:cBhvr>
                                        <p:cTn id="76" dur="1" fill="hold">
                                          <p:stCondLst>
                                            <p:cond delay="0"/>
                                          </p:stCondLst>
                                        </p:cTn>
                                        <p:tgtEl>
                                          <p:spTgt spid="26628">
                                            <p:txEl>
                                              <p:pRg st="16" end="16"/>
                                            </p:txEl>
                                          </p:spTgt>
                                        </p:tgtEl>
                                        <p:attrNameLst>
                                          <p:attrName>style.visibility</p:attrName>
                                        </p:attrNameLst>
                                      </p:cBhvr>
                                      <p:to>
                                        <p:strVal val="visible"/>
                                      </p:to>
                                    </p:set>
                                    <p:anim calcmode="lin" valueType="num">
                                      <p:cBhvr additive="base">
                                        <p:cTn id="77" dur="500" fill="hold"/>
                                        <p:tgtEl>
                                          <p:spTgt spid="26628">
                                            <p:txEl>
                                              <p:pRg st="16" end="16"/>
                                            </p:txEl>
                                          </p:spTgt>
                                        </p:tgtEl>
                                        <p:attrNameLst>
                                          <p:attrName>ppt_x</p:attrName>
                                        </p:attrNameLst>
                                      </p:cBhvr>
                                      <p:tavLst>
                                        <p:tav tm="0">
                                          <p:val>
                                            <p:strVal val="#ppt_x"/>
                                          </p:val>
                                        </p:tav>
                                        <p:tav tm="100000">
                                          <p:val>
                                            <p:strVal val="#ppt_x"/>
                                          </p:val>
                                        </p:tav>
                                      </p:tavLst>
                                    </p:anim>
                                    <p:anim calcmode="lin" valueType="num">
                                      <p:cBhvr additive="base">
                                        <p:cTn id="78" dur="500" fill="hold"/>
                                        <p:tgtEl>
                                          <p:spTgt spid="26628">
                                            <p:txEl>
                                              <p:pRg st="16" end="16"/>
                                            </p:txEl>
                                          </p:spTgt>
                                        </p:tgtEl>
                                        <p:attrNameLst>
                                          <p:attrName>ppt_y</p:attrName>
                                        </p:attrNameLst>
                                      </p:cBhvr>
                                      <p:tavLst>
                                        <p:tav tm="0">
                                          <p:val>
                                            <p:strVal val="1+#ppt_h/2"/>
                                          </p:val>
                                        </p:tav>
                                        <p:tav tm="100000">
                                          <p:val>
                                            <p:strVal val="#ppt_y"/>
                                          </p:val>
                                        </p:tav>
                                      </p:tavLst>
                                    </p:anim>
                                  </p:childTnLst>
                                </p:cTn>
                              </p:par>
                              <p:par>
                                <p:cTn id="79" presetID="2" presetClass="entr" presetSubtype="4" fill="hold" nodeType="withEffect">
                                  <p:stCondLst>
                                    <p:cond delay="0"/>
                                  </p:stCondLst>
                                  <p:childTnLst>
                                    <p:set>
                                      <p:cBhvr>
                                        <p:cTn id="80" dur="1" fill="hold">
                                          <p:stCondLst>
                                            <p:cond delay="0"/>
                                          </p:stCondLst>
                                        </p:cTn>
                                        <p:tgtEl>
                                          <p:spTgt spid="26628">
                                            <p:txEl>
                                              <p:pRg st="17" end="17"/>
                                            </p:txEl>
                                          </p:spTgt>
                                        </p:tgtEl>
                                        <p:attrNameLst>
                                          <p:attrName>style.visibility</p:attrName>
                                        </p:attrNameLst>
                                      </p:cBhvr>
                                      <p:to>
                                        <p:strVal val="visible"/>
                                      </p:to>
                                    </p:set>
                                    <p:anim calcmode="lin" valueType="num">
                                      <p:cBhvr additive="base">
                                        <p:cTn id="81" dur="500" fill="hold"/>
                                        <p:tgtEl>
                                          <p:spTgt spid="26628">
                                            <p:txEl>
                                              <p:pRg st="17" end="17"/>
                                            </p:txEl>
                                          </p:spTgt>
                                        </p:tgtEl>
                                        <p:attrNameLst>
                                          <p:attrName>ppt_x</p:attrName>
                                        </p:attrNameLst>
                                      </p:cBhvr>
                                      <p:tavLst>
                                        <p:tav tm="0">
                                          <p:val>
                                            <p:strVal val="#ppt_x"/>
                                          </p:val>
                                        </p:tav>
                                        <p:tav tm="100000">
                                          <p:val>
                                            <p:strVal val="#ppt_x"/>
                                          </p:val>
                                        </p:tav>
                                      </p:tavLst>
                                    </p:anim>
                                    <p:anim calcmode="lin" valueType="num">
                                      <p:cBhvr additive="base">
                                        <p:cTn id="82" dur="500" fill="hold"/>
                                        <p:tgtEl>
                                          <p:spTgt spid="26628">
                                            <p:txEl>
                                              <p:pRg st="17" end="1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Rectangle 2"/>
          <p:cNvSpPr>
            <a:spLocks noGrp="1" noChangeArrowheads="1"/>
          </p:cNvSpPr>
          <p:nvPr>
            <p:ph type="title"/>
          </p:nvPr>
        </p:nvSpPr>
        <p:spPr>
          <a:xfrm>
            <a:off x="827088" y="261938"/>
            <a:ext cx="7848600" cy="428625"/>
          </a:xfrm>
        </p:spPr>
        <p:txBody>
          <a:bodyPr/>
          <a:lstStyle/>
          <a:p>
            <a:r>
              <a:rPr lang="en-US" altLang="zh-CN" sz="3600" dirty="0">
                <a:solidFill>
                  <a:srgbClr val="E35449"/>
                </a:solidFill>
              </a:rPr>
              <a:t>GTO</a:t>
            </a:r>
            <a:r>
              <a:rPr lang="zh-CN" altLang="en-US" sz="3600" dirty="0">
                <a:solidFill>
                  <a:srgbClr val="E35449"/>
                </a:solidFill>
              </a:rPr>
              <a:t>、</a:t>
            </a:r>
            <a:r>
              <a:rPr lang="en-US" altLang="zh-CN" sz="3600" dirty="0">
                <a:solidFill>
                  <a:srgbClr val="E35449"/>
                </a:solidFill>
              </a:rPr>
              <a:t>GTR</a:t>
            </a:r>
            <a:r>
              <a:rPr lang="zh-CN" altLang="en-US" sz="3600" dirty="0">
                <a:solidFill>
                  <a:srgbClr val="0000FF"/>
                </a:solidFill>
              </a:rPr>
              <a:t>要点</a:t>
            </a:r>
            <a:endParaRPr lang="zh-CN" altLang="en-US" sz="3600" b="1" dirty="0">
              <a:solidFill>
                <a:srgbClr val="0000FF"/>
              </a:solidFill>
            </a:endParaRPr>
          </a:p>
        </p:txBody>
      </p:sp>
      <p:sp>
        <p:nvSpPr>
          <p:cNvPr id="116739" name="Rectangle 3"/>
          <p:cNvSpPr>
            <a:spLocks noGrp="1" noChangeArrowheads="1"/>
          </p:cNvSpPr>
          <p:nvPr>
            <p:ph idx="1"/>
          </p:nvPr>
        </p:nvSpPr>
        <p:spPr>
          <a:xfrm>
            <a:off x="755576" y="836712"/>
            <a:ext cx="7848600" cy="1800200"/>
          </a:xfrm>
        </p:spPr>
        <p:txBody>
          <a:bodyPr/>
          <a:lstStyle/>
          <a:p>
            <a:pPr>
              <a:lnSpc>
                <a:spcPct val="80000"/>
              </a:lnSpc>
              <a:buFontTx/>
              <a:buNone/>
            </a:pPr>
            <a:r>
              <a:rPr lang="en-US" altLang="zh-CN" sz="2800" b="1" dirty="0">
                <a:solidFill>
                  <a:srgbClr val="0000FF"/>
                </a:solidFill>
              </a:rPr>
              <a:t>■</a:t>
            </a:r>
            <a:r>
              <a:rPr lang="zh-CN" altLang="en-US" sz="2800" b="1" dirty="0">
                <a:solidFill>
                  <a:srgbClr val="0000FF"/>
                </a:solidFill>
              </a:rPr>
              <a:t>了解</a:t>
            </a:r>
            <a:r>
              <a:rPr lang="en-US" altLang="zh-CN" sz="2800" b="1" dirty="0">
                <a:solidFill>
                  <a:srgbClr val="0000FF"/>
                </a:solidFill>
              </a:rPr>
              <a:t>GTO</a:t>
            </a:r>
            <a:r>
              <a:rPr lang="zh-CN" altLang="en-US" sz="2800" b="1" dirty="0">
                <a:solidFill>
                  <a:srgbClr val="0000FF"/>
                </a:solidFill>
              </a:rPr>
              <a:t>、</a:t>
            </a:r>
            <a:r>
              <a:rPr lang="en-US" altLang="zh-CN" sz="2800" b="1" dirty="0">
                <a:solidFill>
                  <a:srgbClr val="0000FF"/>
                </a:solidFill>
              </a:rPr>
              <a:t>GTR</a:t>
            </a:r>
            <a:r>
              <a:rPr lang="zh-CN" altLang="en-US" sz="2800" b="1" dirty="0">
                <a:solidFill>
                  <a:srgbClr val="0000FF"/>
                </a:solidFill>
              </a:rPr>
              <a:t>全控型功率器件：</a:t>
            </a:r>
            <a:r>
              <a:rPr lang="en-US" altLang="zh-CN" sz="2800" b="1" dirty="0"/>
              <a:t>GTO</a:t>
            </a:r>
            <a:r>
              <a:rPr lang="zh-CN" altLang="en-US" sz="2800" b="1" dirty="0"/>
              <a:t>、</a:t>
            </a:r>
            <a:r>
              <a:rPr lang="en-US" altLang="zh-CN" sz="2800" b="1" dirty="0"/>
              <a:t>GTR</a:t>
            </a:r>
            <a:r>
              <a:rPr lang="zh-CN" altLang="en-US" sz="2800" b="1" dirty="0"/>
              <a:t>的基本结构和导通机理</a:t>
            </a:r>
            <a:endParaRPr lang="en-US" altLang="zh-CN" sz="2800" b="1" dirty="0"/>
          </a:p>
          <a:p>
            <a:pPr>
              <a:lnSpc>
                <a:spcPct val="80000"/>
              </a:lnSpc>
              <a:buFontTx/>
              <a:buNone/>
            </a:pPr>
            <a:r>
              <a:rPr lang="en-US" altLang="zh-CN" sz="2800" b="1" dirty="0">
                <a:solidFill>
                  <a:srgbClr val="0000FF"/>
                </a:solidFill>
              </a:rPr>
              <a:t>	1</a:t>
            </a:r>
            <a:r>
              <a:rPr lang="zh-CN" altLang="en-US" sz="2800" b="1" dirty="0">
                <a:solidFill>
                  <a:srgbClr val="0000FF"/>
                </a:solidFill>
              </a:rPr>
              <a:t>、单个单元结构；</a:t>
            </a:r>
            <a:endParaRPr lang="en-US" altLang="zh-CN" sz="2800" b="1" dirty="0">
              <a:solidFill>
                <a:srgbClr val="0000FF"/>
              </a:solidFill>
            </a:endParaRPr>
          </a:p>
          <a:p>
            <a:pPr>
              <a:lnSpc>
                <a:spcPct val="80000"/>
              </a:lnSpc>
              <a:buFontTx/>
              <a:buNone/>
            </a:pPr>
            <a:r>
              <a:rPr lang="en-US" altLang="zh-CN" sz="2800" b="1" dirty="0">
                <a:solidFill>
                  <a:srgbClr val="0000FF"/>
                </a:solidFill>
              </a:rPr>
              <a:t>	2</a:t>
            </a:r>
            <a:r>
              <a:rPr lang="zh-CN" altLang="en-US" sz="2800" b="1" dirty="0">
                <a:solidFill>
                  <a:srgbClr val="0000FF"/>
                </a:solidFill>
              </a:rPr>
              <a:t>、基本工作原理；</a:t>
            </a:r>
            <a:endParaRPr lang="en-US" altLang="zh-CN" sz="2800" b="1" dirty="0">
              <a:solidFill>
                <a:srgbClr val="0000FF"/>
              </a:solidFill>
            </a:endParaRPr>
          </a:p>
          <a:p>
            <a:pPr>
              <a:lnSpc>
                <a:spcPct val="80000"/>
              </a:lnSpc>
              <a:buFontTx/>
              <a:buNone/>
            </a:pPr>
            <a:r>
              <a:rPr lang="en-US" altLang="zh-CN" sz="2800" b="1" dirty="0">
                <a:solidFill>
                  <a:srgbClr val="0000FF"/>
                </a:solidFill>
              </a:rPr>
              <a:t>   3</a:t>
            </a:r>
            <a:r>
              <a:rPr lang="zh-CN" altLang="en-US" sz="2800" b="1" dirty="0">
                <a:solidFill>
                  <a:srgbClr val="0000FF"/>
                </a:solidFill>
              </a:rPr>
              <a:t>、多单元并联结构；</a:t>
            </a:r>
            <a:endParaRPr lang="en-US" altLang="zh-CN" sz="2800" b="1" dirty="0">
              <a:solidFill>
                <a:srgbClr val="0000FF"/>
              </a:solidFill>
            </a:endParaRPr>
          </a:p>
          <a:p>
            <a:pPr>
              <a:lnSpc>
                <a:spcPct val="80000"/>
              </a:lnSpc>
              <a:buFontTx/>
              <a:buNone/>
            </a:pPr>
            <a:r>
              <a:rPr lang="en-US" altLang="zh-CN" sz="2800" b="1" dirty="0">
                <a:solidFill>
                  <a:srgbClr val="0000FF"/>
                </a:solidFill>
              </a:rPr>
              <a:t>	4</a:t>
            </a:r>
            <a:r>
              <a:rPr lang="zh-CN" altLang="en-US" sz="2800" b="1" dirty="0">
                <a:solidFill>
                  <a:srgbClr val="0000FF"/>
                </a:solidFill>
              </a:rPr>
              <a:t>、电流驱动、电导调制效应。    </a:t>
            </a:r>
            <a:endParaRPr lang="zh-CN" altLang="en-US" sz="2800" dirty="0">
              <a:solidFill>
                <a:srgbClr val="0000FF"/>
              </a:solidFill>
            </a:endParaRPr>
          </a:p>
        </p:txBody>
      </p:sp>
      <p:sp>
        <p:nvSpPr>
          <p:cNvPr id="2" name="灯片编号占位符 1"/>
          <p:cNvSpPr>
            <a:spLocks noGrp="1"/>
          </p:cNvSpPr>
          <p:nvPr>
            <p:ph type="sldNum" sz="quarter" idx="12"/>
          </p:nvPr>
        </p:nvSpPr>
        <p:spPr/>
        <p:txBody>
          <a:bodyPr/>
          <a:lstStyle/>
          <a:p>
            <a:fld id="{0C913308-F349-4B6D-A68A-DD1791B4A57B}" type="slidenum">
              <a:rPr lang="zh-CN" altLang="en-US" smtClean="0"/>
              <a:t>44</a:t>
            </a:fld>
            <a:endParaRPr lang="zh-CN" altLang="en-US"/>
          </a:p>
        </p:txBody>
      </p:sp>
    </p:spTree>
    <p:extLst>
      <p:ext uri="{BB962C8B-B14F-4D97-AF65-F5344CB8AC3E}">
        <p14:creationId xmlns:p14="http://schemas.microsoft.com/office/powerpoint/2010/main" val="2567789614"/>
      </p:ext>
    </p:extLst>
  </p:cSld>
  <p:clrMapOvr>
    <a:masterClrMapping/>
  </p:clrMapOvr>
  <mc:AlternateContent xmlns:mc="http://schemas.openxmlformats.org/markup-compatibility/2006" xmlns:p14="http://schemas.microsoft.com/office/powerpoint/2010/main">
    <mc:Choice Requires="p14">
      <p:transition spd="slow" p14:dur="2000" advTm="246067"/>
    </mc:Choice>
    <mc:Fallback xmlns="">
      <p:transition spd="slow" advTm="246067"/>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3698" name="Rectangle 2"/>
          <p:cNvSpPr>
            <a:spLocks noChangeArrowheads="1"/>
          </p:cNvSpPr>
          <p:nvPr/>
        </p:nvSpPr>
        <p:spPr bwMode="auto">
          <a:xfrm>
            <a:off x="827584" y="6463"/>
            <a:ext cx="7467600" cy="685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nSpc>
                <a:spcPct val="100000"/>
              </a:lnSpc>
            </a:pPr>
            <a:r>
              <a:rPr lang="zh-CN" altLang="en-US" sz="3600" b="1" dirty="0">
                <a:solidFill>
                  <a:srgbClr val="0033CC"/>
                </a:solidFill>
              </a:rPr>
              <a:t>电力场效应晶体管</a:t>
            </a:r>
            <a:r>
              <a:rPr lang="zh-CN" altLang="en-US" sz="3600" b="1" dirty="0">
                <a:latin typeface="Times New Roman" pitchFamily="18" charset="0"/>
              </a:rPr>
              <a:t>学习要点</a:t>
            </a:r>
            <a:r>
              <a:rPr lang="zh-CN" altLang="en-US" sz="3600" dirty="0">
                <a:latin typeface="Times New Roman" pitchFamily="18" charset="0"/>
              </a:rPr>
              <a:t> </a:t>
            </a:r>
          </a:p>
        </p:txBody>
      </p:sp>
      <p:sp>
        <p:nvSpPr>
          <p:cNvPr id="413706" name="Rectangle 10"/>
          <p:cNvSpPr>
            <a:spLocks noChangeArrowheads="1"/>
          </p:cNvSpPr>
          <p:nvPr/>
        </p:nvSpPr>
        <p:spPr bwMode="auto">
          <a:xfrm>
            <a:off x="323528" y="463662"/>
            <a:ext cx="8820472" cy="5917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742950" lvl="1" indent="-285750">
              <a:lnSpc>
                <a:spcPct val="150000"/>
              </a:lnSpc>
              <a:spcBef>
                <a:spcPct val="20000"/>
              </a:spcBef>
              <a:buFont typeface="Wingdings" pitchFamily="2" charset="2"/>
              <a:buNone/>
            </a:pPr>
            <a:r>
              <a:rPr lang="en-US" altLang="zh-CN" sz="2800" b="1" dirty="0">
                <a:latin typeface="Times New Roman" pitchFamily="18" charset="0"/>
              </a:rPr>
              <a:t>1</a:t>
            </a:r>
            <a:r>
              <a:rPr lang="zh-CN" altLang="en-US" sz="2800" b="1" dirty="0">
                <a:latin typeface="Times New Roman" pitchFamily="18" charset="0"/>
              </a:rPr>
              <a:t>、</a:t>
            </a:r>
            <a:r>
              <a:rPr lang="zh-CN" altLang="en-US" sz="2800" b="1" dirty="0">
                <a:solidFill>
                  <a:srgbClr val="0000FF"/>
                </a:solidFill>
              </a:rPr>
              <a:t>电力</a:t>
            </a:r>
            <a:r>
              <a:rPr lang="en-US" altLang="zh-CN" sz="2800" b="1" dirty="0">
                <a:solidFill>
                  <a:srgbClr val="0000FF"/>
                </a:solidFill>
                <a:latin typeface="Arial" charset="0"/>
              </a:rPr>
              <a:t>MOSFET</a:t>
            </a:r>
            <a:r>
              <a:rPr lang="zh-CN" altLang="en-US" sz="2800" b="1" dirty="0">
                <a:solidFill>
                  <a:srgbClr val="0000FF"/>
                </a:solidFill>
                <a:latin typeface="Arial" charset="0"/>
              </a:rPr>
              <a:t>的结构</a:t>
            </a:r>
            <a:r>
              <a:rPr lang="en-US" altLang="zh-CN" sz="2800" b="1" dirty="0">
                <a:solidFill>
                  <a:srgbClr val="0000FF"/>
                </a:solidFill>
                <a:latin typeface="Arial" charset="0"/>
              </a:rPr>
              <a:t>(</a:t>
            </a:r>
            <a:r>
              <a:rPr lang="zh-CN" altLang="en-US" sz="2800" b="1" dirty="0">
                <a:solidFill>
                  <a:srgbClr val="FF0000"/>
                </a:solidFill>
                <a:latin typeface="Arial" charset="0"/>
              </a:rPr>
              <a:t>多元结构、</a:t>
            </a:r>
            <a:r>
              <a:rPr lang="zh-CN" altLang="en-US" sz="2800" b="1" dirty="0">
                <a:solidFill>
                  <a:srgbClr val="FF0000"/>
                </a:solidFill>
                <a:latin typeface="Times New Roman" pitchFamily="18" charset="0"/>
              </a:rPr>
              <a:t>垂直导电结构、漂移区，结构特点</a:t>
            </a:r>
            <a:r>
              <a:rPr lang="en-US" altLang="zh-CN" sz="2800" b="1" dirty="0">
                <a:solidFill>
                  <a:srgbClr val="0000FF"/>
                </a:solidFill>
                <a:latin typeface="Arial" charset="0"/>
              </a:rPr>
              <a:t>)</a:t>
            </a:r>
          </a:p>
          <a:p>
            <a:pPr marL="742950" lvl="1" indent="-285750">
              <a:lnSpc>
                <a:spcPct val="150000"/>
              </a:lnSpc>
              <a:spcBef>
                <a:spcPct val="20000"/>
              </a:spcBef>
              <a:buFont typeface="Wingdings" pitchFamily="2" charset="2"/>
              <a:buNone/>
            </a:pPr>
            <a:r>
              <a:rPr lang="en-US" altLang="zh-CN" sz="2800" b="1" dirty="0">
                <a:solidFill>
                  <a:srgbClr val="0000FF"/>
                </a:solidFill>
                <a:latin typeface="Arial" charset="0"/>
              </a:rPr>
              <a:t>2</a:t>
            </a:r>
            <a:r>
              <a:rPr lang="zh-CN" altLang="en-US" sz="2800" b="1" dirty="0">
                <a:solidFill>
                  <a:srgbClr val="0000FF"/>
                </a:solidFill>
                <a:latin typeface="Arial" charset="0"/>
              </a:rPr>
              <a:t>、</a:t>
            </a:r>
            <a:r>
              <a:rPr lang="zh-CN" altLang="en-US" sz="2800" b="1" dirty="0">
                <a:solidFill>
                  <a:srgbClr val="0000FF"/>
                </a:solidFill>
              </a:rPr>
              <a:t>电力</a:t>
            </a:r>
            <a:r>
              <a:rPr lang="en-US" altLang="zh-CN" sz="2800" b="1" dirty="0">
                <a:solidFill>
                  <a:srgbClr val="0000FF"/>
                </a:solidFill>
                <a:latin typeface="Arial" charset="0"/>
              </a:rPr>
              <a:t>MOSFET</a:t>
            </a:r>
            <a:r>
              <a:rPr lang="zh-CN" altLang="en-US" sz="2800" b="1" dirty="0">
                <a:solidFill>
                  <a:srgbClr val="0000FF"/>
                </a:solidFill>
                <a:latin typeface="Arial" charset="0"/>
              </a:rPr>
              <a:t>的工作原理（</a:t>
            </a:r>
            <a:r>
              <a:rPr lang="zh-CN" altLang="en-US" sz="2800" b="1" dirty="0">
                <a:solidFill>
                  <a:srgbClr val="FF0000"/>
                </a:solidFill>
                <a:latin typeface="Times New Roman" pitchFamily="18" charset="0"/>
              </a:rPr>
              <a:t>导电机理：三种状态、</a:t>
            </a:r>
            <a:r>
              <a:rPr lang="zh-CN" altLang="en-US" sz="2800" dirty="0"/>
              <a:t>反型层导电</a:t>
            </a:r>
            <a:r>
              <a:rPr lang="zh-CN" altLang="en-US" sz="2800" b="1" dirty="0">
                <a:solidFill>
                  <a:srgbClr val="FF0000"/>
                </a:solidFill>
                <a:latin typeface="Times New Roman" pitchFamily="18" charset="0"/>
              </a:rPr>
              <a:t>无电导调制效应（通态损耗大）</a:t>
            </a:r>
            <a:r>
              <a:rPr lang="zh-CN" altLang="en-US" sz="2800" b="1" dirty="0">
                <a:solidFill>
                  <a:srgbClr val="0000FF"/>
                </a:solidFill>
                <a:latin typeface="Arial" charset="0"/>
              </a:rPr>
              <a:t>）</a:t>
            </a:r>
            <a:endParaRPr lang="en-US" altLang="zh-CN" sz="2800" b="1" dirty="0">
              <a:solidFill>
                <a:srgbClr val="0000FF"/>
              </a:solidFill>
              <a:latin typeface="Arial" charset="0"/>
            </a:endParaRPr>
          </a:p>
          <a:p>
            <a:pPr marL="742950" lvl="1" indent="-285750">
              <a:lnSpc>
                <a:spcPct val="150000"/>
              </a:lnSpc>
              <a:spcBef>
                <a:spcPct val="20000"/>
              </a:spcBef>
              <a:buFont typeface="Wingdings" pitchFamily="2" charset="2"/>
              <a:buNone/>
            </a:pPr>
            <a:r>
              <a:rPr lang="en-US" altLang="zh-CN" sz="2800" b="1" dirty="0">
                <a:solidFill>
                  <a:srgbClr val="0000FF"/>
                </a:solidFill>
                <a:latin typeface="Arial" charset="0"/>
              </a:rPr>
              <a:t>3</a:t>
            </a:r>
            <a:r>
              <a:rPr lang="zh-CN" altLang="en-US" sz="2800" b="1" dirty="0">
                <a:solidFill>
                  <a:srgbClr val="0000FF"/>
                </a:solidFill>
                <a:latin typeface="Arial" charset="0"/>
              </a:rPr>
              <a:t>、</a:t>
            </a:r>
            <a:r>
              <a:rPr lang="zh-CN" altLang="en-US" sz="2800" b="1" dirty="0">
                <a:solidFill>
                  <a:srgbClr val="0000FF"/>
                </a:solidFill>
              </a:rPr>
              <a:t>电力</a:t>
            </a:r>
            <a:r>
              <a:rPr lang="en-US" altLang="zh-CN" sz="2800" b="1" dirty="0">
                <a:solidFill>
                  <a:srgbClr val="0000FF"/>
                </a:solidFill>
                <a:latin typeface="Arial" charset="0"/>
              </a:rPr>
              <a:t>MOSFET</a:t>
            </a:r>
            <a:r>
              <a:rPr lang="zh-CN" altLang="en-US" sz="2800" b="1" dirty="0">
                <a:solidFill>
                  <a:srgbClr val="0000FF"/>
                </a:solidFill>
                <a:latin typeface="Arial" charset="0"/>
              </a:rPr>
              <a:t>的静态特性（正向特性：转移特性、输出特性，</a:t>
            </a:r>
            <a:r>
              <a:rPr lang="zh-CN" altLang="en-US" sz="2800" b="1" dirty="0">
                <a:solidFill>
                  <a:srgbClr val="FF0000"/>
                </a:solidFill>
                <a:latin typeface="Arial" charset="0"/>
              </a:rPr>
              <a:t>反向：二极管导通</a:t>
            </a:r>
            <a:r>
              <a:rPr lang="zh-CN" altLang="en-US" sz="2800" b="1" dirty="0">
                <a:solidFill>
                  <a:srgbClr val="0000FF"/>
                </a:solidFill>
                <a:latin typeface="Arial" charset="0"/>
              </a:rPr>
              <a:t>）</a:t>
            </a:r>
            <a:endParaRPr lang="en-US" altLang="zh-CN" sz="2800" b="1" dirty="0">
              <a:solidFill>
                <a:srgbClr val="0000FF"/>
              </a:solidFill>
              <a:latin typeface="Arial" charset="0"/>
            </a:endParaRPr>
          </a:p>
          <a:p>
            <a:pPr marL="742950" lvl="1" indent="-285750">
              <a:lnSpc>
                <a:spcPct val="150000"/>
              </a:lnSpc>
              <a:spcBef>
                <a:spcPct val="20000"/>
              </a:spcBef>
              <a:buFont typeface="Wingdings" pitchFamily="2" charset="2"/>
              <a:buNone/>
            </a:pPr>
            <a:r>
              <a:rPr lang="en-US" altLang="zh-CN" sz="2800" b="1" dirty="0">
                <a:solidFill>
                  <a:srgbClr val="0000FF"/>
                </a:solidFill>
                <a:latin typeface="Arial" charset="0"/>
              </a:rPr>
              <a:t>4</a:t>
            </a:r>
            <a:r>
              <a:rPr lang="zh-CN" altLang="en-US" sz="2800" b="1" dirty="0">
                <a:solidFill>
                  <a:srgbClr val="0000FF"/>
                </a:solidFill>
                <a:latin typeface="Arial" charset="0"/>
              </a:rPr>
              <a:t>、</a:t>
            </a:r>
            <a:r>
              <a:rPr lang="zh-CN" altLang="en-US" sz="2800" b="1" dirty="0">
                <a:solidFill>
                  <a:srgbClr val="0000FF"/>
                </a:solidFill>
              </a:rPr>
              <a:t>电力</a:t>
            </a:r>
            <a:r>
              <a:rPr lang="en-US" altLang="zh-CN" sz="2800" b="1" dirty="0">
                <a:solidFill>
                  <a:srgbClr val="0000FF"/>
                </a:solidFill>
                <a:latin typeface="Arial" charset="0"/>
              </a:rPr>
              <a:t>MOSFET</a:t>
            </a:r>
            <a:r>
              <a:rPr lang="zh-CN" altLang="en-US" sz="2800" b="1" dirty="0">
                <a:solidFill>
                  <a:srgbClr val="0000FF"/>
                </a:solidFill>
                <a:latin typeface="Arial" charset="0"/>
              </a:rPr>
              <a:t>的动态特性（</a:t>
            </a:r>
            <a:r>
              <a:rPr lang="zh-CN" altLang="en-US" sz="2800" b="1" dirty="0">
                <a:solidFill>
                  <a:srgbClr val="FF0000"/>
                </a:solidFill>
                <a:latin typeface="Arial" charset="0"/>
              </a:rPr>
              <a:t>极间电容的充放电过程</a:t>
            </a:r>
            <a:r>
              <a:rPr lang="zh-CN" altLang="en-US" sz="2800" b="1" dirty="0">
                <a:solidFill>
                  <a:srgbClr val="0000FF"/>
                </a:solidFill>
                <a:latin typeface="Arial" charset="0"/>
              </a:rPr>
              <a:t>）（</a:t>
            </a:r>
            <a:r>
              <a:rPr lang="zh-CN" altLang="en-US" sz="2800" b="1" dirty="0">
                <a:solidFill>
                  <a:srgbClr val="FF0000"/>
                </a:solidFill>
                <a:latin typeface="Times New Roman" pitchFamily="18" charset="0"/>
              </a:rPr>
              <a:t>开通特性曲线、关断特性曲线、开关速度特点及影响因素</a:t>
            </a:r>
            <a:r>
              <a:rPr lang="zh-CN" altLang="en-US" sz="2800" b="1" dirty="0">
                <a:solidFill>
                  <a:srgbClr val="0000FF"/>
                </a:solidFill>
                <a:latin typeface="Arial" charset="0"/>
              </a:rPr>
              <a:t>）</a:t>
            </a:r>
            <a:endParaRPr lang="en-US" altLang="zh-CN" sz="2800" b="1" dirty="0">
              <a:solidFill>
                <a:srgbClr val="0000FF"/>
              </a:solidFill>
              <a:latin typeface="Arial" charset="0"/>
            </a:endParaRPr>
          </a:p>
          <a:p>
            <a:pPr marL="742950" lvl="1" indent="-285750">
              <a:lnSpc>
                <a:spcPct val="130000"/>
              </a:lnSpc>
              <a:spcBef>
                <a:spcPct val="20000"/>
              </a:spcBef>
              <a:buFont typeface="Wingdings" pitchFamily="2" charset="2"/>
              <a:buNone/>
            </a:pPr>
            <a:endParaRPr lang="zh-CN" altLang="en-US" sz="2400" b="1" dirty="0">
              <a:solidFill>
                <a:srgbClr val="0000FF"/>
              </a:solidFill>
              <a:latin typeface="Times New Roman" pitchFamily="18" charset="0"/>
            </a:endParaRPr>
          </a:p>
        </p:txBody>
      </p:sp>
      <p:sp>
        <p:nvSpPr>
          <p:cNvPr id="2" name="灯片编号占位符 1"/>
          <p:cNvSpPr>
            <a:spLocks noGrp="1"/>
          </p:cNvSpPr>
          <p:nvPr>
            <p:ph type="sldNum" sz="quarter" idx="12"/>
          </p:nvPr>
        </p:nvSpPr>
        <p:spPr/>
        <p:txBody>
          <a:bodyPr/>
          <a:lstStyle/>
          <a:p>
            <a:fld id="{0C913308-F349-4B6D-A68A-DD1791B4A57B}" type="slidenum">
              <a:rPr lang="zh-CN" altLang="en-US" smtClean="0"/>
              <a:t>45</a:t>
            </a:fld>
            <a:endParaRPr lang="zh-CN" altLang="en-US"/>
          </a:p>
        </p:txBody>
      </p:sp>
      <p:sp>
        <p:nvSpPr>
          <p:cNvPr id="3" name="日期占位符 2"/>
          <p:cNvSpPr>
            <a:spLocks noGrp="1"/>
          </p:cNvSpPr>
          <p:nvPr>
            <p:ph type="dt" sz="half" idx="10"/>
          </p:nvPr>
        </p:nvSpPr>
        <p:spPr/>
        <p:txBody>
          <a:bodyPr/>
          <a:lstStyle/>
          <a:p>
            <a:fld id="{7B3DB7A9-F649-4C9D-A9A9-78886CE42DD3}" type="datetime10">
              <a:rPr lang="zh-CN" altLang="en-US" smtClean="0"/>
              <a:t>14:22</a:t>
            </a:fld>
            <a:endParaRPr lang="zh-CN" altLang="en-US"/>
          </a:p>
        </p:txBody>
      </p:sp>
    </p:spTree>
    <p:extLst>
      <p:ext uri="{BB962C8B-B14F-4D97-AF65-F5344CB8AC3E}">
        <p14:creationId xmlns:p14="http://schemas.microsoft.com/office/powerpoint/2010/main" val="242724547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 presetClass="entr" presetSubtype="10" fill="hold" grpId="0" nodeType="afterEffect">
                                  <p:stCondLst>
                                    <p:cond delay="0"/>
                                  </p:stCondLst>
                                  <p:childTnLst>
                                    <p:set>
                                      <p:cBhvr>
                                        <p:cTn id="6" dur="1" fill="hold">
                                          <p:stCondLst>
                                            <p:cond delay="0"/>
                                          </p:stCondLst>
                                        </p:cTn>
                                        <p:tgtEl>
                                          <p:spTgt spid="413706"/>
                                        </p:tgtEl>
                                        <p:attrNameLst>
                                          <p:attrName>style.visibility</p:attrName>
                                        </p:attrNameLst>
                                      </p:cBhvr>
                                      <p:to>
                                        <p:strVal val="visible"/>
                                      </p:to>
                                    </p:set>
                                    <p:animEffect transition="in" filter="blinds(horizontal)">
                                      <p:cBhvr>
                                        <p:cTn id="7" dur="500"/>
                                        <p:tgtEl>
                                          <p:spTgt spid="41370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3706" grpId="0" autoUpdateAnimBg="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3698" name="Rectangle 2"/>
          <p:cNvSpPr>
            <a:spLocks noChangeArrowheads="1"/>
          </p:cNvSpPr>
          <p:nvPr/>
        </p:nvSpPr>
        <p:spPr bwMode="auto">
          <a:xfrm>
            <a:off x="1219200" y="146050"/>
            <a:ext cx="7467600" cy="685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nSpc>
                <a:spcPct val="100000"/>
              </a:lnSpc>
            </a:pPr>
            <a:r>
              <a:rPr lang="en-US" altLang="zh-CN" sz="2800" b="1" dirty="0">
                <a:solidFill>
                  <a:srgbClr val="0033CC"/>
                </a:solidFill>
              </a:rPr>
              <a:t>IGBT</a:t>
            </a:r>
            <a:r>
              <a:rPr lang="zh-CN" altLang="en-US" sz="2800" b="1" dirty="0">
                <a:latin typeface="Times New Roman" pitchFamily="18" charset="0"/>
              </a:rPr>
              <a:t>学习要点</a:t>
            </a:r>
            <a:r>
              <a:rPr lang="zh-CN" altLang="en-US" sz="2800" dirty="0">
                <a:latin typeface="Times New Roman" pitchFamily="18" charset="0"/>
              </a:rPr>
              <a:t> </a:t>
            </a:r>
          </a:p>
        </p:txBody>
      </p:sp>
      <p:sp>
        <p:nvSpPr>
          <p:cNvPr id="413706" name="Rectangle 10"/>
          <p:cNvSpPr>
            <a:spLocks noChangeArrowheads="1"/>
          </p:cNvSpPr>
          <p:nvPr/>
        </p:nvSpPr>
        <p:spPr bwMode="auto">
          <a:xfrm>
            <a:off x="395536" y="980728"/>
            <a:ext cx="864096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742950" lvl="1" indent="-285750">
              <a:lnSpc>
                <a:spcPct val="130000"/>
              </a:lnSpc>
              <a:spcBef>
                <a:spcPct val="20000"/>
              </a:spcBef>
              <a:buFont typeface="Wingdings" pitchFamily="2" charset="2"/>
              <a:buNone/>
            </a:pPr>
            <a:r>
              <a:rPr lang="en-US" altLang="zh-CN" sz="2800" b="1" dirty="0">
                <a:latin typeface="Times New Roman" pitchFamily="18" charset="0"/>
              </a:rPr>
              <a:t>1</a:t>
            </a:r>
            <a:r>
              <a:rPr lang="zh-CN" altLang="en-US" sz="2800" b="1" dirty="0">
                <a:latin typeface="Times New Roman" pitchFamily="18" charset="0"/>
              </a:rPr>
              <a:t>、</a:t>
            </a:r>
            <a:r>
              <a:rPr lang="en-US" altLang="zh-CN" sz="2800" b="1" dirty="0">
                <a:solidFill>
                  <a:srgbClr val="0033CC"/>
                </a:solidFill>
              </a:rPr>
              <a:t>IGBT</a:t>
            </a:r>
            <a:r>
              <a:rPr lang="zh-CN" altLang="en-US" sz="2800" b="1" dirty="0">
                <a:solidFill>
                  <a:srgbClr val="0000FF"/>
                </a:solidFill>
                <a:latin typeface="Arial" charset="0"/>
              </a:rPr>
              <a:t>的结构特点</a:t>
            </a:r>
            <a:r>
              <a:rPr lang="en-US" altLang="zh-CN" sz="2800" b="1" dirty="0">
                <a:solidFill>
                  <a:srgbClr val="0000FF"/>
                </a:solidFill>
                <a:latin typeface="Arial" charset="0"/>
              </a:rPr>
              <a:t>(</a:t>
            </a:r>
            <a:r>
              <a:rPr lang="zh-CN" altLang="en-US" sz="2800" dirty="0"/>
              <a:t>复合管：</a:t>
            </a:r>
            <a:r>
              <a:rPr lang="en-US" altLang="zh-CN" sz="2800" dirty="0">
                <a:latin typeface="Arial" pitchFamily="34" charset="0"/>
              </a:rPr>
              <a:t> MOSFET </a:t>
            </a:r>
            <a:r>
              <a:rPr lang="zh-CN" altLang="en-US" sz="2800" dirty="0">
                <a:latin typeface="Arial" pitchFamily="34" charset="0"/>
              </a:rPr>
              <a:t>结构加</a:t>
            </a:r>
            <a:r>
              <a:rPr lang="zh-CN" altLang="en-US" sz="2800" b="1" dirty="0">
                <a:solidFill>
                  <a:srgbClr val="FF0000"/>
                </a:solidFill>
                <a:latin typeface="Arial" pitchFamily="34" charset="0"/>
              </a:rPr>
              <a:t>一层</a:t>
            </a:r>
            <a:r>
              <a:rPr lang="en-US" altLang="zh-CN" sz="2800" b="1" dirty="0">
                <a:solidFill>
                  <a:srgbClr val="FF0000"/>
                </a:solidFill>
                <a:latin typeface="Arial" pitchFamily="34" charset="0"/>
              </a:rPr>
              <a:t>P</a:t>
            </a:r>
            <a:r>
              <a:rPr lang="en-US" altLang="zh-CN" sz="2800" b="1" baseline="30000" dirty="0">
                <a:solidFill>
                  <a:srgbClr val="FF0000"/>
                </a:solidFill>
                <a:latin typeface="Arial" pitchFamily="34" charset="0"/>
              </a:rPr>
              <a:t>+</a:t>
            </a:r>
            <a:r>
              <a:rPr lang="zh-CN" altLang="en-US" sz="2800" b="1" dirty="0">
                <a:solidFill>
                  <a:srgbClr val="FF0000"/>
                </a:solidFill>
                <a:latin typeface="Arial" pitchFamily="34" charset="0"/>
              </a:rPr>
              <a:t>注入区</a:t>
            </a:r>
            <a:r>
              <a:rPr lang="zh-CN" altLang="en-US" sz="2800" dirty="0">
                <a:latin typeface="Arial" pitchFamily="34" charset="0"/>
              </a:rPr>
              <a:t>，</a:t>
            </a:r>
            <a:r>
              <a:rPr lang="en-US" altLang="zh-CN" sz="2800" dirty="0">
                <a:latin typeface="Arial" pitchFamily="34" charset="0"/>
              </a:rPr>
              <a:t>MOSFET</a:t>
            </a:r>
            <a:r>
              <a:rPr lang="zh-CN" altLang="en-US" sz="2800" dirty="0">
                <a:latin typeface="Arial" pitchFamily="34" charset="0"/>
              </a:rPr>
              <a:t>驱动</a:t>
            </a:r>
            <a:r>
              <a:rPr lang="en-US" altLang="zh-CN" sz="2800" dirty="0">
                <a:latin typeface="Arial" pitchFamily="34" charset="0"/>
              </a:rPr>
              <a:t>GTR</a:t>
            </a:r>
            <a:r>
              <a:rPr lang="zh-CN" altLang="en-US" sz="2800" dirty="0">
                <a:latin typeface="Arial" pitchFamily="34" charset="0"/>
              </a:rPr>
              <a:t>的达林顿结构</a:t>
            </a:r>
            <a:r>
              <a:rPr lang="en-US" altLang="zh-CN" sz="2800" dirty="0">
                <a:latin typeface="Arial" pitchFamily="34" charset="0"/>
              </a:rPr>
              <a:t>,</a:t>
            </a:r>
            <a:r>
              <a:rPr lang="zh-CN" altLang="en-US" sz="2800" dirty="0">
                <a:latin typeface="Arial" pitchFamily="34" charset="0"/>
              </a:rPr>
              <a:t>中间有调制电阻</a:t>
            </a:r>
            <a:r>
              <a:rPr lang="en-US" altLang="zh-CN" sz="2800" b="1" dirty="0">
                <a:solidFill>
                  <a:srgbClr val="0000FF"/>
                </a:solidFill>
                <a:latin typeface="Arial" charset="0"/>
              </a:rPr>
              <a:t>)</a:t>
            </a:r>
          </a:p>
          <a:p>
            <a:pPr marL="742950" lvl="1" indent="-285750">
              <a:lnSpc>
                <a:spcPct val="130000"/>
              </a:lnSpc>
              <a:spcBef>
                <a:spcPct val="20000"/>
              </a:spcBef>
              <a:buFont typeface="Wingdings" pitchFamily="2" charset="2"/>
              <a:buNone/>
            </a:pPr>
            <a:r>
              <a:rPr lang="en-US" altLang="zh-CN" sz="2800" b="1" dirty="0">
                <a:solidFill>
                  <a:srgbClr val="0000FF"/>
                </a:solidFill>
                <a:latin typeface="Arial" charset="0"/>
              </a:rPr>
              <a:t>2</a:t>
            </a:r>
            <a:r>
              <a:rPr lang="zh-CN" altLang="en-US" sz="2800" b="1" dirty="0">
                <a:solidFill>
                  <a:srgbClr val="0000FF"/>
                </a:solidFill>
                <a:latin typeface="Arial" charset="0"/>
              </a:rPr>
              <a:t>、</a:t>
            </a:r>
            <a:r>
              <a:rPr lang="en-US" altLang="zh-CN" sz="2800" b="1" dirty="0">
                <a:solidFill>
                  <a:srgbClr val="0033CC"/>
                </a:solidFill>
              </a:rPr>
              <a:t>IGBT</a:t>
            </a:r>
            <a:r>
              <a:rPr lang="zh-CN" altLang="en-US" sz="2800" b="1" dirty="0">
                <a:solidFill>
                  <a:srgbClr val="0000FF"/>
                </a:solidFill>
                <a:latin typeface="Arial" charset="0"/>
              </a:rPr>
              <a:t>的</a:t>
            </a:r>
            <a:r>
              <a:rPr lang="zh-CN" altLang="en-US" sz="2800" b="1" dirty="0">
                <a:solidFill>
                  <a:srgbClr val="FF0000"/>
                </a:solidFill>
                <a:latin typeface="Times New Roman" pitchFamily="18" charset="0"/>
              </a:rPr>
              <a:t>导电机理（</a:t>
            </a:r>
            <a:r>
              <a:rPr lang="en-US" altLang="zh-CN" sz="2800" dirty="0">
                <a:latin typeface="Arial" pitchFamily="34" charset="0"/>
              </a:rPr>
              <a:t> MOSFET</a:t>
            </a:r>
            <a:r>
              <a:rPr lang="zh-CN" altLang="en-US" sz="2800" dirty="0">
                <a:latin typeface="Arial" pitchFamily="34" charset="0"/>
              </a:rPr>
              <a:t>驱动</a:t>
            </a:r>
            <a:r>
              <a:rPr lang="en-US" altLang="zh-CN" sz="2800" dirty="0">
                <a:latin typeface="Arial" pitchFamily="34" charset="0"/>
              </a:rPr>
              <a:t>GTR</a:t>
            </a:r>
            <a:r>
              <a:rPr lang="zh-CN" altLang="en-US" sz="2800" dirty="0">
                <a:latin typeface="Arial" pitchFamily="34" charset="0"/>
              </a:rPr>
              <a:t>的过程</a:t>
            </a:r>
            <a:r>
              <a:rPr lang="en-US" altLang="zh-CN" sz="2800" dirty="0">
                <a:latin typeface="Arial" pitchFamily="34" charset="0"/>
              </a:rPr>
              <a:t> </a:t>
            </a:r>
            <a:r>
              <a:rPr lang="zh-CN" altLang="en-US" sz="2800" b="1" dirty="0">
                <a:solidFill>
                  <a:srgbClr val="FF0000"/>
                </a:solidFill>
                <a:latin typeface="Times New Roman" pitchFamily="18" charset="0"/>
              </a:rPr>
              <a:t>）</a:t>
            </a:r>
            <a:endParaRPr lang="en-US" altLang="zh-CN" sz="2800" b="1" dirty="0">
              <a:solidFill>
                <a:srgbClr val="0000FF"/>
              </a:solidFill>
              <a:latin typeface="Arial" charset="0"/>
            </a:endParaRPr>
          </a:p>
          <a:p>
            <a:pPr marL="742950" lvl="1" indent="-285750">
              <a:lnSpc>
                <a:spcPct val="130000"/>
              </a:lnSpc>
              <a:spcBef>
                <a:spcPct val="20000"/>
              </a:spcBef>
              <a:buFont typeface="Wingdings" pitchFamily="2" charset="2"/>
              <a:buNone/>
            </a:pPr>
            <a:r>
              <a:rPr lang="en-US" altLang="zh-CN" sz="2800" b="1" dirty="0">
                <a:solidFill>
                  <a:srgbClr val="0000FF"/>
                </a:solidFill>
                <a:latin typeface="Arial" charset="0"/>
              </a:rPr>
              <a:t>3</a:t>
            </a:r>
            <a:r>
              <a:rPr lang="zh-CN" altLang="en-US" sz="2800" b="1" dirty="0">
                <a:solidFill>
                  <a:srgbClr val="0000FF"/>
                </a:solidFill>
                <a:latin typeface="Arial" charset="0"/>
              </a:rPr>
              <a:t>、</a:t>
            </a:r>
            <a:r>
              <a:rPr lang="en-US" altLang="zh-CN" sz="2800" b="1" dirty="0">
                <a:solidFill>
                  <a:srgbClr val="0033CC"/>
                </a:solidFill>
              </a:rPr>
              <a:t>IGBT</a:t>
            </a:r>
            <a:r>
              <a:rPr lang="zh-CN" altLang="en-US" sz="2800" b="1" dirty="0">
                <a:solidFill>
                  <a:srgbClr val="0000FF"/>
                </a:solidFill>
                <a:latin typeface="Arial" charset="0"/>
              </a:rPr>
              <a:t>的静态特性</a:t>
            </a:r>
            <a:endParaRPr lang="en-US" altLang="zh-CN" sz="2800" b="1" dirty="0">
              <a:solidFill>
                <a:srgbClr val="0000FF"/>
              </a:solidFill>
              <a:latin typeface="Arial" charset="0"/>
            </a:endParaRPr>
          </a:p>
          <a:p>
            <a:pPr marL="742950" lvl="1" indent="-285750">
              <a:lnSpc>
                <a:spcPct val="130000"/>
              </a:lnSpc>
              <a:spcBef>
                <a:spcPct val="20000"/>
              </a:spcBef>
              <a:buFont typeface="Wingdings" pitchFamily="2" charset="2"/>
              <a:buNone/>
            </a:pPr>
            <a:r>
              <a:rPr lang="en-US" altLang="zh-CN" sz="2800" b="1" dirty="0">
                <a:solidFill>
                  <a:srgbClr val="0000FF"/>
                </a:solidFill>
                <a:latin typeface="Arial" charset="0"/>
              </a:rPr>
              <a:t>4</a:t>
            </a:r>
            <a:r>
              <a:rPr lang="zh-CN" altLang="en-US" sz="2800" b="1" dirty="0">
                <a:solidFill>
                  <a:srgbClr val="0000FF"/>
                </a:solidFill>
                <a:latin typeface="Arial" charset="0"/>
              </a:rPr>
              <a:t>、</a:t>
            </a:r>
            <a:r>
              <a:rPr lang="en-US" altLang="zh-CN" sz="2800" b="1" dirty="0">
                <a:solidFill>
                  <a:srgbClr val="0033CC"/>
                </a:solidFill>
              </a:rPr>
              <a:t>IGBT</a:t>
            </a:r>
            <a:r>
              <a:rPr lang="zh-CN" altLang="en-US" sz="2800" b="1" dirty="0">
                <a:solidFill>
                  <a:srgbClr val="0000FF"/>
                </a:solidFill>
                <a:latin typeface="Arial" charset="0"/>
              </a:rPr>
              <a:t>的动态特性（</a:t>
            </a:r>
            <a:r>
              <a:rPr lang="zh-CN" altLang="en-US" sz="2800" b="1" dirty="0">
                <a:solidFill>
                  <a:srgbClr val="FF0000"/>
                </a:solidFill>
                <a:latin typeface="Times New Roman" pitchFamily="18" charset="0"/>
              </a:rPr>
              <a:t>开通特性曲线：电流上升、电压下降两段</a:t>
            </a:r>
            <a:r>
              <a:rPr lang="zh-CN" altLang="en-US" sz="2800" dirty="0">
                <a:latin typeface="Arial" pitchFamily="34" charset="0"/>
              </a:rPr>
              <a:t>；</a:t>
            </a:r>
            <a:r>
              <a:rPr lang="zh-CN" altLang="en-US" sz="2800" b="1" dirty="0">
                <a:solidFill>
                  <a:srgbClr val="FF0000"/>
                </a:solidFill>
                <a:latin typeface="Times New Roman" pitchFamily="18" charset="0"/>
              </a:rPr>
              <a:t>关断特性曲线：电压上升、电流下降两段</a:t>
            </a:r>
            <a:r>
              <a:rPr lang="en-US" altLang="zh-CN" sz="2800" b="1" dirty="0">
                <a:solidFill>
                  <a:srgbClr val="FF0000"/>
                </a:solidFill>
                <a:latin typeface="Times New Roman" pitchFamily="18" charset="0"/>
              </a:rPr>
              <a:t>;</a:t>
            </a:r>
            <a:r>
              <a:rPr lang="zh-CN" altLang="en-US" sz="2800" b="1" dirty="0">
                <a:solidFill>
                  <a:srgbClr val="FF0000"/>
                </a:solidFill>
                <a:latin typeface="Times New Roman" pitchFamily="18" charset="0"/>
              </a:rPr>
              <a:t>开关速度特点及影响因素</a:t>
            </a:r>
            <a:r>
              <a:rPr lang="zh-CN" altLang="en-US" sz="2800" b="1" dirty="0">
                <a:solidFill>
                  <a:srgbClr val="0000FF"/>
                </a:solidFill>
                <a:latin typeface="Arial" charset="0"/>
              </a:rPr>
              <a:t>）</a:t>
            </a:r>
            <a:endParaRPr lang="en-US" altLang="zh-CN" sz="2800" b="1" dirty="0">
              <a:solidFill>
                <a:srgbClr val="0000FF"/>
              </a:solidFill>
              <a:latin typeface="Arial" charset="0"/>
            </a:endParaRPr>
          </a:p>
          <a:p>
            <a:pPr marL="742950" lvl="1" indent="-285750">
              <a:lnSpc>
                <a:spcPct val="130000"/>
              </a:lnSpc>
              <a:spcBef>
                <a:spcPct val="20000"/>
              </a:spcBef>
              <a:buFont typeface="Wingdings" pitchFamily="2" charset="2"/>
              <a:buNone/>
            </a:pPr>
            <a:r>
              <a:rPr lang="en-US" altLang="zh-CN" sz="2800" b="1" dirty="0">
                <a:solidFill>
                  <a:srgbClr val="0000FF"/>
                </a:solidFill>
                <a:latin typeface="Arial" charset="0"/>
              </a:rPr>
              <a:t>5</a:t>
            </a:r>
            <a:r>
              <a:rPr lang="zh-CN" altLang="en-US" sz="2800" b="1" dirty="0">
                <a:solidFill>
                  <a:srgbClr val="0000FF"/>
                </a:solidFill>
                <a:latin typeface="Arial" charset="0"/>
              </a:rPr>
              <a:t>、</a:t>
            </a:r>
            <a:r>
              <a:rPr lang="en-US" altLang="zh-CN" sz="2800" b="1" dirty="0">
                <a:solidFill>
                  <a:srgbClr val="0033CC"/>
                </a:solidFill>
              </a:rPr>
              <a:t> IGBT</a:t>
            </a:r>
            <a:r>
              <a:rPr lang="zh-CN" altLang="en-US" sz="2800" b="1" dirty="0">
                <a:solidFill>
                  <a:srgbClr val="FF0000"/>
                </a:solidFill>
              </a:rPr>
              <a:t>擎住效应</a:t>
            </a:r>
            <a:r>
              <a:rPr lang="zh-CN" altLang="en-US" sz="2800" b="1" dirty="0">
                <a:solidFill>
                  <a:srgbClr val="0033CC"/>
                </a:solidFill>
              </a:rPr>
              <a:t>产生的机理及造成的原因</a:t>
            </a:r>
            <a:endParaRPr lang="en-US" altLang="zh-CN" sz="2800" b="1" dirty="0">
              <a:solidFill>
                <a:srgbClr val="0000FF"/>
              </a:solidFill>
              <a:latin typeface="Arial" charset="0"/>
            </a:endParaRPr>
          </a:p>
          <a:p>
            <a:pPr marL="742950" lvl="1" indent="-285750">
              <a:lnSpc>
                <a:spcPct val="100000"/>
              </a:lnSpc>
              <a:spcBef>
                <a:spcPct val="20000"/>
              </a:spcBef>
              <a:buFont typeface="Wingdings" pitchFamily="2" charset="2"/>
              <a:buNone/>
            </a:pPr>
            <a:endParaRPr lang="zh-CN" altLang="en-US" sz="2400" b="1" dirty="0">
              <a:solidFill>
                <a:srgbClr val="0000FF"/>
              </a:solidFill>
              <a:latin typeface="Times New Roman" pitchFamily="18" charset="0"/>
            </a:endParaRPr>
          </a:p>
        </p:txBody>
      </p:sp>
      <p:sp>
        <p:nvSpPr>
          <p:cNvPr id="2" name="灯片编号占位符 1"/>
          <p:cNvSpPr>
            <a:spLocks noGrp="1"/>
          </p:cNvSpPr>
          <p:nvPr>
            <p:ph type="sldNum" sz="quarter" idx="12"/>
          </p:nvPr>
        </p:nvSpPr>
        <p:spPr/>
        <p:txBody>
          <a:bodyPr/>
          <a:lstStyle/>
          <a:p>
            <a:fld id="{0C913308-F349-4B6D-A68A-DD1791B4A57B}" type="slidenum">
              <a:rPr lang="zh-CN" altLang="en-US" smtClean="0"/>
              <a:t>46</a:t>
            </a:fld>
            <a:endParaRPr lang="zh-CN" altLang="en-US"/>
          </a:p>
        </p:txBody>
      </p:sp>
      <p:sp>
        <p:nvSpPr>
          <p:cNvPr id="3" name="日期占位符 2"/>
          <p:cNvSpPr>
            <a:spLocks noGrp="1"/>
          </p:cNvSpPr>
          <p:nvPr>
            <p:ph type="dt" sz="half" idx="10"/>
          </p:nvPr>
        </p:nvSpPr>
        <p:spPr/>
        <p:txBody>
          <a:bodyPr/>
          <a:lstStyle/>
          <a:p>
            <a:fld id="{A4D26126-6D67-4866-98C9-523F73B64BC2}" type="datetime10">
              <a:rPr lang="zh-CN" altLang="en-US" smtClean="0"/>
              <a:t>14:22</a:t>
            </a:fld>
            <a:endParaRPr lang="zh-CN" altLang="en-US"/>
          </a:p>
        </p:txBody>
      </p:sp>
    </p:spTree>
    <p:extLst>
      <p:ext uri="{BB962C8B-B14F-4D97-AF65-F5344CB8AC3E}">
        <p14:creationId xmlns:p14="http://schemas.microsoft.com/office/powerpoint/2010/main" val="323604571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 presetClass="entr" presetSubtype="10" fill="hold" grpId="0" nodeType="afterEffect">
                                  <p:stCondLst>
                                    <p:cond delay="0"/>
                                  </p:stCondLst>
                                  <p:childTnLst>
                                    <p:set>
                                      <p:cBhvr>
                                        <p:cTn id="6" dur="1" fill="hold">
                                          <p:stCondLst>
                                            <p:cond delay="0"/>
                                          </p:stCondLst>
                                        </p:cTn>
                                        <p:tgtEl>
                                          <p:spTgt spid="413706"/>
                                        </p:tgtEl>
                                        <p:attrNameLst>
                                          <p:attrName>style.visibility</p:attrName>
                                        </p:attrNameLst>
                                      </p:cBhvr>
                                      <p:to>
                                        <p:strVal val="visible"/>
                                      </p:to>
                                    </p:set>
                                    <p:animEffect transition="in" filter="blinds(horizontal)">
                                      <p:cBhvr>
                                        <p:cTn id="7" dur="500"/>
                                        <p:tgtEl>
                                          <p:spTgt spid="413706"/>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413706">
                                            <p:txEl>
                                              <p:pRg st="0" end="0"/>
                                            </p:txEl>
                                          </p:spTgt>
                                        </p:tgtEl>
                                        <p:attrNameLst>
                                          <p:attrName>style.visibility</p:attrName>
                                        </p:attrNameLst>
                                      </p:cBhvr>
                                      <p:to>
                                        <p:strVal val="visible"/>
                                      </p:to>
                                    </p:set>
                                    <p:anim calcmode="lin" valueType="num">
                                      <p:cBhvr additive="base">
                                        <p:cTn id="12" dur="500" fill="hold"/>
                                        <p:tgtEl>
                                          <p:spTgt spid="413706">
                                            <p:txEl>
                                              <p:pRg st="0" end="0"/>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413706">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nodeType="clickEffect">
                                  <p:stCondLst>
                                    <p:cond delay="0"/>
                                  </p:stCondLst>
                                  <p:childTnLst>
                                    <p:set>
                                      <p:cBhvr>
                                        <p:cTn id="17" dur="1" fill="hold">
                                          <p:stCondLst>
                                            <p:cond delay="0"/>
                                          </p:stCondLst>
                                        </p:cTn>
                                        <p:tgtEl>
                                          <p:spTgt spid="413706">
                                            <p:txEl>
                                              <p:pRg st="1" end="1"/>
                                            </p:txEl>
                                          </p:spTgt>
                                        </p:tgtEl>
                                        <p:attrNameLst>
                                          <p:attrName>style.visibility</p:attrName>
                                        </p:attrNameLst>
                                      </p:cBhvr>
                                      <p:to>
                                        <p:strVal val="visible"/>
                                      </p:to>
                                    </p:set>
                                    <p:anim calcmode="lin" valueType="num">
                                      <p:cBhvr additive="base">
                                        <p:cTn id="18" dur="500" fill="hold"/>
                                        <p:tgtEl>
                                          <p:spTgt spid="413706">
                                            <p:txEl>
                                              <p:pRg st="1" end="1"/>
                                            </p:txEl>
                                          </p:spTgt>
                                        </p:tgtEl>
                                        <p:attrNameLst>
                                          <p:attrName>ppt_x</p:attrName>
                                        </p:attrNameLst>
                                      </p:cBhvr>
                                      <p:tavLst>
                                        <p:tav tm="0">
                                          <p:val>
                                            <p:strVal val="#ppt_x"/>
                                          </p:val>
                                        </p:tav>
                                        <p:tav tm="100000">
                                          <p:val>
                                            <p:strVal val="#ppt_x"/>
                                          </p:val>
                                        </p:tav>
                                      </p:tavLst>
                                    </p:anim>
                                    <p:anim calcmode="lin" valueType="num">
                                      <p:cBhvr additive="base">
                                        <p:cTn id="19" dur="500" fill="hold"/>
                                        <p:tgtEl>
                                          <p:spTgt spid="413706">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 presetClass="entr" presetSubtype="4" fill="hold" nodeType="clickEffect">
                                  <p:stCondLst>
                                    <p:cond delay="0"/>
                                  </p:stCondLst>
                                  <p:childTnLst>
                                    <p:set>
                                      <p:cBhvr>
                                        <p:cTn id="23" dur="1" fill="hold">
                                          <p:stCondLst>
                                            <p:cond delay="0"/>
                                          </p:stCondLst>
                                        </p:cTn>
                                        <p:tgtEl>
                                          <p:spTgt spid="413706">
                                            <p:txEl>
                                              <p:pRg st="2" end="2"/>
                                            </p:txEl>
                                          </p:spTgt>
                                        </p:tgtEl>
                                        <p:attrNameLst>
                                          <p:attrName>style.visibility</p:attrName>
                                        </p:attrNameLst>
                                      </p:cBhvr>
                                      <p:to>
                                        <p:strVal val="visible"/>
                                      </p:to>
                                    </p:set>
                                    <p:anim calcmode="lin" valueType="num">
                                      <p:cBhvr additive="base">
                                        <p:cTn id="24" dur="500" fill="hold"/>
                                        <p:tgtEl>
                                          <p:spTgt spid="413706">
                                            <p:txEl>
                                              <p:pRg st="2" end="2"/>
                                            </p:txEl>
                                          </p:spTgt>
                                        </p:tgtEl>
                                        <p:attrNameLst>
                                          <p:attrName>ppt_x</p:attrName>
                                        </p:attrNameLst>
                                      </p:cBhvr>
                                      <p:tavLst>
                                        <p:tav tm="0">
                                          <p:val>
                                            <p:strVal val="#ppt_x"/>
                                          </p:val>
                                        </p:tav>
                                        <p:tav tm="100000">
                                          <p:val>
                                            <p:strVal val="#ppt_x"/>
                                          </p:val>
                                        </p:tav>
                                      </p:tavLst>
                                    </p:anim>
                                    <p:anim calcmode="lin" valueType="num">
                                      <p:cBhvr additive="base">
                                        <p:cTn id="25" dur="500" fill="hold"/>
                                        <p:tgtEl>
                                          <p:spTgt spid="413706">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2" presetClass="entr" presetSubtype="4" fill="hold" nodeType="clickEffect">
                                  <p:stCondLst>
                                    <p:cond delay="0"/>
                                  </p:stCondLst>
                                  <p:childTnLst>
                                    <p:set>
                                      <p:cBhvr>
                                        <p:cTn id="29" dur="1" fill="hold">
                                          <p:stCondLst>
                                            <p:cond delay="0"/>
                                          </p:stCondLst>
                                        </p:cTn>
                                        <p:tgtEl>
                                          <p:spTgt spid="413706">
                                            <p:txEl>
                                              <p:pRg st="3" end="3"/>
                                            </p:txEl>
                                          </p:spTgt>
                                        </p:tgtEl>
                                        <p:attrNameLst>
                                          <p:attrName>style.visibility</p:attrName>
                                        </p:attrNameLst>
                                      </p:cBhvr>
                                      <p:to>
                                        <p:strVal val="visible"/>
                                      </p:to>
                                    </p:set>
                                    <p:anim calcmode="lin" valueType="num">
                                      <p:cBhvr additive="base">
                                        <p:cTn id="30" dur="500" fill="hold"/>
                                        <p:tgtEl>
                                          <p:spTgt spid="413706">
                                            <p:txEl>
                                              <p:pRg st="3" end="3"/>
                                            </p:txEl>
                                          </p:spTgt>
                                        </p:tgtEl>
                                        <p:attrNameLst>
                                          <p:attrName>ppt_x</p:attrName>
                                        </p:attrNameLst>
                                      </p:cBhvr>
                                      <p:tavLst>
                                        <p:tav tm="0">
                                          <p:val>
                                            <p:strVal val="#ppt_x"/>
                                          </p:val>
                                        </p:tav>
                                        <p:tav tm="100000">
                                          <p:val>
                                            <p:strVal val="#ppt_x"/>
                                          </p:val>
                                        </p:tav>
                                      </p:tavLst>
                                    </p:anim>
                                    <p:anim calcmode="lin" valueType="num">
                                      <p:cBhvr additive="base">
                                        <p:cTn id="31" dur="500" fill="hold"/>
                                        <p:tgtEl>
                                          <p:spTgt spid="413706">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2" presetClass="entr" presetSubtype="4" fill="hold" nodeType="clickEffect">
                                  <p:stCondLst>
                                    <p:cond delay="0"/>
                                  </p:stCondLst>
                                  <p:childTnLst>
                                    <p:set>
                                      <p:cBhvr>
                                        <p:cTn id="35" dur="1" fill="hold">
                                          <p:stCondLst>
                                            <p:cond delay="0"/>
                                          </p:stCondLst>
                                        </p:cTn>
                                        <p:tgtEl>
                                          <p:spTgt spid="413706">
                                            <p:txEl>
                                              <p:pRg st="4" end="4"/>
                                            </p:txEl>
                                          </p:spTgt>
                                        </p:tgtEl>
                                        <p:attrNameLst>
                                          <p:attrName>style.visibility</p:attrName>
                                        </p:attrNameLst>
                                      </p:cBhvr>
                                      <p:to>
                                        <p:strVal val="visible"/>
                                      </p:to>
                                    </p:set>
                                    <p:anim calcmode="lin" valueType="num">
                                      <p:cBhvr additive="base">
                                        <p:cTn id="36" dur="500" fill="hold"/>
                                        <p:tgtEl>
                                          <p:spTgt spid="413706">
                                            <p:txEl>
                                              <p:pRg st="4" end="4"/>
                                            </p:txEl>
                                          </p:spTgt>
                                        </p:tgtEl>
                                        <p:attrNameLst>
                                          <p:attrName>ppt_x</p:attrName>
                                        </p:attrNameLst>
                                      </p:cBhvr>
                                      <p:tavLst>
                                        <p:tav tm="0">
                                          <p:val>
                                            <p:strVal val="#ppt_x"/>
                                          </p:val>
                                        </p:tav>
                                        <p:tav tm="100000">
                                          <p:val>
                                            <p:strVal val="#ppt_x"/>
                                          </p:val>
                                        </p:tav>
                                      </p:tavLst>
                                    </p:anim>
                                    <p:anim calcmode="lin" valueType="num">
                                      <p:cBhvr additive="base">
                                        <p:cTn id="37" dur="500" fill="hold"/>
                                        <p:tgtEl>
                                          <p:spTgt spid="413706">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3706" grpId="0" autoUpdateAnimBg="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458" name="Rectangle 2"/>
          <p:cNvSpPr>
            <a:spLocks noGrp="1" noChangeArrowheads="1"/>
          </p:cNvSpPr>
          <p:nvPr>
            <p:ph type="title"/>
          </p:nvPr>
        </p:nvSpPr>
        <p:spPr>
          <a:xfrm>
            <a:off x="3347864" y="44624"/>
            <a:ext cx="3960936" cy="428625"/>
          </a:xfrm>
        </p:spPr>
        <p:txBody>
          <a:bodyPr/>
          <a:lstStyle/>
          <a:p>
            <a:pPr algn="l"/>
            <a:r>
              <a:rPr lang="zh-CN" altLang="en-US" sz="3600" b="1" dirty="0"/>
              <a:t>章小结</a:t>
            </a:r>
          </a:p>
        </p:txBody>
      </p:sp>
      <p:sp>
        <p:nvSpPr>
          <p:cNvPr id="147459" name="Rectangle 3"/>
          <p:cNvSpPr>
            <a:spLocks noGrp="1" noChangeArrowheads="1"/>
          </p:cNvSpPr>
          <p:nvPr>
            <p:ph idx="1"/>
          </p:nvPr>
        </p:nvSpPr>
        <p:spPr>
          <a:xfrm>
            <a:off x="539552" y="623664"/>
            <a:ext cx="8604448" cy="4605536"/>
          </a:xfrm>
        </p:spPr>
        <p:txBody>
          <a:bodyPr/>
          <a:lstStyle/>
          <a:p>
            <a:pPr>
              <a:lnSpc>
                <a:spcPct val="114000"/>
              </a:lnSpc>
              <a:buFontTx/>
              <a:buNone/>
            </a:pPr>
            <a:r>
              <a:rPr lang="en-US" altLang="zh-CN" sz="2400" b="1" dirty="0">
                <a:solidFill>
                  <a:srgbClr val="0000FF"/>
                </a:solidFill>
              </a:rPr>
              <a:t>◆</a:t>
            </a:r>
            <a:r>
              <a:rPr lang="zh-CN" altLang="en-US" sz="2400" b="1" dirty="0"/>
              <a:t>按驱动类型</a:t>
            </a:r>
          </a:p>
          <a:p>
            <a:pPr>
              <a:lnSpc>
                <a:spcPct val="114000"/>
              </a:lnSpc>
              <a:buFontTx/>
              <a:buNone/>
            </a:pPr>
            <a:r>
              <a:rPr lang="zh-CN" altLang="en-US" sz="2400" b="1" dirty="0"/>
              <a:t>     </a:t>
            </a:r>
            <a:r>
              <a:rPr lang="zh-CN" altLang="en-US" sz="2400" b="1" dirty="0">
                <a:solidFill>
                  <a:srgbClr val="009900"/>
                </a:solidFill>
              </a:rPr>
              <a:t>☞</a:t>
            </a:r>
            <a:r>
              <a:rPr lang="zh-CN" altLang="en-US" sz="2400" b="1" dirty="0">
                <a:solidFill>
                  <a:srgbClr val="E35449"/>
                </a:solidFill>
              </a:rPr>
              <a:t>电压</a:t>
            </a:r>
            <a:r>
              <a:rPr lang="zh-CN" altLang="en-US" sz="2400" b="1" dirty="0"/>
              <a:t>驱动型器件 ：</a:t>
            </a:r>
            <a:r>
              <a:rPr kumimoji="1" lang="zh-CN" altLang="en-US" sz="2400" b="1" dirty="0">
                <a:solidFill>
                  <a:srgbClr val="9900FF"/>
                </a:solidFill>
              </a:rPr>
              <a:t>单极型器件</a:t>
            </a:r>
            <a:r>
              <a:rPr kumimoji="1" lang="en-US" altLang="zh-CN" sz="2400" b="1" dirty="0">
                <a:solidFill>
                  <a:srgbClr val="9900FF"/>
                </a:solidFill>
              </a:rPr>
              <a:t>(</a:t>
            </a:r>
            <a:r>
              <a:rPr kumimoji="1" lang="zh-CN" altLang="en-US" sz="2400" b="1" dirty="0">
                <a:solidFill>
                  <a:srgbClr val="9900FF"/>
                </a:solidFill>
              </a:rPr>
              <a:t>电力</a:t>
            </a:r>
            <a:r>
              <a:rPr kumimoji="1" lang="en-US" altLang="zh-CN" sz="2400" b="1" dirty="0">
                <a:solidFill>
                  <a:srgbClr val="9900FF"/>
                </a:solidFill>
              </a:rPr>
              <a:t>MOSFET)</a:t>
            </a:r>
            <a:r>
              <a:rPr kumimoji="1" lang="zh-CN" altLang="en-US" sz="2400" b="1" dirty="0">
                <a:solidFill>
                  <a:srgbClr val="9900FF"/>
                </a:solidFill>
              </a:rPr>
              <a:t>和复合型器件（</a:t>
            </a:r>
            <a:r>
              <a:rPr kumimoji="1" lang="en-US" altLang="zh-CN" sz="2400" b="1" dirty="0">
                <a:solidFill>
                  <a:srgbClr val="9900FF"/>
                </a:solidFill>
              </a:rPr>
              <a:t>IGBT</a:t>
            </a:r>
            <a:r>
              <a:rPr kumimoji="1" lang="zh-CN" altLang="en-US" sz="2400" b="1" dirty="0">
                <a:solidFill>
                  <a:srgbClr val="9900FF"/>
                </a:solidFill>
              </a:rPr>
              <a:t>）。</a:t>
            </a:r>
          </a:p>
          <a:p>
            <a:pPr>
              <a:lnSpc>
                <a:spcPct val="114000"/>
              </a:lnSpc>
              <a:buFontTx/>
              <a:buNone/>
            </a:pPr>
            <a:r>
              <a:rPr lang="zh-CN" altLang="en-US" sz="2400" b="1" dirty="0">
                <a:solidFill>
                  <a:srgbClr val="FF00FF"/>
                </a:solidFill>
              </a:rPr>
              <a:t>      </a:t>
            </a:r>
            <a:r>
              <a:rPr lang="zh-CN" altLang="en-US" sz="2400" b="1" dirty="0">
                <a:solidFill>
                  <a:srgbClr val="FF0000"/>
                </a:solidFill>
              </a:rPr>
              <a:t> √共同特点是：输入阻抗高，所需驱动功率小，驱动电路简单，工作频率高。</a:t>
            </a:r>
            <a:endParaRPr lang="en-US" altLang="zh-CN" sz="2400" b="1" dirty="0">
              <a:solidFill>
                <a:srgbClr val="FF0000"/>
              </a:solidFill>
            </a:endParaRPr>
          </a:p>
          <a:p>
            <a:pPr>
              <a:lnSpc>
                <a:spcPct val="114000"/>
              </a:lnSpc>
              <a:buFontTx/>
              <a:buNone/>
            </a:pPr>
            <a:r>
              <a:rPr lang="en-US" altLang="zh-CN" sz="2400" b="1" dirty="0">
                <a:solidFill>
                  <a:srgbClr val="FF0000"/>
                </a:solidFill>
              </a:rPr>
              <a:t>       </a:t>
            </a:r>
            <a:r>
              <a:rPr lang="zh-CN" altLang="en-US" sz="2400" b="1" dirty="0">
                <a:solidFill>
                  <a:srgbClr val="FF0000"/>
                </a:solidFill>
              </a:rPr>
              <a:t>√ </a:t>
            </a:r>
            <a:r>
              <a:rPr kumimoji="1" lang="en-US" altLang="zh-CN" sz="2400" b="1" dirty="0"/>
              <a:t>IGBT</a:t>
            </a:r>
            <a:r>
              <a:rPr kumimoji="1" lang="zh-CN" altLang="en-US" sz="2400" b="1" dirty="0"/>
              <a:t>虽然是电压驱动，但是</a:t>
            </a:r>
            <a:r>
              <a:rPr lang="zh-CN" altLang="en-US" sz="2400" b="1" dirty="0">
                <a:solidFill>
                  <a:srgbClr val="0000FF"/>
                </a:solidFill>
              </a:rPr>
              <a:t>具有电导调制效应。</a:t>
            </a:r>
            <a:r>
              <a:rPr kumimoji="1" lang="zh-CN" altLang="en-US" sz="2400" b="1" dirty="0"/>
              <a:t>电力</a:t>
            </a:r>
            <a:r>
              <a:rPr kumimoji="1" lang="en-US" altLang="zh-CN" sz="2400" b="1" dirty="0"/>
              <a:t>MOSFET</a:t>
            </a:r>
            <a:r>
              <a:rPr kumimoji="1" lang="zh-CN" altLang="en-US" sz="2400" b="1" dirty="0"/>
              <a:t>没有</a:t>
            </a:r>
            <a:r>
              <a:rPr lang="zh-CN" altLang="en-US" sz="2400" b="1" dirty="0">
                <a:solidFill>
                  <a:srgbClr val="0000FF"/>
                </a:solidFill>
              </a:rPr>
              <a:t>电导调制效应。</a:t>
            </a:r>
            <a:endParaRPr lang="zh-CN" altLang="en-US" sz="2400" b="1" dirty="0">
              <a:solidFill>
                <a:srgbClr val="FF0000"/>
              </a:solidFill>
            </a:endParaRPr>
          </a:p>
          <a:p>
            <a:pPr>
              <a:lnSpc>
                <a:spcPct val="114000"/>
              </a:lnSpc>
              <a:buFontTx/>
              <a:buNone/>
            </a:pPr>
            <a:r>
              <a:rPr lang="zh-CN" altLang="en-US" sz="2400" b="1" dirty="0"/>
              <a:t>     </a:t>
            </a:r>
            <a:r>
              <a:rPr lang="zh-CN" altLang="en-US" sz="2400" b="1" dirty="0">
                <a:solidFill>
                  <a:srgbClr val="009900"/>
                </a:solidFill>
              </a:rPr>
              <a:t>☞</a:t>
            </a:r>
            <a:r>
              <a:rPr lang="zh-CN" altLang="en-US" sz="2400" b="1" dirty="0">
                <a:solidFill>
                  <a:srgbClr val="0000FF"/>
                </a:solidFill>
              </a:rPr>
              <a:t>电流驱动型器件 </a:t>
            </a:r>
            <a:r>
              <a:rPr lang="zh-CN" altLang="en-US" sz="2400" b="1" dirty="0"/>
              <a:t>：</a:t>
            </a:r>
            <a:r>
              <a:rPr lang="zh-CN" altLang="en-US" sz="2400" b="1" dirty="0">
                <a:solidFill>
                  <a:srgbClr val="9900FF"/>
                </a:solidFill>
              </a:rPr>
              <a:t>双极型器件。（晶闸管、</a:t>
            </a:r>
            <a:r>
              <a:rPr lang="en-US" altLang="zh-CN" sz="2400" b="1" dirty="0">
                <a:solidFill>
                  <a:srgbClr val="9900FF"/>
                </a:solidFill>
              </a:rPr>
              <a:t>GTO</a:t>
            </a:r>
            <a:r>
              <a:rPr lang="zh-CN" altLang="en-US" sz="2400" b="1" dirty="0">
                <a:solidFill>
                  <a:srgbClr val="9900FF"/>
                </a:solidFill>
              </a:rPr>
              <a:t>、</a:t>
            </a:r>
            <a:r>
              <a:rPr lang="en-US" altLang="zh-CN" sz="2400" b="1" dirty="0">
                <a:solidFill>
                  <a:srgbClr val="9900FF"/>
                </a:solidFill>
              </a:rPr>
              <a:t>GTR</a:t>
            </a:r>
            <a:r>
              <a:rPr lang="zh-CN" altLang="en-US" sz="2400" b="1" dirty="0">
                <a:solidFill>
                  <a:srgbClr val="9900FF"/>
                </a:solidFill>
              </a:rPr>
              <a:t>）</a:t>
            </a:r>
          </a:p>
          <a:p>
            <a:pPr>
              <a:lnSpc>
                <a:spcPct val="114000"/>
              </a:lnSpc>
              <a:buFontTx/>
              <a:buNone/>
            </a:pPr>
            <a:r>
              <a:rPr lang="zh-CN" altLang="en-US" sz="2400" b="1" dirty="0"/>
              <a:t>       </a:t>
            </a:r>
            <a:r>
              <a:rPr lang="zh-CN" altLang="en-US" sz="2400" b="1" dirty="0">
                <a:solidFill>
                  <a:srgbClr val="FF00FF"/>
                </a:solidFill>
              </a:rPr>
              <a:t>√</a:t>
            </a:r>
            <a:r>
              <a:rPr lang="zh-CN" altLang="en-US" sz="2400" b="1" dirty="0">
                <a:solidFill>
                  <a:srgbClr val="FF0000"/>
                </a:solidFill>
              </a:rPr>
              <a:t>共同特点是：</a:t>
            </a:r>
            <a:r>
              <a:rPr lang="zh-CN" altLang="en-US" sz="2400" b="1" dirty="0">
                <a:solidFill>
                  <a:srgbClr val="0000FF"/>
                </a:solidFill>
              </a:rPr>
              <a:t>具有电导调制效应</a:t>
            </a:r>
            <a:r>
              <a:rPr lang="zh-CN" altLang="en-US" sz="2400" b="1" dirty="0">
                <a:solidFill>
                  <a:srgbClr val="FF0000"/>
                </a:solidFill>
              </a:rPr>
              <a:t>，通态压降低，导通损耗小，但工作频率较低，驱动功率大，驱动电路比较复杂。</a:t>
            </a:r>
            <a:endParaRPr lang="en-US" altLang="zh-CN" sz="2400" b="1" dirty="0">
              <a:solidFill>
                <a:srgbClr val="FF0000"/>
              </a:solidFill>
            </a:endParaRPr>
          </a:p>
          <a:p>
            <a:pPr>
              <a:lnSpc>
                <a:spcPct val="114000"/>
              </a:lnSpc>
              <a:buNone/>
            </a:pPr>
            <a:endParaRPr lang="en-US" altLang="zh-CN" sz="2400" b="1" dirty="0">
              <a:solidFill>
                <a:srgbClr val="0000FF"/>
              </a:solidFill>
            </a:endParaRPr>
          </a:p>
          <a:p>
            <a:pPr>
              <a:lnSpc>
                <a:spcPct val="114000"/>
              </a:lnSpc>
              <a:buNone/>
            </a:pPr>
            <a:r>
              <a:rPr lang="en-US" altLang="zh-CN" sz="2400" b="1" dirty="0">
                <a:solidFill>
                  <a:srgbClr val="0000FF"/>
                </a:solidFill>
              </a:rPr>
              <a:t>◆</a:t>
            </a:r>
            <a:endParaRPr lang="zh-CN" altLang="en-US" sz="2400" b="1" dirty="0">
              <a:solidFill>
                <a:srgbClr val="FF0000"/>
              </a:solidFill>
            </a:endParaRPr>
          </a:p>
        </p:txBody>
      </p:sp>
      <p:sp>
        <p:nvSpPr>
          <p:cNvPr id="2" name="灯片编号占位符 1"/>
          <p:cNvSpPr>
            <a:spLocks noGrp="1"/>
          </p:cNvSpPr>
          <p:nvPr>
            <p:ph type="sldNum" sz="quarter" idx="12"/>
          </p:nvPr>
        </p:nvSpPr>
        <p:spPr/>
        <p:txBody>
          <a:bodyPr/>
          <a:lstStyle/>
          <a:p>
            <a:fld id="{0C913308-F349-4B6D-A68A-DD1791B4A57B}" type="slidenum">
              <a:rPr lang="zh-CN" altLang="en-US" smtClean="0"/>
              <a:t>47</a:t>
            </a:fld>
            <a:endParaRPr lang="zh-CN" altLang="en-US"/>
          </a:p>
        </p:txBody>
      </p:sp>
      <p:sp>
        <p:nvSpPr>
          <p:cNvPr id="3" name="日期占位符 2"/>
          <p:cNvSpPr>
            <a:spLocks noGrp="1"/>
          </p:cNvSpPr>
          <p:nvPr>
            <p:ph type="dt" sz="half" idx="10"/>
          </p:nvPr>
        </p:nvSpPr>
        <p:spPr/>
        <p:txBody>
          <a:bodyPr/>
          <a:lstStyle/>
          <a:p>
            <a:fld id="{4376178D-0D10-4358-B795-40988C39247D}" type="datetime10">
              <a:rPr lang="zh-CN" altLang="en-US" smtClean="0"/>
              <a:t>14:22</a:t>
            </a:fld>
            <a:endParaRPr lang="zh-CN" altLang="en-US"/>
          </a:p>
        </p:txBody>
      </p:sp>
    </p:spTree>
    <p:extLst>
      <p:ext uri="{BB962C8B-B14F-4D97-AF65-F5344CB8AC3E}">
        <p14:creationId xmlns:p14="http://schemas.microsoft.com/office/powerpoint/2010/main" val="254605098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458" name="Rectangle 2"/>
          <p:cNvSpPr>
            <a:spLocks noGrp="1" noChangeArrowheads="1"/>
          </p:cNvSpPr>
          <p:nvPr>
            <p:ph type="title"/>
          </p:nvPr>
        </p:nvSpPr>
        <p:spPr>
          <a:xfrm>
            <a:off x="3347864" y="44624"/>
            <a:ext cx="3960936" cy="428625"/>
          </a:xfrm>
        </p:spPr>
        <p:txBody>
          <a:bodyPr/>
          <a:lstStyle/>
          <a:p>
            <a:pPr algn="l"/>
            <a:r>
              <a:rPr lang="zh-CN" altLang="en-US" sz="3600" b="1" dirty="0"/>
              <a:t>章小结</a:t>
            </a:r>
          </a:p>
        </p:txBody>
      </p:sp>
      <p:sp>
        <p:nvSpPr>
          <p:cNvPr id="147459" name="Rectangle 3"/>
          <p:cNvSpPr>
            <a:spLocks noGrp="1" noChangeArrowheads="1"/>
          </p:cNvSpPr>
          <p:nvPr>
            <p:ph idx="1"/>
          </p:nvPr>
        </p:nvSpPr>
        <p:spPr>
          <a:xfrm>
            <a:off x="838200" y="623664"/>
            <a:ext cx="8305800" cy="4605536"/>
          </a:xfrm>
        </p:spPr>
        <p:txBody>
          <a:bodyPr/>
          <a:lstStyle/>
          <a:p>
            <a:pPr>
              <a:lnSpc>
                <a:spcPct val="114000"/>
              </a:lnSpc>
              <a:buNone/>
            </a:pPr>
            <a:r>
              <a:rPr lang="zh-CN" altLang="en-US" sz="2400" b="1" dirty="0">
                <a:solidFill>
                  <a:srgbClr val="0000FF"/>
                </a:solidFill>
              </a:rPr>
              <a:t>电力电子器件的融合学习：</a:t>
            </a:r>
            <a:endParaRPr lang="en-US" altLang="zh-CN" sz="2400" b="1" dirty="0">
              <a:solidFill>
                <a:srgbClr val="0000FF"/>
              </a:solidFill>
            </a:endParaRPr>
          </a:p>
          <a:p>
            <a:pPr>
              <a:lnSpc>
                <a:spcPct val="114000"/>
              </a:lnSpc>
              <a:buNone/>
            </a:pPr>
            <a:r>
              <a:rPr lang="en-US" altLang="zh-CN" sz="2400" b="1" dirty="0">
                <a:solidFill>
                  <a:srgbClr val="0000FF"/>
                </a:solidFill>
              </a:rPr>
              <a:t>1</a:t>
            </a:r>
            <a:r>
              <a:rPr lang="zh-CN" altLang="en-US" sz="2400" b="1" dirty="0">
                <a:solidFill>
                  <a:srgbClr val="0000FF"/>
                </a:solidFill>
              </a:rPr>
              <a:t>、电力电子器件为了解决什么问题：高压、大电流、开关特性好；</a:t>
            </a:r>
            <a:endParaRPr lang="en-US" altLang="zh-CN" sz="2400" b="1" dirty="0">
              <a:solidFill>
                <a:srgbClr val="0000FF"/>
              </a:solidFill>
            </a:endParaRPr>
          </a:p>
          <a:p>
            <a:pPr>
              <a:lnSpc>
                <a:spcPct val="114000"/>
              </a:lnSpc>
              <a:buNone/>
            </a:pPr>
            <a:r>
              <a:rPr lang="en-US" altLang="zh-CN" sz="2400" b="1" dirty="0">
                <a:solidFill>
                  <a:srgbClr val="0000FF"/>
                </a:solidFill>
              </a:rPr>
              <a:t>2</a:t>
            </a:r>
            <a:r>
              <a:rPr lang="zh-CN" altLang="en-US" sz="2400" b="1" dirty="0">
                <a:solidFill>
                  <a:srgbClr val="0000FF"/>
                </a:solidFill>
              </a:rPr>
              <a:t>、是否</a:t>
            </a:r>
            <a:r>
              <a:rPr lang="zh-CN" altLang="en-US" sz="2400" b="1" dirty="0"/>
              <a:t>所有器件都有：</a:t>
            </a:r>
            <a:endParaRPr lang="en-US" altLang="zh-CN" sz="2400" b="1" dirty="0"/>
          </a:p>
          <a:p>
            <a:pPr>
              <a:lnSpc>
                <a:spcPct val="114000"/>
              </a:lnSpc>
              <a:buNone/>
            </a:pPr>
            <a:r>
              <a:rPr lang="en-US" altLang="zh-CN" sz="2400" b="1" dirty="0"/>
              <a:t>		</a:t>
            </a:r>
            <a:r>
              <a:rPr lang="zh-CN" altLang="en-US" sz="2400" b="1" dirty="0">
                <a:solidFill>
                  <a:srgbClr val="9900FF"/>
                </a:solidFill>
              </a:rPr>
              <a:t>垂直导电结构（大电流）</a:t>
            </a:r>
            <a:endParaRPr lang="en-US" altLang="zh-CN" sz="2400" b="1" dirty="0">
              <a:solidFill>
                <a:srgbClr val="9900FF"/>
              </a:solidFill>
            </a:endParaRPr>
          </a:p>
          <a:p>
            <a:pPr>
              <a:lnSpc>
                <a:spcPct val="114000"/>
              </a:lnSpc>
              <a:buNone/>
            </a:pPr>
            <a:r>
              <a:rPr lang="en-US" altLang="zh-CN" sz="2400" b="1" dirty="0">
                <a:solidFill>
                  <a:srgbClr val="9900FF"/>
                </a:solidFill>
              </a:rPr>
              <a:t>		</a:t>
            </a:r>
            <a:r>
              <a:rPr lang="zh-CN" altLang="en-US" sz="2400" b="1" dirty="0">
                <a:solidFill>
                  <a:srgbClr val="9900FF"/>
                </a:solidFill>
              </a:rPr>
              <a:t>多元并联结构</a:t>
            </a:r>
            <a:endParaRPr lang="en-US" altLang="zh-CN" sz="2400" b="1" dirty="0">
              <a:solidFill>
                <a:srgbClr val="9900FF"/>
              </a:solidFill>
            </a:endParaRPr>
          </a:p>
          <a:p>
            <a:pPr>
              <a:lnSpc>
                <a:spcPct val="114000"/>
              </a:lnSpc>
              <a:buNone/>
            </a:pPr>
            <a:r>
              <a:rPr lang="en-US" altLang="zh-CN" sz="2400" b="1" dirty="0">
                <a:solidFill>
                  <a:srgbClr val="9900FF"/>
                </a:solidFill>
              </a:rPr>
              <a:t>		</a:t>
            </a:r>
            <a:r>
              <a:rPr lang="zh-CN" altLang="en-US" sz="2400" b="1" dirty="0">
                <a:solidFill>
                  <a:srgbClr val="9900FF"/>
                </a:solidFill>
              </a:rPr>
              <a:t>漂移区（耐高压）</a:t>
            </a:r>
            <a:endParaRPr lang="en-US" altLang="zh-CN" sz="2400" b="1" dirty="0">
              <a:solidFill>
                <a:srgbClr val="9900FF"/>
              </a:solidFill>
            </a:endParaRPr>
          </a:p>
          <a:p>
            <a:pPr>
              <a:lnSpc>
                <a:spcPct val="114000"/>
              </a:lnSpc>
              <a:buNone/>
            </a:pPr>
            <a:r>
              <a:rPr lang="en-US" altLang="zh-CN" sz="2400" b="1" dirty="0">
                <a:solidFill>
                  <a:srgbClr val="9900FF"/>
                </a:solidFill>
              </a:rPr>
              <a:t>		</a:t>
            </a:r>
            <a:r>
              <a:rPr lang="zh-CN" altLang="en-US" sz="2400" b="1" dirty="0">
                <a:solidFill>
                  <a:srgbClr val="9900FF"/>
                </a:solidFill>
              </a:rPr>
              <a:t>电导调制效应</a:t>
            </a:r>
            <a:endParaRPr lang="en-US" altLang="zh-CN" sz="2400" b="1" dirty="0">
              <a:solidFill>
                <a:srgbClr val="9900FF"/>
              </a:solidFill>
            </a:endParaRPr>
          </a:p>
          <a:p>
            <a:pPr>
              <a:lnSpc>
                <a:spcPct val="114000"/>
              </a:lnSpc>
              <a:buNone/>
            </a:pPr>
            <a:r>
              <a:rPr lang="en-US" altLang="zh-CN" sz="2400" b="1" dirty="0">
                <a:solidFill>
                  <a:srgbClr val="9900FF"/>
                </a:solidFill>
              </a:rPr>
              <a:t>		</a:t>
            </a:r>
            <a:r>
              <a:rPr lang="zh-CN" altLang="en-US" sz="2400" b="1" dirty="0">
                <a:solidFill>
                  <a:srgbClr val="9900FF"/>
                </a:solidFill>
              </a:rPr>
              <a:t>结电容</a:t>
            </a:r>
            <a:endParaRPr lang="en-US" altLang="zh-CN" sz="2400" b="1" dirty="0">
              <a:solidFill>
                <a:srgbClr val="9900FF"/>
              </a:solidFill>
            </a:endParaRPr>
          </a:p>
          <a:p>
            <a:pPr>
              <a:lnSpc>
                <a:spcPct val="114000"/>
              </a:lnSpc>
              <a:buNone/>
            </a:pPr>
            <a:r>
              <a:rPr lang="en-US" altLang="zh-CN" sz="2400" b="1" dirty="0"/>
              <a:t>		</a:t>
            </a:r>
            <a:endParaRPr lang="en-US" altLang="zh-CN" sz="2400" b="1" dirty="0">
              <a:solidFill>
                <a:srgbClr val="FF0000"/>
              </a:solidFill>
            </a:endParaRPr>
          </a:p>
          <a:p>
            <a:pPr>
              <a:lnSpc>
                <a:spcPct val="114000"/>
              </a:lnSpc>
              <a:buFontTx/>
              <a:buNone/>
            </a:pPr>
            <a:endParaRPr lang="zh-CN" altLang="en-US" sz="2400" b="1" dirty="0">
              <a:solidFill>
                <a:srgbClr val="FF0000"/>
              </a:solidFill>
            </a:endParaRPr>
          </a:p>
        </p:txBody>
      </p:sp>
      <p:sp>
        <p:nvSpPr>
          <p:cNvPr id="2" name="灯片编号占位符 1"/>
          <p:cNvSpPr>
            <a:spLocks noGrp="1"/>
          </p:cNvSpPr>
          <p:nvPr>
            <p:ph type="sldNum" sz="quarter" idx="12"/>
          </p:nvPr>
        </p:nvSpPr>
        <p:spPr/>
        <p:txBody>
          <a:bodyPr/>
          <a:lstStyle/>
          <a:p>
            <a:fld id="{0C913308-F349-4B6D-A68A-DD1791B4A57B}" type="slidenum">
              <a:rPr lang="zh-CN" altLang="en-US" smtClean="0"/>
              <a:t>48</a:t>
            </a:fld>
            <a:endParaRPr lang="zh-CN" altLang="en-US"/>
          </a:p>
        </p:txBody>
      </p:sp>
      <p:sp>
        <p:nvSpPr>
          <p:cNvPr id="3" name="日期占位符 2"/>
          <p:cNvSpPr>
            <a:spLocks noGrp="1"/>
          </p:cNvSpPr>
          <p:nvPr>
            <p:ph type="dt" sz="half" idx="10"/>
          </p:nvPr>
        </p:nvSpPr>
        <p:spPr/>
        <p:txBody>
          <a:bodyPr/>
          <a:lstStyle/>
          <a:p>
            <a:fld id="{4376178D-0D10-4358-B795-40988C39247D}" type="datetime10">
              <a:rPr lang="zh-CN" altLang="en-US" smtClean="0"/>
              <a:t>14:22</a:t>
            </a:fld>
            <a:endParaRPr lang="zh-CN" altLang="en-US"/>
          </a:p>
        </p:txBody>
      </p:sp>
    </p:spTree>
    <p:extLst>
      <p:ext uri="{BB962C8B-B14F-4D97-AF65-F5344CB8AC3E}">
        <p14:creationId xmlns:p14="http://schemas.microsoft.com/office/powerpoint/2010/main" val="3438228865"/>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IMING" val="|1.5"/>
</p:tagLst>
</file>

<file path=ppt/theme/theme1.xml><?xml version="1.0" encoding="utf-8"?>
<a:theme xmlns:a="http://schemas.openxmlformats.org/drawingml/2006/main" name="1_自定义设计方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自定义设计方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2011华中科技大学答辩模版">
  <a:themeElements>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默认设计模板">
      <a:majorFont>
        <a:latin typeface="Arial"/>
        <a:ea typeface="华文中宋"/>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3_自定义设计方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4_自定义设计方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6.xml><?xml version="1.0" encoding="utf-8"?>
<a:theme xmlns:a="http://schemas.openxmlformats.org/drawingml/2006/main" name="5_自定义设计方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7.xml><?xml version="1.0" encoding="utf-8"?>
<a:theme xmlns:a="http://schemas.openxmlformats.org/drawingml/2006/main" name="1_2011华中科技大学答辩模版">
  <a:themeElements>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默认设计模板">
      <a:majorFont>
        <a:latin typeface="Arial"/>
        <a:ea typeface="华文中宋"/>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8.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《电力电子技术》西安交通大学_王兆安_第五版第1-7章</Template>
  <TotalTime>7947</TotalTime>
  <Words>5626</Words>
  <Application>Microsoft Office PowerPoint</Application>
  <PresentationFormat>全屏显示(4:3)</PresentationFormat>
  <Paragraphs>558</Paragraphs>
  <Slides>48</Slides>
  <Notes>18</Notes>
  <HiddenSlides>0</HiddenSlides>
  <MMClips>0</MMClips>
  <ScaleCrop>false</ScaleCrop>
  <HeadingPairs>
    <vt:vector size="8" baseType="variant">
      <vt:variant>
        <vt:lpstr>已用的字体</vt:lpstr>
      </vt:variant>
      <vt:variant>
        <vt:i4>11</vt:i4>
      </vt:variant>
      <vt:variant>
        <vt:lpstr>主题</vt:lpstr>
      </vt:variant>
      <vt:variant>
        <vt:i4>7</vt:i4>
      </vt:variant>
      <vt:variant>
        <vt:lpstr>嵌入 OLE 服务器</vt:lpstr>
      </vt:variant>
      <vt:variant>
        <vt:i4>6</vt:i4>
      </vt:variant>
      <vt:variant>
        <vt:lpstr>幻灯片标题</vt:lpstr>
      </vt:variant>
      <vt:variant>
        <vt:i4>48</vt:i4>
      </vt:variant>
    </vt:vector>
  </HeadingPairs>
  <TitlesOfParts>
    <vt:vector size="72" baseType="lpstr">
      <vt:lpstr>PingFang SC</vt:lpstr>
      <vt:lpstr>ui-sans-serif</vt:lpstr>
      <vt:lpstr>华文中宋</vt:lpstr>
      <vt:lpstr>宋体</vt:lpstr>
      <vt:lpstr>Microsoft YaHei</vt:lpstr>
      <vt:lpstr>Microsoft YaHei</vt:lpstr>
      <vt:lpstr>Arial</vt:lpstr>
      <vt:lpstr>Calibri</vt:lpstr>
      <vt:lpstr>Cambria Math</vt:lpstr>
      <vt:lpstr>Times New Roman</vt:lpstr>
      <vt:lpstr>Wingdings</vt:lpstr>
      <vt:lpstr>1_自定义设计方案</vt:lpstr>
      <vt:lpstr>自定义设计方案</vt:lpstr>
      <vt:lpstr>2011华中科技大学答辩模版</vt:lpstr>
      <vt:lpstr>3_自定义设计方案</vt:lpstr>
      <vt:lpstr>4_自定义设计方案</vt:lpstr>
      <vt:lpstr>5_自定义设计方案</vt:lpstr>
      <vt:lpstr>1_2011华中科技大学答辩模版</vt:lpstr>
      <vt:lpstr>VISIO</vt:lpstr>
      <vt:lpstr>Photo Editor 照片</vt:lpstr>
      <vt:lpstr>MSDraw</vt:lpstr>
      <vt:lpstr>Equation</vt:lpstr>
      <vt:lpstr>Equation.3</vt:lpstr>
      <vt:lpstr>Visio.Drawing.11</vt:lpstr>
      <vt:lpstr>作业</vt:lpstr>
      <vt:lpstr>2.4.4    绝缘栅双极晶体管</vt:lpstr>
      <vt:lpstr>2.4.4    绝缘栅双极晶体管</vt:lpstr>
      <vt:lpstr>IGBT的结构（与MOSFET不同）</vt:lpstr>
      <vt:lpstr>2.4.4    绝缘栅双极晶体管</vt:lpstr>
      <vt:lpstr>PowerPoint 演示文稿</vt:lpstr>
      <vt:lpstr>IGBT的结构（外形）</vt:lpstr>
      <vt:lpstr>IGBT是VDMOSFET与GTR复合器件吗？</vt:lpstr>
      <vt:lpstr>IGBT的结构（等效电路）</vt:lpstr>
      <vt:lpstr>IGBT的工作原理</vt:lpstr>
      <vt:lpstr>IGBT的微观导通机理</vt:lpstr>
      <vt:lpstr>2.4.4 绝缘栅双极晶体管</vt:lpstr>
      <vt:lpstr>2.4.4 绝缘栅双极晶体管</vt:lpstr>
      <vt:lpstr>IGBT的动态特性：开通特性</vt:lpstr>
      <vt:lpstr>IGBT的动态特性：关断特性</vt:lpstr>
      <vt:lpstr>擎住效应或自锁效应：</vt:lpstr>
      <vt:lpstr>2.4.4 绝缘栅双极晶体管</vt:lpstr>
      <vt:lpstr>2.4.4 绝缘栅双极晶体管</vt:lpstr>
      <vt:lpstr>2.4.4 绝缘栅双极晶体管</vt:lpstr>
      <vt:lpstr>IGBT功耗的计算</vt:lpstr>
      <vt:lpstr>IGBT的技术发展</vt:lpstr>
      <vt:lpstr>PowerPoint 演示文稿</vt:lpstr>
      <vt:lpstr>PowerPoint 演示文稿</vt:lpstr>
      <vt:lpstr>PowerPoint 演示文稿</vt:lpstr>
      <vt:lpstr>2.5 其他新型电力电子器件</vt:lpstr>
      <vt:lpstr>2.5.4 集成门极换流晶闸管IGCT</vt:lpstr>
      <vt:lpstr>2.5.5 基于宽禁带半导体材料的电力电子器件</vt:lpstr>
      <vt:lpstr>SiC</vt:lpstr>
      <vt:lpstr>PowerPoint 演示文稿</vt:lpstr>
      <vt:lpstr>PowerPoint 演示文稿</vt:lpstr>
      <vt:lpstr>2.6 功率集成电路与集成电力电子模块</vt:lpstr>
      <vt:lpstr>本章小结</vt:lpstr>
      <vt:lpstr>本章小结</vt:lpstr>
      <vt:lpstr>本章小结</vt:lpstr>
      <vt:lpstr>思考题</vt:lpstr>
      <vt:lpstr>器件主要复习内容</vt:lpstr>
      <vt:lpstr>研究方向介绍</vt:lpstr>
      <vt:lpstr>PowerPoint 演示文稿</vt:lpstr>
      <vt:lpstr>PowerPoint 演示文稿</vt:lpstr>
      <vt:lpstr>PowerPoint 演示文稿</vt:lpstr>
      <vt:lpstr>PowerPoint 演示文稿</vt:lpstr>
      <vt:lpstr>PowerPoint 演示文稿</vt:lpstr>
      <vt:lpstr>本节要点</vt:lpstr>
      <vt:lpstr>GTO、GTR要点</vt:lpstr>
      <vt:lpstr>PowerPoint 演示文稿</vt:lpstr>
      <vt:lpstr>PowerPoint 演示文稿</vt:lpstr>
      <vt:lpstr>章小结</vt:lpstr>
      <vt:lpstr>章小结</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&lt;电力电子技术&gt;(第5版) 第1章   绪论 （第4版为“概述”，无章序号）</dc:title>
  <dc:creator>Lenovo</dc:creator>
  <cp:lastModifiedBy>金榜</cp:lastModifiedBy>
  <cp:revision>269</cp:revision>
  <dcterms:created xsi:type="dcterms:W3CDTF">2013-03-21T07:41:27Z</dcterms:created>
  <dcterms:modified xsi:type="dcterms:W3CDTF">2026-03-15T07:26:14Z</dcterms:modified>
</cp:coreProperties>
</file>